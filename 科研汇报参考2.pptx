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87" r:id="rId7"/>
    <p:sldId id="288" r:id="rId8"/>
    <p:sldId id="306" r:id="rId9"/>
    <p:sldId id="301" r:id="rId10"/>
    <p:sldId id="305" r:id="rId11"/>
    <p:sldId id="302" r:id="rId12"/>
    <p:sldId id="303" r:id="rId13"/>
    <p:sldId id="304" r:id="rId14"/>
    <p:sldId id="307" r:id="rId15"/>
  </p:sldIdLst>
  <p:sldSz cx="12192000" cy="6858000"/>
  <p:notesSz cx="6858000" cy="9144000"/>
  <p:embeddedFontLst>
    <p:embeddedFont>
      <p:font typeface="微软雅黑" panose="020B0503020204020204" pitchFamily="34" charset="-122"/>
      <p:regular r:id="rId19"/>
      <p:bold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4690"/>
    <a:srgbClr val="9A0000"/>
    <a:srgbClr val="DDCFAF"/>
    <a:srgbClr val="F9FCFF"/>
    <a:srgbClr val="F4FAFF"/>
    <a:srgbClr val="D4C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51" y="6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-139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37.xml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422163D-EA11-41BA-94D2-76900F5AAA4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87FEDBB-A15A-4D59-9F7C-D0494DBBE7E5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FEDBB-A15A-4D59-9F7C-D0494DBBE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7FEDBB-A15A-4D59-9F7C-D0494DBBE7E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7EE67-8390-4347-8EB1-39E29740AF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9CDAA-BD58-4507-A35C-69542763631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3.png"/><Relationship Id="rId22" Type="http://schemas.openxmlformats.org/officeDocument/2006/relationships/image" Target="../media/image2.jpeg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image" Target="../media/image1.png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3.png"/><Relationship Id="rId3" Type="http://schemas.openxmlformats.org/officeDocument/2006/relationships/tags" Target="../tags/tag2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36.xml"/><Relationship Id="rId2" Type="http://schemas.openxmlformats.org/officeDocument/2006/relationships/tags" Target="../tags/tag22.xml"/><Relationship Id="rId19" Type="http://schemas.openxmlformats.org/officeDocument/2006/relationships/tags" Target="../tags/tag35.xml"/><Relationship Id="rId18" Type="http://schemas.openxmlformats.org/officeDocument/2006/relationships/image" Target="../media/image12.jpeg"/><Relationship Id="rId17" Type="http://schemas.openxmlformats.org/officeDocument/2006/relationships/image" Target="../media/image11.jpeg"/><Relationship Id="rId16" Type="http://schemas.openxmlformats.org/officeDocument/2006/relationships/image" Target="../media/image10.jpeg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0" y="0"/>
            <a:ext cx="12192000" cy="3592286"/>
            <a:chOff x="0" y="0"/>
            <a:chExt cx="12192000" cy="4181685"/>
          </a:xfrm>
        </p:grpSpPr>
        <p:sp>
          <p:nvSpPr>
            <p:cNvPr id="13" name="任意多边形: 形状 12"/>
            <p:cNvSpPr/>
            <p:nvPr/>
          </p:nvSpPr>
          <p:spPr>
            <a:xfrm>
              <a:off x="0" y="0"/>
              <a:ext cx="12192000" cy="4181685"/>
            </a:xfrm>
            <a:custGeom>
              <a:avLst/>
              <a:gdLst>
                <a:gd name="connsiteX0" fmla="*/ 0 w 12192000"/>
                <a:gd name="connsiteY0" fmla="*/ 0 h 3858318"/>
                <a:gd name="connsiteX1" fmla="*/ 12192000 w 12192000"/>
                <a:gd name="connsiteY1" fmla="*/ 0 h 3858318"/>
                <a:gd name="connsiteX2" fmla="*/ 12192000 w 12192000"/>
                <a:gd name="connsiteY2" fmla="*/ 2825396 h 3858318"/>
                <a:gd name="connsiteX3" fmla="*/ 12018093 w 12192000"/>
                <a:gd name="connsiteY3" fmla="*/ 2888158 h 3858318"/>
                <a:gd name="connsiteX4" fmla="*/ 6096003 w 12192000"/>
                <a:gd name="connsiteY4" fmla="*/ 3858318 h 3858318"/>
                <a:gd name="connsiteX5" fmla="*/ 173912 w 12192000"/>
                <a:gd name="connsiteY5" fmla="*/ 2888158 h 3858318"/>
                <a:gd name="connsiteX6" fmla="*/ 0 w 12192000"/>
                <a:gd name="connsiteY6" fmla="*/ 2825395 h 385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858318">
                  <a:moveTo>
                    <a:pt x="0" y="0"/>
                  </a:moveTo>
                  <a:lnTo>
                    <a:pt x="12192000" y="0"/>
                  </a:lnTo>
                  <a:lnTo>
                    <a:pt x="12192000" y="2825396"/>
                  </a:lnTo>
                  <a:lnTo>
                    <a:pt x="12018093" y="2888158"/>
                  </a:lnTo>
                  <a:cubicBezTo>
                    <a:pt x="10159129" y="3517231"/>
                    <a:pt x="8167399" y="3858318"/>
                    <a:pt x="6096003" y="3858318"/>
                  </a:cubicBezTo>
                  <a:cubicBezTo>
                    <a:pt x="4024607" y="3858318"/>
                    <a:pt x="2032876" y="3517231"/>
                    <a:pt x="173912" y="2888158"/>
                  </a:cubicBezTo>
                  <a:lnTo>
                    <a:pt x="0" y="282539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BF1D9"/>
                </a:gs>
                <a:gs pos="100000">
                  <a:srgbClr val="F8E3B3"/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阿里巴巴普惠体 R"/>
              </a:endParaRPr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0" y="0"/>
              <a:ext cx="12192000" cy="4054263"/>
            </a:xfrm>
            <a:custGeom>
              <a:avLst/>
              <a:gdLst>
                <a:gd name="connsiteX0" fmla="*/ 0 w 12192000"/>
                <a:gd name="connsiteY0" fmla="*/ 0 h 3858318"/>
                <a:gd name="connsiteX1" fmla="*/ 12192000 w 12192000"/>
                <a:gd name="connsiteY1" fmla="*/ 0 h 3858318"/>
                <a:gd name="connsiteX2" fmla="*/ 12192000 w 12192000"/>
                <a:gd name="connsiteY2" fmla="*/ 2825396 h 3858318"/>
                <a:gd name="connsiteX3" fmla="*/ 12018093 w 12192000"/>
                <a:gd name="connsiteY3" fmla="*/ 2888158 h 3858318"/>
                <a:gd name="connsiteX4" fmla="*/ 6096003 w 12192000"/>
                <a:gd name="connsiteY4" fmla="*/ 3858318 h 3858318"/>
                <a:gd name="connsiteX5" fmla="*/ 173912 w 12192000"/>
                <a:gd name="connsiteY5" fmla="*/ 2888158 h 3858318"/>
                <a:gd name="connsiteX6" fmla="*/ 0 w 12192000"/>
                <a:gd name="connsiteY6" fmla="*/ 2825395 h 385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858318">
                  <a:moveTo>
                    <a:pt x="0" y="0"/>
                  </a:moveTo>
                  <a:lnTo>
                    <a:pt x="12192000" y="0"/>
                  </a:lnTo>
                  <a:lnTo>
                    <a:pt x="12192000" y="2825396"/>
                  </a:lnTo>
                  <a:lnTo>
                    <a:pt x="12018093" y="2888158"/>
                  </a:lnTo>
                  <a:cubicBezTo>
                    <a:pt x="10159129" y="3517231"/>
                    <a:pt x="8167399" y="3858318"/>
                    <a:pt x="6096003" y="3858318"/>
                  </a:cubicBezTo>
                  <a:cubicBezTo>
                    <a:pt x="4024607" y="3858318"/>
                    <a:pt x="2032876" y="3517231"/>
                    <a:pt x="173912" y="2888158"/>
                  </a:cubicBezTo>
                  <a:lnTo>
                    <a:pt x="0" y="2825395"/>
                  </a:lnTo>
                  <a:close/>
                </a:path>
              </a:pathLst>
            </a:custGeom>
            <a:ln>
              <a:noFill/>
            </a:ln>
            <a:effectLst>
              <a:outerShdw blurRad="127000" dist="63500" dir="5400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221740" y="1729740"/>
            <a:ext cx="9944100" cy="175323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华北电力大学网上学术交流活动汇报</a:t>
            </a:r>
            <a:endParaRPr lang="zh-CN" altLang="en-US" sz="5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080000" y="6025859"/>
            <a:ext cx="2032000" cy="467578"/>
            <a:chOff x="878114" y="5870096"/>
            <a:chExt cx="2032000" cy="467578"/>
          </a:xfrm>
        </p:grpSpPr>
        <p:sp>
          <p:nvSpPr>
            <p:cNvPr id="57" name="矩形: 圆角 56"/>
            <p:cNvSpPr/>
            <p:nvPr/>
          </p:nvSpPr>
          <p:spPr>
            <a:xfrm>
              <a:off x="878114" y="5870096"/>
              <a:ext cx="2032000" cy="467578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outerShdw blurRad="127000" dist="63500" dir="5400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950059" y="5919219"/>
              <a:ext cx="1888109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</a:rPr>
                <a:t>2024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年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</a:rPr>
                <a:t>7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月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</a:rPr>
                <a:t>16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日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9" r="-4866"/>
          <a:stretch>
            <a:fillRect/>
          </a:stretch>
        </p:blipFill>
        <p:spPr>
          <a:xfrm>
            <a:off x="8944610" y="97790"/>
            <a:ext cx="3247390" cy="92329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 rot="0">
            <a:off x="4191655" y="4836160"/>
            <a:ext cx="6297275" cy="645160"/>
            <a:chOff x="4374669" y="4326798"/>
            <a:chExt cx="6297620" cy="649008"/>
          </a:xfrm>
          <a:effectLst>
            <a:outerShdw blurRad="127000" dist="63500" dir="5400000" algn="t" rotWithShape="0">
              <a:schemeClr val="accent1">
                <a:alpha val="20000"/>
              </a:schemeClr>
            </a:outerShdw>
          </a:effectLst>
        </p:grpSpPr>
        <p:sp>
          <p:nvSpPr>
            <p:cNvPr id="18" name="文本框 17"/>
            <p:cNvSpPr txBox="1"/>
            <p:nvPr/>
          </p:nvSpPr>
          <p:spPr>
            <a:xfrm>
              <a:off x="4926494" y="4326798"/>
              <a:ext cx="5745795" cy="649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2400" b="1" u="sng" dirty="0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rPr>
                <a:t>汇报人：</a:t>
              </a:r>
              <a:r>
                <a:rPr lang="en-US" altLang="zh-CN" sz="2400" b="1" u="sng" dirty="0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rPr>
                <a:t> </a:t>
              </a:r>
              <a:endParaRPr lang="zh-CN" altLang="en-US" sz="2400" b="1" u="sng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1"/>
                  <a:tileRect/>
                </a:gradFill>
                <a:latin typeface="+mj-ea"/>
                <a:ea typeface="+mj-ea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4374669" y="4459962"/>
              <a:ext cx="502281" cy="384700"/>
              <a:chOff x="4152524" y="5001246"/>
              <a:chExt cx="502281" cy="384700"/>
            </a:xfrm>
          </p:grpSpPr>
          <p:sp>
            <p:nvSpPr>
              <p:cNvPr id="53" name="图形 119"/>
              <p:cNvSpPr/>
              <p:nvPr/>
            </p:nvSpPr>
            <p:spPr>
              <a:xfrm>
                <a:off x="4262723" y="5046019"/>
                <a:ext cx="285872" cy="270766"/>
              </a:xfrm>
              <a:custGeom>
                <a:avLst/>
                <a:gdLst>
                  <a:gd name="connsiteX0" fmla="*/ 127163 w 332725"/>
                  <a:gd name="connsiteY0" fmla="*/ 133194 h 315143"/>
                  <a:gd name="connsiteX1" fmla="*/ 125344 w 332725"/>
                  <a:gd name="connsiteY1" fmla="*/ 142778 h 315143"/>
                  <a:gd name="connsiteX2" fmla="*/ 159968 w 332725"/>
                  <a:gd name="connsiteY2" fmla="*/ 191326 h 315143"/>
                  <a:gd name="connsiteX3" fmla="*/ 160956 w 332725"/>
                  <a:gd name="connsiteY3" fmla="*/ 179814 h 315143"/>
                  <a:gd name="connsiteX4" fmla="*/ 149102 w 332725"/>
                  <a:gd name="connsiteY4" fmla="*/ 142830 h 315143"/>
                  <a:gd name="connsiteX5" fmla="*/ 160899 w 332725"/>
                  <a:gd name="connsiteY5" fmla="*/ 130486 h 315143"/>
                  <a:gd name="connsiteX6" fmla="*/ 160956 w 332725"/>
                  <a:gd name="connsiteY6" fmla="*/ 130485 h 315143"/>
                  <a:gd name="connsiteX7" fmla="*/ 172809 w 332725"/>
                  <a:gd name="connsiteY7" fmla="*/ 130485 h 315143"/>
                  <a:gd name="connsiteX8" fmla="*/ 184714 w 332725"/>
                  <a:gd name="connsiteY8" fmla="*/ 142827 h 315143"/>
                  <a:gd name="connsiteX9" fmla="*/ 184714 w 332725"/>
                  <a:gd name="connsiteY9" fmla="*/ 142830 h 315143"/>
                  <a:gd name="connsiteX10" fmla="*/ 172809 w 332725"/>
                  <a:gd name="connsiteY10" fmla="*/ 179814 h 315143"/>
                  <a:gd name="connsiteX11" fmla="*/ 171717 w 332725"/>
                  <a:gd name="connsiteY11" fmla="*/ 191586 h 315143"/>
                  <a:gd name="connsiteX12" fmla="*/ 208421 w 332725"/>
                  <a:gd name="connsiteY12" fmla="*/ 142830 h 315143"/>
                  <a:gd name="connsiteX13" fmla="*/ 207745 w 332725"/>
                  <a:gd name="connsiteY13" fmla="*/ 134131 h 315143"/>
                  <a:gd name="connsiteX14" fmla="*/ 289419 w 332725"/>
                  <a:gd name="connsiteY14" fmla="*/ 229195 h 315143"/>
                  <a:gd name="connsiteX15" fmla="*/ 43306 w 332725"/>
                  <a:gd name="connsiteY15" fmla="*/ 229195 h 315143"/>
                  <a:gd name="connsiteX16" fmla="*/ 127163 w 332725"/>
                  <a:gd name="connsiteY16" fmla="*/ 133194 h 315143"/>
                  <a:gd name="connsiteX17" fmla="*/ 166363 w 332725"/>
                  <a:gd name="connsiteY17" fmla="*/ 118036 h 315143"/>
                  <a:gd name="connsiteX18" fmla="*/ 107460 w 332725"/>
                  <a:gd name="connsiteY18" fmla="*/ 59018 h 315143"/>
                  <a:gd name="connsiteX19" fmla="*/ 166363 w 332725"/>
                  <a:gd name="connsiteY19" fmla="*/ 0 h 315143"/>
                  <a:gd name="connsiteX20" fmla="*/ 225265 w 332725"/>
                  <a:gd name="connsiteY20" fmla="*/ 59018 h 315143"/>
                  <a:gd name="connsiteX21" fmla="*/ 166363 w 332725"/>
                  <a:gd name="connsiteY21" fmla="*/ 118036 h 315143"/>
                  <a:gd name="connsiteX22" fmla="*/ 314477 w 332725"/>
                  <a:gd name="connsiteY22" fmla="*/ 241176 h 315143"/>
                  <a:gd name="connsiteX23" fmla="*/ 18144 w 332725"/>
                  <a:gd name="connsiteY23" fmla="*/ 241176 h 315143"/>
                  <a:gd name="connsiteX24" fmla="*/ 0 w 332725"/>
                  <a:gd name="connsiteY24" fmla="*/ 259460 h 315143"/>
                  <a:gd name="connsiteX25" fmla="*/ 0 w 332725"/>
                  <a:gd name="connsiteY25" fmla="*/ 272482 h 315143"/>
                  <a:gd name="connsiteX26" fmla="*/ 18248 w 332725"/>
                  <a:gd name="connsiteY26" fmla="*/ 290766 h 315143"/>
                  <a:gd name="connsiteX27" fmla="*/ 44658 w 332725"/>
                  <a:gd name="connsiteY27" fmla="*/ 290766 h 315143"/>
                  <a:gd name="connsiteX28" fmla="*/ 44658 w 332725"/>
                  <a:gd name="connsiteY28" fmla="*/ 307434 h 315143"/>
                  <a:gd name="connsiteX29" fmla="*/ 52352 w 332725"/>
                  <a:gd name="connsiteY29" fmla="*/ 315144 h 315143"/>
                  <a:gd name="connsiteX30" fmla="*/ 280373 w 332725"/>
                  <a:gd name="connsiteY30" fmla="*/ 315144 h 315143"/>
                  <a:gd name="connsiteX31" fmla="*/ 288067 w 332725"/>
                  <a:gd name="connsiteY31" fmla="*/ 307434 h 315143"/>
                  <a:gd name="connsiteX32" fmla="*/ 288067 w 332725"/>
                  <a:gd name="connsiteY32" fmla="*/ 290766 h 315143"/>
                  <a:gd name="connsiteX33" fmla="*/ 314477 w 332725"/>
                  <a:gd name="connsiteY33" fmla="*/ 290766 h 315143"/>
                  <a:gd name="connsiteX34" fmla="*/ 332725 w 332725"/>
                  <a:gd name="connsiteY34" fmla="*/ 272482 h 315143"/>
                  <a:gd name="connsiteX35" fmla="*/ 332725 w 332725"/>
                  <a:gd name="connsiteY35" fmla="*/ 259460 h 315143"/>
                  <a:gd name="connsiteX36" fmla="*/ 314477 w 332725"/>
                  <a:gd name="connsiteY36" fmla="*/ 241176 h 315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332725" h="315143">
                    <a:moveTo>
                      <a:pt x="127163" y="133194"/>
                    </a:moveTo>
                    <a:cubicBezTo>
                      <a:pt x="125858" y="136215"/>
                      <a:pt x="125237" y="139488"/>
                      <a:pt x="125344" y="142778"/>
                    </a:cubicBezTo>
                    <a:cubicBezTo>
                      <a:pt x="124017" y="165116"/>
                      <a:pt x="138446" y="185347"/>
                      <a:pt x="159968" y="191326"/>
                    </a:cubicBezTo>
                    <a:cubicBezTo>
                      <a:pt x="160488" y="186117"/>
                      <a:pt x="160956" y="181637"/>
                      <a:pt x="160956" y="179814"/>
                    </a:cubicBezTo>
                    <a:lnTo>
                      <a:pt x="149102" y="142830"/>
                    </a:lnTo>
                    <a:cubicBezTo>
                      <a:pt x="148958" y="136158"/>
                      <a:pt x="154240" y="130631"/>
                      <a:pt x="160899" y="130486"/>
                    </a:cubicBezTo>
                    <a:cubicBezTo>
                      <a:pt x="160918" y="130486"/>
                      <a:pt x="160937" y="130485"/>
                      <a:pt x="160956" y="130485"/>
                    </a:cubicBezTo>
                    <a:lnTo>
                      <a:pt x="172809" y="130485"/>
                    </a:lnTo>
                    <a:cubicBezTo>
                      <a:pt x="179498" y="130599"/>
                      <a:pt x="184829" y="136125"/>
                      <a:pt x="184714" y="142827"/>
                    </a:cubicBezTo>
                    <a:cubicBezTo>
                      <a:pt x="184714" y="142828"/>
                      <a:pt x="184714" y="142829"/>
                      <a:pt x="184714" y="142830"/>
                    </a:cubicBezTo>
                    <a:lnTo>
                      <a:pt x="172809" y="179814"/>
                    </a:lnTo>
                    <a:cubicBezTo>
                      <a:pt x="172650" y="183755"/>
                      <a:pt x="172285" y="187684"/>
                      <a:pt x="171717" y="191586"/>
                    </a:cubicBezTo>
                    <a:cubicBezTo>
                      <a:pt x="194288" y="186643"/>
                      <a:pt x="209878" y="165933"/>
                      <a:pt x="208421" y="142830"/>
                    </a:cubicBezTo>
                    <a:cubicBezTo>
                      <a:pt x="208483" y="139916"/>
                      <a:pt x="208256" y="137002"/>
                      <a:pt x="207745" y="134131"/>
                    </a:cubicBezTo>
                    <a:cubicBezTo>
                      <a:pt x="265452" y="145383"/>
                      <a:pt x="284012" y="181846"/>
                      <a:pt x="289419" y="229195"/>
                    </a:cubicBezTo>
                    <a:lnTo>
                      <a:pt x="43306" y="229195"/>
                    </a:lnTo>
                    <a:cubicBezTo>
                      <a:pt x="46737" y="180543"/>
                      <a:pt x="61710" y="143299"/>
                      <a:pt x="127163" y="133194"/>
                    </a:cubicBezTo>
                    <a:moveTo>
                      <a:pt x="166363" y="118036"/>
                    </a:moveTo>
                    <a:cubicBezTo>
                      <a:pt x="133832" y="118036"/>
                      <a:pt x="107460" y="91612"/>
                      <a:pt x="107460" y="59018"/>
                    </a:cubicBezTo>
                    <a:cubicBezTo>
                      <a:pt x="107460" y="26423"/>
                      <a:pt x="133832" y="0"/>
                      <a:pt x="166363" y="0"/>
                    </a:cubicBezTo>
                    <a:cubicBezTo>
                      <a:pt x="198894" y="0"/>
                      <a:pt x="225265" y="26423"/>
                      <a:pt x="225265" y="59018"/>
                    </a:cubicBezTo>
                    <a:cubicBezTo>
                      <a:pt x="225265" y="91612"/>
                      <a:pt x="198894" y="118036"/>
                      <a:pt x="166363" y="118036"/>
                    </a:cubicBezTo>
                    <a:moveTo>
                      <a:pt x="314477" y="241176"/>
                    </a:moveTo>
                    <a:lnTo>
                      <a:pt x="18144" y="241176"/>
                    </a:lnTo>
                    <a:cubicBezTo>
                      <a:pt x="8107" y="241233"/>
                      <a:pt x="0" y="249402"/>
                      <a:pt x="0" y="259460"/>
                    </a:cubicBezTo>
                    <a:lnTo>
                      <a:pt x="0" y="272482"/>
                    </a:lnTo>
                    <a:cubicBezTo>
                      <a:pt x="29" y="282568"/>
                      <a:pt x="8182" y="290737"/>
                      <a:pt x="18248" y="290766"/>
                    </a:cubicBezTo>
                    <a:lnTo>
                      <a:pt x="44658" y="290766"/>
                    </a:lnTo>
                    <a:lnTo>
                      <a:pt x="44658" y="307434"/>
                    </a:lnTo>
                    <a:cubicBezTo>
                      <a:pt x="44658" y="311692"/>
                      <a:pt x="48103" y="315144"/>
                      <a:pt x="52352" y="315144"/>
                    </a:cubicBezTo>
                    <a:lnTo>
                      <a:pt x="280373" y="315144"/>
                    </a:lnTo>
                    <a:cubicBezTo>
                      <a:pt x="284622" y="315144"/>
                      <a:pt x="288067" y="311692"/>
                      <a:pt x="288067" y="307434"/>
                    </a:cubicBezTo>
                    <a:lnTo>
                      <a:pt x="288067" y="290766"/>
                    </a:lnTo>
                    <a:lnTo>
                      <a:pt x="314477" y="290766"/>
                    </a:lnTo>
                    <a:cubicBezTo>
                      <a:pt x="324544" y="290737"/>
                      <a:pt x="332696" y="282568"/>
                      <a:pt x="332725" y="272482"/>
                    </a:cubicBezTo>
                    <a:lnTo>
                      <a:pt x="332725" y="259460"/>
                    </a:lnTo>
                    <a:cubicBezTo>
                      <a:pt x="332725" y="249362"/>
                      <a:pt x="324557" y="241176"/>
                      <a:pt x="314477" y="241176"/>
                    </a:cubicBezTo>
                  </a:path>
                </a:pathLst>
              </a:custGeom>
              <a:solidFill>
                <a:schemeClr val="accent1"/>
              </a:solidFill>
              <a:ln w="325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 dirty="0"/>
              </a:p>
            </p:txBody>
          </p:sp>
          <p:sp>
            <p:nvSpPr>
              <p:cNvPr id="54" name="矩形: 圆角 129"/>
              <p:cNvSpPr/>
              <p:nvPr/>
            </p:nvSpPr>
            <p:spPr>
              <a:xfrm>
                <a:off x="4152524" y="5001246"/>
                <a:ext cx="502281" cy="384700"/>
              </a:xfrm>
              <a:prstGeom prst="roundRect">
                <a:avLst>
                  <a:gd name="adj" fmla="val 43811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6200000">
            <a:off x="-1908623" y="1908623"/>
            <a:ext cx="6857993" cy="3040745"/>
            <a:chOff x="0" y="0"/>
            <a:chExt cx="12192000" cy="4181685"/>
          </a:xfrm>
        </p:grpSpPr>
        <p:sp>
          <p:nvSpPr>
            <p:cNvPr id="3" name="任意多边形: 形状 2"/>
            <p:cNvSpPr/>
            <p:nvPr/>
          </p:nvSpPr>
          <p:spPr>
            <a:xfrm>
              <a:off x="0" y="0"/>
              <a:ext cx="12192000" cy="4181685"/>
            </a:xfrm>
            <a:custGeom>
              <a:avLst/>
              <a:gdLst>
                <a:gd name="connsiteX0" fmla="*/ 0 w 12192000"/>
                <a:gd name="connsiteY0" fmla="*/ 0 h 3858318"/>
                <a:gd name="connsiteX1" fmla="*/ 12192000 w 12192000"/>
                <a:gd name="connsiteY1" fmla="*/ 0 h 3858318"/>
                <a:gd name="connsiteX2" fmla="*/ 12192000 w 12192000"/>
                <a:gd name="connsiteY2" fmla="*/ 2825396 h 3858318"/>
                <a:gd name="connsiteX3" fmla="*/ 12018093 w 12192000"/>
                <a:gd name="connsiteY3" fmla="*/ 2888158 h 3858318"/>
                <a:gd name="connsiteX4" fmla="*/ 6096003 w 12192000"/>
                <a:gd name="connsiteY4" fmla="*/ 3858318 h 3858318"/>
                <a:gd name="connsiteX5" fmla="*/ 173912 w 12192000"/>
                <a:gd name="connsiteY5" fmla="*/ 2888158 h 3858318"/>
                <a:gd name="connsiteX6" fmla="*/ 0 w 12192000"/>
                <a:gd name="connsiteY6" fmla="*/ 2825395 h 385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858318">
                  <a:moveTo>
                    <a:pt x="0" y="0"/>
                  </a:moveTo>
                  <a:lnTo>
                    <a:pt x="12192000" y="0"/>
                  </a:lnTo>
                  <a:lnTo>
                    <a:pt x="12192000" y="2825396"/>
                  </a:lnTo>
                  <a:lnTo>
                    <a:pt x="12018093" y="2888158"/>
                  </a:lnTo>
                  <a:cubicBezTo>
                    <a:pt x="10159129" y="3517231"/>
                    <a:pt x="8167399" y="3858318"/>
                    <a:pt x="6096003" y="3858318"/>
                  </a:cubicBezTo>
                  <a:cubicBezTo>
                    <a:pt x="4024607" y="3858318"/>
                    <a:pt x="2032876" y="3517231"/>
                    <a:pt x="173912" y="2888158"/>
                  </a:cubicBezTo>
                  <a:lnTo>
                    <a:pt x="0" y="282539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BF1D9"/>
                </a:gs>
                <a:gs pos="100000">
                  <a:srgbClr val="F8E3B3"/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阿里巴巴普惠体 R"/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0" y="0"/>
              <a:ext cx="12192000" cy="4054263"/>
            </a:xfrm>
            <a:custGeom>
              <a:avLst/>
              <a:gdLst>
                <a:gd name="connsiteX0" fmla="*/ 0 w 12192000"/>
                <a:gd name="connsiteY0" fmla="*/ 0 h 3858318"/>
                <a:gd name="connsiteX1" fmla="*/ 12192000 w 12192000"/>
                <a:gd name="connsiteY1" fmla="*/ 0 h 3858318"/>
                <a:gd name="connsiteX2" fmla="*/ 12192000 w 12192000"/>
                <a:gd name="connsiteY2" fmla="*/ 2825396 h 3858318"/>
                <a:gd name="connsiteX3" fmla="*/ 12018093 w 12192000"/>
                <a:gd name="connsiteY3" fmla="*/ 2888158 h 3858318"/>
                <a:gd name="connsiteX4" fmla="*/ 6096003 w 12192000"/>
                <a:gd name="connsiteY4" fmla="*/ 3858318 h 3858318"/>
                <a:gd name="connsiteX5" fmla="*/ 173912 w 12192000"/>
                <a:gd name="connsiteY5" fmla="*/ 2888158 h 3858318"/>
                <a:gd name="connsiteX6" fmla="*/ 0 w 12192000"/>
                <a:gd name="connsiteY6" fmla="*/ 2825395 h 385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858318">
                  <a:moveTo>
                    <a:pt x="0" y="0"/>
                  </a:moveTo>
                  <a:lnTo>
                    <a:pt x="12192000" y="0"/>
                  </a:lnTo>
                  <a:lnTo>
                    <a:pt x="12192000" y="2825396"/>
                  </a:lnTo>
                  <a:lnTo>
                    <a:pt x="12018093" y="2888158"/>
                  </a:lnTo>
                  <a:cubicBezTo>
                    <a:pt x="10159129" y="3517231"/>
                    <a:pt x="8167399" y="3858318"/>
                    <a:pt x="6096003" y="3858318"/>
                  </a:cubicBezTo>
                  <a:cubicBezTo>
                    <a:pt x="4024607" y="3858318"/>
                    <a:pt x="2032876" y="3517231"/>
                    <a:pt x="173912" y="2888158"/>
                  </a:cubicBezTo>
                  <a:lnTo>
                    <a:pt x="0" y="2825395"/>
                  </a:lnTo>
                  <a:close/>
                </a:path>
              </a:pathLst>
            </a:custGeom>
            <a:ln>
              <a:noFill/>
            </a:ln>
            <a:effectLst>
              <a:outerShdw blurRad="127000" dist="63500" dir="5400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759217" y="2028617"/>
            <a:ext cx="119742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b="1" dirty="0">
                <a:solidFill>
                  <a:srgbClr val="DDCFAF"/>
                </a:solidFill>
                <a:latin typeface="+mj-ea"/>
                <a:ea typeface="+mj-ea"/>
              </a:rPr>
              <a:t>目</a:t>
            </a:r>
            <a:endParaRPr lang="en-US" altLang="zh-CN" sz="8800" b="1" dirty="0">
              <a:solidFill>
                <a:srgbClr val="DDCFAF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8800" b="1" dirty="0">
                <a:solidFill>
                  <a:srgbClr val="DDCFAF"/>
                </a:solidFill>
                <a:latin typeface="+mj-ea"/>
                <a:ea typeface="+mj-ea"/>
              </a:rPr>
              <a:t>录</a:t>
            </a:r>
            <a:endParaRPr lang="zh-CN" altLang="en-US" sz="8800" b="1" dirty="0">
              <a:solidFill>
                <a:srgbClr val="DDCFAF"/>
              </a:solidFill>
              <a:latin typeface="+mj-ea"/>
              <a:ea typeface="+mj-ea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3994128" y="2276204"/>
            <a:ext cx="5126180" cy="4687159"/>
            <a:chOff x="4847387" y="1043093"/>
            <a:chExt cx="5126180" cy="4687159"/>
          </a:xfrm>
        </p:grpSpPr>
        <p:grpSp>
          <p:nvGrpSpPr>
            <p:cNvPr id="59" name="组合 58"/>
            <p:cNvGrpSpPr/>
            <p:nvPr/>
          </p:nvGrpSpPr>
          <p:grpSpPr>
            <a:xfrm>
              <a:off x="4847387" y="1043093"/>
              <a:ext cx="5002260" cy="1090506"/>
              <a:chOff x="5602516" y="1202751"/>
              <a:chExt cx="5002260" cy="1090506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6751233" y="1202751"/>
                <a:ext cx="3853543" cy="858425"/>
                <a:chOff x="6756400" y="1219444"/>
                <a:chExt cx="3853543" cy="858425"/>
              </a:xfrm>
            </p:grpSpPr>
            <p:sp>
              <p:nvSpPr>
                <p:cNvPr id="30" name="文本框 29"/>
                <p:cNvSpPr txBox="1"/>
                <p:nvPr/>
              </p:nvSpPr>
              <p:spPr>
                <a:xfrm>
                  <a:off x="6756400" y="1219444"/>
                  <a:ext cx="385354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800" b="1" dirty="0">
                      <a:latin typeface="+mj-ea"/>
                      <a:ea typeface="+mj-ea"/>
                    </a:rPr>
                    <a:t>个人基本信息</a:t>
                  </a:r>
                  <a:endParaRPr lang="zh-CN" altLang="en-US" sz="2800" b="1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6756400" y="1739315"/>
                  <a:ext cx="385354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latin typeface="+mn-ea"/>
                    </a:rPr>
                    <a:t>Basic Personal Information</a:t>
                  </a:r>
                  <a:endParaRPr lang="zh-CN" altLang="en-US" sz="1600" dirty="0">
                    <a:latin typeface="+mn-ea"/>
                  </a:endParaRP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5602516" y="1233455"/>
                <a:ext cx="856343" cy="827796"/>
                <a:chOff x="5370287" y="1245684"/>
                <a:chExt cx="856343" cy="827796"/>
              </a:xfrm>
            </p:grpSpPr>
            <p:sp>
              <p:nvSpPr>
                <p:cNvPr id="29" name="矩形: 圆角 28"/>
                <p:cNvSpPr/>
                <p:nvPr/>
              </p:nvSpPr>
              <p:spPr>
                <a:xfrm>
                  <a:off x="5370287" y="1245684"/>
                  <a:ext cx="856343" cy="827796"/>
                </a:xfrm>
                <a:prstGeom prst="roundRect">
                  <a:avLst>
                    <a:gd name="adj" fmla="val 14205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5557434" y="1283179"/>
                  <a:ext cx="482048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40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1</a:t>
                  </a:r>
                  <a:endParaRPr lang="zh-CN" altLang="en-US" sz="40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  <p:cxnSp>
            <p:nvCxnSpPr>
              <p:cNvPr id="35" name="直接连接符 34"/>
              <p:cNvCxnSpPr/>
              <p:nvPr/>
            </p:nvCxnSpPr>
            <p:spPr>
              <a:xfrm>
                <a:off x="5666291" y="2293257"/>
                <a:ext cx="4783995" cy="0"/>
              </a:xfrm>
              <a:prstGeom prst="line">
                <a:avLst/>
              </a:prstGeom>
              <a:ln w="63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4" name="组合 83"/>
            <p:cNvGrpSpPr/>
            <p:nvPr/>
          </p:nvGrpSpPr>
          <p:grpSpPr>
            <a:xfrm>
              <a:off x="4847387" y="2346784"/>
              <a:ext cx="5126180" cy="1090506"/>
              <a:chOff x="5602516" y="1202751"/>
              <a:chExt cx="5126180" cy="1090506"/>
            </a:xfrm>
          </p:grpSpPr>
          <p:grpSp>
            <p:nvGrpSpPr>
              <p:cNvPr id="85" name="组合 84"/>
              <p:cNvGrpSpPr/>
              <p:nvPr/>
            </p:nvGrpSpPr>
            <p:grpSpPr>
              <a:xfrm>
                <a:off x="6751233" y="1202751"/>
                <a:ext cx="3977463" cy="858425"/>
                <a:chOff x="6756400" y="1219444"/>
                <a:chExt cx="3977463" cy="858425"/>
              </a:xfrm>
            </p:grpSpPr>
            <p:sp>
              <p:nvSpPr>
                <p:cNvPr id="90" name="文本框 89"/>
                <p:cNvSpPr txBox="1"/>
                <p:nvPr/>
              </p:nvSpPr>
              <p:spPr>
                <a:xfrm>
                  <a:off x="6756400" y="1219444"/>
                  <a:ext cx="385354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800" b="1" dirty="0">
                      <a:latin typeface="+mj-ea"/>
                      <a:ea typeface="+mj-ea"/>
                    </a:rPr>
                    <a:t>科研竞赛经历</a:t>
                  </a:r>
                  <a:endParaRPr lang="zh-CN" altLang="en-US" sz="2800" b="1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>
                  <a:off x="6756400" y="1739315"/>
                  <a:ext cx="397746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latin typeface="+mn-ea"/>
                    </a:rPr>
                    <a:t>Research And Competition Experience</a:t>
                  </a:r>
                  <a:endParaRPr lang="zh-CN" altLang="en-US" sz="1600" dirty="0">
                    <a:latin typeface="+mn-ea"/>
                  </a:endParaRPr>
                </a:p>
              </p:txBody>
            </p:sp>
          </p:grpSp>
          <p:grpSp>
            <p:nvGrpSpPr>
              <p:cNvPr id="86" name="组合 85"/>
              <p:cNvGrpSpPr/>
              <p:nvPr/>
            </p:nvGrpSpPr>
            <p:grpSpPr>
              <a:xfrm>
                <a:off x="5602516" y="1233455"/>
                <a:ext cx="856343" cy="827796"/>
                <a:chOff x="5370287" y="1245684"/>
                <a:chExt cx="856343" cy="827796"/>
              </a:xfrm>
            </p:grpSpPr>
            <p:sp>
              <p:nvSpPr>
                <p:cNvPr id="88" name="矩形: 圆角 87"/>
                <p:cNvSpPr/>
                <p:nvPr/>
              </p:nvSpPr>
              <p:spPr>
                <a:xfrm>
                  <a:off x="5370287" y="1245684"/>
                  <a:ext cx="856343" cy="827796"/>
                </a:xfrm>
                <a:prstGeom prst="roundRect">
                  <a:avLst>
                    <a:gd name="adj" fmla="val 14205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89" name="文本框 88"/>
                <p:cNvSpPr txBox="1"/>
                <p:nvPr/>
              </p:nvSpPr>
              <p:spPr>
                <a:xfrm>
                  <a:off x="5557434" y="1283179"/>
                  <a:ext cx="482048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4000" dirty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2</a:t>
                  </a:r>
                  <a:endParaRPr lang="zh-CN" altLang="en-US" sz="4000" dirty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  <p:cxnSp>
            <p:nvCxnSpPr>
              <p:cNvPr id="87" name="直接连接符 86"/>
              <p:cNvCxnSpPr/>
              <p:nvPr/>
            </p:nvCxnSpPr>
            <p:spPr>
              <a:xfrm>
                <a:off x="5666291" y="2293257"/>
                <a:ext cx="4783995" cy="0"/>
              </a:xfrm>
              <a:prstGeom prst="line">
                <a:avLst/>
              </a:prstGeom>
              <a:ln w="63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5" name="文本框 104"/>
            <p:cNvSpPr txBox="1"/>
            <p:nvPr/>
          </p:nvSpPr>
          <p:spPr>
            <a:xfrm>
              <a:off x="5034534" y="5022366"/>
              <a:ext cx="4820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dirty="0">
                  <a:solidFill>
                    <a:schemeClr val="bg1"/>
                  </a:solidFill>
                  <a:latin typeface="+mj-ea"/>
                  <a:ea typeface="+mj-ea"/>
                </a:rPr>
                <a:t>4</a:t>
              </a:r>
              <a:endParaRPr lang="zh-CN" altLang="en-US" sz="4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9" r="-4866"/>
          <a:stretch>
            <a:fillRect/>
          </a:stretch>
        </p:blipFill>
        <p:spPr>
          <a:xfrm>
            <a:off x="8944610" y="97790"/>
            <a:ext cx="3247390" cy="9232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-133710" y="58057"/>
            <a:ext cx="12459420" cy="938977"/>
            <a:chOff x="-133710" y="58057"/>
            <a:chExt cx="12459420" cy="938977"/>
          </a:xfrm>
        </p:grpSpPr>
        <p:grpSp>
          <p:nvGrpSpPr>
            <p:cNvPr id="24" name="组合 23"/>
            <p:cNvGrpSpPr/>
            <p:nvPr/>
          </p:nvGrpSpPr>
          <p:grpSpPr>
            <a:xfrm>
              <a:off x="-133710" y="58057"/>
              <a:ext cx="12459420" cy="938977"/>
              <a:chOff x="-133710" y="58057"/>
              <a:chExt cx="12459420" cy="938977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-133710" y="177285"/>
                <a:ext cx="12459420" cy="69357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dist="38100" dir="2700000" algn="tl" rotWithShape="0">
                  <a:prstClr val="black">
                    <a:alpha val="2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93136" y="58057"/>
                <a:ext cx="621102" cy="938977"/>
              </a:xfrm>
              <a:custGeom>
                <a:avLst/>
                <a:gdLst>
                  <a:gd name="connsiteX0" fmla="*/ 0 w 914400"/>
                  <a:gd name="connsiteY0" fmla="*/ 0 h 1382383"/>
                  <a:gd name="connsiteX1" fmla="*/ 914400 w 914400"/>
                  <a:gd name="connsiteY1" fmla="*/ 0 h 1382383"/>
                  <a:gd name="connsiteX2" fmla="*/ 914400 w 914400"/>
                  <a:gd name="connsiteY2" fmla="*/ 914400 h 1382383"/>
                  <a:gd name="connsiteX3" fmla="*/ 913313 w 914400"/>
                  <a:gd name="connsiteY3" fmla="*/ 914400 h 1382383"/>
                  <a:gd name="connsiteX4" fmla="*/ 914400 w 914400"/>
                  <a:gd name="connsiteY4" fmla="*/ 925183 h 1382383"/>
                  <a:gd name="connsiteX5" fmla="*/ 457200 w 914400"/>
                  <a:gd name="connsiteY5" fmla="*/ 1382383 h 1382383"/>
                  <a:gd name="connsiteX6" fmla="*/ 0 w 914400"/>
                  <a:gd name="connsiteY6" fmla="*/ 925183 h 1382383"/>
                  <a:gd name="connsiteX7" fmla="*/ 1087 w 914400"/>
                  <a:gd name="connsiteY7" fmla="*/ 914400 h 1382383"/>
                  <a:gd name="connsiteX8" fmla="*/ 0 w 914400"/>
                  <a:gd name="connsiteY8" fmla="*/ 914400 h 1382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400" h="1382383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913313" y="914400"/>
                    </a:lnTo>
                    <a:lnTo>
                      <a:pt x="914400" y="925183"/>
                    </a:lnTo>
                    <a:cubicBezTo>
                      <a:pt x="914400" y="1177688"/>
                      <a:pt x="709705" y="1382383"/>
                      <a:pt x="457200" y="1382383"/>
                    </a:cubicBezTo>
                    <a:cubicBezTo>
                      <a:pt x="204695" y="1382383"/>
                      <a:pt x="0" y="1177688"/>
                      <a:pt x="0" y="925183"/>
                    </a:cubicBezTo>
                    <a:lnTo>
                      <a:pt x="1087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1" name="直角三角形 10"/>
              <p:cNvSpPr/>
              <p:nvPr/>
            </p:nvSpPr>
            <p:spPr>
              <a:xfrm>
                <a:off x="814238" y="58057"/>
                <a:ext cx="119228" cy="119228"/>
              </a:xfrm>
              <a:prstGeom prst="rtTriangl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87628" y="213920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+mj-ea"/>
                  <a:ea typeface="+mj-ea"/>
                </a:rPr>
                <a:t>01</a:t>
              </a:r>
              <a:endParaRPr lang="zh-CN" altLang="en-US" sz="28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88620" y="1197610"/>
            <a:ext cx="11803380" cy="3423920"/>
            <a:chOff x="479375" y="1892005"/>
            <a:chExt cx="8457918" cy="1718614"/>
          </a:xfrm>
        </p:grpSpPr>
        <p:sp>
          <p:nvSpPr>
            <p:cNvPr id="27" name="矩形 26"/>
            <p:cNvSpPr/>
            <p:nvPr/>
          </p:nvSpPr>
          <p:spPr>
            <a:xfrm flipH="1">
              <a:off x="498837" y="1892005"/>
              <a:ext cx="8438456" cy="1718614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5000"/>
                    <a:lumOff val="95000"/>
                  </a:schemeClr>
                </a:gs>
                <a:gs pos="100000">
                  <a:schemeClr val="accent2">
                    <a:alpha val="0"/>
                    <a:lumMod val="5000"/>
                    <a:lumOff val="95000"/>
                  </a:schemeClr>
                </a:gs>
              </a:gsLst>
              <a:lin ang="10800000" scaled="1"/>
              <a:tileRect/>
            </a:gradFill>
            <a:ln w="19050">
              <a:noFill/>
            </a:ln>
            <a:effectLst/>
            <a:sp3d extrusionH="508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479375" y="1892006"/>
              <a:ext cx="0" cy="1718613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矩形: 圆角 45"/>
          <p:cNvSpPr/>
          <p:nvPr/>
        </p:nvSpPr>
        <p:spPr>
          <a:xfrm>
            <a:off x="9218930" y="1285875"/>
            <a:ext cx="2321560" cy="2745105"/>
          </a:xfrm>
          <a:prstGeom prst="roundRect">
            <a:avLst>
              <a:gd name="adj" fmla="val 1652"/>
            </a:avLst>
          </a:pr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>
            <a:outerShdw blurRad="444500" dist="279400" dir="10800000" algn="tr" rotWithShape="0">
              <a:schemeClr val="accent1">
                <a:alpha val="17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+mj-ea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55190" y="1286159"/>
            <a:ext cx="1718529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lumMod val="50000"/>
                      </a:schemeClr>
                    </a:gs>
                  </a:gsLst>
                  <a:lin ang="2700000" scaled="1"/>
                  <a:tileRect/>
                </a:gradFill>
                <a:latin typeface="+mj-ea"/>
                <a:ea typeface="+mj-ea"/>
              </a:rPr>
              <a:t>李</a:t>
            </a:r>
            <a:r>
              <a:rPr lang="en-US" altLang="zh-CN" sz="3200" b="1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lumMod val="50000"/>
                      </a:schemeClr>
                    </a:gs>
                  </a:gsLst>
                  <a:lin ang="2700000" scaled="1"/>
                  <a:tileRect/>
                </a:gradFill>
                <a:latin typeface="+mj-ea"/>
                <a:ea typeface="+mj-ea"/>
              </a:rPr>
              <a:t>xxx</a:t>
            </a:r>
            <a:endParaRPr lang="en-US" altLang="zh-CN" sz="3200" b="1" dirty="0"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lumMod val="50000"/>
                    </a:schemeClr>
                  </a:gs>
                </a:gsLst>
                <a:lin ang="2700000" scaled="1"/>
                <a:tileRect/>
              </a:gradFill>
              <a:latin typeface="+mj-ea"/>
              <a:ea typeface="+mj-ea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655955" y="1922780"/>
            <a:ext cx="613156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本科院校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专业：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xx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大学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电气工程及其自动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化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933466" y="269723"/>
            <a:ext cx="4559560" cy="523220"/>
            <a:chOff x="933466" y="262461"/>
            <a:chExt cx="4559560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933466" y="262461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个人基本信息</a:t>
              </a:r>
              <a:endParaRPr lang="zh-CN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>
            <a:xfrm>
              <a:off x="3345455" y="322855"/>
              <a:ext cx="0" cy="40243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/>
            <p:cNvSpPr txBox="1"/>
            <p:nvPr/>
          </p:nvSpPr>
          <p:spPr>
            <a:xfrm>
              <a:off x="3461701" y="293239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个人情况简介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5774233" y="2268973"/>
            <a:ext cx="3100398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latin typeface="+mn-ea"/>
              </a:rPr>
              <a:t>联系方式：</a:t>
            </a:r>
            <a:r>
              <a:rPr lang="en-US" altLang="zh-CN" kern="0" dirty="0">
                <a:latin typeface="+mn-ea"/>
              </a:rPr>
              <a:t>xx</a:t>
            </a:r>
            <a:endParaRPr kumimoji="0" lang="en-US" altLang="zh-CN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63118" y="2311251"/>
            <a:ext cx="3100398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latin typeface="+mn-ea"/>
              </a:rPr>
              <a:t>英语水平：</a:t>
            </a:r>
            <a:r>
              <a:rPr lang="en-US" altLang="zh-CN" kern="0" dirty="0">
                <a:latin typeface="+mn-ea"/>
              </a:rPr>
              <a:t>CET-6</a:t>
            </a:r>
            <a:r>
              <a:rPr lang="zh-CN" altLang="en-US" kern="0" dirty="0">
                <a:latin typeface="+mn-ea"/>
              </a:rPr>
              <a:t>（</a:t>
            </a:r>
            <a:r>
              <a:rPr lang="en-US" altLang="zh-CN" kern="0" dirty="0">
                <a:latin typeface="+mn-ea"/>
              </a:rPr>
              <a:t>50</a:t>
            </a:r>
            <a:r>
              <a:rPr lang="en-US" altLang="zh-CN" kern="0" dirty="0">
                <a:latin typeface="+mn-ea"/>
              </a:rPr>
              <a:t>6</a:t>
            </a:r>
            <a:r>
              <a:rPr lang="zh-CN" altLang="en-US" kern="0" dirty="0">
                <a:latin typeface="+mn-ea"/>
              </a:rPr>
              <a:t>）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665669" y="3522232"/>
            <a:ext cx="8436927" cy="1170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latin typeface="+mn-ea"/>
              </a:rPr>
              <a:t>专业技能：</a:t>
            </a:r>
            <a:endParaRPr lang="en-US" altLang="zh-CN" kern="0" dirty="0">
              <a:latin typeface="+mn-ea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kern="0" dirty="0">
                <a:latin typeface="+mn-ea"/>
              </a:rPr>
              <a:t>掌握</a:t>
            </a:r>
            <a:r>
              <a:rPr lang="en-US" altLang="zh-CN" kern="0" dirty="0">
                <a:latin typeface="+mn-ea"/>
              </a:rPr>
              <a:t>Keil uVision5</a:t>
            </a:r>
            <a:r>
              <a:rPr lang="zh-CN" altLang="en-US" kern="0" dirty="0">
                <a:latin typeface="+mn-ea"/>
              </a:rPr>
              <a:t>、</a:t>
            </a:r>
            <a:r>
              <a:rPr lang="en-US" altLang="zh-CN" kern="0" dirty="0">
                <a:latin typeface="+mn-ea"/>
              </a:rPr>
              <a:t>Matlab</a:t>
            </a:r>
            <a:r>
              <a:rPr lang="zh-CN" altLang="en-US" kern="0" dirty="0">
                <a:latin typeface="+mn-ea"/>
              </a:rPr>
              <a:t>、</a:t>
            </a:r>
            <a:r>
              <a:rPr lang="en-US" altLang="zh-CN" kern="0" dirty="0">
                <a:latin typeface="+mn-ea"/>
              </a:rPr>
              <a:t>Simulink</a:t>
            </a:r>
            <a:r>
              <a:rPr lang="zh-CN" altLang="en-US" kern="0" dirty="0">
                <a:latin typeface="+mn-ea"/>
              </a:rPr>
              <a:t>、</a:t>
            </a:r>
            <a:r>
              <a:rPr lang="en-US" altLang="zh-CN" kern="0" dirty="0">
                <a:latin typeface="+mn-ea"/>
              </a:rPr>
              <a:t>AltiumDesigner</a:t>
            </a:r>
            <a:r>
              <a:rPr lang="zh-CN" altLang="en-US" kern="0" dirty="0">
                <a:latin typeface="+mn-ea"/>
              </a:rPr>
              <a:t>等软件，熟练掌握</a:t>
            </a:r>
            <a:r>
              <a:rPr lang="en-US" altLang="zh-CN" kern="0" dirty="0">
                <a:latin typeface="+mn-ea"/>
                <a:sym typeface="+mn-ea"/>
              </a:rPr>
              <a:t>C</a:t>
            </a:r>
            <a:r>
              <a:rPr lang="zh-CN" altLang="en-US" kern="0" dirty="0">
                <a:latin typeface="+mn-ea"/>
                <a:sym typeface="+mn-ea"/>
              </a:rPr>
              <a:t>语言编程，</a:t>
            </a:r>
            <a:r>
              <a:rPr lang="zh-CN" altLang="en-US" kern="0" dirty="0">
                <a:latin typeface="+mn-ea"/>
              </a:rPr>
              <a:t>焊接技术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377372" y="4720034"/>
            <a:ext cx="1296956" cy="471655"/>
            <a:chOff x="720529" y="1395429"/>
            <a:chExt cx="1296956" cy="471655"/>
          </a:xfrm>
        </p:grpSpPr>
        <p:sp>
          <p:nvSpPr>
            <p:cNvPr id="118" name="矩形: 圆角 117"/>
            <p:cNvSpPr/>
            <p:nvPr/>
          </p:nvSpPr>
          <p:spPr>
            <a:xfrm>
              <a:off x="720531" y="1395429"/>
              <a:ext cx="1296952" cy="471655"/>
            </a:xfrm>
            <a:prstGeom prst="roundRect">
              <a:avLst>
                <a:gd name="adj" fmla="val 26920"/>
              </a:avLst>
            </a:prstGeom>
            <a:solidFill>
              <a:schemeClr val="bg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720529" y="1431201"/>
              <a:ext cx="12969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专业学习</a:t>
              </a:r>
              <a:endParaRPr lang="zh-CN" altLang="en-US" sz="20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</p:grpSp>
      <p:graphicFrame>
        <p:nvGraphicFramePr>
          <p:cNvPr id="120" name="表格 119"/>
          <p:cNvGraphicFramePr>
            <a:graphicFrameLocks noGrp="1"/>
          </p:cNvGraphicFramePr>
          <p:nvPr/>
        </p:nvGraphicFramePr>
        <p:xfrm>
          <a:off x="384794" y="5290317"/>
          <a:ext cx="11525367" cy="15470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9003"/>
                <a:gridCol w="1813248"/>
                <a:gridCol w="1774804"/>
                <a:gridCol w="1934985"/>
                <a:gridCol w="1275007"/>
                <a:gridCol w="1592632"/>
              </a:tblGrid>
              <a:tr h="386751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课程名称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分数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GPA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绩点排名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6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电力系统分析</a:t>
                      </a:r>
                      <a:r>
                        <a:rPr lang="zh-CN" altLang="en-US" sz="1600" dirty="0"/>
                        <a:t>稳态（</a:t>
                      </a:r>
                      <a:r>
                        <a:rPr lang="en-US" altLang="zh-CN" sz="1600" dirty="0"/>
                        <a:t>97</a:t>
                      </a:r>
                      <a:r>
                        <a:rPr lang="zh-CN" altLang="en-US" sz="1600" dirty="0"/>
                        <a:t>）</a:t>
                      </a:r>
                      <a:endParaRPr lang="zh-CN" altLang="en-US" sz="1600" dirty="0"/>
                    </a:p>
                  </a:txBody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电机学（</a:t>
                      </a:r>
                      <a:r>
                        <a:rPr lang="en-US" altLang="zh-CN" sz="1600" dirty="0"/>
                        <a:t>96</a:t>
                      </a:r>
                      <a:r>
                        <a:rPr lang="zh-CN" altLang="en-US" sz="1600" dirty="0"/>
                        <a:t>）</a:t>
                      </a:r>
                      <a:endParaRPr lang="zh-CN" altLang="en-US" sz="1600" dirty="0"/>
                    </a:p>
                  </a:txBody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电力系统</a:t>
                      </a:r>
                      <a:r>
                        <a:rPr lang="zh-CN" altLang="en-US" sz="1600" dirty="0"/>
                        <a:t>继电保护（</a:t>
                      </a:r>
                      <a:r>
                        <a:rPr lang="en-US" altLang="zh-CN" sz="1600" dirty="0"/>
                        <a:t>90</a:t>
                      </a:r>
                      <a:r>
                        <a:rPr lang="zh-CN" altLang="en-US" sz="1600" dirty="0"/>
                        <a:t>）</a:t>
                      </a:r>
                      <a:endParaRPr lang="zh-CN" altLang="en-US" sz="1600" dirty="0"/>
                    </a:p>
                  </a:txBody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自动控制</a:t>
                      </a:r>
                      <a:r>
                        <a:rPr lang="zh-CN" altLang="en-US" sz="1600" dirty="0"/>
                        <a:t>原理（</a:t>
                      </a:r>
                      <a:r>
                        <a:rPr lang="en-US" altLang="zh-CN" sz="1600" dirty="0"/>
                        <a:t>92</a:t>
                      </a:r>
                      <a:r>
                        <a:rPr lang="zh-CN" altLang="en-US" sz="1600" dirty="0"/>
                        <a:t>）</a:t>
                      </a:r>
                      <a:endParaRPr lang="zh-CN" altLang="en-US" sz="1600" dirty="0"/>
                    </a:p>
                  </a:txBody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3.90</a:t>
                      </a:r>
                      <a:endParaRPr lang="zh-CN" altLang="en-US" sz="1600" dirty="0"/>
                    </a:p>
                  </a:txBody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2/171</a:t>
                      </a:r>
                      <a:endParaRPr lang="en-US" altLang="zh-CN" sz="1600" dirty="0"/>
                    </a:p>
                  </a:txBody>
                  <a:tcPr marL="83776" marR="83776" marT="41888" marB="41888" anchor="ctr"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电路</a:t>
                      </a:r>
                      <a:r>
                        <a:rPr lang="zh-CN" altLang="en-US" sz="1600" dirty="0"/>
                        <a:t>原理（</a:t>
                      </a:r>
                      <a:r>
                        <a:rPr lang="en-US" altLang="zh-CN" sz="1600" dirty="0"/>
                        <a:t>96</a:t>
                      </a:r>
                      <a:r>
                        <a:rPr lang="zh-CN" altLang="en-US" sz="1600" dirty="0"/>
                        <a:t>）</a:t>
                      </a:r>
                      <a:endParaRPr lang="zh-CN" altLang="en-US" sz="1600" dirty="0"/>
                    </a:p>
                  </a:txBody>
                  <a:tcPr marL="83776" marR="83776" marT="41888" marB="41888" anchor="ctr"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模拟电子</a:t>
                      </a:r>
                      <a:r>
                        <a:rPr lang="zh-CN" altLang="en-US" sz="1600" dirty="0"/>
                        <a:t>技术（</a:t>
                      </a:r>
                      <a:r>
                        <a:rPr lang="en-US" altLang="zh-CN" sz="1600" dirty="0"/>
                        <a:t>95</a:t>
                      </a:r>
                      <a:r>
                        <a:rPr lang="zh-CN" altLang="en-US" sz="1600" dirty="0"/>
                        <a:t>）</a:t>
                      </a:r>
                      <a:endParaRPr lang="zh-CN" altLang="en-US" sz="1600" dirty="0"/>
                    </a:p>
                  </a:txBody>
                  <a:tcPr marL="83776" marR="83776" marT="41888" marB="41888" anchor="ctr"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数字电子技术（</a:t>
                      </a:r>
                      <a:r>
                        <a:rPr lang="en-US" altLang="zh-CN" sz="1600" dirty="0"/>
                        <a:t>90</a:t>
                      </a:r>
                      <a:r>
                        <a:rPr lang="zh-CN" altLang="en-US" sz="1600" dirty="0"/>
                        <a:t>）</a:t>
                      </a:r>
                      <a:endParaRPr lang="zh-CN" altLang="en-US" sz="1600" dirty="0"/>
                    </a:p>
                  </a:txBody>
                  <a:tcPr marL="83776" marR="83776" marT="41888" marB="41888" anchor="ctr"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dirty="0"/>
                        <a:t>大学</a:t>
                      </a:r>
                      <a:r>
                        <a:rPr lang="zh-CN" altLang="en-US" sz="1600" dirty="0"/>
                        <a:t>物理（</a:t>
                      </a:r>
                      <a:r>
                        <a:rPr lang="en-US" altLang="zh-CN" sz="1600" dirty="0"/>
                        <a:t>99</a:t>
                      </a:r>
                      <a:r>
                        <a:rPr lang="zh-CN" altLang="en-US" sz="1600" dirty="0"/>
                        <a:t>）</a:t>
                      </a:r>
                      <a:endParaRPr lang="zh-CN" altLang="en-US" sz="1600" dirty="0"/>
                    </a:p>
                  </a:txBody>
                  <a:tcPr marL="83776" marR="83776" marT="41888" marB="41888" anchor="ctr"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83776" marR="83776" marT="41888" marB="41888" anchor="ctr"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83776" marR="83776" marT="41888" marB="41888" anchor="ctr">
                    <a:lnT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9" r="-4866"/>
          <a:stretch>
            <a:fillRect/>
          </a:stretch>
        </p:blipFill>
        <p:spPr>
          <a:xfrm>
            <a:off x="8944610" y="57150"/>
            <a:ext cx="3247390" cy="9232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2460" y="2712720"/>
            <a:ext cx="9371965" cy="21590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latin typeface="+mn-ea"/>
              </a:rPr>
              <a:t>个人荣誉：国家奖学金、国家励志奖学金、校一等奖学金、校优秀学生（</a:t>
            </a:r>
            <a:r>
              <a:rPr lang="en-US" altLang="zh-CN" kern="0" dirty="0">
                <a:latin typeface="+mn-ea"/>
              </a:rPr>
              <a:t>2</a:t>
            </a:r>
            <a:r>
              <a:rPr lang="zh-CN" altLang="en-US" kern="0" dirty="0">
                <a:latin typeface="+mn-ea"/>
              </a:rPr>
              <a:t>次）</a:t>
            </a:r>
            <a:r>
              <a:rPr lang="zh-CN" altLang="en-US" kern="0" dirty="0">
                <a:latin typeface="+mn-ea"/>
              </a:rPr>
              <a:t>等</a:t>
            </a: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1510" y="3114675"/>
            <a:ext cx="9371965" cy="14033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dirty="0">
                <a:latin typeface="+mn-ea"/>
              </a:rPr>
              <a:t>竞赛获奖：国家级奖项</a:t>
            </a:r>
            <a:r>
              <a:rPr lang="en-US" altLang="zh-CN" kern="0" dirty="0">
                <a:latin typeface="+mn-ea"/>
              </a:rPr>
              <a:t>5</a:t>
            </a:r>
            <a:r>
              <a:rPr lang="zh-CN" altLang="en-US" kern="0" dirty="0">
                <a:latin typeface="+mn-ea"/>
              </a:rPr>
              <a:t>项，省级奖项</a:t>
            </a:r>
            <a:r>
              <a:rPr lang="en-US" altLang="zh-CN" kern="0" dirty="0">
                <a:latin typeface="+mn-ea"/>
              </a:rPr>
              <a:t>7</a:t>
            </a:r>
            <a:r>
              <a:rPr lang="zh-CN" altLang="en-US" kern="0" dirty="0">
                <a:latin typeface="+mn-ea"/>
              </a:rPr>
              <a:t>项，校级奖项</a:t>
            </a:r>
            <a:r>
              <a:rPr lang="en-US" altLang="zh-CN" kern="0" dirty="0">
                <a:latin typeface="+mn-ea"/>
              </a:rPr>
              <a:t>15</a:t>
            </a:r>
            <a:r>
              <a:rPr lang="zh-CN" altLang="en-US" kern="0" dirty="0">
                <a:latin typeface="+mn-ea"/>
              </a:rPr>
              <a:t>项</a:t>
            </a: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kern="0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组合 126"/>
          <p:cNvGrpSpPr/>
          <p:nvPr/>
        </p:nvGrpSpPr>
        <p:grpSpPr>
          <a:xfrm>
            <a:off x="623205" y="1693346"/>
            <a:ext cx="10960983" cy="2656119"/>
            <a:chOff x="623205" y="1693346"/>
            <a:chExt cx="10960983" cy="2656119"/>
          </a:xfrm>
        </p:grpSpPr>
        <p:sp>
          <p:nvSpPr>
            <p:cNvPr id="122" name="矩形: 圆角 121"/>
            <p:cNvSpPr/>
            <p:nvPr/>
          </p:nvSpPr>
          <p:spPr>
            <a:xfrm>
              <a:off x="626958" y="1698083"/>
              <a:ext cx="10957230" cy="2651382"/>
            </a:xfrm>
            <a:prstGeom prst="roundRect">
              <a:avLst>
                <a:gd name="adj" fmla="val 1685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0800" dist="381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623205" y="1693346"/>
              <a:ext cx="1780950" cy="436737"/>
            </a:xfrm>
            <a:custGeom>
              <a:avLst/>
              <a:gdLst>
                <a:gd name="connsiteX0" fmla="*/ 0 w 1780950"/>
                <a:gd name="connsiteY0" fmla="*/ 0 h 432000"/>
                <a:gd name="connsiteX1" fmla="*/ 1778399 w 1780950"/>
                <a:gd name="connsiteY1" fmla="*/ 0 h 432000"/>
                <a:gd name="connsiteX2" fmla="*/ 1780950 w 1780950"/>
                <a:gd name="connsiteY2" fmla="*/ 12636 h 432000"/>
                <a:gd name="connsiteX3" fmla="*/ 1780950 w 1780950"/>
                <a:gd name="connsiteY3" fmla="*/ 59364 h 432000"/>
                <a:gd name="connsiteX4" fmla="*/ 1408314 w 1780950"/>
                <a:gd name="connsiteY4" fmla="*/ 432000 h 432000"/>
                <a:gd name="connsiteX5" fmla="*/ 0 w 1780950"/>
                <a:gd name="connsiteY5" fmla="*/ 432000 h 4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0950" h="432000">
                  <a:moveTo>
                    <a:pt x="0" y="0"/>
                  </a:moveTo>
                  <a:lnTo>
                    <a:pt x="1778399" y="0"/>
                  </a:lnTo>
                  <a:lnTo>
                    <a:pt x="1780950" y="12636"/>
                  </a:lnTo>
                  <a:lnTo>
                    <a:pt x="1780950" y="59364"/>
                  </a:lnTo>
                  <a:cubicBezTo>
                    <a:pt x="1780950" y="265165"/>
                    <a:pt x="1614115" y="432000"/>
                    <a:pt x="1408314" y="432000"/>
                  </a:cubicBezTo>
                  <a:lnTo>
                    <a:pt x="0" y="432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133710" y="58057"/>
            <a:ext cx="12459420" cy="938977"/>
            <a:chOff x="-133710" y="58057"/>
            <a:chExt cx="12459420" cy="938977"/>
          </a:xfrm>
        </p:grpSpPr>
        <p:grpSp>
          <p:nvGrpSpPr>
            <p:cNvPr id="24" name="组合 23"/>
            <p:cNvGrpSpPr/>
            <p:nvPr/>
          </p:nvGrpSpPr>
          <p:grpSpPr>
            <a:xfrm>
              <a:off x="-133710" y="58057"/>
              <a:ext cx="12459420" cy="938977"/>
              <a:chOff x="-133710" y="58057"/>
              <a:chExt cx="12459420" cy="938977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-133710" y="177285"/>
                <a:ext cx="12459420" cy="69357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dist="38100" dir="2700000" algn="tl" rotWithShape="0">
                  <a:prstClr val="black">
                    <a:alpha val="2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93136" y="58057"/>
                <a:ext cx="621102" cy="938977"/>
              </a:xfrm>
              <a:custGeom>
                <a:avLst/>
                <a:gdLst>
                  <a:gd name="connsiteX0" fmla="*/ 0 w 914400"/>
                  <a:gd name="connsiteY0" fmla="*/ 0 h 1382383"/>
                  <a:gd name="connsiteX1" fmla="*/ 914400 w 914400"/>
                  <a:gd name="connsiteY1" fmla="*/ 0 h 1382383"/>
                  <a:gd name="connsiteX2" fmla="*/ 914400 w 914400"/>
                  <a:gd name="connsiteY2" fmla="*/ 914400 h 1382383"/>
                  <a:gd name="connsiteX3" fmla="*/ 913313 w 914400"/>
                  <a:gd name="connsiteY3" fmla="*/ 914400 h 1382383"/>
                  <a:gd name="connsiteX4" fmla="*/ 914400 w 914400"/>
                  <a:gd name="connsiteY4" fmla="*/ 925183 h 1382383"/>
                  <a:gd name="connsiteX5" fmla="*/ 457200 w 914400"/>
                  <a:gd name="connsiteY5" fmla="*/ 1382383 h 1382383"/>
                  <a:gd name="connsiteX6" fmla="*/ 0 w 914400"/>
                  <a:gd name="connsiteY6" fmla="*/ 925183 h 1382383"/>
                  <a:gd name="connsiteX7" fmla="*/ 1087 w 914400"/>
                  <a:gd name="connsiteY7" fmla="*/ 914400 h 1382383"/>
                  <a:gd name="connsiteX8" fmla="*/ 0 w 914400"/>
                  <a:gd name="connsiteY8" fmla="*/ 914400 h 1382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400" h="1382383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913313" y="914400"/>
                    </a:lnTo>
                    <a:lnTo>
                      <a:pt x="914400" y="925183"/>
                    </a:lnTo>
                    <a:cubicBezTo>
                      <a:pt x="914400" y="1177688"/>
                      <a:pt x="709705" y="1382383"/>
                      <a:pt x="457200" y="1382383"/>
                    </a:cubicBezTo>
                    <a:cubicBezTo>
                      <a:pt x="204695" y="1382383"/>
                      <a:pt x="0" y="1177688"/>
                      <a:pt x="0" y="925183"/>
                    </a:cubicBezTo>
                    <a:lnTo>
                      <a:pt x="1087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1" name="直角三角形 10"/>
              <p:cNvSpPr/>
              <p:nvPr/>
            </p:nvSpPr>
            <p:spPr>
              <a:xfrm>
                <a:off x="814238" y="58057"/>
                <a:ext cx="119228" cy="119228"/>
              </a:xfrm>
              <a:prstGeom prst="rtTriangl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87628" y="213920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28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933466" y="269723"/>
            <a:ext cx="4539915" cy="523220"/>
            <a:chOff x="933466" y="262461"/>
            <a:chExt cx="4539915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933466" y="262461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科研竞赛经历</a:t>
              </a:r>
              <a:endParaRPr lang="zh-CN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>
            <a:xfrm>
              <a:off x="3345455" y="322855"/>
              <a:ext cx="0" cy="40243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/>
            <p:cNvSpPr txBox="1"/>
            <p:nvPr/>
          </p:nvSpPr>
          <p:spPr>
            <a:xfrm>
              <a:off x="3461701" y="293239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科研</a:t>
              </a:r>
              <a:r>
                <a:rPr lang="zh-CN" altLang="en-US" sz="2400" b="1" dirty="0">
                  <a:latin typeface="+mj-ea"/>
                  <a:ea typeface="+mj-ea"/>
                </a:rPr>
                <a:t>竞赛项目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626957" y="1091673"/>
            <a:ext cx="10938085" cy="471655"/>
            <a:chOff x="626957" y="1091673"/>
            <a:chExt cx="10938085" cy="471655"/>
          </a:xfrm>
        </p:grpSpPr>
        <p:sp>
          <p:nvSpPr>
            <p:cNvPr id="120" name="矩形 119"/>
            <p:cNvSpPr/>
            <p:nvPr/>
          </p:nvSpPr>
          <p:spPr>
            <a:xfrm>
              <a:off x="2062542" y="1127445"/>
              <a:ext cx="9502500" cy="39537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" name="组合 47"/>
            <p:cNvGrpSpPr/>
            <p:nvPr/>
          </p:nvGrpSpPr>
          <p:grpSpPr>
            <a:xfrm>
              <a:off x="626957" y="1091673"/>
              <a:ext cx="1634987" cy="471655"/>
              <a:chOff x="720530" y="1395429"/>
              <a:chExt cx="1296953" cy="471655"/>
            </a:xfrm>
          </p:grpSpPr>
          <p:sp>
            <p:nvSpPr>
              <p:cNvPr id="49" name="矩形: 圆角 48"/>
              <p:cNvSpPr/>
              <p:nvPr/>
            </p:nvSpPr>
            <p:spPr>
              <a:xfrm>
                <a:off x="720531" y="1395429"/>
                <a:ext cx="1296952" cy="471655"/>
              </a:xfrm>
              <a:prstGeom prst="roundRect">
                <a:avLst>
                  <a:gd name="adj" fmla="val 26920"/>
                </a:avLst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911D21"/>
                  </a:solidFill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720530" y="1431201"/>
                <a:ext cx="12969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chemeClr val="accent1"/>
                    </a:solidFill>
                    <a:latin typeface="+mj-ea"/>
                    <a:ea typeface="+mj-ea"/>
                  </a:rPr>
                  <a:t>研究课题一</a:t>
                </a:r>
                <a:endPara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51" name="文本框 50"/>
            <p:cNvSpPr txBox="1"/>
            <p:nvPr/>
          </p:nvSpPr>
          <p:spPr>
            <a:xfrm>
              <a:off x="2411543" y="1140465"/>
              <a:ext cx="8965448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基于多传感器融合的果实采摘智能车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2" name="矩形: 圆角 51"/>
          <p:cNvSpPr/>
          <p:nvPr>
            <p:custDataLst>
              <p:tags r:id="rId1"/>
            </p:custDataLst>
          </p:nvPr>
        </p:nvSpPr>
        <p:spPr>
          <a:xfrm>
            <a:off x="626956" y="4414830"/>
            <a:ext cx="10957229" cy="2142669"/>
          </a:xfrm>
          <a:prstGeom prst="roundRect">
            <a:avLst>
              <a:gd name="adj" fmla="val 2237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9" name="组合 88"/>
          <p:cNvGrpSpPr/>
          <p:nvPr>
            <p:custDataLst>
              <p:tags r:id="rId2"/>
            </p:custDataLst>
          </p:nvPr>
        </p:nvGrpSpPr>
        <p:grpSpPr>
          <a:xfrm>
            <a:off x="1005840" y="4583430"/>
            <a:ext cx="536575" cy="488950"/>
            <a:chOff x="2174235" y="2275017"/>
            <a:chExt cx="839139" cy="839138"/>
          </a:xfrm>
        </p:grpSpPr>
        <p:sp>
          <p:nvSpPr>
            <p:cNvPr id="86" name="椭圆 85"/>
            <p:cNvSpPr/>
            <p:nvPr>
              <p:custDataLst>
                <p:tags r:id="rId3"/>
              </p:custDataLst>
            </p:nvPr>
          </p:nvSpPr>
          <p:spPr>
            <a:xfrm>
              <a:off x="2174235" y="2275017"/>
              <a:ext cx="839139" cy="839138"/>
            </a:xfrm>
            <a:prstGeom prst="ellipse">
              <a:avLst/>
            </a:prstGeom>
            <a:gradFill>
              <a:gsLst>
                <a:gs pos="79000">
                  <a:schemeClr val="accent1"/>
                </a:gs>
                <a:gs pos="95000">
                  <a:schemeClr val="accent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  <a:effectLst>
              <a:outerShdw blurRad="165100" dist="76200" dir="5400000" algn="t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2325056" y="2378110"/>
              <a:ext cx="539686" cy="539686"/>
              <a:chOff x="1147763" y="1502226"/>
              <a:chExt cx="603288" cy="603288"/>
            </a:xfrm>
            <a:solidFill>
              <a:schemeClr val="bg1"/>
            </a:solidFill>
          </p:grpSpPr>
          <p:sp>
            <p:nvSpPr>
              <p:cNvPr id="75" name="任意多边形: 形状 74"/>
              <p:cNvSpPr/>
              <p:nvPr>
                <p:custDataLst>
                  <p:tags r:id="rId4"/>
                </p:custDataLst>
              </p:nvPr>
            </p:nvSpPr>
            <p:spPr>
              <a:xfrm>
                <a:off x="1206145" y="2047131"/>
                <a:ext cx="19460" cy="19460"/>
              </a:xfrm>
              <a:custGeom>
                <a:avLst/>
                <a:gdLst>
                  <a:gd name="connsiteX0" fmla="*/ 0 w 19460"/>
                  <a:gd name="connsiteY0" fmla="*/ 0 h 19460"/>
                  <a:gd name="connsiteX1" fmla="*/ 19461 w 19460"/>
                  <a:gd name="connsiteY1" fmla="*/ 0 h 19460"/>
                  <a:gd name="connsiteX2" fmla="*/ 19461 w 19460"/>
                  <a:gd name="connsiteY2" fmla="*/ 19461 h 19460"/>
                  <a:gd name="connsiteX3" fmla="*/ 0 w 19460"/>
                  <a:gd name="connsiteY3" fmla="*/ 19461 h 1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60" h="19460">
                    <a:moveTo>
                      <a:pt x="0" y="0"/>
                    </a:moveTo>
                    <a:lnTo>
                      <a:pt x="19461" y="0"/>
                    </a:lnTo>
                    <a:lnTo>
                      <a:pt x="19461" y="19461"/>
                    </a:lnTo>
                    <a:lnTo>
                      <a:pt x="0" y="19461"/>
                    </a:lnTo>
                    <a:close/>
                  </a:path>
                </a:pathLst>
              </a:custGeom>
              <a:grpFill/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思源黑体 CN Regular"/>
                  <a:cs typeface="+mn-cs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5"/>
                </p:custDataLst>
              </p:nvPr>
            </p:nvSpPr>
            <p:spPr>
              <a:xfrm>
                <a:off x="1245067" y="2047131"/>
                <a:ext cx="19460" cy="19460"/>
              </a:xfrm>
              <a:custGeom>
                <a:avLst/>
                <a:gdLst>
                  <a:gd name="connsiteX0" fmla="*/ 0 w 19460"/>
                  <a:gd name="connsiteY0" fmla="*/ 0 h 19460"/>
                  <a:gd name="connsiteX1" fmla="*/ 19461 w 19460"/>
                  <a:gd name="connsiteY1" fmla="*/ 0 h 19460"/>
                  <a:gd name="connsiteX2" fmla="*/ 19461 w 19460"/>
                  <a:gd name="connsiteY2" fmla="*/ 19461 h 19460"/>
                  <a:gd name="connsiteX3" fmla="*/ 0 w 19460"/>
                  <a:gd name="connsiteY3" fmla="*/ 19461 h 1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60" h="19460">
                    <a:moveTo>
                      <a:pt x="0" y="0"/>
                    </a:moveTo>
                    <a:lnTo>
                      <a:pt x="19461" y="0"/>
                    </a:lnTo>
                    <a:lnTo>
                      <a:pt x="19461" y="19461"/>
                    </a:lnTo>
                    <a:lnTo>
                      <a:pt x="0" y="19461"/>
                    </a:lnTo>
                    <a:close/>
                  </a:path>
                </a:pathLst>
              </a:custGeom>
              <a:grpFill/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思源黑体 CN Regular"/>
                  <a:cs typeface="+mn-cs"/>
                </a:endParaRPr>
              </a:p>
            </p:txBody>
          </p:sp>
          <p:sp>
            <p:nvSpPr>
              <p:cNvPr id="77" name="任意多边形: 形状 76"/>
              <p:cNvSpPr/>
              <p:nvPr>
                <p:custDataLst>
                  <p:tags r:id="rId6"/>
                </p:custDataLst>
              </p:nvPr>
            </p:nvSpPr>
            <p:spPr>
              <a:xfrm>
                <a:off x="1283989" y="2047131"/>
                <a:ext cx="19460" cy="19460"/>
              </a:xfrm>
              <a:custGeom>
                <a:avLst/>
                <a:gdLst>
                  <a:gd name="connsiteX0" fmla="*/ 0 w 19460"/>
                  <a:gd name="connsiteY0" fmla="*/ 0 h 19460"/>
                  <a:gd name="connsiteX1" fmla="*/ 19461 w 19460"/>
                  <a:gd name="connsiteY1" fmla="*/ 0 h 19460"/>
                  <a:gd name="connsiteX2" fmla="*/ 19461 w 19460"/>
                  <a:gd name="connsiteY2" fmla="*/ 19461 h 19460"/>
                  <a:gd name="connsiteX3" fmla="*/ 0 w 19460"/>
                  <a:gd name="connsiteY3" fmla="*/ 19461 h 1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60" h="19460">
                    <a:moveTo>
                      <a:pt x="0" y="0"/>
                    </a:moveTo>
                    <a:lnTo>
                      <a:pt x="19461" y="0"/>
                    </a:lnTo>
                    <a:lnTo>
                      <a:pt x="19461" y="19461"/>
                    </a:lnTo>
                    <a:lnTo>
                      <a:pt x="0" y="19461"/>
                    </a:lnTo>
                    <a:close/>
                  </a:path>
                </a:pathLst>
              </a:custGeom>
              <a:grpFill/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思源黑体 CN Regular"/>
                  <a:cs typeface="+mn-cs"/>
                </a:endParaRPr>
              </a:p>
            </p:txBody>
          </p:sp>
          <p:sp>
            <p:nvSpPr>
              <p:cNvPr id="78" name="任意多边形: 形状 77"/>
              <p:cNvSpPr/>
              <p:nvPr>
                <p:custDataLst>
                  <p:tags r:id="rId7"/>
                </p:custDataLst>
              </p:nvPr>
            </p:nvSpPr>
            <p:spPr>
              <a:xfrm>
                <a:off x="1614824" y="2047131"/>
                <a:ext cx="77843" cy="19460"/>
              </a:xfrm>
              <a:custGeom>
                <a:avLst/>
                <a:gdLst>
                  <a:gd name="connsiteX0" fmla="*/ 0 w 77843"/>
                  <a:gd name="connsiteY0" fmla="*/ 0 h 19460"/>
                  <a:gd name="connsiteX1" fmla="*/ 77844 w 77843"/>
                  <a:gd name="connsiteY1" fmla="*/ 0 h 19460"/>
                  <a:gd name="connsiteX2" fmla="*/ 77844 w 77843"/>
                  <a:gd name="connsiteY2" fmla="*/ 19461 h 19460"/>
                  <a:gd name="connsiteX3" fmla="*/ 0 w 77843"/>
                  <a:gd name="connsiteY3" fmla="*/ 19461 h 1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843" h="19460">
                    <a:moveTo>
                      <a:pt x="0" y="0"/>
                    </a:moveTo>
                    <a:lnTo>
                      <a:pt x="77844" y="0"/>
                    </a:lnTo>
                    <a:lnTo>
                      <a:pt x="77844" y="19461"/>
                    </a:lnTo>
                    <a:lnTo>
                      <a:pt x="0" y="19461"/>
                    </a:lnTo>
                    <a:close/>
                  </a:path>
                </a:pathLst>
              </a:custGeom>
              <a:grpFill/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思源黑体 CN Regular"/>
                  <a:cs typeface="+mn-cs"/>
                </a:endParaRPr>
              </a:p>
            </p:txBody>
          </p:sp>
          <p:sp>
            <p:nvSpPr>
              <p:cNvPr id="79" name="任意多边形: 形状 7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47763" y="1502226"/>
                <a:ext cx="603288" cy="603288"/>
              </a:xfrm>
              <a:custGeom>
                <a:avLst/>
                <a:gdLst>
                  <a:gd name="connsiteX0" fmla="*/ 583827 w 603288"/>
                  <a:gd name="connsiteY0" fmla="*/ 505983 h 603288"/>
                  <a:gd name="connsiteX1" fmla="*/ 583827 w 603288"/>
                  <a:gd name="connsiteY1" fmla="*/ 184879 h 603288"/>
                  <a:gd name="connsiteX2" fmla="*/ 535175 w 603288"/>
                  <a:gd name="connsiteY2" fmla="*/ 136226 h 603288"/>
                  <a:gd name="connsiteX3" fmla="*/ 505983 w 603288"/>
                  <a:gd name="connsiteY3" fmla="*/ 136226 h 603288"/>
                  <a:gd name="connsiteX4" fmla="*/ 369757 w 603288"/>
                  <a:gd name="connsiteY4" fmla="*/ 0 h 603288"/>
                  <a:gd name="connsiteX5" fmla="*/ 233531 w 603288"/>
                  <a:gd name="connsiteY5" fmla="*/ 136226 h 603288"/>
                  <a:gd name="connsiteX6" fmla="*/ 68113 w 603288"/>
                  <a:gd name="connsiteY6" fmla="*/ 136226 h 603288"/>
                  <a:gd name="connsiteX7" fmla="*/ 19461 w 603288"/>
                  <a:gd name="connsiteY7" fmla="*/ 184879 h 603288"/>
                  <a:gd name="connsiteX8" fmla="*/ 19461 w 603288"/>
                  <a:gd name="connsiteY8" fmla="*/ 505983 h 603288"/>
                  <a:gd name="connsiteX9" fmla="*/ 0 w 603288"/>
                  <a:gd name="connsiteY9" fmla="*/ 505983 h 603288"/>
                  <a:gd name="connsiteX10" fmla="*/ 0 w 603288"/>
                  <a:gd name="connsiteY10" fmla="*/ 554636 h 603288"/>
                  <a:gd name="connsiteX11" fmla="*/ 48652 w 603288"/>
                  <a:gd name="connsiteY11" fmla="*/ 603288 h 603288"/>
                  <a:gd name="connsiteX12" fmla="*/ 554636 w 603288"/>
                  <a:gd name="connsiteY12" fmla="*/ 603288 h 603288"/>
                  <a:gd name="connsiteX13" fmla="*/ 603288 w 603288"/>
                  <a:gd name="connsiteY13" fmla="*/ 554636 h 603288"/>
                  <a:gd name="connsiteX14" fmla="*/ 603288 w 603288"/>
                  <a:gd name="connsiteY14" fmla="*/ 505983 h 603288"/>
                  <a:gd name="connsiteX15" fmla="*/ 535175 w 603288"/>
                  <a:gd name="connsiteY15" fmla="*/ 155687 h 603288"/>
                  <a:gd name="connsiteX16" fmla="*/ 564366 w 603288"/>
                  <a:gd name="connsiteY16" fmla="*/ 184879 h 603288"/>
                  <a:gd name="connsiteX17" fmla="*/ 564366 w 603288"/>
                  <a:gd name="connsiteY17" fmla="*/ 505983 h 603288"/>
                  <a:gd name="connsiteX18" fmla="*/ 544905 w 603288"/>
                  <a:gd name="connsiteY18" fmla="*/ 505983 h 603288"/>
                  <a:gd name="connsiteX19" fmla="*/ 544905 w 603288"/>
                  <a:gd name="connsiteY19" fmla="*/ 194609 h 603288"/>
                  <a:gd name="connsiteX20" fmla="*/ 525444 w 603288"/>
                  <a:gd name="connsiteY20" fmla="*/ 175148 h 603288"/>
                  <a:gd name="connsiteX21" fmla="*/ 500244 w 603288"/>
                  <a:gd name="connsiteY21" fmla="*/ 175148 h 603288"/>
                  <a:gd name="connsiteX22" fmla="*/ 504425 w 603288"/>
                  <a:gd name="connsiteY22" fmla="*/ 155687 h 603288"/>
                  <a:gd name="connsiteX23" fmla="*/ 258645 w 603288"/>
                  <a:gd name="connsiteY23" fmla="*/ 100469 h 603288"/>
                  <a:gd name="connsiteX24" fmla="*/ 361923 w 603288"/>
                  <a:gd name="connsiteY24" fmla="*/ 143505 h 603288"/>
                  <a:gd name="connsiteX25" fmla="*/ 397286 w 603288"/>
                  <a:gd name="connsiteY25" fmla="*/ 249575 h 603288"/>
                  <a:gd name="connsiteX26" fmla="*/ 369757 w 603288"/>
                  <a:gd name="connsiteY26" fmla="*/ 252992 h 603288"/>
                  <a:gd name="connsiteX27" fmla="*/ 252992 w 603288"/>
                  <a:gd name="connsiteY27" fmla="*/ 136226 h 603288"/>
                  <a:gd name="connsiteX28" fmla="*/ 258645 w 603288"/>
                  <a:gd name="connsiteY28" fmla="*/ 100469 h 603288"/>
                  <a:gd name="connsiteX29" fmla="*/ 415772 w 603288"/>
                  <a:gd name="connsiteY29" fmla="*/ 243503 h 603288"/>
                  <a:gd name="connsiteX30" fmla="*/ 380889 w 603288"/>
                  <a:gd name="connsiteY30" fmla="*/ 138854 h 603288"/>
                  <a:gd name="connsiteX31" fmla="*/ 458827 w 603288"/>
                  <a:gd name="connsiteY31" fmla="*/ 60910 h 603288"/>
                  <a:gd name="connsiteX32" fmla="*/ 486523 w 603288"/>
                  <a:gd name="connsiteY32" fmla="*/ 136226 h 603288"/>
                  <a:gd name="connsiteX33" fmla="*/ 415772 w 603288"/>
                  <a:gd name="connsiteY33" fmla="*/ 243503 h 603288"/>
                  <a:gd name="connsiteX34" fmla="*/ 369757 w 603288"/>
                  <a:gd name="connsiteY34" fmla="*/ 19461 h 603288"/>
                  <a:gd name="connsiteX35" fmla="*/ 445083 w 603288"/>
                  <a:gd name="connsiteY35" fmla="*/ 47146 h 603288"/>
                  <a:gd name="connsiteX36" fmla="*/ 367491 w 603288"/>
                  <a:gd name="connsiteY36" fmla="*/ 124733 h 603288"/>
                  <a:gd name="connsiteX37" fmla="*/ 266186 w 603288"/>
                  <a:gd name="connsiteY37" fmla="*/ 82533 h 603288"/>
                  <a:gd name="connsiteX38" fmla="*/ 369757 w 603288"/>
                  <a:gd name="connsiteY38" fmla="*/ 19461 h 603288"/>
                  <a:gd name="connsiteX39" fmla="*/ 38922 w 603288"/>
                  <a:gd name="connsiteY39" fmla="*/ 184879 h 603288"/>
                  <a:gd name="connsiteX40" fmla="*/ 68113 w 603288"/>
                  <a:gd name="connsiteY40" fmla="*/ 155687 h 603288"/>
                  <a:gd name="connsiteX41" fmla="*/ 235089 w 603288"/>
                  <a:gd name="connsiteY41" fmla="*/ 155687 h 603288"/>
                  <a:gd name="connsiteX42" fmla="*/ 239271 w 603288"/>
                  <a:gd name="connsiteY42" fmla="*/ 175148 h 603288"/>
                  <a:gd name="connsiteX43" fmla="*/ 77844 w 603288"/>
                  <a:gd name="connsiteY43" fmla="*/ 175148 h 603288"/>
                  <a:gd name="connsiteX44" fmla="*/ 58383 w 603288"/>
                  <a:gd name="connsiteY44" fmla="*/ 194609 h 603288"/>
                  <a:gd name="connsiteX45" fmla="*/ 58383 w 603288"/>
                  <a:gd name="connsiteY45" fmla="*/ 505983 h 603288"/>
                  <a:gd name="connsiteX46" fmla="*/ 38922 w 603288"/>
                  <a:gd name="connsiteY46" fmla="*/ 505983 h 603288"/>
                  <a:gd name="connsiteX47" fmla="*/ 583827 w 603288"/>
                  <a:gd name="connsiteY47" fmla="*/ 554636 h 603288"/>
                  <a:gd name="connsiteX48" fmla="*/ 554636 w 603288"/>
                  <a:gd name="connsiteY48" fmla="*/ 583827 h 603288"/>
                  <a:gd name="connsiteX49" fmla="*/ 48652 w 603288"/>
                  <a:gd name="connsiteY49" fmla="*/ 583827 h 603288"/>
                  <a:gd name="connsiteX50" fmla="*/ 19461 w 603288"/>
                  <a:gd name="connsiteY50" fmla="*/ 554636 h 603288"/>
                  <a:gd name="connsiteX51" fmla="*/ 19461 w 603288"/>
                  <a:gd name="connsiteY51" fmla="*/ 525444 h 603288"/>
                  <a:gd name="connsiteX52" fmla="*/ 219928 w 603288"/>
                  <a:gd name="connsiteY52" fmla="*/ 525444 h 603288"/>
                  <a:gd name="connsiteX53" fmla="*/ 270790 w 603288"/>
                  <a:gd name="connsiteY53" fmla="*/ 544905 h 603288"/>
                  <a:gd name="connsiteX54" fmla="*/ 332508 w 603288"/>
                  <a:gd name="connsiteY54" fmla="*/ 544905 h 603288"/>
                  <a:gd name="connsiteX55" fmla="*/ 383369 w 603288"/>
                  <a:gd name="connsiteY55" fmla="*/ 525444 h 603288"/>
                  <a:gd name="connsiteX56" fmla="*/ 505983 w 603288"/>
                  <a:gd name="connsiteY56" fmla="*/ 525444 h 603288"/>
                  <a:gd name="connsiteX57" fmla="*/ 505983 w 603288"/>
                  <a:gd name="connsiteY57" fmla="*/ 505983 h 603288"/>
                  <a:gd name="connsiteX58" fmla="*/ 375459 w 603288"/>
                  <a:gd name="connsiteY58" fmla="*/ 505983 h 603288"/>
                  <a:gd name="connsiteX59" fmla="*/ 372608 w 603288"/>
                  <a:gd name="connsiteY59" fmla="*/ 508835 h 603288"/>
                  <a:gd name="connsiteX60" fmla="*/ 332498 w 603288"/>
                  <a:gd name="connsiteY60" fmla="*/ 525444 h 603288"/>
                  <a:gd name="connsiteX61" fmla="*/ 270780 w 603288"/>
                  <a:gd name="connsiteY61" fmla="*/ 525444 h 603288"/>
                  <a:gd name="connsiteX62" fmla="*/ 230670 w 603288"/>
                  <a:gd name="connsiteY62" fmla="*/ 508835 h 603288"/>
                  <a:gd name="connsiteX63" fmla="*/ 227830 w 603288"/>
                  <a:gd name="connsiteY63" fmla="*/ 505983 h 603288"/>
                  <a:gd name="connsiteX64" fmla="*/ 77844 w 603288"/>
                  <a:gd name="connsiteY64" fmla="*/ 505983 h 603288"/>
                  <a:gd name="connsiteX65" fmla="*/ 77844 w 603288"/>
                  <a:gd name="connsiteY65" fmla="*/ 194609 h 603288"/>
                  <a:gd name="connsiteX66" fmla="*/ 246863 w 603288"/>
                  <a:gd name="connsiteY66" fmla="*/ 194609 h 603288"/>
                  <a:gd name="connsiteX67" fmla="*/ 369757 w 603288"/>
                  <a:gd name="connsiteY67" fmla="*/ 272453 h 603288"/>
                  <a:gd name="connsiteX68" fmla="*/ 492652 w 603288"/>
                  <a:gd name="connsiteY68" fmla="*/ 194609 h 603288"/>
                  <a:gd name="connsiteX69" fmla="*/ 525444 w 603288"/>
                  <a:gd name="connsiteY69" fmla="*/ 194609 h 603288"/>
                  <a:gd name="connsiteX70" fmla="*/ 525444 w 603288"/>
                  <a:gd name="connsiteY70" fmla="*/ 525444 h 603288"/>
                  <a:gd name="connsiteX71" fmla="*/ 583827 w 603288"/>
                  <a:gd name="connsiteY71" fmla="*/ 525444 h 603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603288" h="603288">
                    <a:moveTo>
                      <a:pt x="583827" y="505983"/>
                    </a:moveTo>
                    <a:lnTo>
                      <a:pt x="583827" y="184879"/>
                    </a:lnTo>
                    <a:cubicBezTo>
                      <a:pt x="583827" y="158053"/>
                      <a:pt x="562000" y="136226"/>
                      <a:pt x="535175" y="136226"/>
                    </a:cubicBezTo>
                    <a:lnTo>
                      <a:pt x="505983" y="136226"/>
                    </a:lnTo>
                    <a:cubicBezTo>
                      <a:pt x="505983" y="61105"/>
                      <a:pt x="444879" y="0"/>
                      <a:pt x="369757" y="0"/>
                    </a:cubicBezTo>
                    <a:cubicBezTo>
                      <a:pt x="294636" y="0"/>
                      <a:pt x="233531" y="61105"/>
                      <a:pt x="233531" y="136226"/>
                    </a:cubicBezTo>
                    <a:lnTo>
                      <a:pt x="68113" y="136226"/>
                    </a:lnTo>
                    <a:cubicBezTo>
                      <a:pt x="41288" y="136226"/>
                      <a:pt x="19461" y="158053"/>
                      <a:pt x="19461" y="184879"/>
                    </a:cubicBezTo>
                    <a:lnTo>
                      <a:pt x="19461" y="505983"/>
                    </a:lnTo>
                    <a:lnTo>
                      <a:pt x="0" y="505983"/>
                    </a:lnTo>
                    <a:lnTo>
                      <a:pt x="0" y="554636"/>
                    </a:lnTo>
                    <a:cubicBezTo>
                      <a:pt x="0" y="581461"/>
                      <a:pt x="21827" y="603288"/>
                      <a:pt x="48652" y="603288"/>
                    </a:cubicBezTo>
                    <a:lnTo>
                      <a:pt x="554636" y="603288"/>
                    </a:lnTo>
                    <a:cubicBezTo>
                      <a:pt x="581461" y="603288"/>
                      <a:pt x="603288" y="581461"/>
                      <a:pt x="603288" y="554636"/>
                    </a:cubicBezTo>
                    <a:lnTo>
                      <a:pt x="603288" y="505983"/>
                    </a:lnTo>
                    <a:close/>
                    <a:moveTo>
                      <a:pt x="535175" y="155687"/>
                    </a:moveTo>
                    <a:cubicBezTo>
                      <a:pt x="551267" y="155687"/>
                      <a:pt x="564366" y="168787"/>
                      <a:pt x="564366" y="184879"/>
                    </a:cubicBezTo>
                    <a:lnTo>
                      <a:pt x="564366" y="505983"/>
                    </a:lnTo>
                    <a:lnTo>
                      <a:pt x="544905" y="505983"/>
                    </a:lnTo>
                    <a:lnTo>
                      <a:pt x="544905" y="194609"/>
                    </a:lnTo>
                    <a:cubicBezTo>
                      <a:pt x="544905" y="183876"/>
                      <a:pt x="536177" y="175148"/>
                      <a:pt x="525444" y="175148"/>
                    </a:cubicBezTo>
                    <a:lnTo>
                      <a:pt x="500244" y="175148"/>
                    </a:lnTo>
                    <a:cubicBezTo>
                      <a:pt x="502121" y="168843"/>
                      <a:pt x="503475" y="162334"/>
                      <a:pt x="504425" y="155687"/>
                    </a:cubicBezTo>
                    <a:close/>
                    <a:moveTo>
                      <a:pt x="258645" y="100469"/>
                    </a:moveTo>
                    <a:lnTo>
                      <a:pt x="361923" y="143505"/>
                    </a:lnTo>
                    <a:lnTo>
                      <a:pt x="397286" y="249575"/>
                    </a:lnTo>
                    <a:cubicBezTo>
                      <a:pt x="388438" y="251728"/>
                      <a:pt x="379255" y="252992"/>
                      <a:pt x="369757" y="252992"/>
                    </a:cubicBezTo>
                    <a:cubicBezTo>
                      <a:pt x="305370" y="252992"/>
                      <a:pt x="252992" y="200615"/>
                      <a:pt x="252992" y="136226"/>
                    </a:cubicBezTo>
                    <a:cubicBezTo>
                      <a:pt x="252992" y="123749"/>
                      <a:pt x="255006" y="111743"/>
                      <a:pt x="258645" y="100469"/>
                    </a:cubicBezTo>
                    <a:close/>
                    <a:moveTo>
                      <a:pt x="415772" y="243503"/>
                    </a:moveTo>
                    <a:lnTo>
                      <a:pt x="380889" y="138854"/>
                    </a:lnTo>
                    <a:lnTo>
                      <a:pt x="458827" y="60910"/>
                    </a:lnTo>
                    <a:cubicBezTo>
                      <a:pt x="476070" y="81260"/>
                      <a:pt x="486523" y="107529"/>
                      <a:pt x="486523" y="136226"/>
                    </a:cubicBezTo>
                    <a:cubicBezTo>
                      <a:pt x="486523" y="184275"/>
                      <a:pt x="457331" y="225610"/>
                      <a:pt x="415772" y="243503"/>
                    </a:cubicBezTo>
                    <a:close/>
                    <a:moveTo>
                      <a:pt x="369757" y="19461"/>
                    </a:moveTo>
                    <a:cubicBezTo>
                      <a:pt x="398455" y="19461"/>
                      <a:pt x="424723" y="29914"/>
                      <a:pt x="445083" y="47146"/>
                    </a:cubicBezTo>
                    <a:lnTo>
                      <a:pt x="367491" y="124733"/>
                    </a:lnTo>
                    <a:lnTo>
                      <a:pt x="266186" y="82533"/>
                    </a:lnTo>
                    <a:cubicBezTo>
                      <a:pt x="285656" y="45113"/>
                      <a:pt x="324734" y="19461"/>
                      <a:pt x="369757" y="19461"/>
                    </a:cubicBezTo>
                    <a:close/>
                    <a:moveTo>
                      <a:pt x="38922" y="184879"/>
                    </a:moveTo>
                    <a:cubicBezTo>
                      <a:pt x="38922" y="168787"/>
                      <a:pt x="52021" y="155687"/>
                      <a:pt x="68113" y="155687"/>
                    </a:cubicBezTo>
                    <a:lnTo>
                      <a:pt x="235089" y="155687"/>
                    </a:lnTo>
                    <a:cubicBezTo>
                      <a:pt x="236040" y="162334"/>
                      <a:pt x="237384" y="168843"/>
                      <a:pt x="239271" y="175148"/>
                    </a:cubicBezTo>
                    <a:lnTo>
                      <a:pt x="77844" y="175148"/>
                    </a:lnTo>
                    <a:cubicBezTo>
                      <a:pt x="67111" y="175148"/>
                      <a:pt x="58383" y="183876"/>
                      <a:pt x="58383" y="194609"/>
                    </a:cubicBezTo>
                    <a:lnTo>
                      <a:pt x="58383" y="505983"/>
                    </a:lnTo>
                    <a:lnTo>
                      <a:pt x="38922" y="505983"/>
                    </a:lnTo>
                    <a:close/>
                    <a:moveTo>
                      <a:pt x="583827" y="554636"/>
                    </a:moveTo>
                    <a:cubicBezTo>
                      <a:pt x="583827" y="570728"/>
                      <a:pt x="570728" y="583827"/>
                      <a:pt x="554636" y="583827"/>
                    </a:cubicBezTo>
                    <a:lnTo>
                      <a:pt x="48652" y="583827"/>
                    </a:lnTo>
                    <a:cubicBezTo>
                      <a:pt x="32560" y="583827"/>
                      <a:pt x="19461" y="570728"/>
                      <a:pt x="19461" y="554636"/>
                    </a:cubicBezTo>
                    <a:lnTo>
                      <a:pt x="19461" y="525444"/>
                    </a:lnTo>
                    <a:lnTo>
                      <a:pt x="219928" y="525444"/>
                    </a:lnTo>
                    <a:cubicBezTo>
                      <a:pt x="233920" y="538026"/>
                      <a:pt x="251823" y="544905"/>
                      <a:pt x="270790" y="544905"/>
                    </a:cubicBezTo>
                    <a:lnTo>
                      <a:pt x="332508" y="544905"/>
                    </a:lnTo>
                    <a:cubicBezTo>
                      <a:pt x="351475" y="544905"/>
                      <a:pt x="369378" y="538026"/>
                      <a:pt x="383369" y="525444"/>
                    </a:cubicBezTo>
                    <a:lnTo>
                      <a:pt x="505983" y="525444"/>
                    </a:lnTo>
                    <a:lnTo>
                      <a:pt x="505983" y="505983"/>
                    </a:lnTo>
                    <a:lnTo>
                      <a:pt x="375459" y="505983"/>
                    </a:lnTo>
                    <a:lnTo>
                      <a:pt x="372608" y="508835"/>
                    </a:lnTo>
                    <a:cubicBezTo>
                      <a:pt x="361894" y="519548"/>
                      <a:pt x="347659" y="525444"/>
                      <a:pt x="332498" y="525444"/>
                    </a:cubicBezTo>
                    <a:lnTo>
                      <a:pt x="270780" y="525444"/>
                    </a:lnTo>
                    <a:cubicBezTo>
                      <a:pt x="255629" y="525444"/>
                      <a:pt x="241385" y="519548"/>
                      <a:pt x="230670" y="508835"/>
                    </a:cubicBezTo>
                    <a:lnTo>
                      <a:pt x="227830" y="505983"/>
                    </a:lnTo>
                    <a:lnTo>
                      <a:pt x="77844" y="505983"/>
                    </a:lnTo>
                    <a:lnTo>
                      <a:pt x="77844" y="194609"/>
                    </a:lnTo>
                    <a:lnTo>
                      <a:pt x="246863" y="194609"/>
                    </a:lnTo>
                    <a:cubicBezTo>
                      <a:pt x="268784" y="240557"/>
                      <a:pt x="315551" y="272453"/>
                      <a:pt x="369757" y="272453"/>
                    </a:cubicBezTo>
                    <a:cubicBezTo>
                      <a:pt x="423963" y="272453"/>
                      <a:pt x="470730" y="240557"/>
                      <a:pt x="492652" y="194609"/>
                    </a:cubicBezTo>
                    <a:lnTo>
                      <a:pt x="525444" y="194609"/>
                    </a:lnTo>
                    <a:lnTo>
                      <a:pt x="525444" y="525444"/>
                    </a:lnTo>
                    <a:lnTo>
                      <a:pt x="583827" y="525444"/>
                    </a:lnTo>
                    <a:close/>
                  </a:path>
                </a:pathLst>
              </a:custGeom>
              <a:grpFill/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思源黑体 CN Regular"/>
                  <a:cs typeface="+mn-cs"/>
                </a:endParaRPr>
              </a:p>
            </p:txBody>
          </p:sp>
          <p:sp>
            <p:nvSpPr>
              <p:cNvPr id="80" name="任意多边形: 形状 79"/>
              <p:cNvSpPr/>
              <p:nvPr>
                <p:custDataLst>
                  <p:tags r:id="rId9"/>
                </p:custDataLst>
              </p:nvPr>
            </p:nvSpPr>
            <p:spPr>
              <a:xfrm>
                <a:off x="1245067" y="1852522"/>
                <a:ext cx="408678" cy="136226"/>
              </a:xfrm>
              <a:custGeom>
                <a:avLst/>
                <a:gdLst>
                  <a:gd name="connsiteX0" fmla="*/ 379488 w 408678"/>
                  <a:gd name="connsiteY0" fmla="*/ 58383 h 136226"/>
                  <a:gd name="connsiteX1" fmla="*/ 363324 w 408678"/>
                  <a:gd name="connsiteY1" fmla="*/ 63295 h 136226"/>
                  <a:gd name="connsiteX2" fmla="*/ 329377 w 408678"/>
                  <a:gd name="connsiteY2" fmla="*/ 37843 h 136226"/>
                  <a:gd name="connsiteX3" fmla="*/ 330835 w 408678"/>
                  <a:gd name="connsiteY3" fmla="*/ 29191 h 136226"/>
                  <a:gd name="connsiteX4" fmla="*/ 301644 w 408678"/>
                  <a:gd name="connsiteY4" fmla="*/ 0 h 136226"/>
                  <a:gd name="connsiteX5" fmla="*/ 272453 w 408678"/>
                  <a:gd name="connsiteY5" fmla="*/ 29191 h 136226"/>
                  <a:gd name="connsiteX6" fmla="*/ 274173 w 408678"/>
                  <a:gd name="connsiteY6" fmla="*/ 38708 h 136226"/>
                  <a:gd name="connsiteX7" fmla="*/ 219676 w 408678"/>
                  <a:gd name="connsiteY7" fmla="*/ 82310 h 136226"/>
                  <a:gd name="connsiteX8" fmla="*/ 204339 w 408678"/>
                  <a:gd name="connsiteY8" fmla="*/ 77844 h 136226"/>
                  <a:gd name="connsiteX9" fmla="*/ 186932 w 408678"/>
                  <a:gd name="connsiteY9" fmla="*/ 83740 h 136226"/>
                  <a:gd name="connsiteX10" fmla="*/ 144973 w 408678"/>
                  <a:gd name="connsiteY10" fmla="*/ 55765 h 136226"/>
                  <a:gd name="connsiteX11" fmla="*/ 145957 w 408678"/>
                  <a:gd name="connsiteY11" fmla="*/ 48652 h 136226"/>
                  <a:gd name="connsiteX12" fmla="*/ 116765 w 408678"/>
                  <a:gd name="connsiteY12" fmla="*/ 19461 h 136226"/>
                  <a:gd name="connsiteX13" fmla="*/ 87574 w 408678"/>
                  <a:gd name="connsiteY13" fmla="*/ 48652 h 136226"/>
                  <a:gd name="connsiteX14" fmla="*/ 88558 w 408678"/>
                  <a:gd name="connsiteY14" fmla="*/ 55765 h 136226"/>
                  <a:gd name="connsiteX15" fmla="*/ 46600 w 408678"/>
                  <a:gd name="connsiteY15" fmla="*/ 83740 h 136226"/>
                  <a:gd name="connsiteX16" fmla="*/ 29191 w 408678"/>
                  <a:gd name="connsiteY16" fmla="*/ 77844 h 136226"/>
                  <a:gd name="connsiteX17" fmla="*/ 0 w 408678"/>
                  <a:gd name="connsiteY17" fmla="*/ 107035 h 136226"/>
                  <a:gd name="connsiteX18" fmla="*/ 29191 w 408678"/>
                  <a:gd name="connsiteY18" fmla="*/ 136226 h 136226"/>
                  <a:gd name="connsiteX19" fmla="*/ 58383 w 408678"/>
                  <a:gd name="connsiteY19" fmla="*/ 107035 h 136226"/>
                  <a:gd name="connsiteX20" fmla="*/ 57399 w 408678"/>
                  <a:gd name="connsiteY20" fmla="*/ 99922 h 136226"/>
                  <a:gd name="connsiteX21" fmla="*/ 99358 w 408678"/>
                  <a:gd name="connsiteY21" fmla="*/ 71947 h 136226"/>
                  <a:gd name="connsiteX22" fmla="*/ 116765 w 408678"/>
                  <a:gd name="connsiteY22" fmla="*/ 77844 h 136226"/>
                  <a:gd name="connsiteX23" fmla="*/ 134174 w 408678"/>
                  <a:gd name="connsiteY23" fmla="*/ 71947 h 136226"/>
                  <a:gd name="connsiteX24" fmla="*/ 176132 w 408678"/>
                  <a:gd name="connsiteY24" fmla="*/ 99922 h 136226"/>
                  <a:gd name="connsiteX25" fmla="*/ 175148 w 408678"/>
                  <a:gd name="connsiteY25" fmla="*/ 107035 h 136226"/>
                  <a:gd name="connsiteX26" fmla="*/ 204339 w 408678"/>
                  <a:gd name="connsiteY26" fmla="*/ 136226 h 136226"/>
                  <a:gd name="connsiteX27" fmla="*/ 233531 w 408678"/>
                  <a:gd name="connsiteY27" fmla="*/ 107035 h 136226"/>
                  <a:gd name="connsiteX28" fmla="*/ 231811 w 408678"/>
                  <a:gd name="connsiteY28" fmla="*/ 97519 h 136226"/>
                  <a:gd name="connsiteX29" fmla="*/ 286308 w 408678"/>
                  <a:gd name="connsiteY29" fmla="*/ 53916 h 136226"/>
                  <a:gd name="connsiteX30" fmla="*/ 301644 w 408678"/>
                  <a:gd name="connsiteY30" fmla="*/ 58383 h 136226"/>
                  <a:gd name="connsiteX31" fmla="*/ 317808 w 408678"/>
                  <a:gd name="connsiteY31" fmla="*/ 53470 h 136226"/>
                  <a:gd name="connsiteX32" fmla="*/ 351755 w 408678"/>
                  <a:gd name="connsiteY32" fmla="*/ 78922 h 136226"/>
                  <a:gd name="connsiteX33" fmla="*/ 350296 w 408678"/>
                  <a:gd name="connsiteY33" fmla="*/ 87574 h 136226"/>
                  <a:gd name="connsiteX34" fmla="*/ 379488 w 408678"/>
                  <a:gd name="connsiteY34" fmla="*/ 116765 h 136226"/>
                  <a:gd name="connsiteX35" fmla="*/ 408679 w 408678"/>
                  <a:gd name="connsiteY35" fmla="*/ 87574 h 136226"/>
                  <a:gd name="connsiteX36" fmla="*/ 379488 w 408678"/>
                  <a:gd name="connsiteY36" fmla="*/ 58383 h 136226"/>
                  <a:gd name="connsiteX37" fmla="*/ 29191 w 408678"/>
                  <a:gd name="connsiteY37" fmla="*/ 116765 h 136226"/>
                  <a:gd name="connsiteX38" fmla="*/ 19461 w 408678"/>
                  <a:gd name="connsiteY38" fmla="*/ 107035 h 136226"/>
                  <a:gd name="connsiteX39" fmla="*/ 29191 w 408678"/>
                  <a:gd name="connsiteY39" fmla="*/ 97305 h 136226"/>
                  <a:gd name="connsiteX40" fmla="*/ 38922 w 408678"/>
                  <a:gd name="connsiteY40" fmla="*/ 107035 h 136226"/>
                  <a:gd name="connsiteX41" fmla="*/ 29191 w 408678"/>
                  <a:gd name="connsiteY41" fmla="*/ 116765 h 136226"/>
                  <a:gd name="connsiteX42" fmla="*/ 116765 w 408678"/>
                  <a:gd name="connsiteY42" fmla="*/ 58383 h 136226"/>
                  <a:gd name="connsiteX43" fmla="*/ 107035 w 408678"/>
                  <a:gd name="connsiteY43" fmla="*/ 48652 h 136226"/>
                  <a:gd name="connsiteX44" fmla="*/ 116765 w 408678"/>
                  <a:gd name="connsiteY44" fmla="*/ 38922 h 136226"/>
                  <a:gd name="connsiteX45" fmla="*/ 126496 w 408678"/>
                  <a:gd name="connsiteY45" fmla="*/ 48652 h 136226"/>
                  <a:gd name="connsiteX46" fmla="*/ 116765 w 408678"/>
                  <a:gd name="connsiteY46" fmla="*/ 58383 h 136226"/>
                  <a:gd name="connsiteX47" fmla="*/ 204339 w 408678"/>
                  <a:gd name="connsiteY47" fmla="*/ 116765 h 136226"/>
                  <a:gd name="connsiteX48" fmla="*/ 194609 w 408678"/>
                  <a:gd name="connsiteY48" fmla="*/ 107035 h 136226"/>
                  <a:gd name="connsiteX49" fmla="*/ 204339 w 408678"/>
                  <a:gd name="connsiteY49" fmla="*/ 97305 h 136226"/>
                  <a:gd name="connsiteX50" fmla="*/ 214070 w 408678"/>
                  <a:gd name="connsiteY50" fmla="*/ 107035 h 136226"/>
                  <a:gd name="connsiteX51" fmla="*/ 204339 w 408678"/>
                  <a:gd name="connsiteY51" fmla="*/ 116765 h 136226"/>
                  <a:gd name="connsiteX52" fmla="*/ 301644 w 408678"/>
                  <a:gd name="connsiteY52" fmla="*/ 38922 h 136226"/>
                  <a:gd name="connsiteX53" fmla="*/ 291914 w 408678"/>
                  <a:gd name="connsiteY53" fmla="*/ 29191 h 136226"/>
                  <a:gd name="connsiteX54" fmla="*/ 301644 w 408678"/>
                  <a:gd name="connsiteY54" fmla="*/ 19461 h 136226"/>
                  <a:gd name="connsiteX55" fmla="*/ 311374 w 408678"/>
                  <a:gd name="connsiteY55" fmla="*/ 29191 h 136226"/>
                  <a:gd name="connsiteX56" fmla="*/ 301644 w 408678"/>
                  <a:gd name="connsiteY56" fmla="*/ 38922 h 136226"/>
                  <a:gd name="connsiteX57" fmla="*/ 379488 w 408678"/>
                  <a:gd name="connsiteY57" fmla="*/ 97305 h 136226"/>
                  <a:gd name="connsiteX58" fmla="*/ 369757 w 408678"/>
                  <a:gd name="connsiteY58" fmla="*/ 87574 h 136226"/>
                  <a:gd name="connsiteX59" fmla="*/ 379488 w 408678"/>
                  <a:gd name="connsiteY59" fmla="*/ 77844 h 136226"/>
                  <a:gd name="connsiteX60" fmla="*/ 389218 w 408678"/>
                  <a:gd name="connsiteY60" fmla="*/ 87574 h 136226"/>
                  <a:gd name="connsiteX61" fmla="*/ 379488 w 408678"/>
                  <a:gd name="connsiteY61" fmla="*/ 97305 h 136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08678" h="136226">
                    <a:moveTo>
                      <a:pt x="379488" y="58383"/>
                    </a:moveTo>
                    <a:cubicBezTo>
                      <a:pt x="373516" y="58383"/>
                      <a:pt x="367957" y="60202"/>
                      <a:pt x="363324" y="63295"/>
                    </a:cubicBezTo>
                    <a:lnTo>
                      <a:pt x="329377" y="37843"/>
                    </a:lnTo>
                    <a:cubicBezTo>
                      <a:pt x="330242" y="35088"/>
                      <a:pt x="330835" y="32218"/>
                      <a:pt x="330835" y="29191"/>
                    </a:cubicBezTo>
                    <a:cubicBezTo>
                      <a:pt x="330835" y="13100"/>
                      <a:pt x="317736" y="0"/>
                      <a:pt x="301644" y="0"/>
                    </a:cubicBezTo>
                    <a:cubicBezTo>
                      <a:pt x="285552" y="0"/>
                      <a:pt x="272453" y="13100"/>
                      <a:pt x="272453" y="29191"/>
                    </a:cubicBezTo>
                    <a:cubicBezTo>
                      <a:pt x="272453" y="32541"/>
                      <a:pt x="273133" y="35710"/>
                      <a:pt x="274173" y="38708"/>
                    </a:cubicBezTo>
                    <a:lnTo>
                      <a:pt x="219676" y="82310"/>
                    </a:lnTo>
                    <a:cubicBezTo>
                      <a:pt x="215211" y="79526"/>
                      <a:pt x="209984" y="77844"/>
                      <a:pt x="204339" y="77844"/>
                    </a:cubicBezTo>
                    <a:cubicBezTo>
                      <a:pt x="197792" y="77844"/>
                      <a:pt x="191805" y="80091"/>
                      <a:pt x="186932" y="83740"/>
                    </a:cubicBezTo>
                    <a:lnTo>
                      <a:pt x="144973" y="55765"/>
                    </a:lnTo>
                    <a:cubicBezTo>
                      <a:pt x="145558" y="53480"/>
                      <a:pt x="145957" y="51123"/>
                      <a:pt x="145957" y="48652"/>
                    </a:cubicBezTo>
                    <a:cubicBezTo>
                      <a:pt x="145957" y="32561"/>
                      <a:pt x="132857" y="19461"/>
                      <a:pt x="116765" y="19461"/>
                    </a:cubicBezTo>
                    <a:cubicBezTo>
                      <a:pt x="100674" y="19461"/>
                      <a:pt x="87574" y="32561"/>
                      <a:pt x="87574" y="48652"/>
                    </a:cubicBezTo>
                    <a:cubicBezTo>
                      <a:pt x="87574" y="51123"/>
                      <a:pt x="87973" y="53480"/>
                      <a:pt x="88558" y="55765"/>
                    </a:cubicBezTo>
                    <a:lnTo>
                      <a:pt x="46600" y="83740"/>
                    </a:lnTo>
                    <a:cubicBezTo>
                      <a:pt x="41725" y="80082"/>
                      <a:pt x="35739" y="77844"/>
                      <a:pt x="29191" y="77844"/>
                    </a:cubicBezTo>
                    <a:cubicBezTo>
                      <a:pt x="13099" y="77844"/>
                      <a:pt x="0" y="90943"/>
                      <a:pt x="0" y="107035"/>
                    </a:cubicBezTo>
                    <a:cubicBezTo>
                      <a:pt x="0" y="123127"/>
                      <a:pt x="13099" y="136226"/>
                      <a:pt x="29191" y="136226"/>
                    </a:cubicBezTo>
                    <a:cubicBezTo>
                      <a:pt x="45283" y="136226"/>
                      <a:pt x="58383" y="123127"/>
                      <a:pt x="58383" y="107035"/>
                    </a:cubicBezTo>
                    <a:cubicBezTo>
                      <a:pt x="58383" y="104565"/>
                      <a:pt x="57984" y="102207"/>
                      <a:pt x="57399" y="99922"/>
                    </a:cubicBezTo>
                    <a:lnTo>
                      <a:pt x="99358" y="71947"/>
                    </a:lnTo>
                    <a:cubicBezTo>
                      <a:pt x="104231" y="75606"/>
                      <a:pt x="110218" y="77844"/>
                      <a:pt x="116765" y="77844"/>
                    </a:cubicBezTo>
                    <a:cubicBezTo>
                      <a:pt x="123313" y="77844"/>
                      <a:pt x="129299" y="75606"/>
                      <a:pt x="134174" y="71947"/>
                    </a:cubicBezTo>
                    <a:lnTo>
                      <a:pt x="176132" y="99922"/>
                    </a:lnTo>
                    <a:cubicBezTo>
                      <a:pt x="175547" y="102207"/>
                      <a:pt x="175148" y="104574"/>
                      <a:pt x="175148" y="107035"/>
                    </a:cubicBezTo>
                    <a:cubicBezTo>
                      <a:pt x="175148" y="123127"/>
                      <a:pt x="188248" y="136226"/>
                      <a:pt x="204339" y="136226"/>
                    </a:cubicBezTo>
                    <a:cubicBezTo>
                      <a:pt x="220431" y="136226"/>
                      <a:pt x="233531" y="123127"/>
                      <a:pt x="233531" y="107035"/>
                    </a:cubicBezTo>
                    <a:cubicBezTo>
                      <a:pt x="233531" y="103685"/>
                      <a:pt x="232851" y="100517"/>
                      <a:pt x="231811" y="97519"/>
                    </a:cubicBezTo>
                    <a:lnTo>
                      <a:pt x="286308" y="53916"/>
                    </a:lnTo>
                    <a:cubicBezTo>
                      <a:pt x="290774" y="56701"/>
                      <a:pt x="295999" y="58383"/>
                      <a:pt x="301644" y="58383"/>
                    </a:cubicBezTo>
                    <a:cubicBezTo>
                      <a:pt x="307616" y="58383"/>
                      <a:pt x="313175" y="56563"/>
                      <a:pt x="317808" y="53470"/>
                    </a:cubicBezTo>
                    <a:lnTo>
                      <a:pt x="351755" y="78922"/>
                    </a:lnTo>
                    <a:cubicBezTo>
                      <a:pt x="350890" y="81677"/>
                      <a:pt x="350296" y="84548"/>
                      <a:pt x="350296" y="87574"/>
                    </a:cubicBezTo>
                    <a:cubicBezTo>
                      <a:pt x="350296" y="103666"/>
                      <a:pt x="363396" y="116765"/>
                      <a:pt x="379488" y="116765"/>
                    </a:cubicBezTo>
                    <a:cubicBezTo>
                      <a:pt x="395579" y="116765"/>
                      <a:pt x="408679" y="103666"/>
                      <a:pt x="408679" y="87574"/>
                    </a:cubicBezTo>
                    <a:cubicBezTo>
                      <a:pt x="408679" y="71482"/>
                      <a:pt x="395579" y="58383"/>
                      <a:pt x="379488" y="58383"/>
                    </a:cubicBezTo>
                    <a:close/>
                    <a:moveTo>
                      <a:pt x="29191" y="116765"/>
                    </a:moveTo>
                    <a:cubicBezTo>
                      <a:pt x="23832" y="116765"/>
                      <a:pt x="19461" y="112394"/>
                      <a:pt x="19461" y="107035"/>
                    </a:cubicBezTo>
                    <a:cubicBezTo>
                      <a:pt x="19461" y="101676"/>
                      <a:pt x="23832" y="97305"/>
                      <a:pt x="29191" y="97305"/>
                    </a:cubicBezTo>
                    <a:cubicBezTo>
                      <a:pt x="34550" y="97305"/>
                      <a:pt x="38922" y="101676"/>
                      <a:pt x="38922" y="107035"/>
                    </a:cubicBezTo>
                    <a:cubicBezTo>
                      <a:pt x="38922" y="112394"/>
                      <a:pt x="34550" y="116765"/>
                      <a:pt x="29191" y="116765"/>
                    </a:cubicBezTo>
                    <a:close/>
                    <a:moveTo>
                      <a:pt x="116765" y="58383"/>
                    </a:moveTo>
                    <a:cubicBezTo>
                      <a:pt x="111406" y="58383"/>
                      <a:pt x="107035" y="54011"/>
                      <a:pt x="107035" y="48652"/>
                    </a:cubicBezTo>
                    <a:cubicBezTo>
                      <a:pt x="107035" y="43293"/>
                      <a:pt x="111406" y="38922"/>
                      <a:pt x="116765" y="38922"/>
                    </a:cubicBezTo>
                    <a:cubicBezTo>
                      <a:pt x="122124" y="38922"/>
                      <a:pt x="126496" y="43293"/>
                      <a:pt x="126496" y="48652"/>
                    </a:cubicBezTo>
                    <a:cubicBezTo>
                      <a:pt x="126496" y="54011"/>
                      <a:pt x="122124" y="58383"/>
                      <a:pt x="116765" y="58383"/>
                    </a:cubicBezTo>
                    <a:close/>
                    <a:moveTo>
                      <a:pt x="204339" y="116765"/>
                    </a:moveTo>
                    <a:cubicBezTo>
                      <a:pt x="198980" y="116765"/>
                      <a:pt x="194609" y="112394"/>
                      <a:pt x="194609" y="107035"/>
                    </a:cubicBezTo>
                    <a:cubicBezTo>
                      <a:pt x="194609" y="101676"/>
                      <a:pt x="198980" y="97305"/>
                      <a:pt x="204339" y="97305"/>
                    </a:cubicBezTo>
                    <a:cubicBezTo>
                      <a:pt x="209699" y="97305"/>
                      <a:pt x="214070" y="101676"/>
                      <a:pt x="214070" y="107035"/>
                    </a:cubicBezTo>
                    <a:cubicBezTo>
                      <a:pt x="214070" y="112394"/>
                      <a:pt x="209699" y="116765"/>
                      <a:pt x="204339" y="116765"/>
                    </a:cubicBezTo>
                    <a:close/>
                    <a:moveTo>
                      <a:pt x="301644" y="38922"/>
                    </a:moveTo>
                    <a:cubicBezTo>
                      <a:pt x="296285" y="38922"/>
                      <a:pt x="291914" y="34550"/>
                      <a:pt x="291914" y="29191"/>
                    </a:cubicBezTo>
                    <a:cubicBezTo>
                      <a:pt x="291914" y="23832"/>
                      <a:pt x="296285" y="19461"/>
                      <a:pt x="301644" y="19461"/>
                    </a:cubicBezTo>
                    <a:cubicBezTo>
                      <a:pt x="307003" y="19461"/>
                      <a:pt x="311374" y="23832"/>
                      <a:pt x="311374" y="29191"/>
                    </a:cubicBezTo>
                    <a:cubicBezTo>
                      <a:pt x="311374" y="34550"/>
                      <a:pt x="307003" y="38922"/>
                      <a:pt x="301644" y="38922"/>
                    </a:cubicBezTo>
                    <a:close/>
                    <a:moveTo>
                      <a:pt x="379488" y="97305"/>
                    </a:moveTo>
                    <a:cubicBezTo>
                      <a:pt x="374129" y="97305"/>
                      <a:pt x="369757" y="92933"/>
                      <a:pt x="369757" y="87574"/>
                    </a:cubicBezTo>
                    <a:cubicBezTo>
                      <a:pt x="369757" y="82215"/>
                      <a:pt x="374129" y="77844"/>
                      <a:pt x="379488" y="77844"/>
                    </a:cubicBezTo>
                    <a:cubicBezTo>
                      <a:pt x="384847" y="77844"/>
                      <a:pt x="389218" y="82215"/>
                      <a:pt x="389218" y="87574"/>
                    </a:cubicBezTo>
                    <a:cubicBezTo>
                      <a:pt x="389218" y="92933"/>
                      <a:pt x="384847" y="97305"/>
                      <a:pt x="379488" y="97305"/>
                    </a:cubicBezTo>
                    <a:close/>
                  </a:path>
                </a:pathLst>
              </a:custGeom>
              <a:grpFill/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思源黑体 CN Regular"/>
                  <a:cs typeface="+mn-cs"/>
                </a:endParaRPr>
              </a:p>
            </p:txBody>
          </p:sp>
          <p:sp>
            <p:nvSpPr>
              <p:cNvPr id="81" name="任意多边形: 形状 80"/>
              <p:cNvSpPr/>
              <p:nvPr>
                <p:custDataLst>
                  <p:tags r:id="rId10"/>
                </p:custDataLst>
              </p:nvPr>
            </p:nvSpPr>
            <p:spPr>
              <a:xfrm>
                <a:off x="1245067" y="1716295"/>
                <a:ext cx="155687" cy="136226"/>
              </a:xfrm>
              <a:custGeom>
                <a:avLst/>
                <a:gdLst>
                  <a:gd name="connsiteX0" fmla="*/ 155687 w 155687"/>
                  <a:gd name="connsiteY0" fmla="*/ 0 h 136226"/>
                  <a:gd name="connsiteX1" fmla="*/ 0 w 155687"/>
                  <a:gd name="connsiteY1" fmla="*/ 0 h 136226"/>
                  <a:gd name="connsiteX2" fmla="*/ 0 w 155687"/>
                  <a:gd name="connsiteY2" fmla="*/ 136226 h 136226"/>
                  <a:gd name="connsiteX3" fmla="*/ 155687 w 155687"/>
                  <a:gd name="connsiteY3" fmla="*/ 136226 h 136226"/>
                  <a:gd name="connsiteX4" fmla="*/ 136226 w 155687"/>
                  <a:gd name="connsiteY4" fmla="*/ 116765 h 136226"/>
                  <a:gd name="connsiteX5" fmla="*/ 19461 w 155687"/>
                  <a:gd name="connsiteY5" fmla="*/ 116765 h 136226"/>
                  <a:gd name="connsiteX6" fmla="*/ 19461 w 155687"/>
                  <a:gd name="connsiteY6" fmla="*/ 19461 h 136226"/>
                  <a:gd name="connsiteX7" fmla="*/ 136226 w 155687"/>
                  <a:gd name="connsiteY7" fmla="*/ 19461 h 136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687" h="136226">
                    <a:moveTo>
                      <a:pt x="155687" y="0"/>
                    </a:moveTo>
                    <a:lnTo>
                      <a:pt x="0" y="0"/>
                    </a:lnTo>
                    <a:lnTo>
                      <a:pt x="0" y="136226"/>
                    </a:lnTo>
                    <a:lnTo>
                      <a:pt x="155687" y="136226"/>
                    </a:lnTo>
                    <a:close/>
                    <a:moveTo>
                      <a:pt x="136226" y="116765"/>
                    </a:moveTo>
                    <a:lnTo>
                      <a:pt x="19461" y="116765"/>
                    </a:lnTo>
                    <a:lnTo>
                      <a:pt x="19461" y="19461"/>
                    </a:lnTo>
                    <a:lnTo>
                      <a:pt x="136226" y="19461"/>
                    </a:lnTo>
                    <a:close/>
                  </a:path>
                </a:pathLst>
              </a:custGeom>
              <a:grpFill/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思源黑体 CN Regular"/>
                  <a:cs typeface="+mn-cs"/>
                </a:endParaRPr>
              </a:p>
            </p:txBody>
          </p:sp>
          <p:sp>
            <p:nvSpPr>
              <p:cNvPr id="82" name="任意多边形: 形状 81"/>
              <p:cNvSpPr/>
              <p:nvPr>
                <p:custDataLst>
                  <p:tags r:id="rId11"/>
                </p:custDataLst>
              </p:nvPr>
            </p:nvSpPr>
            <p:spPr>
              <a:xfrm>
                <a:off x="1283989" y="1755217"/>
                <a:ext cx="77843" cy="19460"/>
              </a:xfrm>
              <a:custGeom>
                <a:avLst/>
                <a:gdLst>
                  <a:gd name="connsiteX0" fmla="*/ 0 w 77843"/>
                  <a:gd name="connsiteY0" fmla="*/ 0 h 19460"/>
                  <a:gd name="connsiteX1" fmla="*/ 77844 w 77843"/>
                  <a:gd name="connsiteY1" fmla="*/ 0 h 19460"/>
                  <a:gd name="connsiteX2" fmla="*/ 77844 w 77843"/>
                  <a:gd name="connsiteY2" fmla="*/ 19461 h 19460"/>
                  <a:gd name="connsiteX3" fmla="*/ 0 w 77843"/>
                  <a:gd name="connsiteY3" fmla="*/ 19461 h 1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843" h="19460">
                    <a:moveTo>
                      <a:pt x="0" y="0"/>
                    </a:moveTo>
                    <a:lnTo>
                      <a:pt x="77844" y="0"/>
                    </a:lnTo>
                    <a:lnTo>
                      <a:pt x="77844" y="19461"/>
                    </a:lnTo>
                    <a:lnTo>
                      <a:pt x="0" y="19461"/>
                    </a:lnTo>
                    <a:close/>
                  </a:path>
                </a:pathLst>
              </a:custGeom>
              <a:grpFill/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思源黑体 CN Regular"/>
                  <a:cs typeface="+mn-cs"/>
                </a:endParaRPr>
              </a:p>
            </p:txBody>
          </p:sp>
          <p:sp>
            <p:nvSpPr>
              <p:cNvPr id="83" name="任意多边形: 形状 82"/>
              <p:cNvSpPr/>
              <p:nvPr>
                <p:custDataLst>
                  <p:tags r:id="rId12"/>
                </p:custDataLst>
              </p:nvPr>
            </p:nvSpPr>
            <p:spPr>
              <a:xfrm>
                <a:off x="1283989" y="1794139"/>
                <a:ext cx="77843" cy="19460"/>
              </a:xfrm>
              <a:custGeom>
                <a:avLst/>
                <a:gdLst>
                  <a:gd name="connsiteX0" fmla="*/ 0 w 77843"/>
                  <a:gd name="connsiteY0" fmla="*/ 0 h 19460"/>
                  <a:gd name="connsiteX1" fmla="*/ 77844 w 77843"/>
                  <a:gd name="connsiteY1" fmla="*/ 0 h 19460"/>
                  <a:gd name="connsiteX2" fmla="*/ 77844 w 77843"/>
                  <a:gd name="connsiteY2" fmla="*/ 19461 h 19460"/>
                  <a:gd name="connsiteX3" fmla="*/ 0 w 77843"/>
                  <a:gd name="connsiteY3" fmla="*/ 19461 h 1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843" h="19460">
                    <a:moveTo>
                      <a:pt x="0" y="0"/>
                    </a:moveTo>
                    <a:lnTo>
                      <a:pt x="77844" y="0"/>
                    </a:lnTo>
                    <a:lnTo>
                      <a:pt x="77844" y="19461"/>
                    </a:lnTo>
                    <a:lnTo>
                      <a:pt x="0" y="19461"/>
                    </a:lnTo>
                    <a:close/>
                  </a:path>
                </a:pathLst>
              </a:custGeom>
              <a:grpFill/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思源黑体 CN Regular"/>
                  <a:cs typeface="+mn-cs"/>
                </a:endParaRPr>
              </a:p>
            </p:txBody>
          </p:sp>
          <p:sp>
            <p:nvSpPr>
              <p:cNvPr id="84" name="任意多边形: 形状 83"/>
              <p:cNvSpPr/>
              <p:nvPr>
                <p:custDataLst>
                  <p:tags r:id="rId13"/>
                </p:custDataLst>
              </p:nvPr>
            </p:nvSpPr>
            <p:spPr>
              <a:xfrm>
                <a:off x="1420215" y="1813600"/>
                <a:ext cx="19460" cy="19460"/>
              </a:xfrm>
              <a:custGeom>
                <a:avLst/>
                <a:gdLst>
                  <a:gd name="connsiteX0" fmla="*/ 0 w 19460"/>
                  <a:gd name="connsiteY0" fmla="*/ 0 h 19460"/>
                  <a:gd name="connsiteX1" fmla="*/ 19461 w 19460"/>
                  <a:gd name="connsiteY1" fmla="*/ 0 h 19460"/>
                  <a:gd name="connsiteX2" fmla="*/ 19461 w 19460"/>
                  <a:gd name="connsiteY2" fmla="*/ 19461 h 19460"/>
                  <a:gd name="connsiteX3" fmla="*/ 0 w 19460"/>
                  <a:gd name="connsiteY3" fmla="*/ 19461 h 1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60" h="19460">
                    <a:moveTo>
                      <a:pt x="0" y="0"/>
                    </a:moveTo>
                    <a:lnTo>
                      <a:pt x="19461" y="0"/>
                    </a:lnTo>
                    <a:lnTo>
                      <a:pt x="19461" y="19461"/>
                    </a:lnTo>
                    <a:lnTo>
                      <a:pt x="0" y="19461"/>
                    </a:lnTo>
                    <a:close/>
                  </a:path>
                </a:pathLst>
              </a:custGeom>
              <a:grpFill/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思源黑体 CN Regular"/>
                  <a:cs typeface="+mn-cs"/>
                </a:endParaRPr>
              </a:p>
            </p:txBody>
          </p:sp>
          <p:sp>
            <p:nvSpPr>
              <p:cNvPr id="85" name="任意多边形: 形状 84"/>
              <p:cNvSpPr/>
              <p:nvPr>
                <p:custDataLst>
                  <p:tags r:id="rId14"/>
                </p:custDataLst>
              </p:nvPr>
            </p:nvSpPr>
            <p:spPr>
              <a:xfrm>
                <a:off x="1459137" y="1813600"/>
                <a:ext cx="194609" cy="19460"/>
              </a:xfrm>
              <a:custGeom>
                <a:avLst/>
                <a:gdLst>
                  <a:gd name="connsiteX0" fmla="*/ 0 w 194609"/>
                  <a:gd name="connsiteY0" fmla="*/ 0 h 19460"/>
                  <a:gd name="connsiteX1" fmla="*/ 194609 w 194609"/>
                  <a:gd name="connsiteY1" fmla="*/ 0 h 19460"/>
                  <a:gd name="connsiteX2" fmla="*/ 194609 w 194609"/>
                  <a:gd name="connsiteY2" fmla="*/ 19461 h 19460"/>
                  <a:gd name="connsiteX3" fmla="*/ 0 w 194609"/>
                  <a:gd name="connsiteY3" fmla="*/ 19461 h 19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4609" h="19460">
                    <a:moveTo>
                      <a:pt x="0" y="0"/>
                    </a:moveTo>
                    <a:lnTo>
                      <a:pt x="194609" y="0"/>
                    </a:lnTo>
                    <a:lnTo>
                      <a:pt x="194609" y="19461"/>
                    </a:lnTo>
                    <a:lnTo>
                      <a:pt x="0" y="19461"/>
                    </a:lnTo>
                    <a:close/>
                  </a:path>
                </a:pathLst>
              </a:custGeom>
              <a:grpFill/>
              <a:ln w="12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思源黑体 CN Regular"/>
                  <a:cs typeface="+mn-cs"/>
                </a:endParaRPr>
              </a:p>
            </p:txBody>
          </p:sp>
        </p:grpSp>
      </p:grpSp>
      <p:sp>
        <p:nvSpPr>
          <p:cNvPr id="90" name="文本框 89"/>
          <p:cNvSpPr txBox="1"/>
          <p:nvPr/>
        </p:nvSpPr>
        <p:spPr>
          <a:xfrm>
            <a:off x="841986" y="2232281"/>
            <a:ext cx="5494908" cy="169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智能果实采摘车主要是农业劳动力短缺、人工成本上升，传统采摘效率低且质量不稳定。随着农业现代化需求提升，机器视觉、人工智能等技术进步提供了支撑，加之各国政策对农业机械化的支持，推动了这一装备的研发，以助力农业提质增效和产业升级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7" name="文本框 96"/>
          <p:cNvSpPr txBox="1"/>
          <p:nvPr>
            <p:custDataLst>
              <p:tags r:id="rId15"/>
            </p:custDataLst>
          </p:nvPr>
        </p:nvSpPr>
        <p:spPr>
          <a:xfrm>
            <a:off x="1662707" y="4599470"/>
            <a:ext cx="29471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主要负责任务</a:t>
            </a:r>
            <a:endParaRPr lang="zh-CN" altLang="en-US" sz="2400" b="1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724450" y="1717404"/>
            <a:ext cx="144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研究背景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9" r="-4866"/>
          <a:stretch>
            <a:fillRect/>
          </a:stretch>
        </p:blipFill>
        <p:spPr>
          <a:xfrm>
            <a:off x="8944610" y="57150"/>
            <a:ext cx="3247390" cy="9232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93520" y="5067300"/>
            <a:ext cx="3020695" cy="12484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系统架构搭建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路径规划部署及运动控制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转向精度优化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机械臂逆解控制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5" name="直接连接符 4"/>
          <p:cNvCxnSpPr/>
          <p:nvPr>
            <p:custDataLst>
              <p:tags r:id="rId17"/>
            </p:custDataLst>
          </p:nvPr>
        </p:nvCxnSpPr>
        <p:spPr>
          <a:xfrm flipH="1">
            <a:off x="5217242" y="4571339"/>
            <a:ext cx="2540" cy="176022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>
            <p:custDataLst>
              <p:tags r:id="rId18"/>
            </p:custDataLst>
          </p:nvPr>
        </p:nvGrpSpPr>
        <p:grpSpPr>
          <a:xfrm>
            <a:off x="5607685" y="4556760"/>
            <a:ext cx="574675" cy="488950"/>
            <a:chOff x="6496587" y="4618945"/>
            <a:chExt cx="668673" cy="668672"/>
          </a:xfrm>
        </p:grpSpPr>
        <p:sp>
          <p:nvSpPr>
            <p:cNvPr id="9" name="椭圆 8"/>
            <p:cNvSpPr/>
            <p:nvPr>
              <p:custDataLst>
                <p:tags r:id="rId19"/>
              </p:custDataLst>
            </p:nvPr>
          </p:nvSpPr>
          <p:spPr>
            <a:xfrm>
              <a:off x="6496587" y="4618945"/>
              <a:ext cx="668673" cy="668672"/>
            </a:xfrm>
            <a:prstGeom prst="ellipse">
              <a:avLst/>
            </a:prstGeom>
            <a:gradFill>
              <a:gsLst>
                <a:gs pos="79000">
                  <a:schemeClr val="accent1"/>
                </a:gs>
                <a:gs pos="95000">
                  <a:schemeClr val="accent2">
                    <a:lumMod val="5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  <a:effectLst>
              <a:outerShdw blurRad="165100" dist="76200" dir="5400000" algn="t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图形 15"/>
            <p:cNvSpPr/>
            <p:nvPr>
              <p:custDataLst>
                <p:tags r:id="rId20"/>
              </p:custDataLst>
            </p:nvPr>
          </p:nvSpPr>
          <p:spPr>
            <a:xfrm>
              <a:off x="6610284" y="4691300"/>
              <a:ext cx="452213" cy="452210"/>
            </a:xfrm>
            <a:custGeom>
              <a:avLst/>
              <a:gdLst>
                <a:gd name="connsiteX0" fmla="*/ 317439 w 565376"/>
                <a:gd name="connsiteY0" fmla="*/ 235190 h 565372"/>
                <a:gd name="connsiteX1" fmla="*/ 364930 w 565376"/>
                <a:gd name="connsiteY1" fmla="*/ 235190 h 565372"/>
                <a:gd name="connsiteX2" fmla="*/ 373212 w 565376"/>
                <a:gd name="connsiteY2" fmla="*/ 226908 h 565372"/>
                <a:gd name="connsiteX3" fmla="*/ 364930 w 565376"/>
                <a:gd name="connsiteY3" fmla="*/ 218627 h 565372"/>
                <a:gd name="connsiteX4" fmla="*/ 317439 w 565376"/>
                <a:gd name="connsiteY4" fmla="*/ 218627 h 565372"/>
                <a:gd name="connsiteX5" fmla="*/ 309157 w 565376"/>
                <a:gd name="connsiteY5" fmla="*/ 226908 h 565372"/>
                <a:gd name="connsiteX6" fmla="*/ 317439 w 565376"/>
                <a:gd name="connsiteY6" fmla="*/ 235190 h 565372"/>
                <a:gd name="connsiteX7" fmla="*/ 317439 w 565376"/>
                <a:gd name="connsiteY7" fmla="*/ 200220 h 565372"/>
                <a:gd name="connsiteX8" fmla="*/ 364930 w 565376"/>
                <a:gd name="connsiteY8" fmla="*/ 200220 h 565372"/>
                <a:gd name="connsiteX9" fmla="*/ 373212 w 565376"/>
                <a:gd name="connsiteY9" fmla="*/ 191938 h 565372"/>
                <a:gd name="connsiteX10" fmla="*/ 364930 w 565376"/>
                <a:gd name="connsiteY10" fmla="*/ 183656 h 565372"/>
                <a:gd name="connsiteX11" fmla="*/ 317439 w 565376"/>
                <a:gd name="connsiteY11" fmla="*/ 183656 h 565372"/>
                <a:gd name="connsiteX12" fmla="*/ 309157 w 565376"/>
                <a:gd name="connsiteY12" fmla="*/ 191938 h 565372"/>
                <a:gd name="connsiteX13" fmla="*/ 317439 w 565376"/>
                <a:gd name="connsiteY13" fmla="*/ 200220 h 565372"/>
                <a:gd name="connsiteX14" fmla="*/ 200446 w 565376"/>
                <a:gd name="connsiteY14" fmla="*/ 200220 h 565372"/>
                <a:gd name="connsiteX15" fmla="*/ 247937 w 565376"/>
                <a:gd name="connsiteY15" fmla="*/ 200220 h 565372"/>
                <a:gd name="connsiteX16" fmla="*/ 256219 w 565376"/>
                <a:gd name="connsiteY16" fmla="*/ 191938 h 565372"/>
                <a:gd name="connsiteX17" fmla="*/ 247937 w 565376"/>
                <a:gd name="connsiteY17" fmla="*/ 183656 h 565372"/>
                <a:gd name="connsiteX18" fmla="*/ 200446 w 565376"/>
                <a:gd name="connsiteY18" fmla="*/ 183656 h 565372"/>
                <a:gd name="connsiteX19" fmla="*/ 192164 w 565376"/>
                <a:gd name="connsiteY19" fmla="*/ 191938 h 565372"/>
                <a:gd name="connsiteX20" fmla="*/ 200446 w 565376"/>
                <a:gd name="connsiteY20" fmla="*/ 200220 h 565372"/>
                <a:gd name="connsiteX21" fmla="*/ 157414 w 565376"/>
                <a:gd name="connsiteY21" fmla="*/ 165127 h 565372"/>
                <a:gd name="connsiteX22" fmla="*/ 157414 w 565376"/>
                <a:gd name="connsiteY22" fmla="*/ 323664 h 565372"/>
                <a:gd name="connsiteX23" fmla="*/ 173805 w 565376"/>
                <a:gd name="connsiteY23" fmla="*/ 340106 h 565372"/>
                <a:gd name="connsiteX24" fmla="*/ 391573 w 565376"/>
                <a:gd name="connsiteY24" fmla="*/ 340106 h 565372"/>
                <a:gd name="connsiteX25" fmla="*/ 407963 w 565376"/>
                <a:gd name="connsiteY25" fmla="*/ 323664 h 565372"/>
                <a:gd name="connsiteX26" fmla="*/ 407963 w 565376"/>
                <a:gd name="connsiteY26" fmla="*/ 165127 h 565372"/>
                <a:gd name="connsiteX27" fmla="*/ 391573 w 565376"/>
                <a:gd name="connsiteY27" fmla="*/ 148685 h 565372"/>
                <a:gd name="connsiteX28" fmla="*/ 305855 w 565376"/>
                <a:gd name="connsiteY28" fmla="*/ 148685 h 565372"/>
                <a:gd name="connsiteX29" fmla="*/ 282689 w 565376"/>
                <a:gd name="connsiteY29" fmla="*/ 158939 h 565372"/>
                <a:gd name="connsiteX30" fmla="*/ 259523 w 565376"/>
                <a:gd name="connsiteY30" fmla="*/ 148685 h 565372"/>
                <a:gd name="connsiteX31" fmla="*/ 173806 w 565376"/>
                <a:gd name="connsiteY31" fmla="*/ 148685 h 565372"/>
                <a:gd name="connsiteX32" fmla="*/ 157414 w 565376"/>
                <a:gd name="connsiteY32" fmla="*/ 165127 h 565372"/>
                <a:gd name="connsiteX33" fmla="*/ 391398 w 565376"/>
                <a:gd name="connsiteY33" fmla="*/ 323541 h 565372"/>
                <a:gd name="connsiteX34" fmla="*/ 292273 w 565376"/>
                <a:gd name="connsiteY34" fmla="*/ 323541 h 565372"/>
                <a:gd name="connsiteX35" fmla="*/ 317438 w 565376"/>
                <a:gd name="connsiteY35" fmla="*/ 305134 h 565372"/>
                <a:gd name="connsiteX36" fmla="*/ 391398 w 565376"/>
                <a:gd name="connsiteY36" fmla="*/ 305134 h 565372"/>
                <a:gd name="connsiteX37" fmla="*/ 290970 w 565376"/>
                <a:gd name="connsiteY37" fmla="*/ 180280 h 565372"/>
                <a:gd name="connsiteX38" fmla="*/ 305854 w 565376"/>
                <a:gd name="connsiteY38" fmla="*/ 165248 h 565372"/>
                <a:gd name="connsiteX39" fmla="*/ 391398 w 565376"/>
                <a:gd name="connsiteY39" fmla="*/ 165248 h 565372"/>
                <a:gd name="connsiteX40" fmla="*/ 391398 w 565376"/>
                <a:gd name="connsiteY40" fmla="*/ 288570 h 565372"/>
                <a:gd name="connsiteX41" fmla="*/ 317439 w 565376"/>
                <a:gd name="connsiteY41" fmla="*/ 288570 h 565372"/>
                <a:gd name="connsiteX42" fmla="*/ 290970 w 565376"/>
                <a:gd name="connsiteY42" fmla="*/ 297757 h 565372"/>
                <a:gd name="connsiteX43" fmla="*/ 173978 w 565376"/>
                <a:gd name="connsiteY43" fmla="*/ 165248 h 565372"/>
                <a:gd name="connsiteX44" fmla="*/ 259522 w 565376"/>
                <a:gd name="connsiteY44" fmla="*/ 165248 h 565372"/>
                <a:gd name="connsiteX45" fmla="*/ 274406 w 565376"/>
                <a:gd name="connsiteY45" fmla="*/ 180280 h 565372"/>
                <a:gd name="connsiteX46" fmla="*/ 274406 w 565376"/>
                <a:gd name="connsiteY46" fmla="*/ 297757 h 565372"/>
                <a:gd name="connsiteX47" fmla="*/ 247937 w 565376"/>
                <a:gd name="connsiteY47" fmla="*/ 288570 h 565372"/>
                <a:gd name="connsiteX48" fmla="*/ 173977 w 565376"/>
                <a:gd name="connsiteY48" fmla="*/ 288570 h 565372"/>
                <a:gd name="connsiteX49" fmla="*/ 173977 w 565376"/>
                <a:gd name="connsiteY49" fmla="*/ 165248 h 565372"/>
                <a:gd name="connsiteX50" fmla="*/ 173978 w 565376"/>
                <a:gd name="connsiteY50" fmla="*/ 305134 h 565372"/>
                <a:gd name="connsiteX51" fmla="*/ 247938 w 565376"/>
                <a:gd name="connsiteY51" fmla="*/ 305134 h 565372"/>
                <a:gd name="connsiteX52" fmla="*/ 273103 w 565376"/>
                <a:gd name="connsiteY52" fmla="*/ 323541 h 565372"/>
                <a:gd name="connsiteX53" fmla="*/ 173978 w 565376"/>
                <a:gd name="connsiteY53" fmla="*/ 323541 h 565372"/>
                <a:gd name="connsiteX54" fmla="*/ 521438 w 565376"/>
                <a:gd name="connsiteY54" fmla="*/ 399816 h 565372"/>
                <a:gd name="connsiteX55" fmla="*/ 529720 w 565376"/>
                <a:gd name="connsiteY55" fmla="*/ 391534 h 565372"/>
                <a:gd name="connsiteX56" fmla="*/ 529720 w 565376"/>
                <a:gd name="connsiteY56" fmla="*/ 217578 h 565372"/>
                <a:gd name="connsiteX57" fmla="*/ 548260 w 565376"/>
                <a:gd name="connsiteY57" fmla="*/ 217578 h 565372"/>
                <a:gd name="connsiteX58" fmla="*/ 565376 w 565376"/>
                <a:gd name="connsiteY58" fmla="*/ 200462 h 565372"/>
                <a:gd name="connsiteX59" fmla="*/ 565376 w 565376"/>
                <a:gd name="connsiteY59" fmla="*/ 154657 h 565372"/>
                <a:gd name="connsiteX60" fmla="*/ 548260 w 565376"/>
                <a:gd name="connsiteY60" fmla="*/ 137542 h 565372"/>
                <a:gd name="connsiteX61" fmla="*/ 497996 w 565376"/>
                <a:gd name="connsiteY61" fmla="*/ 137542 h 565372"/>
                <a:gd name="connsiteX62" fmla="*/ 497996 w 565376"/>
                <a:gd name="connsiteY62" fmla="*/ 105543 h 565372"/>
                <a:gd name="connsiteX63" fmla="*/ 486454 w 565376"/>
                <a:gd name="connsiteY63" fmla="*/ 87854 h 565372"/>
                <a:gd name="connsiteX64" fmla="*/ 290470 w 565376"/>
                <a:gd name="connsiteY64" fmla="*/ 1632 h 565372"/>
                <a:gd name="connsiteX65" fmla="*/ 274905 w 565376"/>
                <a:gd name="connsiteY65" fmla="*/ 1632 h 565372"/>
                <a:gd name="connsiteX66" fmla="*/ 78922 w 565376"/>
                <a:gd name="connsiteY66" fmla="*/ 87855 h 565372"/>
                <a:gd name="connsiteX67" fmla="*/ 67380 w 565376"/>
                <a:gd name="connsiteY67" fmla="*/ 105543 h 565372"/>
                <a:gd name="connsiteX68" fmla="*/ 67380 w 565376"/>
                <a:gd name="connsiteY68" fmla="*/ 137542 h 565372"/>
                <a:gd name="connsiteX69" fmla="*/ 17116 w 565376"/>
                <a:gd name="connsiteY69" fmla="*/ 137542 h 565372"/>
                <a:gd name="connsiteX70" fmla="*/ 0 w 565376"/>
                <a:gd name="connsiteY70" fmla="*/ 154657 h 565372"/>
                <a:gd name="connsiteX71" fmla="*/ 0 w 565376"/>
                <a:gd name="connsiteY71" fmla="*/ 200462 h 565372"/>
                <a:gd name="connsiteX72" fmla="*/ 17116 w 565376"/>
                <a:gd name="connsiteY72" fmla="*/ 217578 h 565372"/>
                <a:gd name="connsiteX73" fmla="*/ 35656 w 565376"/>
                <a:gd name="connsiteY73" fmla="*/ 217578 h 565372"/>
                <a:gd name="connsiteX74" fmla="*/ 35656 w 565376"/>
                <a:gd name="connsiteY74" fmla="*/ 548808 h 565372"/>
                <a:gd name="connsiteX75" fmla="*/ 8282 w 565376"/>
                <a:gd name="connsiteY75" fmla="*/ 548808 h 565372"/>
                <a:gd name="connsiteX76" fmla="*/ 0 w 565376"/>
                <a:gd name="connsiteY76" fmla="*/ 557090 h 565372"/>
                <a:gd name="connsiteX77" fmla="*/ 8282 w 565376"/>
                <a:gd name="connsiteY77" fmla="*/ 565372 h 565372"/>
                <a:gd name="connsiteX78" fmla="*/ 557094 w 565376"/>
                <a:gd name="connsiteY78" fmla="*/ 565372 h 565372"/>
                <a:gd name="connsiteX79" fmla="*/ 565376 w 565376"/>
                <a:gd name="connsiteY79" fmla="*/ 557090 h 565372"/>
                <a:gd name="connsiteX80" fmla="*/ 557094 w 565376"/>
                <a:gd name="connsiteY80" fmla="*/ 548808 h 565372"/>
                <a:gd name="connsiteX81" fmla="*/ 529720 w 565376"/>
                <a:gd name="connsiteY81" fmla="*/ 548808 h 565372"/>
                <a:gd name="connsiteX82" fmla="*/ 529720 w 565376"/>
                <a:gd name="connsiteY82" fmla="*/ 430183 h 565372"/>
                <a:gd name="connsiteX83" fmla="*/ 521438 w 565376"/>
                <a:gd name="connsiteY83" fmla="*/ 421901 h 565372"/>
                <a:gd name="connsiteX84" fmla="*/ 513156 w 565376"/>
                <a:gd name="connsiteY84" fmla="*/ 430183 h 565372"/>
                <a:gd name="connsiteX85" fmla="*/ 513156 w 565376"/>
                <a:gd name="connsiteY85" fmla="*/ 548808 h 565372"/>
                <a:gd name="connsiteX86" fmla="*/ 458993 w 565376"/>
                <a:gd name="connsiteY86" fmla="*/ 548808 h 565372"/>
                <a:gd name="connsiteX87" fmla="*/ 458993 w 565376"/>
                <a:gd name="connsiteY87" fmla="*/ 217578 h 565372"/>
                <a:gd name="connsiteX88" fmla="*/ 513156 w 565376"/>
                <a:gd name="connsiteY88" fmla="*/ 217578 h 565372"/>
                <a:gd name="connsiteX89" fmla="*/ 513156 w 565376"/>
                <a:gd name="connsiteY89" fmla="*/ 391534 h 565372"/>
                <a:gd name="connsiteX90" fmla="*/ 521438 w 565376"/>
                <a:gd name="connsiteY90" fmla="*/ 399816 h 565372"/>
                <a:gd name="connsiteX91" fmla="*/ 106383 w 565376"/>
                <a:gd name="connsiteY91" fmla="*/ 548808 h 565372"/>
                <a:gd name="connsiteX92" fmla="*/ 52220 w 565376"/>
                <a:gd name="connsiteY92" fmla="*/ 548808 h 565372"/>
                <a:gd name="connsiteX93" fmla="*/ 52220 w 565376"/>
                <a:gd name="connsiteY93" fmla="*/ 217578 h 565372"/>
                <a:gd name="connsiteX94" fmla="*/ 106383 w 565376"/>
                <a:gd name="connsiteY94" fmla="*/ 217578 h 565372"/>
                <a:gd name="connsiteX95" fmla="*/ 106383 w 565376"/>
                <a:gd name="connsiteY95" fmla="*/ 201014 h 565372"/>
                <a:gd name="connsiteX96" fmla="*/ 17116 w 565376"/>
                <a:gd name="connsiteY96" fmla="*/ 201014 h 565372"/>
                <a:gd name="connsiteX97" fmla="*/ 16564 w 565376"/>
                <a:gd name="connsiteY97" fmla="*/ 200462 h 565372"/>
                <a:gd name="connsiteX98" fmla="*/ 16564 w 565376"/>
                <a:gd name="connsiteY98" fmla="*/ 154657 h 565372"/>
                <a:gd name="connsiteX99" fmla="*/ 17116 w 565376"/>
                <a:gd name="connsiteY99" fmla="*/ 154105 h 565372"/>
                <a:gd name="connsiteX100" fmla="*/ 68486 w 565376"/>
                <a:gd name="connsiteY100" fmla="*/ 154105 h 565372"/>
                <a:gd name="connsiteX101" fmla="*/ 94487 w 565376"/>
                <a:gd name="connsiteY101" fmla="*/ 165358 h 565372"/>
                <a:gd name="connsiteX102" fmla="*/ 106383 w 565376"/>
                <a:gd name="connsiteY102" fmla="*/ 160123 h 565372"/>
                <a:gd name="connsiteX103" fmla="*/ 341362 w 565376"/>
                <a:gd name="connsiteY103" fmla="*/ 548808 h 565372"/>
                <a:gd name="connsiteX104" fmla="*/ 224014 w 565376"/>
                <a:gd name="connsiteY104" fmla="*/ 548808 h 565372"/>
                <a:gd name="connsiteX105" fmla="*/ 224014 w 565376"/>
                <a:gd name="connsiteY105" fmla="*/ 434166 h 565372"/>
                <a:gd name="connsiteX106" fmla="*/ 282688 w 565376"/>
                <a:gd name="connsiteY106" fmla="*/ 375493 h 565372"/>
                <a:gd name="connsiteX107" fmla="*/ 341362 w 565376"/>
                <a:gd name="connsiteY107" fmla="*/ 434166 h 565372"/>
                <a:gd name="connsiteX108" fmla="*/ 290470 w 565376"/>
                <a:gd name="connsiteY108" fmla="*/ 67887 h 565372"/>
                <a:gd name="connsiteX109" fmla="*/ 274905 w 565376"/>
                <a:gd name="connsiteY109" fmla="*/ 67887 h 565372"/>
                <a:gd name="connsiteX110" fmla="*/ 206138 w 565376"/>
                <a:gd name="connsiteY110" fmla="*/ 98140 h 565372"/>
                <a:gd name="connsiteX111" fmla="*/ 201892 w 565376"/>
                <a:gd name="connsiteY111" fmla="*/ 109055 h 565372"/>
                <a:gd name="connsiteX112" fmla="*/ 212809 w 565376"/>
                <a:gd name="connsiteY112" fmla="*/ 113301 h 565372"/>
                <a:gd name="connsiteX113" fmla="*/ 281575 w 565376"/>
                <a:gd name="connsiteY113" fmla="*/ 83047 h 565372"/>
                <a:gd name="connsiteX114" fmla="*/ 283800 w 565376"/>
                <a:gd name="connsiteY114" fmla="*/ 83047 h 565372"/>
                <a:gd name="connsiteX115" fmla="*/ 442429 w 565376"/>
                <a:gd name="connsiteY115" fmla="*/ 152835 h 565372"/>
                <a:gd name="connsiteX116" fmla="*/ 442429 w 565376"/>
                <a:gd name="connsiteY116" fmla="*/ 548806 h 565372"/>
                <a:gd name="connsiteX117" fmla="*/ 357926 w 565376"/>
                <a:gd name="connsiteY117" fmla="*/ 548806 h 565372"/>
                <a:gd name="connsiteX118" fmla="*/ 357926 w 565376"/>
                <a:gd name="connsiteY118" fmla="*/ 434166 h 565372"/>
                <a:gd name="connsiteX119" fmla="*/ 282688 w 565376"/>
                <a:gd name="connsiteY119" fmla="*/ 358929 h 565372"/>
                <a:gd name="connsiteX120" fmla="*/ 207450 w 565376"/>
                <a:gd name="connsiteY120" fmla="*/ 434166 h 565372"/>
                <a:gd name="connsiteX121" fmla="*/ 207450 w 565376"/>
                <a:gd name="connsiteY121" fmla="*/ 548808 h 565372"/>
                <a:gd name="connsiteX122" fmla="*/ 122947 w 565376"/>
                <a:gd name="connsiteY122" fmla="*/ 548808 h 565372"/>
                <a:gd name="connsiteX123" fmla="*/ 122947 w 565376"/>
                <a:gd name="connsiteY123" fmla="*/ 152836 h 565372"/>
                <a:gd name="connsiteX124" fmla="*/ 177479 w 565376"/>
                <a:gd name="connsiteY124" fmla="*/ 128846 h 565372"/>
                <a:gd name="connsiteX125" fmla="*/ 181725 w 565376"/>
                <a:gd name="connsiteY125" fmla="*/ 117930 h 565372"/>
                <a:gd name="connsiteX126" fmla="*/ 170809 w 565376"/>
                <a:gd name="connsiteY126" fmla="*/ 113684 h 565372"/>
                <a:gd name="connsiteX127" fmla="*/ 87817 w 565376"/>
                <a:gd name="connsiteY127" fmla="*/ 150196 h 565372"/>
                <a:gd name="connsiteX128" fmla="*/ 83944 w 565376"/>
                <a:gd name="connsiteY128" fmla="*/ 147670 h 565372"/>
                <a:gd name="connsiteX129" fmla="*/ 83944 w 565376"/>
                <a:gd name="connsiteY129" fmla="*/ 105543 h 565372"/>
                <a:gd name="connsiteX130" fmla="*/ 85593 w 565376"/>
                <a:gd name="connsiteY130" fmla="*/ 103016 h 565372"/>
                <a:gd name="connsiteX131" fmla="*/ 281575 w 565376"/>
                <a:gd name="connsiteY131" fmla="*/ 16794 h 565372"/>
                <a:gd name="connsiteX132" fmla="*/ 283800 w 565376"/>
                <a:gd name="connsiteY132" fmla="*/ 16794 h 565372"/>
                <a:gd name="connsiteX133" fmla="*/ 479783 w 565376"/>
                <a:gd name="connsiteY133" fmla="*/ 103016 h 565372"/>
                <a:gd name="connsiteX134" fmla="*/ 481432 w 565376"/>
                <a:gd name="connsiteY134" fmla="*/ 105544 h 565372"/>
                <a:gd name="connsiteX135" fmla="*/ 481432 w 565376"/>
                <a:gd name="connsiteY135" fmla="*/ 147671 h 565372"/>
                <a:gd name="connsiteX136" fmla="*/ 477559 w 565376"/>
                <a:gd name="connsiteY136" fmla="*/ 150197 h 565372"/>
                <a:gd name="connsiteX137" fmla="*/ 458993 w 565376"/>
                <a:gd name="connsiteY137" fmla="*/ 201014 h 565372"/>
                <a:gd name="connsiteX138" fmla="*/ 458993 w 565376"/>
                <a:gd name="connsiteY138" fmla="*/ 160125 h 565372"/>
                <a:gd name="connsiteX139" fmla="*/ 470889 w 565376"/>
                <a:gd name="connsiteY139" fmla="*/ 165359 h 565372"/>
                <a:gd name="connsiteX140" fmla="*/ 496890 w 565376"/>
                <a:gd name="connsiteY140" fmla="*/ 154106 h 565372"/>
                <a:gd name="connsiteX141" fmla="*/ 548260 w 565376"/>
                <a:gd name="connsiteY141" fmla="*/ 154106 h 565372"/>
                <a:gd name="connsiteX142" fmla="*/ 548812 w 565376"/>
                <a:gd name="connsiteY142" fmla="*/ 154659 h 565372"/>
                <a:gd name="connsiteX143" fmla="*/ 548812 w 565376"/>
                <a:gd name="connsiteY143" fmla="*/ 200463 h 565372"/>
                <a:gd name="connsiteX144" fmla="*/ 548260 w 565376"/>
                <a:gd name="connsiteY144" fmla="*/ 201015 h 565372"/>
                <a:gd name="connsiteX145" fmla="*/ 458993 w 565376"/>
                <a:gd name="connsiteY145" fmla="*/ 201015 h 565372"/>
                <a:gd name="connsiteX146" fmla="*/ 256219 w 565376"/>
                <a:gd name="connsiteY146" fmla="*/ 261880 h 565372"/>
                <a:gd name="connsiteX147" fmla="*/ 247937 w 565376"/>
                <a:gd name="connsiteY147" fmla="*/ 253598 h 565372"/>
                <a:gd name="connsiteX148" fmla="*/ 200446 w 565376"/>
                <a:gd name="connsiteY148" fmla="*/ 253598 h 565372"/>
                <a:gd name="connsiteX149" fmla="*/ 192164 w 565376"/>
                <a:gd name="connsiteY149" fmla="*/ 261880 h 565372"/>
                <a:gd name="connsiteX150" fmla="*/ 200446 w 565376"/>
                <a:gd name="connsiteY150" fmla="*/ 270162 h 565372"/>
                <a:gd name="connsiteX151" fmla="*/ 247937 w 565376"/>
                <a:gd name="connsiteY151" fmla="*/ 270162 h 565372"/>
                <a:gd name="connsiteX152" fmla="*/ 256219 w 565376"/>
                <a:gd name="connsiteY152" fmla="*/ 261880 h 565372"/>
                <a:gd name="connsiteX153" fmla="*/ 364930 w 565376"/>
                <a:gd name="connsiteY153" fmla="*/ 270162 h 565372"/>
                <a:gd name="connsiteX154" fmla="*/ 373212 w 565376"/>
                <a:gd name="connsiteY154" fmla="*/ 261880 h 565372"/>
                <a:gd name="connsiteX155" fmla="*/ 364930 w 565376"/>
                <a:gd name="connsiteY155" fmla="*/ 253598 h 565372"/>
                <a:gd name="connsiteX156" fmla="*/ 317439 w 565376"/>
                <a:gd name="connsiteY156" fmla="*/ 253598 h 565372"/>
                <a:gd name="connsiteX157" fmla="*/ 309157 w 565376"/>
                <a:gd name="connsiteY157" fmla="*/ 261880 h 565372"/>
                <a:gd name="connsiteX158" fmla="*/ 317439 w 565376"/>
                <a:gd name="connsiteY158" fmla="*/ 270162 h 565372"/>
                <a:gd name="connsiteX159" fmla="*/ 200446 w 565376"/>
                <a:gd name="connsiteY159" fmla="*/ 235190 h 565372"/>
                <a:gd name="connsiteX160" fmla="*/ 247937 w 565376"/>
                <a:gd name="connsiteY160" fmla="*/ 235190 h 565372"/>
                <a:gd name="connsiteX161" fmla="*/ 256219 w 565376"/>
                <a:gd name="connsiteY161" fmla="*/ 226908 h 565372"/>
                <a:gd name="connsiteX162" fmla="*/ 247937 w 565376"/>
                <a:gd name="connsiteY162" fmla="*/ 218627 h 565372"/>
                <a:gd name="connsiteX163" fmla="*/ 200446 w 565376"/>
                <a:gd name="connsiteY163" fmla="*/ 218627 h 565372"/>
                <a:gd name="connsiteX164" fmla="*/ 192164 w 565376"/>
                <a:gd name="connsiteY164" fmla="*/ 226908 h 565372"/>
                <a:gd name="connsiteX165" fmla="*/ 200446 w 565376"/>
                <a:gd name="connsiteY165" fmla="*/ 235190 h 56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</a:cxnLst>
              <a:rect l="l" t="t" r="r" b="b"/>
              <a:pathLst>
                <a:path w="565376" h="565372">
                  <a:moveTo>
                    <a:pt x="317439" y="235190"/>
                  </a:moveTo>
                  <a:lnTo>
                    <a:pt x="364930" y="235190"/>
                  </a:lnTo>
                  <a:cubicBezTo>
                    <a:pt x="369505" y="235190"/>
                    <a:pt x="373212" y="231482"/>
                    <a:pt x="373212" y="226908"/>
                  </a:cubicBezTo>
                  <a:cubicBezTo>
                    <a:pt x="373212" y="222335"/>
                    <a:pt x="369505" y="218627"/>
                    <a:pt x="364930" y="218627"/>
                  </a:cubicBezTo>
                  <a:lnTo>
                    <a:pt x="317439" y="218627"/>
                  </a:lnTo>
                  <a:cubicBezTo>
                    <a:pt x="312864" y="218627"/>
                    <a:pt x="309157" y="222335"/>
                    <a:pt x="309157" y="226908"/>
                  </a:cubicBezTo>
                  <a:cubicBezTo>
                    <a:pt x="309157" y="231482"/>
                    <a:pt x="312864" y="235190"/>
                    <a:pt x="317439" y="235190"/>
                  </a:cubicBezTo>
                  <a:close/>
                  <a:moveTo>
                    <a:pt x="317439" y="200220"/>
                  </a:moveTo>
                  <a:lnTo>
                    <a:pt x="364930" y="200220"/>
                  </a:lnTo>
                  <a:cubicBezTo>
                    <a:pt x="369505" y="200220"/>
                    <a:pt x="373212" y="196512"/>
                    <a:pt x="373212" y="191938"/>
                  </a:cubicBezTo>
                  <a:cubicBezTo>
                    <a:pt x="373212" y="187364"/>
                    <a:pt x="369505" y="183656"/>
                    <a:pt x="364930" y="183656"/>
                  </a:cubicBezTo>
                  <a:lnTo>
                    <a:pt x="317439" y="183656"/>
                  </a:lnTo>
                  <a:cubicBezTo>
                    <a:pt x="312864" y="183656"/>
                    <a:pt x="309157" y="187364"/>
                    <a:pt x="309157" y="191938"/>
                  </a:cubicBezTo>
                  <a:cubicBezTo>
                    <a:pt x="309157" y="196512"/>
                    <a:pt x="312864" y="200220"/>
                    <a:pt x="317439" y="200220"/>
                  </a:cubicBezTo>
                  <a:close/>
                  <a:moveTo>
                    <a:pt x="200446" y="200220"/>
                  </a:moveTo>
                  <a:lnTo>
                    <a:pt x="247937" y="200220"/>
                  </a:lnTo>
                  <a:cubicBezTo>
                    <a:pt x="252512" y="200220"/>
                    <a:pt x="256219" y="196512"/>
                    <a:pt x="256219" y="191938"/>
                  </a:cubicBezTo>
                  <a:cubicBezTo>
                    <a:pt x="256219" y="187364"/>
                    <a:pt x="252512" y="183656"/>
                    <a:pt x="247937" y="183656"/>
                  </a:cubicBezTo>
                  <a:lnTo>
                    <a:pt x="200446" y="183656"/>
                  </a:lnTo>
                  <a:cubicBezTo>
                    <a:pt x="195871" y="183656"/>
                    <a:pt x="192164" y="187364"/>
                    <a:pt x="192164" y="191938"/>
                  </a:cubicBezTo>
                  <a:cubicBezTo>
                    <a:pt x="192164" y="196512"/>
                    <a:pt x="195872" y="200220"/>
                    <a:pt x="200446" y="200220"/>
                  </a:cubicBezTo>
                  <a:close/>
                  <a:moveTo>
                    <a:pt x="157414" y="165127"/>
                  </a:moveTo>
                  <a:lnTo>
                    <a:pt x="157414" y="323664"/>
                  </a:lnTo>
                  <a:cubicBezTo>
                    <a:pt x="157414" y="332730"/>
                    <a:pt x="164766" y="340106"/>
                    <a:pt x="173805" y="340106"/>
                  </a:cubicBezTo>
                  <a:lnTo>
                    <a:pt x="391573" y="340106"/>
                  </a:lnTo>
                  <a:cubicBezTo>
                    <a:pt x="400611" y="340106"/>
                    <a:pt x="407963" y="332730"/>
                    <a:pt x="407963" y="323664"/>
                  </a:cubicBezTo>
                  <a:lnTo>
                    <a:pt x="407963" y="165127"/>
                  </a:lnTo>
                  <a:cubicBezTo>
                    <a:pt x="407963" y="156061"/>
                    <a:pt x="400611" y="148685"/>
                    <a:pt x="391573" y="148685"/>
                  </a:cubicBezTo>
                  <a:lnTo>
                    <a:pt x="305855" y="148685"/>
                  </a:lnTo>
                  <a:cubicBezTo>
                    <a:pt x="296697" y="148685"/>
                    <a:pt x="288441" y="152641"/>
                    <a:pt x="282689" y="158939"/>
                  </a:cubicBezTo>
                  <a:cubicBezTo>
                    <a:pt x="276937" y="152640"/>
                    <a:pt x="268682" y="148685"/>
                    <a:pt x="259523" y="148685"/>
                  </a:cubicBezTo>
                  <a:lnTo>
                    <a:pt x="173806" y="148685"/>
                  </a:lnTo>
                  <a:cubicBezTo>
                    <a:pt x="164766" y="148685"/>
                    <a:pt x="157414" y="156061"/>
                    <a:pt x="157414" y="165127"/>
                  </a:cubicBezTo>
                  <a:close/>
                  <a:moveTo>
                    <a:pt x="391398" y="323541"/>
                  </a:moveTo>
                  <a:lnTo>
                    <a:pt x="292273" y="323541"/>
                  </a:lnTo>
                  <a:cubicBezTo>
                    <a:pt x="295737" y="312867"/>
                    <a:pt x="305708" y="305134"/>
                    <a:pt x="317438" y="305134"/>
                  </a:cubicBezTo>
                  <a:lnTo>
                    <a:pt x="391398" y="305134"/>
                  </a:lnTo>
                  <a:close/>
                  <a:moveTo>
                    <a:pt x="290970" y="180280"/>
                  </a:moveTo>
                  <a:cubicBezTo>
                    <a:pt x="290970" y="171992"/>
                    <a:pt x="297647" y="165248"/>
                    <a:pt x="305854" y="165248"/>
                  </a:cubicBezTo>
                  <a:lnTo>
                    <a:pt x="391398" y="165248"/>
                  </a:lnTo>
                  <a:lnTo>
                    <a:pt x="391398" y="288570"/>
                  </a:lnTo>
                  <a:lnTo>
                    <a:pt x="317439" y="288570"/>
                  </a:lnTo>
                  <a:cubicBezTo>
                    <a:pt x="307463" y="288570"/>
                    <a:pt x="298277" y="292010"/>
                    <a:pt x="290970" y="297757"/>
                  </a:cubicBezTo>
                  <a:close/>
                  <a:moveTo>
                    <a:pt x="173978" y="165248"/>
                  </a:moveTo>
                  <a:lnTo>
                    <a:pt x="259522" y="165248"/>
                  </a:lnTo>
                  <a:cubicBezTo>
                    <a:pt x="267730" y="165248"/>
                    <a:pt x="274406" y="171992"/>
                    <a:pt x="274406" y="180280"/>
                  </a:cubicBezTo>
                  <a:lnTo>
                    <a:pt x="274406" y="297757"/>
                  </a:lnTo>
                  <a:cubicBezTo>
                    <a:pt x="267100" y="292010"/>
                    <a:pt x="257913" y="288570"/>
                    <a:pt x="247937" y="288570"/>
                  </a:cubicBezTo>
                  <a:lnTo>
                    <a:pt x="173977" y="288570"/>
                  </a:lnTo>
                  <a:lnTo>
                    <a:pt x="173977" y="165248"/>
                  </a:lnTo>
                  <a:close/>
                  <a:moveTo>
                    <a:pt x="173978" y="305134"/>
                  </a:moveTo>
                  <a:lnTo>
                    <a:pt x="247938" y="305134"/>
                  </a:lnTo>
                  <a:cubicBezTo>
                    <a:pt x="259668" y="305134"/>
                    <a:pt x="269639" y="312865"/>
                    <a:pt x="273103" y="323541"/>
                  </a:cubicBezTo>
                  <a:lnTo>
                    <a:pt x="173978" y="323541"/>
                  </a:lnTo>
                  <a:close/>
                  <a:moveTo>
                    <a:pt x="521438" y="399816"/>
                  </a:moveTo>
                  <a:cubicBezTo>
                    <a:pt x="526013" y="399816"/>
                    <a:pt x="529720" y="396108"/>
                    <a:pt x="529720" y="391534"/>
                  </a:cubicBezTo>
                  <a:lnTo>
                    <a:pt x="529720" y="217578"/>
                  </a:lnTo>
                  <a:lnTo>
                    <a:pt x="548260" y="217578"/>
                  </a:lnTo>
                  <a:cubicBezTo>
                    <a:pt x="557698" y="217578"/>
                    <a:pt x="565376" y="209900"/>
                    <a:pt x="565376" y="200462"/>
                  </a:cubicBezTo>
                  <a:lnTo>
                    <a:pt x="565376" y="154657"/>
                  </a:lnTo>
                  <a:cubicBezTo>
                    <a:pt x="565376" y="145219"/>
                    <a:pt x="557698" y="137542"/>
                    <a:pt x="548260" y="137542"/>
                  </a:cubicBezTo>
                  <a:lnTo>
                    <a:pt x="497996" y="137542"/>
                  </a:lnTo>
                  <a:lnTo>
                    <a:pt x="497996" y="105543"/>
                  </a:lnTo>
                  <a:cubicBezTo>
                    <a:pt x="497996" y="97882"/>
                    <a:pt x="493465" y="90939"/>
                    <a:pt x="486454" y="87854"/>
                  </a:cubicBezTo>
                  <a:lnTo>
                    <a:pt x="290470" y="1632"/>
                  </a:lnTo>
                  <a:cubicBezTo>
                    <a:pt x="285524" y="-544"/>
                    <a:pt x="279853" y="-544"/>
                    <a:pt x="274905" y="1632"/>
                  </a:cubicBezTo>
                  <a:lnTo>
                    <a:pt x="78922" y="87855"/>
                  </a:lnTo>
                  <a:cubicBezTo>
                    <a:pt x="71910" y="90939"/>
                    <a:pt x="67380" y="97882"/>
                    <a:pt x="67380" y="105543"/>
                  </a:cubicBezTo>
                  <a:lnTo>
                    <a:pt x="67380" y="137542"/>
                  </a:lnTo>
                  <a:lnTo>
                    <a:pt x="17116" y="137542"/>
                  </a:lnTo>
                  <a:cubicBezTo>
                    <a:pt x="7678" y="137542"/>
                    <a:pt x="0" y="145219"/>
                    <a:pt x="0" y="154657"/>
                  </a:cubicBezTo>
                  <a:lnTo>
                    <a:pt x="0" y="200462"/>
                  </a:lnTo>
                  <a:cubicBezTo>
                    <a:pt x="0" y="209900"/>
                    <a:pt x="7678" y="217578"/>
                    <a:pt x="17116" y="217578"/>
                  </a:cubicBezTo>
                  <a:lnTo>
                    <a:pt x="35656" y="217578"/>
                  </a:lnTo>
                  <a:lnTo>
                    <a:pt x="35656" y="548808"/>
                  </a:lnTo>
                  <a:lnTo>
                    <a:pt x="8282" y="548808"/>
                  </a:lnTo>
                  <a:cubicBezTo>
                    <a:pt x="3707" y="548808"/>
                    <a:pt x="0" y="552516"/>
                    <a:pt x="0" y="557090"/>
                  </a:cubicBezTo>
                  <a:cubicBezTo>
                    <a:pt x="0" y="561664"/>
                    <a:pt x="3707" y="565372"/>
                    <a:pt x="8282" y="565372"/>
                  </a:cubicBezTo>
                  <a:lnTo>
                    <a:pt x="557094" y="565372"/>
                  </a:lnTo>
                  <a:cubicBezTo>
                    <a:pt x="561669" y="565372"/>
                    <a:pt x="565376" y="561664"/>
                    <a:pt x="565376" y="557090"/>
                  </a:cubicBezTo>
                  <a:cubicBezTo>
                    <a:pt x="565376" y="552516"/>
                    <a:pt x="561669" y="548808"/>
                    <a:pt x="557094" y="548808"/>
                  </a:cubicBezTo>
                  <a:lnTo>
                    <a:pt x="529720" y="548808"/>
                  </a:lnTo>
                  <a:lnTo>
                    <a:pt x="529720" y="430183"/>
                  </a:lnTo>
                  <a:cubicBezTo>
                    <a:pt x="529720" y="425609"/>
                    <a:pt x="526013" y="421901"/>
                    <a:pt x="521438" y="421901"/>
                  </a:cubicBezTo>
                  <a:cubicBezTo>
                    <a:pt x="516863" y="421901"/>
                    <a:pt x="513156" y="425609"/>
                    <a:pt x="513156" y="430183"/>
                  </a:cubicBezTo>
                  <a:lnTo>
                    <a:pt x="513156" y="548808"/>
                  </a:lnTo>
                  <a:lnTo>
                    <a:pt x="458993" y="548808"/>
                  </a:lnTo>
                  <a:lnTo>
                    <a:pt x="458993" y="217578"/>
                  </a:lnTo>
                  <a:lnTo>
                    <a:pt x="513156" y="217578"/>
                  </a:lnTo>
                  <a:lnTo>
                    <a:pt x="513156" y="391534"/>
                  </a:lnTo>
                  <a:cubicBezTo>
                    <a:pt x="513156" y="396108"/>
                    <a:pt x="516863" y="399816"/>
                    <a:pt x="521438" y="399816"/>
                  </a:cubicBezTo>
                  <a:close/>
                  <a:moveTo>
                    <a:pt x="106383" y="548808"/>
                  </a:moveTo>
                  <a:lnTo>
                    <a:pt x="52220" y="548808"/>
                  </a:lnTo>
                  <a:lnTo>
                    <a:pt x="52220" y="217578"/>
                  </a:lnTo>
                  <a:lnTo>
                    <a:pt x="106383" y="217578"/>
                  </a:lnTo>
                  <a:close/>
                  <a:moveTo>
                    <a:pt x="106383" y="201014"/>
                  </a:moveTo>
                  <a:lnTo>
                    <a:pt x="17116" y="201014"/>
                  </a:lnTo>
                  <a:cubicBezTo>
                    <a:pt x="16817" y="201014"/>
                    <a:pt x="16564" y="200761"/>
                    <a:pt x="16564" y="200462"/>
                  </a:cubicBezTo>
                  <a:lnTo>
                    <a:pt x="16564" y="154657"/>
                  </a:lnTo>
                  <a:cubicBezTo>
                    <a:pt x="16564" y="154353"/>
                    <a:pt x="16812" y="154105"/>
                    <a:pt x="17116" y="154105"/>
                  </a:cubicBezTo>
                  <a:lnTo>
                    <a:pt x="68486" y="154105"/>
                  </a:lnTo>
                  <a:cubicBezTo>
                    <a:pt x="72048" y="164421"/>
                    <a:pt x="84354" y="169908"/>
                    <a:pt x="94487" y="165358"/>
                  </a:cubicBezTo>
                  <a:lnTo>
                    <a:pt x="106383" y="160123"/>
                  </a:lnTo>
                  <a:close/>
                  <a:moveTo>
                    <a:pt x="341362" y="548808"/>
                  </a:moveTo>
                  <a:lnTo>
                    <a:pt x="224014" y="548808"/>
                  </a:lnTo>
                  <a:lnTo>
                    <a:pt x="224014" y="434166"/>
                  </a:lnTo>
                  <a:cubicBezTo>
                    <a:pt x="224014" y="401814"/>
                    <a:pt x="250335" y="375493"/>
                    <a:pt x="282688" y="375493"/>
                  </a:cubicBezTo>
                  <a:cubicBezTo>
                    <a:pt x="315041" y="375493"/>
                    <a:pt x="341362" y="401814"/>
                    <a:pt x="341362" y="434166"/>
                  </a:cubicBezTo>
                  <a:close/>
                  <a:moveTo>
                    <a:pt x="290470" y="67887"/>
                  </a:moveTo>
                  <a:cubicBezTo>
                    <a:pt x="285524" y="65711"/>
                    <a:pt x="279853" y="65711"/>
                    <a:pt x="274905" y="67887"/>
                  </a:cubicBezTo>
                  <a:lnTo>
                    <a:pt x="206138" y="98140"/>
                  </a:lnTo>
                  <a:cubicBezTo>
                    <a:pt x="201952" y="99982"/>
                    <a:pt x="200050" y="104869"/>
                    <a:pt x="201892" y="109055"/>
                  </a:cubicBezTo>
                  <a:cubicBezTo>
                    <a:pt x="203735" y="113242"/>
                    <a:pt x="208624" y="115143"/>
                    <a:pt x="212809" y="113301"/>
                  </a:cubicBezTo>
                  <a:lnTo>
                    <a:pt x="281575" y="83047"/>
                  </a:lnTo>
                  <a:cubicBezTo>
                    <a:pt x="282283" y="82735"/>
                    <a:pt x="283094" y="82735"/>
                    <a:pt x="283800" y="83047"/>
                  </a:cubicBezTo>
                  <a:lnTo>
                    <a:pt x="442429" y="152835"/>
                  </a:lnTo>
                  <a:lnTo>
                    <a:pt x="442429" y="548806"/>
                  </a:lnTo>
                  <a:lnTo>
                    <a:pt x="357926" y="548806"/>
                  </a:lnTo>
                  <a:lnTo>
                    <a:pt x="357926" y="434166"/>
                  </a:lnTo>
                  <a:cubicBezTo>
                    <a:pt x="357926" y="392681"/>
                    <a:pt x="324175" y="358929"/>
                    <a:pt x="282688" y="358929"/>
                  </a:cubicBezTo>
                  <a:cubicBezTo>
                    <a:pt x="241201" y="358929"/>
                    <a:pt x="207450" y="392681"/>
                    <a:pt x="207450" y="434166"/>
                  </a:cubicBezTo>
                  <a:lnTo>
                    <a:pt x="207450" y="548808"/>
                  </a:lnTo>
                  <a:lnTo>
                    <a:pt x="122947" y="548808"/>
                  </a:lnTo>
                  <a:lnTo>
                    <a:pt x="122947" y="152836"/>
                  </a:lnTo>
                  <a:lnTo>
                    <a:pt x="177479" y="128846"/>
                  </a:lnTo>
                  <a:cubicBezTo>
                    <a:pt x="181666" y="127004"/>
                    <a:pt x="183567" y="122116"/>
                    <a:pt x="181725" y="117930"/>
                  </a:cubicBezTo>
                  <a:cubicBezTo>
                    <a:pt x="179882" y="113743"/>
                    <a:pt x="174994" y="111842"/>
                    <a:pt x="170809" y="113684"/>
                  </a:cubicBezTo>
                  <a:lnTo>
                    <a:pt x="87817" y="150196"/>
                  </a:lnTo>
                  <a:cubicBezTo>
                    <a:pt x="85756" y="151009"/>
                    <a:pt x="84031" y="149885"/>
                    <a:pt x="83944" y="147670"/>
                  </a:cubicBezTo>
                  <a:cubicBezTo>
                    <a:pt x="83879" y="146013"/>
                    <a:pt x="83944" y="107349"/>
                    <a:pt x="83944" y="105543"/>
                  </a:cubicBezTo>
                  <a:cubicBezTo>
                    <a:pt x="83944" y="104448"/>
                    <a:pt x="84591" y="103457"/>
                    <a:pt x="85593" y="103016"/>
                  </a:cubicBezTo>
                  <a:lnTo>
                    <a:pt x="281575" y="16794"/>
                  </a:lnTo>
                  <a:cubicBezTo>
                    <a:pt x="282283" y="16483"/>
                    <a:pt x="283094" y="16483"/>
                    <a:pt x="283800" y="16794"/>
                  </a:cubicBezTo>
                  <a:lnTo>
                    <a:pt x="479783" y="103016"/>
                  </a:lnTo>
                  <a:cubicBezTo>
                    <a:pt x="480785" y="103457"/>
                    <a:pt x="481432" y="104448"/>
                    <a:pt x="481432" y="105544"/>
                  </a:cubicBezTo>
                  <a:lnTo>
                    <a:pt x="481432" y="147671"/>
                  </a:lnTo>
                  <a:cubicBezTo>
                    <a:pt x="481432" y="149890"/>
                    <a:pt x="479624" y="151013"/>
                    <a:pt x="477559" y="150197"/>
                  </a:cubicBezTo>
                  <a:close/>
                  <a:moveTo>
                    <a:pt x="458993" y="201014"/>
                  </a:moveTo>
                  <a:lnTo>
                    <a:pt x="458993" y="160125"/>
                  </a:lnTo>
                  <a:lnTo>
                    <a:pt x="470889" y="165359"/>
                  </a:lnTo>
                  <a:cubicBezTo>
                    <a:pt x="480926" y="169854"/>
                    <a:pt x="493298" y="164512"/>
                    <a:pt x="496890" y="154106"/>
                  </a:cubicBezTo>
                  <a:lnTo>
                    <a:pt x="548260" y="154106"/>
                  </a:lnTo>
                  <a:cubicBezTo>
                    <a:pt x="548564" y="154106"/>
                    <a:pt x="548812" y="154354"/>
                    <a:pt x="548812" y="154659"/>
                  </a:cubicBezTo>
                  <a:lnTo>
                    <a:pt x="548812" y="200463"/>
                  </a:lnTo>
                  <a:cubicBezTo>
                    <a:pt x="548812" y="200762"/>
                    <a:pt x="548559" y="201015"/>
                    <a:pt x="548260" y="201015"/>
                  </a:cubicBezTo>
                  <a:lnTo>
                    <a:pt x="458993" y="201015"/>
                  </a:lnTo>
                  <a:close/>
                  <a:moveTo>
                    <a:pt x="256219" y="261880"/>
                  </a:moveTo>
                  <a:cubicBezTo>
                    <a:pt x="256219" y="257306"/>
                    <a:pt x="252512" y="253598"/>
                    <a:pt x="247937" y="253598"/>
                  </a:cubicBezTo>
                  <a:lnTo>
                    <a:pt x="200446" y="253598"/>
                  </a:lnTo>
                  <a:cubicBezTo>
                    <a:pt x="195871" y="253598"/>
                    <a:pt x="192164" y="257306"/>
                    <a:pt x="192164" y="261880"/>
                  </a:cubicBezTo>
                  <a:cubicBezTo>
                    <a:pt x="192164" y="266454"/>
                    <a:pt x="195871" y="270162"/>
                    <a:pt x="200446" y="270162"/>
                  </a:cubicBezTo>
                  <a:lnTo>
                    <a:pt x="247937" y="270162"/>
                  </a:lnTo>
                  <a:cubicBezTo>
                    <a:pt x="252512" y="270162"/>
                    <a:pt x="256219" y="266454"/>
                    <a:pt x="256219" y="261880"/>
                  </a:cubicBezTo>
                  <a:close/>
                  <a:moveTo>
                    <a:pt x="364930" y="270162"/>
                  </a:moveTo>
                  <a:cubicBezTo>
                    <a:pt x="369505" y="270162"/>
                    <a:pt x="373212" y="266454"/>
                    <a:pt x="373212" y="261880"/>
                  </a:cubicBezTo>
                  <a:cubicBezTo>
                    <a:pt x="373212" y="257306"/>
                    <a:pt x="369505" y="253598"/>
                    <a:pt x="364930" y="253598"/>
                  </a:cubicBezTo>
                  <a:lnTo>
                    <a:pt x="317439" y="253598"/>
                  </a:lnTo>
                  <a:cubicBezTo>
                    <a:pt x="312864" y="253598"/>
                    <a:pt x="309157" y="257306"/>
                    <a:pt x="309157" y="261880"/>
                  </a:cubicBezTo>
                  <a:cubicBezTo>
                    <a:pt x="309157" y="266454"/>
                    <a:pt x="312864" y="270162"/>
                    <a:pt x="317439" y="270162"/>
                  </a:cubicBezTo>
                  <a:close/>
                  <a:moveTo>
                    <a:pt x="200446" y="235190"/>
                  </a:moveTo>
                  <a:lnTo>
                    <a:pt x="247937" y="235190"/>
                  </a:lnTo>
                  <a:cubicBezTo>
                    <a:pt x="252512" y="235190"/>
                    <a:pt x="256219" y="231482"/>
                    <a:pt x="256219" y="226908"/>
                  </a:cubicBezTo>
                  <a:cubicBezTo>
                    <a:pt x="256219" y="222335"/>
                    <a:pt x="252512" y="218627"/>
                    <a:pt x="247937" y="218627"/>
                  </a:cubicBezTo>
                  <a:lnTo>
                    <a:pt x="200446" y="218627"/>
                  </a:lnTo>
                  <a:cubicBezTo>
                    <a:pt x="195871" y="218627"/>
                    <a:pt x="192164" y="222335"/>
                    <a:pt x="192164" y="226908"/>
                  </a:cubicBezTo>
                  <a:cubicBezTo>
                    <a:pt x="192164" y="231482"/>
                    <a:pt x="195872" y="235190"/>
                    <a:pt x="200446" y="235190"/>
                  </a:cubicBezTo>
                  <a:close/>
                </a:path>
              </a:pathLst>
            </a:custGeom>
            <a:solidFill>
              <a:schemeClr val="bg1"/>
            </a:solidFill>
            <a:ln w="1098" cap="flat">
              <a:noFill/>
              <a:prstDash val="solid"/>
              <a:miter/>
            </a:ln>
          </p:spPr>
          <p:txBody>
            <a:bodyPr rtlCol="0" anchor="ctr"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思源黑体 CN Regular"/>
                <a:cs typeface="+mn-cs"/>
              </a:endParaRPr>
            </a:p>
          </p:txBody>
        </p:sp>
      </p:grpSp>
      <p:sp>
        <p:nvSpPr>
          <p:cNvPr id="14" name="文本框 13"/>
          <p:cNvSpPr txBox="1"/>
          <p:nvPr>
            <p:custDataLst>
              <p:tags r:id="rId21"/>
            </p:custDataLst>
          </p:nvPr>
        </p:nvSpPr>
        <p:spPr>
          <a:xfrm>
            <a:off x="6292492" y="4553750"/>
            <a:ext cx="294712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成果</a:t>
            </a:r>
            <a:r>
              <a:rPr lang="zh-CN" altLang="en-US" sz="2400" b="1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展示</a:t>
            </a:r>
            <a:endParaRPr lang="zh-CN" altLang="en-US" sz="2400" b="1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677535" y="5105400"/>
            <a:ext cx="3020695" cy="124841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indent="0" algn="just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第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21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届全国大学生信息安全与对抗技术竞赛（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教育部白名单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A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类赛事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）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国家级三等奖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17" name="图片 7" descr="7ffbb05ddfb59552a882a6796ef82b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86800" y="4484370"/>
            <a:ext cx="2879090" cy="200787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94905" y="1736090"/>
            <a:ext cx="3399155" cy="2552065"/>
          </a:xfrm>
          <a:prstGeom prst="roundRect">
            <a:avLst>
              <a:gd name="adj" fmla="val 4002"/>
            </a:avLst>
          </a:prstGeom>
        </p:spPr>
      </p:pic>
      <p:sp>
        <p:nvSpPr>
          <p:cNvPr id="19" name="矩形 18"/>
          <p:cNvSpPr/>
          <p:nvPr/>
        </p:nvSpPr>
        <p:spPr>
          <a:xfrm>
            <a:off x="10133965" y="5527040"/>
            <a:ext cx="318770" cy="13398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626745" y="1123315"/>
            <a:ext cx="10956925" cy="5575935"/>
            <a:chOff x="626958" y="1126926"/>
            <a:chExt cx="10957230" cy="5400957"/>
          </a:xfrm>
        </p:grpSpPr>
        <p:sp>
          <p:nvSpPr>
            <p:cNvPr id="17" name="矩形: 圆角 16"/>
            <p:cNvSpPr/>
            <p:nvPr/>
          </p:nvSpPr>
          <p:spPr>
            <a:xfrm>
              <a:off x="626958" y="1698082"/>
              <a:ext cx="10957230" cy="4829801"/>
            </a:xfrm>
            <a:prstGeom prst="roundRect">
              <a:avLst>
                <a:gd name="adj" fmla="val 1685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0800" dist="381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626958" y="1126926"/>
              <a:ext cx="4846320" cy="436880"/>
            </a:xfrm>
            <a:custGeom>
              <a:avLst/>
              <a:gdLst>
                <a:gd name="connsiteX0" fmla="*/ 0 w 1780950"/>
                <a:gd name="connsiteY0" fmla="*/ 0 h 432000"/>
                <a:gd name="connsiteX1" fmla="*/ 1778399 w 1780950"/>
                <a:gd name="connsiteY1" fmla="*/ 0 h 432000"/>
                <a:gd name="connsiteX2" fmla="*/ 1780950 w 1780950"/>
                <a:gd name="connsiteY2" fmla="*/ 12636 h 432000"/>
                <a:gd name="connsiteX3" fmla="*/ 1780950 w 1780950"/>
                <a:gd name="connsiteY3" fmla="*/ 59364 h 432000"/>
                <a:gd name="connsiteX4" fmla="*/ 1408314 w 1780950"/>
                <a:gd name="connsiteY4" fmla="*/ 432000 h 432000"/>
                <a:gd name="connsiteX5" fmla="*/ 0 w 1780950"/>
                <a:gd name="connsiteY5" fmla="*/ 432000 h 4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0950" h="432000">
                  <a:moveTo>
                    <a:pt x="0" y="0"/>
                  </a:moveTo>
                  <a:lnTo>
                    <a:pt x="1778399" y="0"/>
                  </a:lnTo>
                  <a:lnTo>
                    <a:pt x="1780950" y="12636"/>
                  </a:lnTo>
                  <a:lnTo>
                    <a:pt x="1780950" y="59364"/>
                  </a:lnTo>
                  <a:cubicBezTo>
                    <a:pt x="1780950" y="265165"/>
                    <a:pt x="1614115" y="432000"/>
                    <a:pt x="1408314" y="432000"/>
                  </a:cubicBezTo>
                  <a:lnTo>
                    <a:pt x="0" y="432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133710" y="58057"/>
            <a:ext cx="12459420" cy="938977"/>
            <a:chOff x="-133710" y="58057"/>
            <a:chExt cx="12459420" cy="938977"/>
          </a:xfrm>
        </p:grpSpPr>
        <p:grpSp>
          <p:nvGrpSpPr>
            <p:cNvPr id="24" name="组合 23"/>
            <p:cNvGrpSpPr/>
            <p:nvPr/>
          </p:nvGrpSpPr>
          <p:grpSpPr>
            <a:xfrm>
              <a:off x="-133710" y="58057"/>
              <a:ext cx="12459420" cy="938977"/>
              <a:chOff x="-133710" y="58057"/>
              <a:chExt cx="12459420" cy="938977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-133710" y="177285"/>
                <a:ext cx="12459420" cy="69357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dist="38100" dir="2700000" algn="tl" rotWithShape="0">
                  <a:prstClr val="black">
                    <a:alpha val="2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93136" y="58057"/>
                <a:ext cx="621102" cy="938977"/>
              </a:xfrm>
              <a:custGeom>
                <a:avLst/>
                <a:gdLst>
                  <a:gd name="connsiteX0" fmla="*/ 0 w 914400"/>
                  <a:gd name="connsiteY0" fmla="*/ 0 h 1382383"/>
                  <a:gd name="connsiteX1" fmla="*/ 914400 w 914400"/>
                  <a:gd name="connsiteY1" fmla="*/ 0 h 1382383"/>
                  <a:gd name="connsiteX2" fmla="*/ 914400 w 914400"/>
                  <a:gd name="connsiteY2" fmla="*/ 914400 h 1382383"/>
                  <a:gd name="connsiteX3" fmla="*/ 913313 w 914400"/>
                  <a:gd name="connsiteY3" fmla="*/ 914400 h 1382383"/>
                  <a:gd name="connsiteX4" fmla="*/ 914400 w 914400"/>
                  <a:gd name="connsiteY4" fmla="*/ 925183 h 1382383"/>
                  <a:gd name="connsiteX5" fmla="*/ 457200 w 914400"/>
                  <a:gd name="connsiteY5" fmla="*/ 1382383 h 1382383"/>
                  <a:gd name="connsiteX6" fmla="*/ 0 w 914400"/>
                  <a:gd name="connsiteY6" fmla="*/ 925183 h 1382383"/>
                  <a:gd name="connsiteX7" fmla="*/ 1087 w 914400"/>
                  <a:gd name="connsiteY7" fmla="*/ 914400 h 1382383"/>
                  <a:gd name="connsiteX8" fmla="*/ 0 w 914400"/>
                  <a:gd name="connsiteY8" fmla="*/ 914400 h 1382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400" h="1382383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913313" y="914400"/>
                    </a:lnTo>
                    <a:lnTo>
                      <a:pt x="914400" y="925183"/>
                    </a:lnTo>
                    <a:cubicBezTo>
                      <a:pt x="914400" y="1177688"/>
                      <a:pt x="709705" y="1382383"/>
                      <a:pt x="457200" y="1382383"/>
                    </a:cubicBezTo>
                    <a:cubicBezTo>
                      <a:pt x="204695" y="1382383"/>
                      <a:pt x="0" y="1177688"/>
                      <a:pt x="0" y="925183"/>
                    </a:cubicBezTo>
                    <a:lnTo>
                      <a:pt x="1087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1" name="直角三角形 10"/>
              <p:cNvSpPr/>
              <p:nvPr/>
            </p:nvSpPr>
            <p:spPr>
              <a:xfrm>
                <a:off x="814238" y="58057"/>
                <a:ext cx="119228" cy="119228"/>
              </a:xfrm>
              <a:prstGeom prst="rtTriangl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87628" y="213920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28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933466" y="269723"/>
            <a:ext cx="4539915" cy="523220"/>
            <a:chOff x="933466" y="262461"/>
            <a:chExt cx="4539915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933466" y="262461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科研竞赛经历</a:t>
              </a:r>
              <a:endParaRPr lang="zh-CN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>
            <a:xfrm>
              <a:off x="3345455" y="322855"/>
              <a:ext cx="0" cy="40243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/>
            <p:cNvSpPr txBox="1"/>
            <p:nvPr/>
          </p:nvSpPr>
          <p:spPr>
            <a:xfrm>
              <a:off x="3461701" y="293239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科研</a:t>
              </a:r>
              <a:r>
                <a:rPr lang="zh-CN" altLang="en-US" sz="2400" b="1" dirty="0">
                  <a:latin typeface="+mj-ea"/>
                  <a:ea typeface="+mj-ea"/>
                </a:rPr>
                <a:t>竞赛项目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814705" y="1890395"/>
            <a:ext cx="9846310" cy="25088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b="1" kern="0" noProof="0" dirty="0">
                <a:ln>
                  <a:noFill/>
                </a:ln>
                <a:solidFill>
                  <a:srgbClr val="164690"/>
                </a:solidFill>
                <a:effectLst/>
                <a:uLnTx/>
                <a:uFillTx/>
                <a:latin typeface="+mn-ea"/>
                <a:sym typeface="+mn-ea"/>
              </a:rPr>
              <a:t>系统架构搭建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：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本项目以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STM32F103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为主控，开发果实采摘智能车系统。通过串口接收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JY61P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陀螺仪的姿态角数据，结合编码电机反馈信号，构建闭环控制系统，实现车体平稳直行、精准转向与速度稳定控制。集成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OPENMV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视觉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识别模块，经图像算法识别定位果实位置，提取坐标参数。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STM32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接收位置数据后规划路径，驱动机械臂舵机完成精准对位与抓取，形成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“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姿态感知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-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运动闭环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-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视觉定位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-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机械臂执行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”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一体化自动作业系统。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41977"/>
          <a:stretch>
            <a:fillRect/>
          </a:stretch>
        </p:blipFill>
        <p:spPr>
          <a:xfrm>
            <a:off x="2381250" y="3944620"/>
            <a:ext cx="7428865" cy="2754630"/>
          </a:xfrm>
          <a:prstGeom prst="rect">
            <a:avLst/>
          </a:prstGeom>
          <a:ln w="19050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23900" y="1163955"/>
            <a:ext cx="3813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果实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采摘车具体功能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626745" y="1123315"/>
            <a:ext cx="10956925" cy="5575935"/>
            <a:chOff x="626958" y="1126926"/>
            <a:chExt cx="10957230" cy="5400957"/>
          </a:xfrm>
        </p:grpSpPr>
        <p:sp>
          <p:nvSpPr>
            <p:cNvPr id="17" name="矩形: 圆角 16"/>
            <p:cNvSpPr/>
            <p:nvPr/>
          </p:nvSpPr>
          <p:spPr>
            <a:xfrm>
              <a:off x="626958" y="1698082"/>
              <a:ext cx="10957230" cy="4829801"/>
            </a:xfrm>
            <a:prstGeom prst="roundRect">
              <a:avLst>
                <a:gd name="adj" fmla="val 1685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0800" dist="381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626958" y="1126926"/>
              <a:ext cx="4846320" cy="436880"/>
            </a:xfrm>
            <a:custGeom>
              <a:avLst/>
              <a:gdLst>
                <a:gd name="connsiteX0" fmla="*/ 0 w 1780950"/>
                <a:gd name="connsiteY0" fmla="*/ 0 h 432000"/>
                <a:gd name="connsiteX1" fmla="*/ 1778399 w 1780950"/>
                <a:gd name="connsiteY1" fmla="*/ 0 h 432000"/>
                <a:gd name="connsiteX2" fmla="*/ 1780950 w 1780950"/>
                <a:gd name="connsiteY2" fmla="*/ 12636 h 432000"/>
                <a:gd name="connsiteX3" fmla="*/ 1780950 w 1780950"/>
                <a:gd name="connsiteY3" fmla="*/ 59364 h 432000"/>
                <a:gd name="connsiteX4" fmla="*/ 1408314 w 1780950"/>
                <a:gd name="connsiteY4" fmla="*/ 432000 h 432000"/>
                <a:gd name="connsiteX5" fmla="*/ 0 w 1780950"/>
                <a:gd name="connsiteY5" fmla="*/ 432000 h 4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0950" h="432000">
                  <a:moveTo>
                    <a:pt x="0" y="0"/>
                  </a:moveTo>
                  <a:lnTo>
                    <a:pt x="1778399" y="0"/>
                  </a:lnTo>
                  <a:lnTo>
                    <a:pt x="1780950" y="12636"/>
                  </a:lnTo>
                  <a:lnTo>
                    <a:pt x="1780950" y="59364"/>
                  </a:lnTo>
                  <a:cubicBezTo>
                    <a:pt x="1780950" y="265165"/>
                    <a:pt x="1614115" y="432000"/>
                    <a:pt x="1408314" y="432000"/>
                  </a:cubicBezTo>
                  <a:lnTo>
                    <a:pt x="0" y="432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133710" y="58057"/>
            <a:ext cx="12459420" cy="938977"/>
            <a:chOff x="-133710" y="58057"/>
            <a:chExt cx="12459420" cy="938977"/>
          </a:xfrm>
        </p:grpSpPr>
        <p:grpSp>
          <p:nvGrpSpPr>
            <p:cNvPr id="24" name="组合 23"/>
            <p:cNvGrpSpPr/>
            <p:nvPr/>
          </p:nvGrpSpPr>
          <p:grpSpPr>
            <a:xfrm>
              <a:off x="-133710" y="58057"/>
              <a:ext cx="12459420" cy="938977"/>
              <a:chOff x="-133710" y="58057"/>
              <a:chExt cx="12459420" cy="938977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-133710" y="177285"/>
                <a:ext cx="12459420" cy="69357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dist="38100" dir="2700000" algn="tl" rotWithShape="0">
                  <a:prstClr val="black">
                    <a:alpha val="2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93136" y="58057"/>
                <a:ext cx="621102" cy="938977"/>
              </a:xfrm>
              <a:custGeom>
                <a:avLst/>
                <a:gdLst>
                  <a:gd name="connsiteX0" fmla="*/ 0 w 914400"/>
                  <a:gd name="connsiteY0" fmla="*/ 0 h 1382383"/>
                  <a:gd name="connsiteX1" fmla="*/ 914400 w 914400"/>
                  <a:gd name="connsiteY1" fmla="*/ 0 h 1382383"/>
                  <a:gd name="connsiteX2" fmla="*/ 914400 w 914400"/>
                  <a:gd name="connsiteY2" fmla="*/ 914400 h 1382383"/>
                  <a:gd name="connsiteX3" fmla="*/ 913313 w 914400"/>
                  <a:gd name="connsiteY3" fmla="*/ 914400 h 1382383"/>
                  <a:gd name="connsiteX4" fmla="*/ 914400 w 914400"/>
                  <a:gd name="connsiteY4" fmla="*/ 925183 h 1382383"/>
                  <a:gd name="connsiteX5" fmla="*/ 457200 w 914400"/>
                  <a:gd name="connsiteY5" fmla="*/ 1382383 h 1382383"/>
                  <a:gd name="connsiteX6" fmla="*/ 0 w 914400"/>
                  <a:gd name="connsiteY6" fmla="*/ 925183 h 1382383"/>
                  <a:gd name="connsiteX7" fmla="*/ 1087 w 914400"/>
                  <a:gd name="connsiteY7" fmla="*/ 914400 h 1382383"/>
                  <a:gd name="connsiteX8" fmla="*/ 0 w 914400"/>
                  <a:gd name="connsiteY8" fmla="*/ 914400 h 1382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400" h="1382383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913313" y="914400"/>
                    </a:lnTo>
                    <a:lnTo>
                      <a:pt x="914400" y="925183"/>
                    </a:lnTo>
                    <a:cubicBezTo>
                      <a:pt x="914400" y="1177688"/>
                      <a:pt x="709705" y="1382383"/>
                      <a:pt x="457200" y="1382383"/>
                    </a:cubicBezTo>
                    <a:cubicBezTo>
                      <a:pt x="204695" y="1382383"/>
                      <a:pt x="0" y="1177688"/>
                      <a:pt x="0" y="925183"/>
                    </a:cubicBezTo>
                    <a:lnTo>
                      <a:pt x="1087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1" name="直角三角形 10"/>
              <p:cNvSpPr/>
              <p:nvPr/>
            </p:nvSpPr>
            <p:spPr>
              <a:xfrm>
                <a:off x="814238" y="58057"/>
                <a:ext cx="119228" cy="119228"/>
              </a:xfrm>
              <a:prstGeom prst="rtTriangl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87628" y="213920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28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933466" y="269723"/>
            <a:ext cx="4539915" cy="523220"/>
            <a:chOff x="933466" y="262461"/>
            <a:chExt cx="4539915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933466" y="262461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科研竞赛经历</a:t>
              </a:r>
              <a:endParaRPr lang="zh-CN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>
            <a:xfrm>
              <a:off x="3345455" y="322855"/>
              <a:ext cx="0" cy="40243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/>
            <p:cNvSpPr txBox="1"/>
            <p:nvPr/>
          </p:nvSpPr>
          <p:spPr>
            <a:xfrm>
              <a:off x="3461701" y="293239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科研</a:t>
              </a:r>
              <a:r>
                <a:rPr lang="zh-CN" altLang="en-US" sz="2400" b="1" dirty="0">
                  <a:latin typeface="+mj-ea"/>
                  <a:ea typeface="+mj-ea"/>
                </a:rPr>
                <a:t>竞赛项目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723900" y="1163955"/>
            <a:ext cx="3813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果实采摘车具体功能实现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4705" y="1890395"/>
            <a:ext cx="9846310" cy="250888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b="1" kern="0" noProof="0" dirty="0">
                <a:ln>
                  <a:noFill/>
                </a:ln>
                <a:solidFill>
                  <a:srgbClr val="164690"/>
                </a:solidFill>
                <a:effectLst/>
                <a:uLnTx/>
                <a:uFillTx/>
                <a:latin typeface="+mn-ea"/>
                <a:sym typeface="+mn-ea"/>
              </a:rPr>
              <a:t>系统架构搭建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：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主控STM32、电机驱动板、直流减速电机、橡胶轮组成。STM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32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通过电机驱动板，传输PWM信号驱动直流减速电机，带动橡胶轮转动，使机器人实现运动。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95" y="4175760"/>
            <a:ext cx="3614420" cy="2193925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95" y="2811780"/>
            <a:ext cx="1788160" cy="1363980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455" y="2811780"/>
            <a:ext cx="1826895" cy="1364615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sp>
        <p:nvSpPr>
          <p:cNvPr id="32" name="文本框 31"/>
          <p:cNvSpPr txBox="1"/>
          <p:nvPr/>
        </p:nvSpPr>
        <p:spPr>
          <a:xfrm>
            <a:off x="2317750" y="6372225"/>
            <a:ext cx="20300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  </a:t>
            </a:r>
            <a:r>
              <a:rPr lang="zh-CN" altLang="en-US" sz="1400" b="1"/>
              <a:t>核心器件与底盘</a:t>
            </a:r>
            <a:r>
              <a:rPr lang="zh-CN" altLang="en-US" sz="1400" b="1"/>
              <a:t>构造</a:t>
            </a:r>
            <a:endParaRPr lang="zh-CN" altLang="en-US" sz="1400" b="1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950" y="2903855"/>
            <a:ext cx="4229735" cy="972185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sp>
        <p:nvSpPr>
          <p:cNvPr id="12" name="文本框 11"/>
          <p:cNvSpPr txBox="1"/>
          <p:nvPr/>
        </p:nvSpPr>
        <p:spPr>
          <a:xfrm>
            <a:off x="7639685" y="6344920"/>
            <a:ext cx="20300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 </a:t>
            </a:r>
            <a:r>
              <a:rPr lang="zh-CN" altLang="en-US" sz="1400" b="1"/>
              <a:t>底盘驱动</a:t>
            </a:r>
            <a:r>
              <a:rPr lang="zh-CN" altLang="en-US" sz="1400" b="1"/>
              <a:t>部分程序</a:t>
            </a:r>
            <a:endParaRPr lang="zh-CN" altLang="en-US" sz="1400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585" y="3876040"/>
            <a:ext cx="4229735" cy="2455545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618490" y="1123315"/>
            <a:ext cx="10956925" cy="5641975"/>
            <a:chOff x="626958" y="1126926"/>
            <a:chExt cx="10957230" cy="5400957"/>
          </a:xfrm>
        </p:grpSpPr>
        <p:sp>
          <p:nvSpPr>
            <p:cNvPr id="17" name="矩形: 圆角 16"/>
            <p:cNvSpPr/>
            <p:nvPr/>
          </p:nvSpPr>
          <p:spPr>
            <a:xfrm>
              <a:off x="626958" y="1698082"/>
              <a:ext cx="10957230" cy="4829801"/>
            </a:xfrm>
            <a:prstGeom prst="roundRect">
              <a:avLst>
                <a:gd name="adj" fmla="val 1685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0800" dist="381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626958" y="1126926"/>
              <a:ext cx="4846320" cy="436880"/>
            </a:xfrm>
            <a:custGeom>
              <a:avLst/>
              <a:gdLst>
                <a:gd name="connsiteX0" fmla="*/ 0 w 1780950"/>
                <a:gd name="connsiteY0" fmla="*/ 0 h 432000"/>
                <a:gd name="connsiteX1" fmla="*/ 1778399 w 1780950"/>
                <a:gd name="connsiteY1" fmla="*/ 0 h 432000"/>
                <a:gd name="connsiteX2" fmla="*/ 1780950 w 1780950"/>
                <a:gd name="connsiteY2" fmla="*/ 12636 h 432000"/>
                <a:gd name="connsiteX3" fmla="*/ 1780950 w 1780950"/>
                <a:gd name="connsiteY3" fmla="*/ 59364 h 432000"/>
                <a:gd name="connsiteX4" fmla="*/ 1408314 w 1780950"/>
                <a:gd name="connsiteY4" fmla="*/ 432000 h 432000"/>
                <a:gd name="connsiteX5" fmla="*/ 0 w 1780950"/>
                <a:gd name="connsiteY5" fmla="*/ 432000 h 4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0950" h="432000">
                  <a:moveTo>
                    <a:pt x="0" y="0"/>
                  </a:moveTo>
                  <a:lnTo>
                    <a:pt x="1778399" y="0"/>
                  </a:lnTo>
                  <a:lnTo>
                    <a:pt x="1780950" y="12636"/>
                  </a:lnTo>
                  <a:lnTo>
                    <a:pt x="1780950" y="59364"/>
                  </a:lnTo>
                  <a:cubicBezTo>
                    <a:pt x="1780950" y="265165"/>
                    <a:pt x="1614115" y="432000"/>
                    <a:pt x="1408314" y="432000"/>
                  </a:cubicBezTo>
                  <a:lnTo>
                    <a:pt x="0" y="432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133710" y="58057"/>
            <a:ext cx="12459420" cy="938977"/>
            <a:chOff x="-133710" y="58057"/>
            <a:chExt cx="12459420" cy="938977"/>
          </a:xfrm>
        </p:grpSpPr>
        <p:grpSp>
          <p:nvGrpSpPr>
            <p:cNvPr id="24" name="组合 23"/>
            <p:cNvGrpSpPr/>
            <p:nvPr/>
          </p:nvGrpSpPr>
          <p:grpSpPr>
            <a:xfrm>
              <a:off x="-133710" y="58057"/>
              <a:ext cx="12459420" cy="938977"/>
              <a:chOff x="-133710" y="58057"/>
              <a:chExt cx="12459420" cy="938977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-133710" y="177285"/>
                <a:ext cx="12459420" cy="69357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dist="38100" dir="2700000" algn="tl" rotWithShape="0">
                  <a:prstClr val="black">
                    <a:alpha val="2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93136" y="58057"/>
                <a:ext cx="621102" cy="938977"/>
              </a:xfrm>
              <a:custGeom>
                <a:avLst/>
                <a:gdLst>
                  <a:gd name="connsiteX0" fmla="*/ 0 w 914400"/>
                  <a:gd name="connsiteY0" fmla="*/ 0 h 1382383"/>
                  <a:gd name="connsiteX1" fmla="*/ 914400 w 914400"/>
                  <a:gd name="connsiteY1" fmla="*/ 0 h 1382383"/>
                  <a:gd name="connsiteX2" fmla="*/ 914400 w 914400"/>
                  <a:gd name="connsiteY2" fmla="*/ 914400 h 1382383"/>
                  <a:gd name="connsiteX3" fmla="*/ 913313 w 914400"/>
                  <a:gd name="connsiteY3" fmla="*/ 914400 h 1382383"/>
                  <a:gd name="connsiteX4" fmla="*/ 914400 w 914400"/>
                  <a:gd name="connsiteY4" fmla="*/ 925183 h 1382383"/>
                  <a:gd name="connsiteX5" fmla="*/ 457200 w 914400"/>
                  <a:gd name="connsiteY5" fmla="*/ 1382383 h 1382383"/>
                  <a:gd name="connsiteX6" fmla="*/ 0 w 914400"/>
                  <a:gd name="connsiteY6" fmla="*/ 925183 h 1382383"/>
                  <a:gd name="connsiteX7" fmla="*/ 1087 w 914400"/>
                  <a:gd name="connsiteY7" fmla="*/ 914400 h 1382383"/>
                  <a:gd name="connsiteX8" fmla="*/ 0 w 914400"/>
                  <a:gd name="connsiteY8" fmla="*/ 914400 h 1382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400" h="1382383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913313" y="914400"/>
                    </a:lnTo>
                    <a:lnTo>
                      <a:pt x="914400" y="925183"/>
                    </a:lnTo>
                    <a:cubicBezTo>
                      <a:pt x="914400" y="1177688"/>
                      <a:pt x="709705" y="1382383"/>
                      <a:pt x="457200" y="1382383"/>
                    </a:cubicBezTo>
                    <a:cubicBezTo>
                      <a:pt x="204695" y="1382383"/>
                      <a:pt x="0" y="1177688"/>
                      <a:pt x="0" y="925183"/>
                    </a:cubicBezTo>
                    <a:lnTo>
                      <a:pt x="1087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1" name="直角三角形 10"/>
              <p:cNvSpPr/>
              <p:nvPr/>
            </p:nvSpPr>
            <p:spPr>
              <a:xfrm>
                <a:off x="814238" y="58057"/>
                <a:ext cx="119228" cy="119228"/>
              </a:xfrm>
              <a:prstGeom prst="rtTriangl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87628" y="213920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28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933466" y="269723"/>
            <a:ext cx="4539915" cy="523220"/>
            <a:chOff x="933466" y="262461"/>
            <a:chExt cx="4539915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933466" y="262461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科研竞赛经历</a:t>
              </a:r>
              <a:endParaRPr lang="zh-CN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>
            <a:xfrm>
              <a:off x="3345455" y="322855"/>
              <a:ext cx="0" cy="40243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/>
            <p:cNvSpPr txBox="1"/>
            <p:nvPr/>
          </p:nvSpPr>
          <p:spPr>
            <a:xfrm>
              <a:off x="3461701" y="293239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科研</a:t>
              </a:r>
              <a:r>
                <a:rPr lang="zh-CN" altLang="en-US" sz="2400" b="1" dirty="0">
                  <a:latin typeface="+mj-ea"/>
                  <a:ea typeface="+mj-ea"/>
                </a:rPr>
                <a:t>竞赛项目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723900" y="1163955"/>
            <a:ext cx="3813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果实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采摘车具体功能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14705" y="1890395"/>
            <a:ext cx="9846310" cy="16033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b="1" kern="0" noProof="0" dirty="0">
                <a:ln>
                  <a:noFill/>
                </a:ln>
                <a:solidFill>
                  <a:srgbClr val="164690"/>
                </a:solidFill>
                <a:effectLst/>
                <a:uLnTx/>
                <a:uFillTx/>
                <a:latin typeface="+mn-ea"/>
                <a:sym typeface="+mn-ea"/>
              </a:rPr>
              <a:t>路径规划部署及运动控制</a:t>
            </a:r>
            <a:r>
              <a:rPr lang="zh-CN" altLang="en-US" sz="2000" b="1" kern="0" noProof="0" dirty="0">
                <a:ln>
                  <a:noFill/>
                </a:ln>
                <a:solidFill>
                  <a:srgbClr val="164690"/>
                </a:solidFill>
                <a:effectLst/>
                <a:uLnTx/>
                <a:uFillTx/>
                <a:latin typeface="+mn-ea"/>
                <a:sym typeface="+mn-ea"/>
              </a:rPr>
              <a:t>：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设计融合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JY61P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陀螺仪航向角与编码器里程计数据的路径跟踪策略，利用当前角度与目标角度的偏差通过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角度环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PID</a:t>
            </a:r>
            <a:r>
              <a:rPr lang="zh-CN" altLang="en-US" b="1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（内环）与速度环</a:t>
            </a:r>
            <a:r>
              <a:rPr lang="en-US" altLang="zh-CN" b="1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PID(</a:t>
            </a:r>
            <a:r>
              <a:rPr lang="zh-CN" altLang="en-US" b="1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外环</a:t>
            </a:r>
            <a:r>
              <a:rPr lang="en-US" altLang="zh-CN" b="1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)</a:t>
            </a:r>
            <a:r>
              <a:rPr lang="zh-CN" altLang="en-US" b="1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相结合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调整电机转速差，从而实现车体以目标角度直线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行驶，使车辆在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8m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轨迹中横向偏移误差小于</a:t>
            </a: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1cm</a:t>
            </a:r>
            <a:r>
              <a:rPr kumimoji="0" lang="zh-CN" altLang="en-US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，满足智能车高精度作业要求。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右箭头 6"/>
          <p:cNvSpPr/>
          <p:nvPr>
            <p:custDataLst>
              <p:tags r:id="rId1"/>
            </p:custDataLst>
          </p:nvPr>
        </p:nvSpPr>
        <p:spPr>
          <a:xfrm rot="5400000">
            <a:off x="2897505" y="4309745"/>
            <a:ext cx="678180" cy="267335"/>
          </a:xfrm>
          <a:prstGeom prst="right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1886585" y="5022850"/>
            <a:ext cx="678180" cy="2679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>
            <p:custDataLst>
              <p:tags r:id="rId2"/>
            </p:custDataLst>
          </p:nvPr>
        </p:nvSpPr>
        <p:spPr>
          <a:xfrm>
            <a:off x="2730500" y="4886960"/>
            <a:ext cx="1078230" cy="5391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>
            <p:custDataLst>
              <p:tags r:id="rId3"/>
            </p:custDataLst>
          </p:nvPr>
        </p:nvSpPr>
        <p:spPr>
          <a:xfrm>
            <a:off x="3974465" y="5022850"/>
            <a:ext cx="1216660" cy="267335"/>
          </a:xfrm>
          <a:prstGeom prst="right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225" y="3398520"/>
            <a:ext cx="902970" cy="678180"/>
          </a:xfrm>
          <a:prstGeom prst="roundRect">
            <a:avLst>
              <a:gd name="adj" fmla="val 4002"/>
            </a:avLst>
          </a:prstGeom>
        </p:spPr>
      </p:pic>
      <p:sp>
        <p:nvSpPr>
          <p:cNvPr id="32" name="文本框 31"/>
          <p:cNvSpPr txBox="1"/>
          <p:nvPr/>
        </p:nvSpPr>
        <p:spPr>
          <a:xfrm>
            <a:off x="1818005" y="4290060"/>
            <a:ext cx="113474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当前航角</a:t>
            </a:r>
            <a:r>
              <a:rPr lang="en-US" altLang="zh-CN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30</a:t>
            </a:r>
            <a:r>
              <a:rPr lang="zh-CN" alt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度</a:t>
            </a:r>
            <a:endParaRPr lang="zh-CN" altLang="en-US" sz="1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341120" y="5361940"/>
            <a:ext cx="113474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 b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</a:rPr>
              <a:t>目标航角</a:t>
            </a:r>
            <a:r>
              <a:rPr lang="en-US" altLang="zh-CN" sz="1200" b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1200" b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</a:rPr>
              <a:t>度</a:t>
            </a:r>
            <a:endParaRPr lang="zh-CN" altLang="en-US" sz="1200" b="1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2943225" y="4963160"/>
            <a:ext cx="65214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PID</a:t>
            </a:r>
            <a:endParaRPr lang="en-US" sz="2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6"/>
            </p:custDataLst>
          </p:nvPr>
        </p:nvSpPr>
        <p:spPr>
          <a:xfrm>
            <a:off x="4063365" y="4782820"/>
            <a:ext cx="113474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 b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</a:rPr>
              <a:t>车轮差速</a:t>
            </a:r>
            <a:r>
              <a:rPr lang="zh-CN" altLang="en-US" sz="1200" b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</a:rPr>
              <a:t>值</a:t>
            </a:r>
            <a:endParaRPr lang="zh-CN" altLang="en-US" sz="1200" b="1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右箭头 36"/>
          <p:cNvSpPr/>
          <p:nvPr>
            <p:custDataLst>
              <p:tags r:id="rId7"/>
            </p:custDataLst>
          </p:nvPr>
        </p:nvSpPr>
        <p:spPr>
          <a:xfrm>
            <a:off x="5191125" y="4076065"/>
            <a:ext cx="1372235" cy="3638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右箭头 37"/>
          <p:cNvSpPr/>
          <p:nvPr>
            <p:custDataLst>
              <p:tags r:id="rId8"/>
            </p:custDataLst>
          </p:nvPr>
        </p:nvSpPr>
        <p:spPr>
          <a:xfrm>
            <a:off x="5198110" y="5730875"/>
            <a:ext cx="1365885" cy="3638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9"/>
            </p:custDataLst>
          </p:nvPr>
        </p:nvSpPr>
        <p:spPr>
          <a:xfrm>
            <a:off x="5180330" y="4179570"/>
            <a:ext cx="167640" cy="18211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5132070" y="3856355"/>
            <a:ext cx="143129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 b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</a:rPr>
              <a:t>基础速度</a:t>
            </a:r>
            <a:r>
              <a:rPr lang="en-US" altLang="zh-CN" sz="1200" b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</a:rPr>
              <a:t>+</a:t>
            </a:r>
            <a:r>
              <a:rPr lang="zh-CN" altLang="en-US" sz="1200" b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</a:rPr>
              <a:t>差速值</a:t>
            </a:r>
            <a:endParaRPr lang="zh-CN" altLang="en-US" sz="1200" b="1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1"/>
            </p:custDataLst>
          </p:nvPr>
        </p:nvSpPr>
        <p:spPr>
          <a:xfrm>
            <a:off x="5144770" y="6048375"/>
            <a:ext cx="143129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 b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</a:rPr>
              <a:t>基础速度</a:t>
            </a:r>
            <a:r>
              <a:rPr lang="en-US" altLang="zh-CN" sz="1200" b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</a:rPr>
              <a:t>-</a:t>
            </a:r>
            <a:r>
              <a:rPr lang="zh-CN" altLang="en-US" sz="1200" b="1">
                <a:gradFill>
                  <a:gsLst>
                    <a:gs pos="50410">
                      <a:srgbClr val="1F1F1F"/>
                    </a:gs>
                    <a:gs pos="0">
                      <a:srgbClr val="020202"/>
                    </a:gs>
                    <a:gs pos="100000">
                      <a:srgbClr val="424242"/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pitchFamily="34" charset="-122"/>
              </a:rPr>
              <a:t>差速值</a:t>
            </a:r>
            <a:endParaRPr lang="zh-CN" altLang="en-US" sz="1200" b="1">
              <a:gradFill>
                <a:gsLst>
                  <a:gs pos="50410">
                    <a:srgbClr val="1F1F1F"/>
                  </a:gs>
                  <a:gs pos="0">
                    <a:srgbClr val="020202"/>
                  </a:gs>
                  <a:gs pos="100000">
                    <a:srgbClr val="424242"/>
                  </a:gs>
                </a:gsLst>
                <a:lin ang="5400000" scaled="1"/>
              </a:gra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2" name="圆角矩形 41"/>
          <p:cNvSpPr/>
          <p:nvPr>
            <p:custDataLst>
              <p:tags r:id="rId12"/>
            </p:custDataLst>
          </p:nvPr>
        </p:nvSpPr>
        <p:spPr>
          <a:xfrm>
            <a:off x="6592570" y="4000500"/>
            <a:ext cx="1003935" cy="5651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13"/>
            </p:custDataLst>
          </p:nvPr>
        </p:nvSpPr>
        <p:spPr>
          <a:xfrm>
            <a:off x="6805295" y="4076700"/>
            <a:ext cx="607695" cy="41783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PID</a:t>
            </a:r>
            <a:endParaRPr lang="en-US" sz="2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4" name="圆角矩形 43"/>
          <p:cNvSpPr/>
          <p:nvPr>
            <p:custDataLst>
              <p:tags r:id="rId14"/>
            </p:custDataLst>
          </p:nvPr>
        </p:nvSpPr>
        <p:spPr>
          <a:xfrm>
            <a:off x="6592570" y="5637530"/>
            <a:ext cx="1003300" cy="5391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15"/>
            </p:custDataLst>
          </p:nvPr>
        </p:nvSpPr>
        <p:spPr>
          <a:xfrm>
            <a:off x="6805295" y="5713730"/>
            <a:ext cx="652145" cy="3987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PID</a:t>
            </a:r>
            <a:endParaRPr lang="en-US" sz="2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6" name="右箭头 45"/>
          <p:cNvSpPr/>
          <p:nvPr/>
        </p:nvSpPr>
        <p:spPr>
          <a:xfrm>
            <a:off x="7685405" y="4131945"/>
            <a:ext cx="1038860" cy="2679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右箭头 46"/>
          <p:cNvSpPr/>
          <p:nvPr/>
        </p:nvSpPr>
        <p:spPr>
          <a:xfrm>
            <a:off x="7686675" y="5780405"/>
            <a:ext cx="1036320" cy="2679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625715" y="3903980"/>
            <a:ext cx="162433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输出不同</a:t>
            </a:r>
            <a:r>
              <a:rPr lang="zh-CN" alt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占空比</a:t>
            </a:r>
            <a:endParaRPr lang="zh-CN" altLang="en-US" sz="1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686675" y="5504815"/>
            <a:ext cx="162433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输出不同</a:t>
            </a:r>
            <a:r>
              <a:rPr lang="zh-CN" alt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占空比</a:t>
            </a:r>
            <a:endParaRPr lang="zh-CN" altLang="en-US" sz="1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0" name="图片 49" descr="089f5eb9245f49048317d3f7bec10a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9200000">
            <a:off x="814070" y="4137660"/>
            <a:ext cx="956945" cy="956945"/>
          </a:xfrm>
          <a:prstGeom prst="rect">
            <a:avLst/>
          </a:prstGeom>
        </p:spPr>
      </p:pic>
      <p:pic>
        <p:nvPicPr>
          <p:cNvPr id="51" name="图片 50" descr="150e8cc8301b1b1fa98cd72bf17eb2e"/>
          <p:cNvPicPr>
            <a:picLocks noChangeAspect="1"/>
          </p:cNvPicPr>
          <p:nvPr/>
        </p:nvPicPr>
        <p:blipFill>
          <a:blip r:embed="rId17"/>
          <a:srcRect l="14447" t="14550" r="23198" b="23919"/>
          <a:stretch>
            <a:fillRect/>
          </a:stretch>
        </p:blipFill>
        <p:spPr>
          <a:xfrm>
            <a:off x="8841105" y="3955415"/>
            <a:ext cx="829310" cy="819150"/>
          </a:xfrm>
          <a:prstGeom prst="rect">
            <a:avLst/>
          </a:prstGeom>
        </p:spPr>
      </p:pic>
      <p:pic>
        <p:nvPicPr>
          <p:cNvPr id="52" name="图片 51" descr="150e8cc8301b1b1fa98cd72bf17eb2e"/>
          <p:cNvPicPr>
            <a:picLocks noChangeAspect="1"/>
          </p:cNvPicPr>
          <p:nvPr/>
        </p:nvPicPr>
        <p:blipFill>
          <a:blip r:embed="rId17"/>
          <a:srcRect l="14447" t="14550" r="23198" b="23919"/>
          <a:stretch>
            <a:fillRect/>
          </a:stretch>
        </p:blipFill>
        <p:spPr>
          <a:xfrm>
            <a:off x="8840470" y="5637530"/>
            <a:ext cx="829310" cy="819150"/>
          </a:xfrm>
          <a:prstGeom prst="rect">
            <a:avLst/>
          </a:prstGeom>
        </p:spPr>
      </p:pic>
      <p:pic>
        <p:nvPicPr>
          <p:cNvPr id="53" name="图片 52" descr="592f9d6e444ef600f1db241f491ddc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73690" y="3804285"/>
            <a:ext cx="962025" cy="962025"/>
          </a:xfrm>
          <a:prstGeom prst="rect">
            <a:avLst/>
          </a:prstGeom>
        </p:spPr>
      </p:pic>
      <p:pic>
        <p:nvPicPr>
          <p:cNvPr id="54" name="图片 53" descr="592f9d6e444ef600f1db241f491ddc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73055" y="5504815"/>
            <a:ext cx="962025" cy="962025"/>
          </a:xfrm>
          <a:prstGeom prst="rect">
            <a:avLst/>
          </a:prstGeom>
        </p:spPr>
      </p:pic>
      <p:sp>
        <p:nvSpPr>
          <p:cNvPr id="55" name="右箭头 54"/>
          <p:cNvSpPr/>
          <p:nvPr/>
        </p:nvSpPr>
        <p:spPr>
          <a:xfrm>
            <a:off x="9857105" y="4179570"/>
            <a:ext cx="429895" cy="2679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右箭头 55"/>
          <p:cNvSpPr/>
          <p:nvPr/>
        </p:nvSpPr>
        <p:spPr>
          <a:xfrm>
            <a:off x="9856470" y="5908675"/>
            <a:ext cx="429895" cy="26797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减号 59"/>
          <p:cNvSpPr/>
          <p:nvPr/>
        </p:nvSpPr>
        <p:spPr>
          <a:xfrm rot="5400000">
            <a:off x="10461625" y="3414395"/>
            <a:ext cx="858520" cy="549275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减号 60"/>
          <p:cNvSpPr/>
          <p:nvPr/>
        </p:nvSpPr>
        <p:spPr>
          <a:xfrm>
            <a:off x="6276340" y="3149600"/>
            <a:ext cx="5391150" cy="549275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右箭头 61"/>
          <p:cNvSpPr/>
          <p:nvPr>
            <p:custDataLst>
              <p:tags r:id="rId19"/>
            </p:custDataLst>
          </p:nvPr>
        </p:nvSpPr>
        <p:spPr>
          <a:xfrm rot="5400000">
            <a:off x="6797675" y="3469640"/>
            <a:ext cx="506730" cy="266700"/>
          </a:xfrm>
          <a:prstGeom prst="right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减号 62"/>
          <p:cNvSpPr/>
          <p:nvPr/>
        </p:nvSpPr>
        <p:spPr>
          <a:xfrm rot="5400000">
            <a:off x="10507345" y="5153025"/>
            <a:ext cx="858520" cy="549275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减号 63"/>
          <p:cNvSpPr/>
          <p:nvPr/>
        </p:nvSpPr>
        <p:spPr>
          <a:xfrm>
            <a:off x="6322060" y="4888230"/>
            <a:ext cx="5391150" cy="549275"/>
          </a:xfrm>
          <a:prstGeom prst="mathMinu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右箭头 64"/>
          <p:cNvSpPr/>
          <p:nvPr>
            <p:custDataLst>
              <p:tags r:id="rId20"/>
            </p:custDataLst>
          </p:nvPr>
        </p:nvSpPr>
        <p:spPr>
          <a:xfrm rot="5400000">
            <a:off x="6843395" y="5208270"/>
            <a:ext cx="506730" cy="266700"/>
          </a:xfrm>
          <a:prstGeom prst="right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8442960" y="3074035"/>
            <a:ext cx="111315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输入当前</a:t>
            </a:r>
            <a:r>
              <a:rPr lang="zh-CN" alt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速度</a:t>
            </a:r>
            <a:endParaRPr lang="zh-CN" altLang="en-US" sz="1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507730" y="4809490"/>
            <a:ext cx="1113155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输入当前</a:t>
            </a:r>
            <a:r>
              <a:rPr lang="zh-CN" alt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速度</a:t>
            </a:r>
            <a:endParaRPr lang="zh-CN" altLang="en-US" sz="1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33450" y="4901565"/>
            <a:ext cx="657860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JY61P</a:t>
            </a:r>
            <a:r>
              <a:rPr lang="zh-CN" altLang="en-US" sz="12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陀螺仪</a:t>
            </a:r>
            <a:endParaRPr lang="zh-CN" altLang="en-US" sz="12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626745" y="1123315"/>
            <a:ext cx="10956925" cy="5575935"/>
            <a:chOff x="626958" y="1126926"/>
            <a:chExt cx="10957230" cy="5400957"/>
          </a:xfrm>
        </p:grpSpPr>
        <p:sp>
          <p:nvSpPr>
            <p:cNvPr id="17" name="矩形: 圆角 16"/>
            <p:cNvSpPr/>
            <p:nvPr/>
          </p:nvSpPr>
          <p:spPr>
            <a:xfrm>
              <a:off x="626958" y="1698082"/>
              <a:ext cx="10957230" cy="4829801"/>
            </a:xfrm>
            <a:prstGeom prst="roundRect">
              <a:avLst>
                <a:gd name="adj" fmla="val 1685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0800" dist="381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626958" y="1126926"/>
              <a:ext cx="4846320" cy="436880"/>
            </a:xfrm>
            <a:custGeom>
              <a:avLst/>
              <a:gdLst>
                <a:gd name="connsiteX0" fmla="*/ 0 w 1780950"/>
                <a:gd name="connsiteY0" fmla="*/ 0 h 432000"/>
                <a:gd name="connsiteX1" fmla="*/ 1778399 w 1780950"/>
                <a:gd name="connsiteY1" fmla="*/ 0 h 432000"/>
                <a:gd name="connsiteX2" fmla="*/ 1780950 w 1780950"/>
                <a:gd name="connsiteY2" fmla="*/ 12636 h 432000"/>
                <a:gd name="connsiteX3" fmla="*/ 1780950 w 1780950"/>
                <a:gd name="connsiteY3" fmla="*/ 59364 h 432000"/>
                <a:gd name="connsiteX4" fmla="*/ 1408314 w 1780950"/>
                <a:gd name="connsiteY4" fmla="*/ 432000 h 432000"/>
                <a:gd name="connsiteX5" fmla="*/ 0 w 1780950"/>
                <a:gd name="connsiteY5" fmla="*/ 432000 h 4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0950" h="432000">
                  <a:moveTo>
                    <a:pt x="0" y="0"/>
                  </a:moveTo>
                  <a:lnTo>
                    <a:pt x="1778399" y="0"/>
                  </a:lnTo>
                  <a:lnTo>
                    <a:pt x="1780950" y="12636"/>
                  </a:lnTo>
                  <a:lnTo>
                    <a:pt x="1780950" y="59364"/>
                  </a:lnTo>
                  <a:cubicBezTo>
                    <a:pt x="1780950" y="265165"/>
                    <a:pt x="1614115" y="432000"/>
                    <a:pt x="1408314" y="432000"/>
                  </a:cubicBezTo>
                  <a:lnTo>
                    <a:pt x="0" y="432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133710" y="58057"/>
            <a:ext cx="12459420" cy="938977"/>
            <a:chOff x="-133710" y="58057"/>
            <a:chExt cx="12459420" cy="938977"/>
          </a:xfrm>
        </p:grpSpPr>
        <p:grpSp>
          <p:nvGrpSpPr>
            <p:cNvPr id="24" name="组合 23"/>
            <p:cNvGrpSpPr/>
            <p:nvPr/>
          </p:nvGrpSpPr>
          <p:grpSpPr>
            <a:xfrm>
              <a:off x="-133710" y="58057"/>
              <a:ext cx="12459420" cy="938977"/>
              <a:chOff x="-133710" y="58057"/>
              <a:chExt cx="12459420" cy="938977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-133710" y="177285"/>
                <a:ext cx="12459420" cy="69357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dist="38100" dir="2700000" algn="tl" rotWithShape="0">
                  <a:prstClr val="black">
                    <a:alpha val="2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93136" y="58057"/>
                <a:ext cx="621102" cy="938977"/>
              </a:xfrm>
              <a:custGeom>
                <a:avLst/>
                <a:gdLst>
                  <a:gd name="connsiteX0" fmla="*/ 0 w 914400"/>
                  <a:gd name="connsiteY0" fmla="*/ 0 h 1382383"/>
                  <a:gd name="connsiteX1" fmla="*/ 914400 w 914400"/>
                  <a:gd name="connsiteY1" fmla="*/ 0 h 1382383"/>
                  <a:gd name="connsiteX2" fmla="*/ 914400 w 914400"/>
                  <a:gd name="connsiteY2" fmla="*/ 914400 h 1382383"/>
                  <a:gd name="connsiteX3" fmla="*/ 913313 w 914400"/>
                  <a:gd name="connsiteY3" fmla="*/ 914400 h 1382383"/>
                  <a:gd name="connsiteX4" fmla="*/ 914400 w 914400"/>
                  <a:gd name="connsiteY4" fmla="*/ 925183 h 1382383"/>
                  <a:gd name="connsiteX5" fmla="*/ 457200 w 914400"/>
                  <a:gd name="connsiteY5" fmla="*/ 1382383 h 1382383"/>
                  <a:gd name="connsiteX6" fmla="*/ 0 w 914400"/>
                  <a:gd name="connsiteY6" fmla="*/ 925183 h 1382383"/>
                  <a:gd name="connsiteX7" fmla="*/ 1087 w 914400"/>
                  <a:gd name="connsiteY7" fmla="*/ 914400 h 1382383"/>
                  <a:gd name="connsiteX8" fmla="*/ 0 w 914400"/>
                  <a:gd name="connsiteY8" fmla="*/ 914400 h 1382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400" h="1382383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913313" y="914400"/>
                    </a:lnTo>
                    <a:lnTo>
                      <a:pt x="914400" y="925183"/>
                    </a:lnTo>
                    <a:cubicBezTo>
                      <a:pt x="914400" y="1177688"/>
                      <a:pt x="709705" y="1382383"/>
                      <a:pt x="457200" y="1382383"/>
                    </a:cubicBezTo>
                    <a:cubicBezTo>
                      <a:pt x="204695" y="1382383"/>
                      <a:pt x="0" y="1177688"/>
                      <a:pt x="0" y="925183"/>
                    </a:cubicBezTo>
                    <a:lnTo>
                      <a:pt x="1087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1" name="直角三角形 10"/>
              <p:cNvSpPr/>
              <p:nvPr/>
            </p:nvSpPr>
            <p:spPr>
              <a:xfrm>
                <a:off x="814238" y="58057"/>
                <a:ext cx="119228" cy="119228"/>
              </a:xfrm>
              <a:prstGeom prst="rtTriangl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87628" y="213920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28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933466" y="269723"/>
            <a:ext cx="4539915" cy="523220"/>
            <a:chOff x="933466" y="262461"/>
            <a:chExt cx="4539915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933466" y="262461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科研竞赛经历</a:t>
              </a:r>
              <a:endParaRPr lang="zh-CN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>
            <a:xfrm>
              <a:off x="3345455" y="322855"/>
              <a:ext cx="0" cy="40243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/>
            <p:cNvSpPr txBox="1"/>
            <p:nvPr/>
          </p:nvSpPr>
          <p:spPr>
            <a:xfrm>
              <a:off x="3461701" y="293239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科研</a:t>
              </a:r>
              <a:r>
                <a:rPr lang="zh-CN" altLang="en-US" sz="2400" b="1" dirty="0">
                  <a:latin typeface="+mj-ea"/>
                  <a:ea typeface="+mj-ea"/>
                </a:rPr>
                <a:t>竞赛项目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814705" y="1890395"/>
            <a:ext cx="9846310" cy="7080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srgbClr val="164690"/>
                </a:solidFill>
                <a:effectLst/>
                <a:uLnTx/>
                <a:uFillTx/>
                <a:latin typeface="+mn-ea"/>
                <a:sym typeface="+mn-ea"/>
              </a:rPr>
              <a:t>路径规划部署及运动控制</a:t>
            </a:r>
            <a:r>
              <a:rPr lang="zh-CN" altLang="en-US" sz="2000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：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2950" y="2443480"/>
            <a:ext cx="5198110" cy="3919220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sp>
        <p:nvSpPr>
          <p:cNvPr id="15" name="文本框 14"/>
          <p:cNvSpPr txBox="1"/>
          <p:nvPr/>
        </p:nvSpPr>
        <p:spPr>
          <a:xfrm>
            <a:off x="7286625" y="6342380"/>
            <a:ext cx="19862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JY61P</a:t>
            </a:r>
            <a:r>
              <a:rPr lang="zh-CN" altLang="en-US" sz="1400" b="1"/>
              <a:t>获取角度</a:t>
            </a:r>
            <a:r>
              <a:rPr lang="zh-CN" altLang="en-US" sz="1400" b="1"/>
              <a:t>程序</a:t>
            </a:r>
            <a:endParaRPr lang="zh-CN" altLang="en-US" sz="1400" b="1"/>
          </a:p>
        </p:txBody>
      </p:sp>
      <p:pic>
        <p:nvPicPr>
          <p:cNvPr id="30" name="图片 29" descr="9a0961d82c58bf078f02040c73ddb1e"/>
          <p:cNvPicPr>
            <a:picLocks noChangeAspect="1"/>
          </p:cNvPicPr>
          <p:nvPr/>
        </p:nvPicPr>
        <p:blipFill>
          <a:blip r:embed="rId2"/>
          <a:srcRect r="11761"/>
          <a:stretch>
            <a:fillRect/>
          </a:stretch>
        </p:blipFill>
        <p:spPr>
          <a:xfrm>
            <a:off x="1134745" y="2515235"/>
            <a:ext cx="3648075" cy="2193290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pic>
        <p:nvPicPr>
          <p:cNvPr id="31" name="图片 30" descr="b9b9063d78b985fa0d29850f9c6eb92"/>
          <p:cNvPicPr>
            <a:picLocks noChangeAspect="1"/>
          </p:cNvPicPr>
          <p:nvPr/>
        </p:nvPicPr>
        <p:blipFill>
          <a:blip r:embed="rId3"/>
          <a:srcRect l="11689" r="11070"/>
          <a:stretch>
            <a:fillRect/>
          </a:stretch>
        </p:blipFill>
        <p:spPr>
          <a:xfrm>
            <a:off x="1134110" y="4341495"/>
            <a:ext cx="3648075" cy="2021205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sp>
        <p:nvSpPr>
          <p:cNvPr id="32" name="文本框 31"/>
          <p:cNvSpPr txBox="1"/>
          <p:nvPr/>
        </p:nvSpPr>
        <p:spPr>
          <a:xfrm>
            <a:off x="2134870" y="6362065"/>
            <a:ext cx="20300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/>
              <a:t>  </a:t>
            </a:r>
            <a:r>
              <a:rPr lang="zh-CN" altLang="en-US" sz="1400" b="1"/>
              <a:t>校准陀螺仪</a:t>
            </a:r>
            <a:r>
              <a:rPr lang="zh-CN" altLang="en-US" sz="1400" b="1"/>
              <a:t>角度</a:t>
            </a:r>
            <a:endParaRPr lang="zh-CN" altLang="en-US" sz="1400" b="1"/>
          </a:p>
        </p:txBody>
      </p:sp>
      <p:sp>
        <p:nvSpPr>
          <p:cNvPr id="2" name="文本框 1"/>
          <p:cNvSpPr txBox="1"/>
          <p:nvPr/>
        </p:nvSpPr>
        <p:spPr>
          <a:xfrm>
            <a:off x="723900" y="1163955"/>
            <a:ext cx="3813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果实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采摘车具体功能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626745" y="1123315"/>
            <a:ext cx="10956925" cy="5575935"/>
            <a:chOff x="626958" y="1126926"/>
            <a:chExt cx="10957230" cy="5400957"/>
          </a:xfrm>
        </p:grpSpPr>
        <p:sp>
          <p:nvSpPr>
            <p:cNvPr id="17" name="矩形: 圆角 16"/>
            <p:cNvSpPr/>
            <p:nvPr/>
          </p:nvSpPr>
          <p:spPr>
            <a:xfrm>
              <a:off x="626958" y="1698082"/>
              <a:ext cx="10957230" cy="4829801"/>
            </a:xfrm>
            <a:prstGeom prst="roundRect">
              <a:avLst>
                <a:gd name="adj" fmla="val 1685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0800" dist="381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626958" y="1126926"/>
              <a:ext cx="4846320" cy="436880"/>
            </a:xfrm>
            <a:custGeom>
              <a:avLst/>
              <a:gdLst>
                <a:gd name="connsiteX0" fmla="*/ 0 w 1780950"/>
                <a:gd name="connsiteY0" fmla="*/ 0 h 432000"/>
                <a:gd name="connsiteX1" fmla="*/ 1778399 w 1780950"/>
                <a:gd name="connsiteY1" fmla="*/ 0 h 432000"/>
                <a:gd name="connsiteX2" fmla="*/ 1780950 w 1780950"/>
                <a:gd name="connsiteY2" fmla="*/ 12636 h 432000"/>
                <a:gd name="connsiteX3" fmla="*/ 1780950 w 1780950"/>
                <a:gd name="connsiteY3" fmla="*/ 59364 h 432000"/>
                <a:gd name="connsiteX4" fmla="*/ 1408314 w 1780950"/>
                <a:gd name="connsiteY4" fmla="*/ 432000 h 432000"/>
                <a:gd name="connsiteX5" fmla="*/ 0 w 1780950"/>
                <a:gd name="connsiteY5" fmla="*/ 432000 h 4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0950" h="432000">
                  <a:moveTo>
                    <a:pt x="0" y="0"/>
                  </a:moveTo>
                  <a:lnTo>
                    <a:pt x="1778399" y="0"/>
                  </a:lnTo>
                  <a:lnTo>
                    <a:pt x="1780950" y="12636"/>
                  </a:lnTo>
                  <a:lnTo>
                    <a:pt x="1780950" y="59364"/>
                  </a:lnTo>
                  <a:cubicBezTo>
                    <a:pt x="1780950" y="265165"/>
                    <a:pt x="1614115" y="432000"/>
                    <a:pt x="1408314" y="432000"/>
                  </a:cubicBezTo>
                  <a:lnTo>
                    <a:pt x="0" y="432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133710" y="58057"/>
            <a:ext cx="12459420" cy="938977"/>
            <a:chOff x="-133710" y="58057"/>
            <a:chExt cx="12459420" cy="938977"/>
          </a:xfrm>
        </p:grpSpPr>
        <p:grpSp>
          <p:nvGrpSpPr>
            <p:cNvPr id="24" name="组合 23"/>
            <p:cNvGrpSpPr/>
            <p:nvPr/>
          </p:nvGrpSpPr>
          <p:grpSpPr>
            <a:xfrm>
              <a:off x="-133710" y="58057"/>
              <a:ext cx="12459420" cy="938977"/>
              <a:chOff x="-133710" y="58057"/>
              <a:chExt cx="12459420" cy="938977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-133710" y="177285"/>
                <a:ext cx="12459420" cy="69357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dist="38100" dir="2700000" algn="tl" rotWithShape="0">
                  <a:prstClr val="black">
                    <a:alpha val="2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93136" y="58057"/>
                <a:ext cx="621102" cy="938977"/>
              </a:xfrm>
              <a:custGeom>
                <a:avLst/>
                <a:gdLst>
                  <a:gd name="connsiteX0" fmla="*/ 0 w 914400"/>
                  <a:gd name="connsiteY0" fmla="*/ 0 h 1382383"/>
                  <a:gd name="connsiteX1" fmla="*/ 914400 w 914400"/>
                  <a:gd name="connsiteY1" fmla="*/ 0 h 1382383"/>
                  <a:gd name="connsiteX2" fmla="*/ 914400 w 914400"/>
                  <a:gd name="connsiteY2" fmla="*/ 914400 h 1382383"/>
                  <a:gd name="connsiteX3" fmla="*/ 913313 w 914400"/>
                  <a:gd name="connsiteY3" fmla="*/ 914400 h 1382383"/>
                  <a:gd name="connsiteX4" fmla="*/ 914400 w 914400"/>
                  <a:gd name="connsiteY4" fmla="*/ 925183 h 1382383"/>
                  <a:gd name="connsiteX5" fmla="*/ 457200 w 914400"/>
                  <a:gd name="connsiteY5" fmla="*/ 1382383 h 1382383"/>
                  <a:gd name="connsiteX6" fmla="*/ 0 w 914400"/>
                  <a:gd name="connsiteY6" fmla="*/ 925183 h 1382383"/>
                  <a:gd name="connsiteX7" fmla="*/ 1087 w 914400"/>
                  <a:gd name="connsiteY7" fmla="*/ 914400 h 1382383"/>
                  <a:gd name="connsiteX8" fmla="*/ 0 w 914400"/>
                  <a:gd name="connsiteY8" fmla="*/ 914400 h 1382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400" h="1382383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913313" y="914400"/>
                    </a:lnTo>
                    <a:lnTo>
                      <a:pt x="914400" y="925183"/>
                    </a:lnTo>
                    <a:cubicBezTo>
                      <a:pt x="914400" y="1177688"/>
                      <a:pt x="709705" y="1382383"/>
                      <a:pt x="457200" y="1382383"/>
                    </a:cubicBezTo>
                    <a:cubicBezTo>
                      <a:pt x="204695" y="1382383"/>
                      <a:pt x="0" y="1177688"/>
                      <a:pt x="0" y="925183"/>
                    </a:cubicBezTo>
                    <a:lnTo>
                      <a:pt x="1087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1" name="直角三角形 10"/>
              <p:cNvSpPr/>
              <p:nvPr/>
            </p:nvSpPr>
            <p:spPr>
              <a:xfrm>
                <a:off x="814238" y="58057"/>
                <a:ext cx="119228" cy="119228"/>
              </a:xfrm>
              <a:prstGeom prst="rtTriangl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87628" y="213920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28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933466" y="269723"/>
            <a:ext cx="4539915" cy="523220"/>
            <a:chOff x="933466" y="262461"/>
            <a:chExt cx="4539915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933466" y="262461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科研竞赛经历</a:t>
              </a:r>
              <a:endParaRPr lang="zh-CN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>
            <a:xfrm>
              <a:off x="3345455" y="322855"/>
              <a:ext cx="0" cy="40243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/>
            <p:cNvSpPr txBox="1"/>
            <p:nvPr/>
          </p:nvSpPr>
          <p:spPr>
            <a:xfrm>
              <a:off x="3461701" y="293239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科研</a:t>
              </a:r>
              <a:r>
                <a:rPr lang="zh-CN" altLang="en-US" sz="2400" b="1" dirty="0">
                  <a:latin typeface="+mj-ea"/>
                  <a:ea typeface="+mj-ea"/>
                </a:rPr>
                <a:t>竞赛项目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814705" y="1890395"/>
            <a:ext cx="9846310" cy="160337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srgbClr val="164690"/>
                </a:solidFill>
                <a:effectLst/>
                <a:uLnTx/>
                <a:uFillTx/>
                <a:latin typeface="+mn-ea"/>
                <a:sym typeface="+mn-ea"/>
              </a:rPr>
              <a:t>路径规划部署及运动控制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：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39850" y="6146165"/>
            <a:ext cx="483679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buClrTx/>
              <a:buSzTx/>
              <a:buFontTx/>
            </a:pPr>
            <a:r>
              <a:rPr lang="zh-CN" altLang="en-US" sz="1400" b="1">
                <a:sym typeface="+mn-ea"/>
              </a:rPr>
              <a:t>角度环PID</a:t>
            </a:r>
            <a:r>
              <a:rPr lang="zh-CN" altLang="en-US" sz="1400" b="1">
                <a:sym typeface="+mn-ea"/>
              </a:rPr>
              <a:t>（内环）与速度环PID(外环)</a:t>
            </a:r>
            <a:r>
              <a:rPr lang="zh-CN" altLang="en-US" sz="1400" b="1">
                <a:sym typeface="+mn-ea"/>
              </a:rPr>
              <a:t>程序</a:t>
            </a:r>
            <a:endParaRPr lang="zh-CN" altLang="en-US" sz="1400" b="1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95845" y="6146165"/>
            <a:ext cx="3453765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buClrTx/>
              <a:buSzTx/>
              <a:buFontTx/>
            </a:pPr>
            <a:r>
              <a:rPr lang="zh-CN" altLang="en-US" sz="1400" b="1">
                <a:sym typeface="+mn-ea"/>
              </a:rPr>
              <a:t>利用上位机，调节</a:t>
            </a:r>
            <a:r>
              <a:rPr lang="en-US" altLang="zh-CN" sz="1400" b="1">
                <a:sym typeface="+mn-ea"/>
              </a:rPr>
              <a:t>PID</a:t>
            </a:r>
            <a:r>
              <a:rPr lang="zh-CN" altLang="en-US" sz="1400" b="1">
                <a:sym typeface="+mn-ea"/>
              </a:rPr>
              <a:t>参数，波形</a:t>
            </a:r>
            <a:r>
              <a:rPr lang="zh-CN" altLang="en-US" sz="1400" b="1">
                <a:sym typeface="+mn-ea"/>
              </a:rPr>
              <a:t>显示</a:t>
            </a:r>
            <a:endParaRPr lang="zh-CN" altLang="en-US" sz="1400" b="1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970" y="2797810"/>
            <a:ext cx="2550160" cy="1624965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130" y="2797810"/>
            <a:ext cx="2550160" cy="1668780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970" y="4422140"/>
            <a:ext cx="2550795" cy="1624330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765" y="4466590"/>
            <a:ext cx="2549525" cy="1579880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65" y="2663825"/>
            <a:ext cx="5010150" cy="1410970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937000"/>
            <a:ext cx="5009515" cy="2065655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723900" y="1163955"/>
            <a:ext cx="3813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果实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采摘车具体功能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626745" y="1123315"/>
            <a:ext cx="10956925" cy="5575935"/>
            <a:chOff x="626958" y="1126926"/>
            <a:chExt cx="10957230" cy="5400957"/>
          </a:xfrm>
        </p:grpSpPr>
        <p:sp>
          <p:nvSpPr>
            <p:cNvPr id="17" name="矩形: 圆角 16"/>
            <p:cNvSpPr/>
            <p:nvPr/>
          </p:nvSpPr>
          <p:spPr>
            <a:xfrm>
              <a:off x="626958" y="1698082"/>
              <a:ext cx="10957230" cy="4829801"/>
            </a:xfrm>
            <a:prstGeom prst="roundRect">
              <a:avLst>
                <a:gd name="adj" fmla="val 1685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0800" dist="381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626958" y="1126926"/>
              <a:ext cx="4846320" cy="436880"/>
            </a:xfrm>
            <a:custGeom>
              <a:avLst/>
              <a:gdLst>
                <a:gd name="connsiteX0" fmla="*/ 0 w 1780950"/>
                <a:gd name="connsiteY0" fmla="*/ 0 h 432000"/>
                <a:gd name="connsiteX1" fmla="*/ 1778399 w 1780950"/>
                <a:gd name="connsiteY1" fmla="*/ 0 h 432000"/>
                <a:gd name="connsiteX2" fmla="*/ 1780950 w 1780950"/>
                <a:gd name="connsiteY2" fmla="*/ 12636 h 432000"/>
                <a:gd name="connsiteX3" fmla="*/ 1780950 w 1780950"/>
                <a:gd name="connsiteY3" fmla="*/ 59364 h 432000"/>
                <a:gd name="connsiteX4" fmla="*/ 1408314 w 1780950"/>
                <a:gd name="connsiteY4" fmla="*/ 432000 h 432000"/>
                <a:gd name="connsiteX5" fmla="*/ 0 w 1780950"/>
                <a:gd name="connsiteY5" fmla="*/ 432000 h 4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0950" h="432000">
                  <a:moveTo>
                    <a:pt x="0" y="0"/>
                  </a:moveTo>
                  <a:lnTo>
                    <a:pt x="1778399" y="0"/>
                  </a:lnTo>
                  <a:lnTo>
                    <a:pt x="1780950" y="12636"/>
                  </a:lnTo>
                  <a:lnTo>
                    <a:pt x="1780950" y="59364"/>
                  </a:lnTo>
                  <a:cubicBezTo>
                    <a:pt x="1780950" y="265165"/>
                    <a:pt x="1614115" y="432000"/>
                    <a:pt x="1408314" y="432000"/>
                  </a:cubicBezTo>
                  <a:lnTo>
                    <a:pt x="0" y="432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133710" y="58057"/>
            <a:ext cx="12459420" cy="938977"/>
            <a:chOff x="-133710" y="58057"/>
            <a:chExt cx="12459420" cy="938977"/>
          </a:xfrm>
        </p:grpSpPr>
        <p:grpSp>
          <p:nvGrpSpPr>
            <p:cNvPr id="24" name="组合 23"/>
            <p:cNvGrpSpPr/>
            <p:nvPr/>
          </p:nvGrpSpPr>
          <p:grpSpPr>
            <a:xfrm>
              <a:off x="-133710" y="58057"/>
              <a:ext cx="12459420" cy="938977"/>
              <a:chOff x="-133710" y="58057"/>
              <a:chExt cx="12459420" cy="938977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-133710" y="177285"/>
                <a:ext cx="12459420" cy="69357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dist="38100" dir="2700000" algn="tl" rotWithShape="0">
                  <a:prstClr val="black">
                    <a:alpha val="2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93136" y="58057"/>
                <a:ext cx="621102" cy="938977"/>
              </a:xfrm>
              <a:custGeom>
                <a:avLst/>
                <a:gdLst>
                  <a:gd name="connsiteX0" fmla="*/ 0 w 914400"/>
                  <a:gd name="connsiteY0" fmla="*/ 0 h 1382383"/>
                  <a:gd name="connsiteX1" fmla="*/ 914400 w 914400"/>
                  <a:gd name="connsiteY1" fmla="*/ 0 h 1382383"/>
                  <a:gd name="connsiteX2" fmla="*/ 914400 w 914400"/>
                  <a:gd name="connsiteY2" fmla="*/ 914400 h 1382383"/>
                  <a:gd name="connsiteX3" fmla="*/ 913313 w 914400"/>
                  <a:gd name="connsiteY3" fmla="*/ 914400 h 1382383"/>
                  <a:gd name="connsiteX4" fmla="*/ 914400 w 914400"/>
                  <a:gd name="connsiteY4" fmla="*/ 925183 h 1382383"/>
                  <a:gd name="connsiteX5" fmla="*/ 457200 w 914400"/>
                  <a:gd name="connsiteY5" fmla="*/ 1382383 h 1382383"/>
                  <a:gd name="connsiteX6" fmla="*/ 0 w 914400"/>
                  <a:gd name="connsiteY6" fmla="*/ 925183 h 1382383"/>
                  <a:gd name="connsiteX7" fmla="*/ 1087 w 914400"/>
                  <a:gd name="connsiteY7" fmla="*/ 914400 h 1382383"/>
                  <a:gd name="connsiteX8" fmla="*/ 0 w 914400"/>
                  <a:gd name="connsiteY8" fmla="*/ 914400 h 1382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400" h="1382383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913313" y="914400"/>
                    </a:lnTo>
                    <a:lnTo>
                      <a:pt x="914400" y="925183"/>
                    </a:lnTo>
                    <a:cubicBezTo>
                      <a:pt x="914400" y="1177688"/>
                      <a:pt x="709705" y="1382383"/>
                      <a:pt x="457200" y="1382383"/>
                    </a:cubicBezTo>
                    <a:cubicBezTo>
                      <a:pt x="204695" y="1382383"/>
                      <a:pt x="0" y="1177688"/>
                      <a:pt x="0" y="925183"/>
                    </a:cubicBezTo>
                    <a:lnTo>
                      <a:pt x="1087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1" name="直角三角形 10"/>
              <p:cNvSpPr/>
              <p:nvPr/>
            </p:nvSpPr>
            <p:spPr>
              <a:xfrm>
                <a:off x="814238" y="58057"/>
                <a:ext cx="119228" cy="119228"/>
              </a:xfrm>
              <a:prstGeom prst="rtTriangl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87628" y="213920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28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933466" y="269723"/>
            <a:ext cx="4539915" cy="523220"/>
            <a:chOff x="933466" y="262461"/>
            <a:chExt cx="4539915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933466" y="262461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科研竞赛经历</a:t>
              </a:r>
              <a:endParaRPr lang="zh-CN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>
            <a:xfrm>
              <a:off x="3345455" y="322855"/>
              <a:ext cx="0" cy="40243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/>
            <p:cNvSpPr txBox="1"/>
            <p:nvPr/>
          </p:nvSpPr>
          <p:spPr>
            <a:xfrm>
              <a:off x="3461701" y="293239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科研</a:t>
              </a:r>
              <a:r>
                <a:rPr lang="zh-CN" altLang="en-US" sz="2400" b="1" dirty="0">
                  <a:latin typeface="+mj-ea"/>
                  <a:ea typeface="+mj-ea"/>
                </a:rPr>
                <a:t>竞赛项目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814705" y="1890395"/>
            <a:ext cx="9846310" cy="94932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srgbClr val="164690"/>
                </a:solidFill>
                <a:effectLst/>
                <a:uLnTx/>
                <a:uFillTx/>
                <a:latin typeface="+mn-ea"/>
                <a:sym typeface="+mn-ea"/>
              </a:rPr>
              <a:t>转向精度优化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：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通过引入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转向环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PID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闭环控制算法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，对编码电机的输出扭矩进行实时、精准的动态调节，凭借比例、积分、微分三环节的协同作用实时修正控制偏差，最终实现转向角度的高精度控制，确保实际转向角度与目标角度的偏差稳定控制在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≤1.5</a:t>
            </a: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°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的范围内，有效提升转向系统的控制精度与稳定性。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95" y="3472815"/>
            <a:ext cx="3966845" cy="2812415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2735580" y="6287135"/>
            <a:ext cx="180213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buClrTx/>
              <a:buSzTx/>
              <a:buFontTx/>
            </a:pPr>
            <a:r>
              <a:rPr lang="zh-CN" altLang="en-US" sz="1400" b="1">
                <a:sym typeface="+mn-ea"/>
              </a:rPr>
              <a:t>转向</a:t>
            </a:r>
            <a:r>
              <a:rPr lang="en-US" altLang="zh-CN" sz="1400" b="1">
                <a:sym typeface="+mn-ea"/>
              </a:rPr>
              <a:t>PID</a:t>
            </a:r>
            <a:r>
              <a:rPr lang="zh-CN" altLang="en-US" sz="1400" b="1">
                <a:sym typeface="+mn-ea"/>
              </a:rPr>
              <a:t>程序</a:t>
            </a:r>
            <a:endParaRPr lang="zh-CN" altLang="en-US" sz="1400" b="1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3900" y="1163955"/>
            <a:ext cx="3813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果实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采摘车具体功能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160" y="3472815"/>
            <a:ext cx="3933190" cy="2807335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7626350" y="6307455"/>
            <a:ext cx="243967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buClrTx/>
              <a:buSzTx/>
              <a:buFontTx/>
            </a:pPr>
            <a:r>
              <a:rPr lang="zh-CN" altLang="en-US" sz="1400" b="1">
                <a:sym typeface="+mn-ea"/>
              </a:rPr>
              <a:t>调节</a:t>
            </a:r>
            <a:r>
              <a:rPr lang="en-US" altLang="zh-CN" sz="1400" b="1">
                <a:sym typeface="+mn-ea"/>
              </a:rPr>
              <a:t>PID</a:t>
            </a:r>
            <a:r>
              <a:rPr lang="zh-CN" altLang="en-US" sz="1400" b="1">
                <a:sym typeface="+mn-ea"/>
              </a:rPr>
              <a:t>参数，波形显示</a:t>
            </a:r>
            <a:endParaRPr lang="zh-CN" altLang="en-US" sz="1400" b="1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626745" y="1123315"/>
            <a:ext cx="10956925" cy="5575935"/>
            <a:chOff x="626958" y="1126926"/>
            <a:chExt cx="10957230" cy="5400957"/>
          </a:xfrm>
        </p:grpSpPr>
        <p:sp>
          <p:nvSpPr>
            <p:cNvPr id="17" name="矩形: 圆角 16"/>
            <p:cNvSpPr/>
            <p:nvPr/>
          </p:nvSpPr>
          <p:spPr>
            <a:xfrm>
              <a:off x="626958" y="1698082"/>
              <a:ext cx="10957230" cy="4829801"/>
            </a:xfrm>
            <a:prstGeom prst="roundRect">
              <a:avLst>
                <a:gd name="adj" fmla="val 1685"/>
              </a:avLst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0800" dist="381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626958" y="1126926"/>
              <a:ext cx="4846320" cy="436880"/>
            </a:xfrm>
            <a:custGeom>
              <a:avLst/>
              <a:gdLst>
                <a:gd name="connsiteX0" fmla="*/ 0 w 1780950"/>
                <a:gd name="connsiteY0" fmla="*/ 0 h 432000"/>
                <a:gd name="connsiteX1" fmla="*/ 1778399 w 1780950"/>
                <a:gd name="connsiteY1" fmla="*/ 0 h 432000"/>
                <a:gd name="connsiteX2" fmla="*/ 1780950 w 1780950"/>
                <a:gd name="connsiteY2" fmla="*/ 12636 h 432000"/>
                <a:gd name="connsiteX3" fmla="*/ 1780950 w 1780950"/>
                <a:gd name="connsiteY3" fmla="*/ 59364 h 432000"/>
                <a:gd name="connsiteX4" fmla="*/ 1408314 w 1780950"/>
                <a:gd name="connsiteY4" fmla="*/ 432000 h 432000"/>
                <a:gd name="connsiteX5" fmla="*/ 0 w 1780950"/>
                <a:gd name="connsiteY5" fmla="*/ 432000 h 43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80950" h="432000">
                  <a:moveTo>
                    <a:pt x="0" y="0"/>
                  </a:moveTo>
                  <a:lnTo>
                    <a:pt x="1778399" y="0"/>
                  </a:lnTo>
                  <a:lnTo>
                    <a:pt x="1780950" y="12636"/>
                  </a:lnTo>
                  <a:lnTo>
                    <a:pt x="1780950" y="59364"/>
                  </a:lnTo>
                  <a:cubicBezTo>
                    <a:pt x="1780950" y="265165"/>
                    <a:pt x="1614115" y="432000"/>
                    <a:pt x="1408314" y="432000"/>
                  </a:cubicBezTo>
                  <a:lnTo>
                    <a:pt x="0" y="432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133710" y="58057"/>
            <a:ext cx="12459420" cy="938977"/>
            <a:chOff x="-133710" y="58057"/>
            <a:chExt cx="12459420" cy="938977"/>
          </a:xfrm>
        </p:grpSpPr>
        <p:grpSp>
          <p:nvGrpSpPr>
            <p:cNvPr id="24" name="组合 23"/>
            <p:cNvGrpSpPr/>
            <p:nvPr/>
          </p:nvGrpSpPr>
          <p:grpSpPr>
            <a:xfrm>
              <a:off x="-133710" y="58057"/>
              <a:ext cx="12459420" cy="938977"/>
              <a:chOff x="-133710" y="58057"/>
              <a:chExt cx="12459420" cy="938977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-133710" y="177285"/>
                <a:ext cx="12459420" cy="69357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dist="38100" dir="2700000" algn="tl" rotWithShape="0">
                  <a:prstClr val="black">
                    <a:alpha val="20000"/>
                  </a:prstClr>
                </a:outerShdw>
                <a:softEdge rad="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193136" y="58057"/>
                <a:ext cx="621102" cy="938977"/>
              </a:xfrm>
              <a:custGeom>
                <a:avLst/>
                <a:gdLst>
                  <a:gd name="connsiteX0" fmla="*/ 0 w 914400"/>
                  <a:gd name="connsiteY0" fmla="*/ 0 h 1382383"/>
                  <a:gd name="connsiteX1" fmla="*/ 914400 w 914400"/>
                  <a:gd name="connsiteY1" fmla="*/ 0 h 1382383"/>
                  <a:gd name="connsiteX2" fmla="*/ 914400 w 914400"/>
                  <a:gd name="connsiteY2" fmla="*/ 914400 h 1382383"/>
                  <a:gd name="connsiteX3" fmla="*/ 913313 w 914400"/>
                  <a:gd name="connsiteY3" fmla="*/ 914400 h 1382383"/>
                  <a:gd name="connsiteX4" fmla="*/ 914400 w 914400"/>
                  <a:gd name="connsiteY4" fmla="*/ 925183 h 1382383"/>
                  <a:gd name="connsiteX5" fmla="*/ 457200 w 914400"/>
                  <a:gd name="connsiteY5" fmla="*/ 1382383 h 1382383"/>
                  <a:gd name="connsiteX6" fmla="*/ 0 w 914400"/>
                  <a:gd name="connsiteY6" fmla="*/ 925183 h 1382383"/>
                  <a:gd name="connsiteX7" fmla="*/ 1087 w 914400"/>
                  <a:gd name="connsiteY7" fmla="*/ 914400 h 1382383"/>
                  <a:gd name="connsiteX8" fmla="*/ 0 w 914400"/>
                  <a:gd name="connsiteY8" fmla="*/ 914400 h 1382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400" h="1382383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913313" y="914400"/>
                    </a:lnTo>
                    <a:lnTo>
                      <a:pt x="914400" y="925183"/>
                    </a:lnTo>
                    <a:cubicBezTo>
                      <a:pt x="914400" y="1177688"/>
                      <a:pt x="709705" y="1382383"/>
                      <a:pt x="457200" y="1382383"/>
                    </a:cubicBezTo>
                    <a:cubicBezTo>
                      <a:pt x="204695" y="1382383"/>
                      <a:pt x="0" y="1177688"/>
                      <a:pt x="0" y="925183"/>
                    </a:cubicBezTo>
                    <a:lnTo>
                      <a:pt x="1087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1" name="直角三角形 10"/>
              <p:cNvSpPr/>
              <p:nvPr/>
            </p:nvSpPr>
            <p:spPr>
              <a:xfrm>
                <a:off x="814238" y="58057"/>
                <a:ext cx="119228" cy="119228"/>
              </a:xfrm>
              <a:prstGeom prst="rtTriangl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87628" y="213920"/>
              <a:ext cx="627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28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933466" y="269723"/>
            <a:ext cx="4539915" cy="523220"/>
            <a:chOff x="933466" y="262461"/>
            <a:chExt cx="4539915" cy="523220"/>
          </a:xfrm>
        </p:grpSpPr>
        <p:sp>
          <p:nvSpPr>
            <p:cNvPr id="13" name="文本框 12"/>
            <p:cNvSpPr txBox="1"/>
            <p:nvPr/>
          </p:nvSpPr>
          <p:spPr>
            <a:xfrm>
              <a:off x="933466" y="262461"/>
              <a:ext cx="23391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科研竞赛经历</a:t>
              </a:r>
              <a:endParaRPr lang="zh-CN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cxnSp>
          <p:nvCxnSpPr>
            <p:cNvPr id="95" name="直接连接符 94"/>
            <p:cNvCxnSpPr/>
            <p:nvPr/>
          </p:nvCxnSpPr>
          <p:spPr>
            <a:xfrm>
              <a:off x="3345455" y="322855"/>
              <a:ext cx="0" cy="40243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/>
            <p:cNvSpPr txBox="1"/>
            <p:nvPr/>
          </p:nvSpPr>
          <p:spPr>
            <a:xfrm>
              <a:off x="3461701" y="293239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</a:rPr>
                <a:t>科研</a:t>
              </a:r>
              <a:r>
                <a:rPr lang="zh-CN" altLang="en-US" sz="2400" b="1" dirty="0">
                  <a:latin typeface="+mj-ea"/>
                  <a:ea typeface="+mj-ea"/>
                </a:rPr>
                <a:t>竞赛项目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814705" y="1890395"/>
            <a:ext cx="9846310" cy="160337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000" b="1" kern="0" noProof="0" dirty="0">
                <a:ln>
                  <a:noFill/>
                </a:ln>
                <a:solidFill>
                  <a:srgbClr val="164690"/>
                </a:solidFill>
                <a:effectLst/>
                <a:uLnTx/>
                <a:uFillTx/>
                <a:latin typeface="+mn-ea"/>
                <a:sym typeface="+mn-ea"/>
              </a:rPr>
              <a:t>机械臂逆解控制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：通过</a:t>
            </a:r>
            <a:r>
              <a:rPr lang="en-US" altLang="zh-CN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OPENMV</a:t>
            </a:r>
            <a:r>
              <a:rPr lang="zh-CN" altLang="en-US" kern="0" noProof="0" dirty="0">
                <a:ln>
                  <a:noFill/>
                </a:ln>
                <a:effectLst/>
                <a:uLnTx/>
                <a:uFillTx/>
                <a:latin typeface="+mn-ea"/>
                <a:sym typeface="+mn-ea"/>
              </a:rPr>
              <a:t>摄像头获取果实具体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位置和坐标，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反推出需要各关节（串口舵机）转动到什么角度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才能达到该目标。我基于机械臂的连杆长度、关节位置关系，通过三角函数、几何投影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分解空间问题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cs typeface="+mn-cs"/>
              </a:rPr>
              <a:t>，逐步推导关节角度。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  <a:p>
            <a:pPr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2" name="图片 4" descr="677105215374f718d01c0989d917eaa"/>
          <p:cNvPicPr>
            <a:picLocks noChangeAspect="1"/>
          </p:cNvPicPr>
          <p:nvPr/>
        </p:nvPicPr>
        <p:blipFill>
          <a:blip r:embed="rId1"/>
          <a:srcRect b="3462"/>
          <a:stretch>
            <a:fillRect/>
          </a:stretch>
        </p:blipFill>
        <p:spPr>
          <a:xfrm>
            <a:off x="3272790" y="3810000"/>
            <a:ext cx="3235325" cy="2372995"/>
          </a:xfrm>
          <a:prstGeom prst="rect">
            <a:avLst/>
          </a:prstGeom>
        </p:spPr>
      </p:pic>
      <p:pic>
        <p:nvPicPr>
          <p:cNvPr id="3" name="图片 6" descr="4ae228e07bf43f4251761590589cb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821430"/>
            <a:ext cx="2585085" cy="2225040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sp>
        <p:nvSpPr>
          <p:cNvPr id="32" name="文本框 31"/>
          <p:cNvSpPr txBox="1"/>
          <p:nvPr/>
        </p:nvSpPr>
        <p:spPr>
          <a:xfrm>
            <a:off x="2590165" y="6182995"/>
            <a:ext cx="20300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逆解求</a:t>
            </a:r>
            <a:r>
              <a:rPr lang="zh-CN" altLang="en-US" sz="1400" b="1"/>
              <a:t>舵机角度</a:t>
            </a:r>
            <a:r>
              <a:rPr lang="zh-CN" altLang="en-US" sz="1400" b="1"/>
              <a:t>示意图</a:t>
            </a:r>
            <a:endParaRPr lang="zh-CN" altLang="en-US" sz="1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060" y="2970530"/>
            <a:ext cx="3832225" cy="1366520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060" y="4404360"/>
            <a:ext cx="3831590" cy="1957070"/>
          </a:xfrm>
          <a:prstGeom prst="rect">
            <a:avLst/>
          </a:prstGeom>
          <a:ln w="19050">
            <a:solidFill>
              <a:srgbClr val="164690"/>
            </a:solidFill>
          </a:ln>
        </p:spPr>
      </p:pic>
      <p:sp>
        <p:nvSpPr>
          <p:cNvPr id="14" name="文本框 13"/>
          <p:cNvSpPr txBox="1"/>
          <p:nvPr/>
        </p:nvSpPr>
        <p:spPr>
          <a:xfrm>
            <a:off x="7730490" y="6361430"/>
            <a:ext cx="23647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逆解求舵机角度</a:t>
            </a:r>
            <a:r>
              <a:rPr lang="zh-CN" altLang="en-US" sz="1400" b="1"/>
              <a:t>部分程序</a:t>
            </a:r>
            <a:endParaRPr lang="zh-CN" altLang="en-US" sz="1400" b="1"/>
          </a:p>
        </p:txBody>
      </p:sp>
      <p:sp>
        <p:nvSpPr>
          <p:cNvPr id="7" name="文本框 6"/>
          <p:cNvSpPr txBox="1"/>
          <p:nvPr/>
        </p:nvSpPr>
        <p:spPr>
          <a:xfrm>
            <a:off x="723900" y="1163955"/>
            <a:ext cx="38138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果实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采摘车具体功能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0" y="0"/>
            <a:ext cx="12192000" cy="3592286"/>
            <a:chOff x="0" y="0"/>
            <a:chExt cx="12192000" cy="4181685"/>
          </a:xfrm>
        </p:grpSpPr>
        <p:sp>
          <p:nvSpPr>
            <p:cNvPr id="13" name="任意多边形: 形状 12"/>
            <p:cNvSpPr/>
            <p:nvPr/>
          </p:nvSpPr>
          <p:spPr>
            <a:xfrm>
              <a:off x="0" y="0"/>
              <a:ext cx="12192000" cy="4181685"/>
            </a:xfrm>
            <a:custGeom>
              <a:avLst/>
              <a:gdLst>
                <a:gd name="connsiteX0" fmla="*/ 0 w 12192000"/>
                <a:gd name="connsiteY0" fmla="*/ 0 h 3858318"/>
                <a:gd name="connsiteX1" fmla="*/ 12192000 w 12192000"/>
                <a:gd name="connsiteY1" fmla="*/ 0 h 3858318"/>
                <a:gd name="connsiteX2" fmla="*/ 12192000 w 12192000"/>
                <a:gd name="connsiteY2" fmla="*/ 2825396 h 3858318"/>
                <a:gd name="connsiteX3" fmla="*/ 12018093 w 12192000"/>
                <a:gd name="connsiteY3" fmla="*/ 2888158 h 3858318"/>
                <a:gd name="connsiteX4" fmla="*/ 6096003 w 12192000"/>
                <a:gd name="connsiteY4" fmla="*/ 3858318 h 3858318"/>
                <a:gd name="connsiteX5" fmla="*/ 173912 w 12192000"/>
                <a:gd name="connsiteY5" fmla="*/ 2888158 h 3858318"/>
                <a:gd name="connsiteX6" fmla="*/ 0 w 12192000"/>
                <a:gd name="connsiteY6" fmla="*/ 2825395 h 385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858318">
                  <a:moveTo>
                    <a:pt x="0" y="0"/>
                  </a:moveTo>
                  <a:lnTo>
                    <a:pt x="12192000" y="0"/>
                  </a:lnTo>
                  <a:lnTo>
                    <a:pt x="12192000" y="2825396"/>
                  </a:lnTo>
                  <a:lnTo>
                    <a:pt x="12018093" y="2888158"/>
                  </a:lnTo>
                  <a:cubicBezTo>
                    <a:pt x="10159129" y="3517231"/>
                    <a:pt x="8167399" y="3858318"/>
                    <a:pt x="6096003" y="3858318"/>
                  </a:cubicBezTo>
                  <a:cubicBezTo>
                    <a:pt x="4024607" y="3858318"/>
                    <a:pt x="2032876" y="3517231"/>
                    <a:pt x="173912" y="2888158"/>
                  </a:cubicBezTo>
                  <a:lnTo>
                    <a:pt x="0" y="282539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BF1D9"/>
                </a:gs>
                <a:gs pos="100000">
                  <a:srgbClr val="F8E3B3"/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阿里巴巴普惠体 R"/>
              </a:endParaRPr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0" y="0"/>
              <a:ext cx="12192000" cy="4054263"/>
            </a:xfrm>
            <a:custGeom>
              <a:avLst/>
              <a:gdLst>
                <a:gd name="connsiteX0" fmla="*/ 0 w 12192000"/>
                <a:gd name="connsiteY0" fmla="*/ 0 h 3858318"/>
                <a:gd name="connsiteX1" fmla="*/ 12192000 w 12192000"/>
                <a:gd name="connsiteY1" fmla="*/ 0 h 3858318"/>
                <a:gd name="connsiteX2" fmla="*/ 12192000 w 12192000"/>
                <a:gd name="connsiteY2" fmla="*/ 2825396 h 3858318"/>
                <a:gd name="connsiteX3" fmla="*/ 12018093 w 12192000"/>
                <a:gd name="connsiteY3" fmla="*/ 2888158 h 3858318"/>
                <a:gd name="connsiteX4" fmla="*/ 6096003 w 12192000"/>
                <a:gd name="connsiteY4" fmla="*/ 3858318 h 3858318"/>
                <a:gd name="connsiteX5" fmla="*/ 173912 w 12192000"/>
                <a:gd name="connsiteY5" fmla="*/ 2888158 h 3858318"/>
                <a:gd name="connsiteX6" fmla="*/ 0 w 12192000"/>
                <a:gd name="connsiteY6" fmla="*/ 2825395 h 385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858318">
                  <a:moveTo>
                    <a:pt x="0" y="0"/>
                  </a:moveTo>
                  <a:lnTo>
                    <a:pt x="12192000" y="0"/>
                  </a:lnTo>
                  <a:lnTo>
                    <a:pt x="12192000" y="2825396"/>
                  </a:lnTo>
                  <a:lnTo>
                    <a:pt x="12018093" y="2888158"/>
                  </a:lnTo>
                  <a:cubicBezTo>
                    <a:pt x="10159129" y="3517231"/>
                    <a:pt x="8167399" y="3858318"/>
                    <a:pt x="6096003" y="3858318"/>
                  </a:cubicBezTo>
                  <a:cubicBezTo>
                    <a:pt x="4024607" y="3858318"/>
                    <a:pt x="2032876" y="3517231"/>
                    <a:pt x="173912" y="2888158"/>
                  </a:cubicBezTo>
                  <a:lnTo>
                    <a:pt x="0" y="2825395"/>
                  </a:lnTo>
                  <a:close/>
                </a:path>
              </a:pathLst>
            </a:custGeom>
            <a:ln>
              <a:noFill/>
            </a:ln>
            <a:effectLst>
              <a:outerShdw blurRad="127000" dist="63500" dir="5400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262880" y="6025859"/>
            <a:ext cx="2032000" cy="467578"/>
            <a:chOff x="878114" y="5870096"/>
            <a:chExt cx="2032000" cy="467578"/>
          </a:xfrm>
        </p:grpSpPr>
        <p:sp>
          <p:nvSpPr>
            <p:cNvPr id="57" name="矩形: 圆角 56"/>
            <p:cNvSpPr/>
            <p:nvPr/>
          </p:nvSpPr>
          <p:spPr>
            <a:xfrm>
              <a:off x="878114" y="5870096"/>
              <a:ext cx="2032000" cy="467578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outerShdw blurRad="127000" dist="63500" dir="5400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950059" y="5919219"/>
              <a:ext cx="1888109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</a:rPr>
                <a:t>2024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年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</a:rPr>
                <a:t>7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月</a:t>
              </a:r>
              <a:r>
                <a:rPr lang="en-US" altLang="zh-CN" b="1" dirty="0">
                  <a:solidFill>
                    <a:schemeClr val="bg1"/>
                  </a:solidFill>
                  <a:latin typeface="+mj-ea"/>
                  <a:ea typeface="+mj-ea"/>
                </a:rPr>
                <a:t>16</a:t>
              </a:r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日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9" r="-4866"/>
          <a:stretch>
            <a:fillRect/>
          </a:stretch>
        </p:blipFill>
        <p:spPr>
          <a:xfrm>
            <a:off x="8944610" y="97790"/>
            <a:ext cx="3247390" cy="92329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 rot="0">
            <a:off x="4765040" y="3845560"/>
            <a:ext cx="6132195" cy="1198880"/>
            <a:chOff x="4374669" y="4326798"/>
            <a:chExt cx="6297620" cy="1199041"/>
          </a:xfrm>
          <a:effectLst>
            <a:outerShdw blurRad="127000" dist="63500" dir="5400000" algn="t" rotWithShape="0">
              <a:schemeClr val="accent1">
                <a:alpha val="20000"/>
              </a:schemeClr>
            </a:outerShdw>
          </a:effectLst>
        </p:grpSpPr>
        <p:sp>
          <p:nvSpPr>
            <p:cNvPr id="18" name="文本框 17"/>
            <p:cNvSpPr txBox="1"/>
            <p:nvPr/>
          </p:nvSpPr>
          <p:spPr>
            <a:xfrm>
              <a:off x="4926494" y="4326798"/>
              <a:ext cx="5745795" cy="1199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sz="2400" b="1" u="sng" dirty="0">
                  <a:gradFill flip="none" rotWithShape="1">
                    <a:gsLst>
                      <a:gs pos="0">
                        <a:schemeClr val="accent1"/>
                      </a:gs>
                      <a:gs pos="100000">
                        <a:schemeClr val="accent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rPr>
                <a:t>汇报人：</a:t>
              </a:r>
              <a:endParaRPr lang="en-US" altLang="zh-CN" sz="2400" b="1" u="sng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1"/>
                  <a:tileRect/>
                </a:gradFill>
                <a:latin typeface="+mj-ea"/>
                <a:ea typeface="+mj-ea"/>
              </a:endParaRPr>
            </a:p>
            <a:p>
              <a:pPr>
                <a:lnSpc>
                  <a:spcPct val="150000"/>
                </a:lnSpc>
              </a:pPr>
              <a:endParaRPr lang="zh-CN" altLang="en-US" sz="2400" b="1" u="sng" dirty="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1"/>
                  <a:tileRect/>
                </a:gradFill>
                <a:latin typeface="+mj-ea"/>
                <a:ea typeface="+mj-ea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4374669" y="4459962"/>
              <a:ext cx="502281" cy="384700"/>
              <a:chOff x="4152524" y="5001246"/>
              <a:chExt cx="502281" cy="384700"/>
            </a:xfrm>
          </p:grpSpPr>
          <p:sp>
            <p:nvSpPr>
              <p:cNvPr id="53" name="图形 119"/>
              <p:cNvSpPr/>
              <p:nvPr/>
            </p:nvSpPr>
            <p:spPr>
              <a:xfrm>
                <a:off x="4262723" y="5046019"/>
                <a:ext cx="285872" cy="270766"/>
              </a:xfrm>
              <a:custGeom>
                <a:avLst/>
                <a:gdLst>
                  <a:gd name="connsiteX0" fmla="*/ 127163 w 332725"/>
                  <a:gd name="connsiteY0" fmla="*/ 133194 h 315143"/>
                  <a:gd name="connsiteX1" fmla="*/ 125344 w 332725"/>
                  <a:gd name="connsiteY1" fmla="*/ 142778 h 315143"/>
                  <a:gd name="connsiteX2" fmla="*/ 159968 w 332725"/>
                  <a:gd name="connsiteY2" fmla="*/ 191326 h 315143"/>
                  <a:gd name="connsiteX3" fmla="*/ 160956 w 332725"/>
                  <a:gd name="connsiteY3" fmla="*/ 179814 h 315143"/>
                  <a:gd name="connsiteX4" fmla="*/ 149102 w 332725"/>
                  <a:gd name="connsiteY4" fmla="*/ 142830 h 315143"/>
                  <a:gd name="connsiteX5" fmla="*/ 160899 w 332725"/>
                  <a:gd name="connsiteY5" fmla="*/ 130486 h 315143"/>
                  <a:gd name="connsiteX6" fmla="*/ 160956 w 332725"/>
                  <a:gd name="connsiteY6" fmla="*/ 130485 h 315143"/>
                  <a:gd name="connsiteX7" fmla="*/ 172809 w 332725"/>
                  <a:gd name="connsiteY7" fmla="*/ 130485 h 315143"/>
                  <a:gd name="connsiteX8" fmla="*/ 184714 w 332725"/>
                  <a:gd name="connsiteY8" fmla="*/ 142827 h 315143"/>
                  <a:gd name="connsiteX9" fmla="*/ 184714 w 332725"/>
                  <a:gd name="connsiteY9" fmla="*/ 142830 h 315143"/>
                  <a:gd name="connsiteX10" fmla="*/ 172809 w 332725"/>
                  <a:gd name="connsiteY10" fmla="*/ 179814 h 315143"/>
                  <a:gd name="connsiteX11" fmla="*/ 171717 w 332725"/>
                  <a:gd name="connsiteY11" fmla="*/ 191586 h 315143"/>
                  <a:gd name="connsiteX12" fmla="*/ 208421 w 332725"/>
                  <a:gd name="connsiteY12" fmla="*/ 142830 h 315143"/>
                  <a:gd name="connsiteX13" fmla="*/ 207745 w 332725"/>
                  <a:gd name="connsiteY13" fmla="*/ 134131 h 315143"/>
                  <a:gd name="connsiteX14" fmla="*/ 289419 w 332725"/>
                  <a:gd name="connsiteY14" fmla="*/ 229195 h 315143"/>
                  <a:gd name="connsiteX15" fmla="*/ 43306 w 332725"/>
                  <a:gd name="connsiteY15" fmla="*/ 229195 h 315143"/>
                  <a:gd name="connsiteX16" fmla="*/ 127163 w 332725"/>
                  <a:gd name="connsiteY16" fmla="*/ 133194 h 315143"/>
                  <a:gd name="connsiteX17" fmla="*/ 166363 w 332725"/>
                  <a:gd name="connsiteY17" fmla="*/ 118036 h 315143"/>
                  <a:gd name="connsiteX18" fmla="*/ 107460 w 332725"/>
                  <a:gd name="connsiteY18" fmla="*/ 59018 h 315143"/>
                  <a:gd name="connsiteX19" fmla="*/ 166363 w 332725"/>
                  <a:gd name="connsiteY19" fmla="*/ 0 h 315143"/>
                  <a:gd name="connsiteX20" fmla="*/ 225265 w 332725"/>
                  <a:gd name="connsiteY20" fmla="*/ 59018 h 315143"/>
                  <a:gd name="connsiteX21" fmla="*/ 166363 w 332725"/>
                  <a:gd name="connsiteY21" fmla="*/ 118036 h 315143"/>
                  <a:gd name="connsiteX22" fmla="*/ 314477 w 332725"/>
                  <a:gd name="connsiteY22" fmla="*/ 241176 h 315143"/>
                  <a:gd name="connsiteX23" fmla="*/ 18144 w 332725"/>
                  <a:gd name="connsiteY23" fmla="*/ 241176 h 315143"/>
                  <a:gd name="connsiteX24" fmla="*/ 0 w 332725"/>
                  <a:gd name="connsiteY24" fmla="*/ 259460 h 315143"/>
                  <a:gd name="connsiteX25" fmla="*/ 0 w 332725"/>
                  <a:gd name="connsiteY25" fmla="*/ 272482 h 315143"/>
                  <a:gd name="connsiteX26" fmla="*/ 18248 w 332725"/>
                  <a:gd name="connsiteY26" fmla="*/ 290766 h 315143"/>
                  <a:gd name="connsiteX27" fmla="*/ 44658 w 332725"/>
                  <a:gd name="connsiteY27" fmla="*/ 290766 h 315143"/>
                  <a:gd name="connsiteX28" fmla="*/ 44658 w 332725"/>
                  <a:gd name="connsiteY28" fmla="*/ 307434 h 315143"/>
                  <a:gd name="connsiteX29" fmla="*/ 52352 w 332725"/>
                  <a:gd name="connsiteY29" fmla="*/ 315144 h 315143"/>
                  <a:gd name="connsiteX30" fmla="*/ 280373 w 332725"/>
                  <a:gd name="connsiteY30" fmla="*/ 315144 h 315143"/>
                  <a:gd name="connsiteX31" fmla="*/ 288067 w 332725"/>
                  <a:gd name="connsiteY31" fmla="*/ 307434 h 315143"/>
                  <a:gd name="connsiteX32" fmla="*/ 288067 w 332725"/>
                  <a:gd name="connsiteY32" fmla="*/ 290766 h 315143"/>
                  <a:gd name="connsiteX33" fmla="*/ 314477 w 332725"/>
                  <a:gd name="connsiteY33" fmla="*/ 290766 h 315143"/>
                  <a:gd name="connsiteX34" fmla="*/ 332725 w 332725"/>
                  <a:gd name="connsiteY34" fmla="*/ 272482 h 315143"/>
                  <a:gd name="connsiteX35" fmla="*/ 332725 w 332725"/>
                  <a:gd name="connsiteY35" fmla="*/ 259460 h 315143"/>
                  <a:gd name="connsiteX36" fmla="*/ 314477 w 332725"/>
                  <a:gd name="connsiteY36" fmla="*/ 241176 h 315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332725" h="315143">
                    <a:moveTo>
                      <a:pt x="127163" y="133194"/>
                    </a:moveTo>
                    <a:cubicBezTo>
                      <a:pt x="125858" y="136215"/>
                      <a:pt x="125237" y="139488"/>
                      <a:pt x="125344" y="142778"/>
                    </a:cubicBezTo>
                    <a:cubicBezTo>
                      <a:pt x="124017" y="165116"/>
                      <a:pt x="138446" y="185347"/>
                      <a:pt x="159968" y="191326"/>
                    </a:cubicBezTo>
                    <a:cubicBezTo>
                      <a:pt x="160488" y="186117"/>
                      <a:pt x="160956" y="181637"/>
                      <a:pt x="160956" y="179814"/>
                    </a:cubicBezTo>
                    <a:lnTo>
                      <a:pt x="149102" y="142830"/>
                    </a:lnTo>
                    <a:cubicBezTo>
                      <a:pt x="148958" y="136158"/>
                      <a:pt x="154240" y="130631"/>
                      <a:pt x="160899" y="130486"/>
                    </a:cubicBezTo>
                    <a:cubicBezTo>
                      <a:pt x="160918" y="130486"/>
                      <a:pt x="160937" y="130485"/>
                      <a:pt x="160956" y="130485"/>
                    </a:cubicBezTo>
                    <a:lnTo>
                      <a:pt x="172809" y="130485"/>
                    </a:lnTo>
                    <a:cubicBezTo>
                      <a:pt x="179498" y="130599"/>
                      <a:pt x="184829" y="136125"/>
                      <a:pt x="184714" y="142827"/>
                    </a:cubicBezTo>
                    <a:cubicBezTo>
                      <a:pt x="184714" y="142828"/>
                      <a:pt x="184714" y="142829"/>
                      <a:pt x="184714" y="142830"/>
                    </a:cubicBezTo>
                    <a:lnTo>
                      <a:pt x="172809" y="179814"/>
                    </a:lnTo>
                    <a:cubicBezTo>
                      <a:pt x="172650" y="183755"/>
                      <a:pt x="172285" y="187684"/>
                      <a:pt x="171717" y="191586"/>
                    </a:cubicBezTo>
                    <a:cubicBezTo>
                      <a:pt x="194288" y="186643"/>
                      <a:pt x="209878" y="165933"/>
                      <a:pt x="208421" y="142830"/>
                    </a:cubicBezTo>
                    <a:cubicBezTo>
                      <a:pt x="208483" y="139916"/>
                      <a:pt x="208256" y="137002"/>
                      <a:pt x="207745" y="134131"/>
                    </a:cubicBezTo>
                    <a:cubicBezTo>
                      <a:pt x="265452" y="145383"/>
                      <a:pt x="284012" y="181846"/>
                      <a:pt x="289419" y="229195"/>
                    </a:cubicBezTo>
                    <a:lnTo>
                      <a:pt x="43306" y="229195"/>
                    </a:lnTo>
                    <a:cubicBezTo>
                      <a:pt x="46737" y="180543"/>
                      <a:pt x="61710" y="143299"/>
                      <a:pt x="127163" y="133194"/>
                    </a:cubicBezTo>
                    <a:moveTo>
                      <a:pt x="166363" y="118036"/>
                    </a:moveTo>
                    <a:cubicBezTo>
                      <a:pt x="133832" y="118036"/>
                      <a:pt x="107460" y="91612"/>
                      <a:pt x="107460" y="59018"/>
                    </a:cubicBezTo>
                    <a:cubicBezTo>
                      <a:pt x="107460" y="26423"/>
                      <a:pt x="133832" y="0"/>
                      <a:pt x="166363" y="0"/>
                    </a:cubicBezTo>
                    <a:cubicBezTo>
                      <a:pt x="198894" y="0"/>
                      <a:pt x="225265" y="26423"/>
                      <a:pt x="225265" y="59018"/>
                    </a:cubicBezTo>
                    <a:cubicBezTo>
                      <a:pt x="225265" y="91612"/>
                      <a:pt x="198894" y="118036"/>
                      <a:pt x="166363" y="118036"/>
                    </a:cubicBezTo>
                    <a:moveTo>
                      <a:pt x="314477" y="241176"/>
                    </a:moveTo>
                    <a:lnTo>
                      <a:pt x="18144" y="241176"/>
                    </a:lnTo>
                    <a:cubicBezTo>
                      <a:pt x="8107" y="241233"/>
                      <a:pt x="0" y="249402"/>
                      <a:pt x="0" y="259460"/>
                    </a:cubicBezTo>
                    <a:lnTo>
                      <a:pt x="0" y="272482"/>
                    </a:lnTo>
                    <a:cubicBezTo>
                      <a:pt x="29" y="282568"/>
                      <a:pt x="8182" y="290737"/>
                      <a:pt x="18248" y="290766"/>
                    </a:cubicBezTo>
                    <a:lnTo>
                      <a:pt x="44658" y="290766"/>
                    </a:lnTo>
                    <a:lnTo>
                      <a:pt x="44658" y="307434"/>
                    </a:lnTo>
                    <a:cubicBezTo>
                      <a:pt x="44658" y="311692"/>
                      <a:pt x="48103" y="315144"/>
                      <a:pt x="52352" y="315144"/>
                    </a:cubicBezTo>
                    <a:lnTo>
                      <a:pt x="280373" y="315144"/>
                    </a:lnTo>
                    <a:cubicBezTo>
                      <a:pt x="284622" y="315144"/>
                      <a:pt x="288067" y="311692"/>
                      <a:pt x="288067" y="307434"/>
                    </a:cubicBezTo>
                    <a:lnTo>
                      <a:pt x="288067" y="290766"/>
                    </a:lnTo>
                    <a:lnTo>
                      <a:pt x="314477" y="290766"/>
                    </a:lnTo>
                    <a:cubicBezTo>
                      <a:pt x="324544" y="290737"/>
                      <a:pt x="332696" y="282568"/>
                      <a:pt x="332725" y="272482"/>
                    </a:cubicBezTo>
                    <a:lnTo>
                      <a:pt x="332725" y="259460"/>
                    </a:lnTo>
                    <a:cubicBezTo>
                      <a:pt x="332725" y="249362"/>
                      <a:pt x="324557" y="241176"/>
                      <a:pt x="314477" y="241176"/>
                    </a:cubicBezTo>
                  </a:path>
                </a:pathLst>
              </a:custGeom>
              <a:solidFill>
                <a:schemeClr val="accent1"/>
              </a:solidFill>
              <a:ln w="325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 dirty="0"/>
              </a:p>
            </p:txBody>
          </p:sp>
          <p:sp>
            <p:nvSpPr>
              <p:cNvPr id="54" name="矩形: 圆角 129"/>
              <p:cNvSpPr/>
              <p:nvPr/>
            </p:nvSpPr>
            <p:spPr>
              <a:xfrm>
                <a:off x="4152524" y="5001246"/>
                <a:ext cx="502281" cy="384700"/>
              </a:xfrm>
              <a:prstGeom prst="roundRect">
                <a:avLst>
                  <a:gd name="adj" fmla="val 43811"/>
                </a:avLst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1520371" y="554570"/>
            <a:ext cx="9151258" cy="101566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ctr"/>
            <a:r>
              <a:rPr lang="en-US" altLang="zh-CN" sz="6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THANKS</a:t>
            </a:r>
            <a:endParaRPr lang="zh-CN" altLang="en-US" sz="60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0371" y="1619356"/>
            <a:ext cx="9151258" cy="9233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ctr"/>
            <a:r>
              <a:rPr lang="zh-CN" altLang="en-US" sz="54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恳请各位老师批评指导</a:t>
            </a:r>
            <a:endParaRPr lang="zh-CN" altLang="en-US" sz="54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2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3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4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5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6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7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8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9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10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11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12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13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14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15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16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17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18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19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20.xml><?xml version="1.0" encoding="utf-8"?>
<p:tagLst xmlns:p="http://schemas.openxmlformats.org/presentationml/2006/main">
  <p:tag name="KSO_WM_DIAGRAM_VIRTUALLY_FRAME" val="{&quot;height&quot;:168.71409448818895,&quot;left&quot;:49.36661417322834,&quot;top&quot;:347.62440944881894,&quot;width&quot;:862.773937007874}"/>
</p:tagLst>
</file>

<file path=ppt/tags/tag21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22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23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24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25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26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27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28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29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30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31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32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33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34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35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36.xml><?xml version="1.0" encoding="utf-8"?>
<p:tagLst xmlns:p="http://schemas.openxmlformats.org/presentationml/2006/main">
  <p:tag name="KSO_WM_DIAGRAM_VIRTUALLY_FRAME" val="{&quot;height&quot;:194.3,&quot;left&quot;:263.45,&quot;top&quot;:303.65,&quot;width&quot;:389}"/>
</p:tagLst>
</file>

<file path=ppt/tags/tag37.xml><?xml version="1.0" encoding="utf-8"?>
<p:tagLst xmlns:p="http://schemas.openxmlformats.org/presentationml/2006/main">
  <p:tag name="resource_record_key" val="{&quot;10&quot;:[21540207],&quot;13&quot;:[4364938]}"/>
</p:tagLst>
</file>

<file path=ppt/theme/theme1.xml><?xml version="1.0" encoding="utf-8"?>
<a:theme xmlns:a="http://schemas.openxmlformats.org/drawingml/2006/main" name="Office 主题​​">
  <a:themeElements>
    <a:clrScheme name="浙大蓝">
      <a:dk1>
        <a:sysClr val="windowText" lastClr="000000"/>
      </a:dk1>
      <a:lt1>
        <a:sysClr val="window" lastClr="FFFFFF"/>
      </a:lt1>
      <a:dk2>
        <a:srgbClr val="2D3847"/>
      </a:dk2>
      <a:lt2>
        <a:srgbClr val="E7E6E6"/>
      </a:lt2>
      <a:accent1>
        <a:srgbClr val="164690"/>
      </a:accent1>
      <a:accent2>
        <a:srgbClr val="45ABF9"/>
      </a:accent2>
      <a:accent3>
        <a:srgbClr val="F4FAFF"/>
      </a:accent3>
      <a:accent4>
        <a:srgbClr val="00AA65"/>
      </a:accent4>
      <a:accent5>
        <a:srgbClr val="D8F8E6"/>
      </a:accent5>
      <a:accent6>
        <a:srgbClr val="F4FAFF"/>
      </a:accent6>
      <a:hlink>
        <a:srgbClr val="0563C1"/>
      </a:hlink>
      <a:folHlink>
        <a:srgbClr val="954F72"/>
      </a:folHlink>
    </a:clrScheme>
    <a:fontScheme name="学术风格字体">
      <a:majorFont>
        <a:latin typeface="Times New Roman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1763</Words>
  <Application>WPS 演示</Application>
  <PresentationFormat>宽屏</PresentationFormat>
  <Paragraphs>250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阿里巴巴普惠体 R</vt:lpstr>
      <vt:lpstr>思源黑体 CN Regular</vt:lpstr>
      <vt:lpstr>Arial Unicode MS</vt:lpstr>
      <vt:lpstr>Calibri</vt:lpstr>
      <vt:lpstr>Segoe Print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华 钟</dc:creator>
  <cp:lastModifiedBy>Chris</cp:lastModifiedBy>
  <cp:revision>149</cp:revision>
  <dcterms:created xsi:type="dcterms:W3CDTF">2025-03-30T07:45:00Z</dcterms:created>
  <dcterms:modified xsi:type="dcterms:W3CDTF">2026-07-26T10:48:01Z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9FD35C5D8AE34E7297990B37D3BB371B_13</vt:lpwstr>
  </property>
  <property fmtid="{D5CDD505-2E9C-101B-9397-08002B2CF9AE}" pid="3" name="KSOProductBuildVer">
    <vt:lpwstr>2052-12.1.0.28043</vt:lpwstr>
  </property>
</Properties>
</file>