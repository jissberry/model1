
<file path=[Content_Types].xml><?xml version="1.0" encoding="utf-8"?>
<Types xmlns="http://schemas.openxmlformats.org/package/2006/content-types">
  <Default Extension="jpeg" ContentType="image/jpeg"/>
  <Default Extension="JPG" ContentType="image/.jpg"/>
  <Default Extension="vml" ContentType="application/vnd.openxmlformats-officedocument.vmlDrawing"/>
  <Default Extension="bin" ContentType="application/vnd.openxmlformats-officedocument.oleObject"/>
  <Default Extension="png" ContentType="image/png"/>
  <Default Extension="wmf" ContentType="image/x-w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87" r:id="rId3"/>
    <p:sldId id="257" r:id="rId5"/>
    <p:sldId id="258" r:id="rId6"/>
    <p:sldId id="277" r:id="rId7"/>
    <p:sldId id="278" r:id="rId8"/>
    <p:sldId id="279" r:id="rId9"/>
    <p:sldId id="281" r:id="rId10"/>
    <p:sldId id="283" r:id="rId11"/>
    <p:sldId id="288" r:id="rId12"/>
    <p:sldId id="285" r:id="rId13"/>
    <p:sldId id="272" r:id="rId1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0"/>
    <a:srgbClr val="E6E6E6"/>
    <a:srgbClr val="4472C4"/>
    <a:srgbClr val="D52700"/>
    <a:srgbClr val="DC2800"/>
    <a:srgbClr val="B4C7E7"/>
    <a:srgbClr val="294E8E"/>
    <a:srgbClr val="FFFFFF"/>
    <a:srgbClr val="7877C3"/>
    <a:srgbClr val="B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711" autoAdjust="0"/>
    <p:restoredTop sz="94660"/>
  </p:normalViewPr>
  <p:slideViewPr>
    <p:cSldViewPr snapToGrid="0">
      <p:cViewPr varScale="1">
        <p:scale>
          <a:sx n="83" d="100"/>
          <a:sy n="83" d="100"/>
        </p:scale>
        <p:origin x="138" y="3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00" d="100"/>
        <a:sy n="200" d="100"/>
      </p:scale>
      <p:origin x="0" y="-22545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7" Type="http://schemas.openxmlformats.org/officeDocument/2006/relationships/tableStyles" Target="tableStyles.xml"/><Relationship Id="rId16" Type="http://schemas.openxmlformats.org/officeDocument/2006/relationships/viewProps" Target="viewProps.xml"/><Relationship Id="rId15" Type="http://schemas.openxmlformats.org/officeDocument/2006/relationships/presProps" Target="presProps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drawings/_rels/vmlDrawing1.vml.rels><?xml version="1.0" encoding="UTF-8" standalone="yes"?>
<Relationships xmlns="http://schemas.openxmlformats.org/package/2006/relationships"><Relationship Id="rId3" Type="http://schemas.openxmlformats.org/officeDocument/2006/relationships/image" Target="../media/image14.wmf"/><Relationship Id="rId2" Type="http://schemas.openxmlformats.org/officeDocument/2006/relationships/image" Target="../media/image12.wmf"/><Relationship Id="rId1" Type="http://schemas.openxmlformats.org/officeDocument/2006/relationships/image" Target="../media/image11.wmf"/></Relationships>
</file>

<file path=ppt/drawings/_rels/vmlDrawing2.vml.rels><?xml version="1.0" encoding="UTF-8" standalone="yes"?>
<Relationships xmlns="http://schemas.openxmlformats.org/package/2006/relationships"><Relationship Id="rId9" Type="http://schemas.openxmlformats.org/officeDocument/2006/relationships/image" Target="../media/image42.wmf"/><Relationship Id="rId8" Type="http://schemas.openxmlformats.org/officeDocument/2006/relationships/image" Target="../media/image41.wmf"/><Relationship Id="rId7" Type="http://schemas.openxmlformats.org/officeDocument/2006/relationships/image" Target="../media/image39.wmf"/><Relationship Id="rId6" Type="http://schemas.openxmlformats.org/officeDocument/2006/relationships/image" Target="../media/image38.wmf"/><Relationship Id="rId5" Type="http://schemas.openxmlformats.org/officeDocument/2006/relationships/image" Target="../media/image37.wmf"/><Relationship Id="rId4" Type="http://schemas.openxmlformats.org/officeDocument/2006/relationships/image" Target="../media/image36.wmf"/><Relationship Id="rId3" Type="http://schemas.openxmlformats.org/officeDocument/2006/relationships/image" Target="../media/image35.wmf"/><Relationship Id="rId2" Type="http://schemas.openxmlformats.org/officeDocument/2006/relationships/image" Target="../media/image34.wmf"/><Relationship Id="rId1" Type="http://schemas.openxmlformats.org/officeDocument/2006/relationships/image" Target="../media/image33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036B5B7-F477-45F3-8B0E-2764DBE3D0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9C4DDF3-2ADE-4779-9CCB-750675609A7B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1E098C-1744-4288-B23A-FC5AD096F77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F8FC2A-5435-4BFD-A9D8-8A08F3C9903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389C1-997B-45B7-B003-C1630D99E61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F8FC2A-5435-4BFD-A9D8-8A08F3C9903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389C1-997B-45B7-B003-C1630D99E61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F8FC2A-5435-4BFD-A9D8-8A08F3C9903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389C1-997B-45B7-B003-C1630D99E61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F8FC2A-5435-4BFD-A9D8-8A08F3C9903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389C1-997B-45B7-B003-C1630D99E61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F8FC2A-5435-4BFD-A9D8-8A08F3C9903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389C1-997B-45B7-B003-C1630D99E61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F8FC2A-5435-4BFD-A9D8-8A08F3C9903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389C1-997B-45B7-B003-C1630D99E61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F8FC2A-5435-4BFD-A9D8-8A08F3C9903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389C1-997B-45B7-B003-C1630D99E61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F8FC2A-5435-4BFD-A9D8-8A08F3C9903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389C1-997B-45B7-B003-C1630D99E61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F8FC2A-5435-4BFD-A9D8-8A08F3C9903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389C1-997B-45B7-B003-C1630D99E61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F8FC2A-5435-4BFD-A9D8-8A08F3C9903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389C1-997B-45B7-B003-C1630D99E61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F8FC2A-5435-4BFD-A9D8-8A08F3C9903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389C1-997B-45B7-B003-C1630D99E61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F8FC2A-5435-4BFD-A9D8-8A08F3C9903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D1389C1-997B-45B7-B003-C1630D99E61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2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image" Target="../media/image11.wmf"/><Relationship Id="rId8" Type="http://schemas.openxmlformats.org/officeDocument/2006/relationships/oleObject" Target="../embeddings/oleObject1.bin"/><Relationship Id="rId7" Type="http://schemas.openxmlformats.org/officeDocument/2006/relationships/image" Target="../media/image10.png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7" Type="http://schemas.openxmlformats.org/officeDocument/2006/relationships/vmlDrawing" Target="../drawings/vmlDrawing1.vml"/><Relationship Id="rId16" Type="http://schemas.openxmlformats.org/officeDocument/2006/relationships/slideLayout" Target="../slideLayouts/slideLayout2.xml"/><Relationship Id="rId15" Type="http://schemas.openxmlformats.org/officeDocument/2006/relationships/image" Target="../media/image15.png"/><Relationship Id="rId14" Type="http://schemas.openxmlformats.org/officeDocument/2006/relationships/image" Target="../media/image14.wmf"/><Relationship Id="rId13" Type="http://schemas.openxmlformats.org/officeDocument/2006/relationships/oleObject" Target="../embeddings/oleObject3.bin"/><Relationship Id="rId12" Type="http://schemas.openxmlformats.org/officeDocument/2006/relationships/image" Target="../media/image13.png"/><Relationship Id="rId11" Type="http://schemas.openxmlformats.org/officeDocument/2006/relationships/image" Target="../media/image12.wmf"/><Relationship Id="rId10" Type="http://schemas.openxmlformats.org/officeDocument/2006/relationships/oleObject" Target="../embeddings/oleObject2.bin"/><Relationship Id="rId1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.xml"/><Relationship Id="rId8" Type="http://schemas.openxmlformats.org/officeDocument/2006/relationships/image" Target="../media/image23.png"/><Relationship Id="rId7" Type="http://schemas.openxmlformats.org/officeDocument/2006/relationships/image" Target="../media/image22.png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image" Target="../media/image35.wmf"/><Relationship Id="rId8" Type="http://schemas.openxmlformats.org/officeDocument/2006/relationships/oleObject" Target="../embeddings/oleObject6.bin"/><Relationship Id="rId7" Type="http://schemas.openxmlformats.org/officeDocument/2006/relationships/image" Target="../media/image34.wmf"/><Relationship Id="rId6" Type="http://schemas.openxmlformats.org/officeDocument/2006/relationships/oleObject" Target="../embeddings/oleObject5.bin"/><Relationship Id="rId5" Type="http://schemas.openxmlformats.org/officeDocument/2006/relationships/image" Target="../media/image33.wmf"/><Relationship Id="rId4" Type="http://schemas.openxmlformats.org/officeDocument/2006/relationships/oleObject" Target="../embeddings/oleObject4.bin"/><Relationship Id="rId3" Type="http://schemas.openxmlformats.org/officeDocument/2006/relationships/image" Target="../media/image32.png"/><Relationship Id="rId24" Type="http://schemas.openxmlformats.org/officeDocument/2006/relationships/vmlDrawing" Target="../drawings/vmlDrawing2.vml"/><Relationship Id="rId23" Type="http://schemas.openxmlformats.org/officeDocument/2006/relationships/slideLayout" Target="../slideLayouts/slideLayout2.xml"/><Relationship Id="rId22" Type="http://schemas.openxmlformats.org/officeDocument/2006/relationships/image" Target="../media/image42.wmf"/><Relationship Id="rId21" Type="http://schemas.openxmlformats.org/officeDocument/2006/relationships/oleObject" Target="../embeddings/oleObject12.bin"/><Relationship Id="rId20" Type="http://schemas.openxmlformats.org/officeDocument/2006/relationships/image" Target="../media/image41.wmf"/><Relationship Id="rId2" Type="http://schemas.openxmlformats.org/officeDocument/2006/relationships/image" Target="../media/image31.png"/><Relationship Id="rId19" Type="http://schemas.openxmlformats.org/officeDocument/2006/relationships/oleObject" Target="../embeddings/oleObject11.bin"/><Relationship Id="rId18" Type="http://schemas.openxmlformats.org/officeDocument/2006/relationships/image" Target="../media/image40.png"/><Relationship Id="rId17" Type="http://schemas.openxmlformats.org/officeDocument/2006/relationships/image" Target="../media/image39.wmf"/><Relationship Id="rId16" Type="http://schemas.openxmlformats.org/officeDocument/2006/relationships/oleObject" Target="../embeddings/oleObject10.bin"/><Relationship Id="rId15" Type="http://schemas.openxmlformats.org/officeDocument/2006/relationships/image" Target="../media/image38.wmf"/><Relationship Id="rId14" Type="http://schemas.openxmlformats.org/officeDocument/2006/relationships/oleObject" Target="../embeddings/oleObject9.bin"/><Relationship Id="rId13" Type="http://schemas.openxmlformats.org/officeDocument/2006/relationships/image" Target="../media/image37.wmf"/><Relationship Id="rId12" Type="http://schemas.openxmlformats.org/officeDocument/2006/relationships/oleObject" Target="../embeddings/oleObject8.bin"/><Relationship Id="rId11" Type="http://schemas.openxmlformats.org/officeDocument/2006/relationships/image" Target="../media/image36.wmf"/><Relationship Id="rId10" Type="http://schemas.openxmlformats.org/officeDocument/2006/relationships/oleObject" Target="../embeddings/oleObject7.bin"/><Relationship Id="rId1" Type="http://schemas.openxmlformats.org/officeDocument/2006/relationships/image" Target="../media/image30.png"/></Relationships>
</file>

<file path=ppt/slides/_rels/slide9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2.xml"/><Relationship Id="rId6" Type="http://schemas.openxmlformats.org/officeDocument/2006/relationships/tags" Target="../tags/tag12.xml"/><Relationship Id="rId5" Type="http://schemas.openxmlformats.org/officeDocument/2006/relationships/tags" Target="../tags/tag11.xml"/><Relationship Id="rId4" Type="http://schemas.openxmlformats.org/officeDocument/2006/relationships/tags" Target="../tags/tag10.xml"/><Relationship Id="rId3" Type="http://schemas.openxmlformats.org/officeDocument/2006/relationships/tags" Target="../tags/tag9.xml"/><Relationship Id="rId2" Type="http://schemas.openxmlformats.org/officeDocument/2006/relationships/tags" Target="../tags/tag8.xml"/><Relationship Id="rId1" Type="http://schemas.openxmlformats.org/officeDocument/2006/relationships/tags" Target="../tags/tag7.xml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image" Target="../media/image4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文本框 25"/>
          <p:cNvSpPr txBox="1"/>
          <p:nvPr/>
        </p:nvSpPr>
        <p:spPr>
          <a:xfrm>
            <a:off x="46892" y="2787037"/>
            <a:ext cx="12098216" cy="1015663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zh-CN" altLang="en-US" sz="6000" b="1" dirty="0">
                <a:solidFill>
                  <a:srgbClr val="DC28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ea"/>
              </a:rPr>
              <a:t>奋发有为，知行合一</a:t>
            </a:r>
            <a:endParaRPr sz="6000" b="1" dirty="0">
              <a:solidFill>
                <a:srgbClr val="DC28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j-ea"/>
            </a:endParaRPr>
          </a:p>
        </p:txBody>
      </p:sp>
      <p:sp>
        <p:nvSpPr>
          <p:cNvPr id="2" name="powerpoint template design by DAJU_PPT正版来源小红书大橘PPT微信DAJU_PPT请勿抄袭搬运！盗版必究！"/>
          <p:cNvSpPr txBox="1"/>
          <p:nvPr/>
        </p:nvSpPr>
        <p:spPr>
          <a:xfrm>
            <a:off x="4267200" y="5849373"/>
            <a:ext cx="3657600" cy="391626"/>
          </a:xfrm>
          <a:prstGeom prst="roundRect">
            <a:avLst>
              <a:gd name="adj" fmla="val 50000"/>
            </a:avLst>
          </a:prstGeom>
          <a:noFill/>
          <a:ln w="12700">
            <a:solidFill>
              <a:schemeClr val="tx1"/>
            </a:solidFill>
          </a:ln>
        </p:spPr>
        <p:txBody>
          <a:bodyPr wrap="square" lIns="0" tIns="0" rIns="0" bIns="0" anchor="ctr" anchorCtr="0">
            <a:noAutofit/>
          </a:bodyPr>
          <a:lstStyle>
            <a:defPPr>
              <a:defRPr lang="zh-CN"/>
            </a:defPPr>
            <a:lvl1pPr algn="dist" fontAlgn="base">
              <a:defRPr sz="1600" b="0" i="0">
                <a:solidFill>
                  <a:schemeClr val="accent5">
                    <a:lumMod val="50000"/>
                  </a:schemeClr>
                </a:solidFill>
                <a:effectLst/>
                <a:latin typeface="+mn-ea"/>
              </a:defRPr>
            </a:lvl1pPr>
          </a:lstStyle>
          <a:p>
            <a:pPr algn="ctr"/>
            <a:r>
              <a:rPr lang="zh-CN" altLang="en-US" sz="1800" b="1" dirty="0">
                <a:solidFill>
                  <a:schemeClr val="tx1"/>
                </a:solidFill>
                <a:latin typeface="+mn-lt"/>
                <a:cs typeface="+mn-ea"/>
                <a:sym typeface="+mn-lt"/>
              </a:rPr>
              <a:t>学校：四川大学</a:t>
            </a:r>
            <a:endParaRPr lang="zh-CN" altLang="en-US" sz="1800" b="1" dirty="0">
              <a:solidFill>
                <a:schemeClr val="tx1"/>
              </a:solidFill>
              <a:latin typeface="+mn-lt"/>
              <a:cs typeface="+mn-ea"/>
              <a:sym typeface="+mn-lt"/>
            </a:endParaRPr>
          </a:p>
        </p:txBody>
      </p:sp>
      <p:sp>
        <p:nvSpPr>
          <p:cNvPr id="3" name="powerpoint template design by DAJU_PPT正版来源小红书大橘PPT微信DAJU_PPT请勿抄袭搬运！盗版必究！"/>
          <p:cNvSpPr txBox="1"/>
          <p:nvPr/>
        </p:nvSpPr>
        <p:spPr>
          <a:xfrm>
            <a:off x="4267200" y="5282373"/>
            <a:ext cx="3657600" cy="391626"/>
          </a:xfrm>
          <a:prstGeom prst="roundRect">
            <a:avLst>
              <a:gd name="adj" fmla="val 50000"/>
            </a:avLst>
          </a:prstGeom>
          <a:noFill/>
          <a:ln w="12700">
            <a:solidFill>
              <a:schemeClr val="tx1"/>
            </a:solidFill>
          </a:ln>
        </p:spPr>
        <p:txBody>
          <a:bodyPr wrap="square" lIns="0" tIns="0" rIns="0" bIns="0" anchor="ctr" anchorCtr="0">
            <a:noAutofit/>
          </a:bodyPr>
          <a:lstStyle>
            <a:defPPr>
              <a:defRPr lang="zh-CN"/>
            </a:defPPr>
            <a:lvl1pPr algn="dist" fontAlgn="base">
              <a:defRPr sz="1600" b="0" i="0">
                <a:solidFill>
                  <a:schemeClr val="accent5">
                    <a:lumMod val="50000"/>
                  </a:schemeClr>
                </a:solidFill>
                <a:effectLst/>
                <a:latin typeface="+mn-ea"/>
              </a:defRPr>
            </a:lvl1pPr>
          </a:lstStyle>
          <a:p>
            <a:pPr algn="ctr"/>
            <a:r>
              <a:rPr lang="zh-CN" altLang="en-US" sz="1800" b="1" dirty="0">
                <a:solidFill>
                  <a:schemeClr val="tx1"/>
                </a:solidFill>
                <a:latin typeface="+mn-lt"/>
                <a:cs typeface="+mn-ea"/>
                <a:sym typeface="+mn-lt"/>
              </a:rPr>
              <a:t>申请人：</a:t>
            </a:r>
            <a:endParaRPr lang="zh-CN" altLang="en-US" sz="1800" b="1" dirty="0">
              <a:solidFill>
                <a:schemeClr val="tx1"/>
              </a:solidFill>
              <a:latin typeface="+mn-lt"/>
              <a:cs typeface="+mn-ea"/>
              <a:sym typeface="+mn-lt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72657" y="972086"/>
            <a:ext cx="4446686" cy="1362443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640080" y="4192153"/>
            <a:ext cx="10911840" cy="52322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en-US" altLang="zh-CN" sz="2800" b="1" dirty="0">
                <a:solidFill>
                  <a:srgbClr val="DC28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ea"/>
              </a:rPr>
              <a:t>2023</a:t>
            </a:r>
            <a:r>
              <a:rPr lang="zh-CN" altLang="en-US" sz="2800" b="1" dirty="0">
                <a:solidFill>
                  <a:srgbClr val="DC28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ea"/>
              </a:rPr>
              <a:t>年浙江大学工程师学院夏令营</a:t>
            </a:r>
            <a:endParaRPr lang="zh-CN" altLang="en-US" sz="2800" b="1" dirty="0">
              <a:solidFill>
                <a:srgbClr val="DC28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j-e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/>
          <p:cNvSpPr txBox="1"/>
          <p:nvPr/>
        </p:nvSpPr>
        <p:spPr>
          <a:xfrm>
            <a:off x="4732150" y="109896"/>
            <a:ext cx="27277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solidFill>
                  <a:schemeClr val="accent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汇报提纲</a:t>
            </a:r>
            <a:endParaRPr lang="zh-CN" altLang="en-US" sz="4000" b="1" dirty="0">
              <a:solidFill>
                <a:schemeClr val="accent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椭圆 7"/>
          <p:cNvSpPr/>
          <p:nvPr>
            <p:custDataLst>
              <p:tags r:id="rId1"/>
            </p:custDataLst>
          </p:nvPr>
        </p:nvSpPr>
        <p:spPr>
          <a:xfrm>
            <a:off x="4178331" y="2568044"/>
            <a:ext cx="647700" cy="6477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3200" b="1" dirty="0"/>
              <a:t>1</a:t>
            </a:r>
            <a:endParaRPr lang="zh-CN" altLang="en-US" sz="3200" b="1" dirty="0"/>
          </a:p>
        </p:txBody>
      </p:sp>
      <p:sp>
        <p:nvSpPr>
          <p:cNvPr id="9" name="矩形 8"/>
          <p:cNvSpPr/>
          <p:nvPr>
            <p:custDataLst>
              <p:tags r:id="rId2"/>
            </p:custDataLst>
          </p:nvPr>
        </p:nvSpPr>
        <p:spPr>
          <a:xfrm>
            <a:off x="5095684" y="2605530"/>
            <a:ext cx="3093325" cy="5835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3200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</a:t>
            </a:r>
            <a:r>
              <a:rPr lang="zh-CN" altLang="en-US" sz="3200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基本情况</a:t>
            </a:r>
            <a:endParaRPr lang="zh-CN" altLang="en-US" sz="3200" b="1" dirty="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椭圆 9"/>
          <p:cNvSpPr/>
          <p:nvPr>
            <p:custDataLst>
              <p:tags r:id="rId3"/>
            </p:custDataLst>
          </p:nvPr>
        </p:nvSpPr>
        <p:spPr>
          <a:xfrm>
            <a:off x="4178331" y="3607390"/>
            <a:ext cx="647700" cy="6477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3200" b="1" dirty="0"/>
              <a:t>2</a:t>
            </a:r>
            <a:endParaRPr lang="zh-CN" altLang="en-US" sz="3200" b="1" dirty="0"/>
          </a:p>
        </p:txBody>
      </p:sp>
      <p:sp>
        <p:nvSpPr>
          <p:cNvPr id="11" name="矩形 10"/>
          <p:cNvSpPr/>
          <p:nvPr>
            <p:custDataLst>
              <p:tags r:id="rId4"/>
            </p:custDataLst>
          </p:nvPr>
        </p:nvSpPr>
        <p:spPr>
          <a:xfrm>
            <a:off x="4985305" y="3638852"/>
            <a:ext cx="2773777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sz="3200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科研经历</a:t>
            </a:r>
            <a:endParaRPr lang="zh-CN" altLang="en-US" sz="3200" b="1" dirty="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" name="直接连接符 1"/>
          <p:cNvCxnSpPr/>
          <p:nvPr/>
        </p:nvCxnSpPr>
        <p:spPr>
          <a:xfrm>
            <a:off x="0" y="991486"/>
            <a:ext cx="12192000" cy="0"/>
          </a:xfrm>
          <a:prstGeom prst="line">
            <a:avLst/>
          </a:prstGeom>
          <a:ln w="57150">
            <a:solidFill>
              <a:srgbClr val="D8E2F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椭圆 4"/>
          <p:cNvSpPr/>
          <p:nvPr>
            <p:custDataLst>
              <p:tags r:id="rId5"/>
            </p:custDataLst>
          </p:nvPr>
        </p:nvSpPr>
        <p:spPr>
          <a:xfrm>
            <a:off x="4178331" y="4636546"/>
            <a:ext cx="647700" cy="6477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3200" b="1" dirty="0"/>
              <a:t>3</a:t>
            </a:r>
            <a:endParaRPr lang="zh-CN" altLang="en-US" sz="3200" b="1" dirty="0"/>
          </a:p>
        </p:txBody>
      </p:sp>
      <p:sp>
        <p:nvSpPr>
          <p:cNvPr id="6" name="矩形 5"/>
          <p:cNvSpPr/>
          <p:nvPr>
            <p:custDataLst>
              <p:tags r:id="rId6"/>
            </p:custDataLst>
          </p:nvPr>
        </p:nvSpPr>
        <p:spPr>
          <a:xfrm>
            <a:off x="4985305" y="4668008"/>
            <a:ext cx="2773777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sz="3200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竞赛经历</a:t>
            </a:r>
            <a:endParaRPr lang="zh-CN" altLang="en-US" sz="3200" b="1" dirty="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4"/>
          <p:cNvSpPr txBox="1">
            <a:spLocks noChangeArrowheads="1"/>
          </p:cNvSpPr>
          <p:nvPr/>
        </p:nvSpPr>
        <p:spPr bwMode="auto">
          <a:xfrm>
            <a:off x="0" y="68044"/>
            <a:ext cx="3108960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zh-CN" altLang="en-US" sz="2400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一、个人基本情况</a:t>
            </a:r>
            <a:endParaRPr lang="zh-CN" altLang="en-US" sz="2400" b="1" dirty="0">
              <a:solidFill>
                <a:srgbClr val="0070C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2" name="直接连接符 11"/>
          <p:cNvCxnSpPr/>
          <p:nvPr/>
        </p:nvCxnSpPr>
        <p:spPr>
          <a:xfrm>
            <a:off x="0" y="617776"/>
            <a:ext cx="12192000" cy="0"/>
          </a:xfrm>
          <a:prstGeom prst="line">
            <a:avLst/>
          </a:prstGeom>
          <a:ln w="57150">
            <a:solidFill>
              <a:srgbClr val="D8E2F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8" name="组合 17"/>
          <p:cNvGrpSpPr/>
          <p:nvPr/>
        </p:nvGrpSpPr>
        <p:grpSpPr>
          <a:xfrm>
            <a:off x="4729878" y="1251315"/>
            <a:ext cx="6639814" cy="4947851"/>
            <a:chOff x="4616319" y="1430610"/>
            <a:chExt cx="6639814" cy="4947851"/>
          </a:xfrm>
        </p:grpSpPr>
        <p:sp>
          <p:nvSpPr>
            <p:cNvPr id="10" name="文本框 9"/>
            <p:cNvSpPr txBox="1"/>
            <p:nvPr/>
          </p:nvSpPr>
          <p:spPr>
            <a:xfrm>
              <a:off x="7172829" y="1430610"/>
              <a:ext cx="1572895" cy="5835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sz="3200" b="1" kern="100" dirty="0">
                  <a:effectLst/>
                  <a:latin typeface="Calibri" panose="020F0502020204030204" pitchFamily="34" charset="0"/>
                  <a:ea typeface="微软雅黑" panose="020B0503020204020204" pitchFamily="34" charset="-122"/>
                  <a:cs typeface="Times New Roman" panose="02020603050405020304" pitchFamily="18" charset="0"/>
                </a:rPr>
                <a:t>xxx</a:t>
              </a:r>
              <a:endParaRPr lang="en-US" altLang="zh-CN" sz="3200" b="1" kern="100" dirty="0">
                <a:effectLst/>
                <a:latin typeface="Calibri" panose="020F0502020204030204" pitchFamily="34" charset="0"/>
                <a:ea typeface="微软雅黑" panose="020B0503020204020204" pitchFamily="34" charset="-122"/>
                <a:cs typeface="Times New Roman" panose="02020603050405020304" pitchFamily="18" charset="0"/>
              </a:endParaRPr>
            </a:p>
          </p:txBody>
        </p:sp>
        <p:grpSp>
          <p:nvGrpSpPr>
            <p:cNvPr id="17" name="组合 16"/>
            <p:cNvGrpSpPr/>
            <p:nvPr/>
          </p:nvGrpSpPr>
          <p:grpSpPr>
            <a:xfrm>
              <a:off x="4616319" y="1989631"/>
              <a:ext cx="6639814" cy="4388830"/>
              <a:chOff x="881026" y="1786431"/>
              <a:chExt cx="6639814" cy="4388830"/>
            </a:xfrm>
          </p:grpSpPr>
          <p:sp>
            <p:nvSpPr>
              <p:cNvPr id="11" name="文本框 10"/>
              <p:cNvSpPr txBox="1"/>
              <p:nvPr/>
            </p:nvSpPr>
            <p:spPr>
              <a:xfrm>
                <a:off x="881026" y="1786431"/>
                <a:ext cx="6639814" cy="43888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marR="0" lvl="0" indent="-285750" algn="l" defTabSz="914400" rtl="0" eaLnBrk="1" fontAlgn="auto" latinLnBrk="0" hangingPunct="1">
                  <a:lnSpc>
                    <a:spcPct val="17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defRPr/>
                </a:pPr>
                <a:r>
                  <a:rPr kumimoji="0" lang="zh-CN" alt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学</a:t>
                </a:r>
                <a:r>
                  <a:rPr kumimoji="0" lang="en-US" altLang="zh-CN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	 </a:t>
                </a:r>
                <a:r>
                  <a:rPr kumimoji="0" lang="zh-CN" alt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校：</a:t>
                </a:r>
                <a:r>
                  <a:rPr lang="zh-CN" altLang="en-US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四川</a:t>
                </a:r>
                <a:r>
                  <a:rPr kumimoji="0" lang="zh-CN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大学</a:t>
                </a:r>
                <a:endPara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endParaRPr>
              </a:p>
              <a:p>
                <a:pPr marL="285750" marR="0" lvl="0" indent="-285750" algn="l" defTabSz="914400" rtl="0" eaLnBrk="1" fontAlgn="auto" latinLnBrk="0" hangingPunct="1">
                  <a:lnSpc>
                    <a:spcPct val="17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defRPr/>
                </a:pPr>
                <a:r>
                  <a:rPr lang="zh-CN" altLang="en-US" b="1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rPr>
                  <a:t>专       业</a:t>
                </a:r>
                <a:r>
                  <a:rPr kumimoji="0" lang="zh-CN" alt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  <a:sym typeface="+mn-ea"/>
                  </a:rPr>
                  <a:t>：</a:t>
                </a:r>
                <a:r>
                  <a:rPr lang="zh-CN" altLang="en-US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rPr>
                  <a:t>电气工程及其自动化（卓越工程师班）</a:t>
                </a:r>
                <a:endPara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endParaRPr>
              </a:p>
              <a:p>
                <a:pPr marL="285750" marR="0" lvl="0" indent="-285750" algn="l" defTabSz="914400" rtl="0" eaLnBrk="1" fontAlgn="auto" latinLnBrk="0" hangingPunct="1">
                  <a:lnSpc>
                    <a:spcPct val="17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defRPr/>
                </a:pPr>
                <a:r>
                  <a:rPr kumimoji="0" lang="zh-CN" alt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  <a:sym typeface="+mn-ea"/>
                  </a:rPr>
                  <a:t>出生年月：</a:t>
                </a:r>
                <a:r>
                  <a:rPr kumimoji="0" lang="en-US" altLang="zh-CN" sz="180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  <a:sym typeface="+mn-ea"/>
                  </a:rPr>
                  <a:t>2002.2   </a:t>
                </a:r>
                <a:endParaRPr kumimoji="0" lang="zh-CN" altLang="en-US" sz="180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endParaRPr>
              </a:p>
              <a:p>
                <a:pPr marL="285750" marR="0" lvl="0" indent="-285750" algn="l" defTabSz="914400" rtl="0" eaLnBrk="1" fontAlgn="auto" latinLnBrk="0" hangingPunct="1">
                  <a:lnSpc>
                    <a:spcPct val="17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defRPr/>
                </a:pPr>
                <a:r>
                  <a:rPr kumimoji="0" lang="zh-CN" alt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专业成绩：</a:t>
                </a:r>
                <a:r>
                  <a:rPr kumimoji="0" lang="en-US" altLang="zh-CN" sz="18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91.92</a:t>
                </a:r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/100</a:t>
                </a:r>
                <a:endParaRPr kumimoji="0" lang="zh-CN" altLang="en-US" sz="18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endParaRPr>
              </a:p>
              <a:p>
                <a:pPr marL="285750" marR="0" lvl="0" indent="-285750" algn="l" defTabSz="914400" rtl="0" eaLnBrk="1" fontAlgn="auto" latinLnBrk="0" hangingPunct="1">
                  <a:lnSpc>
                    <a:spcPct val="17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defRPr/>
                </a:pPr>
                <a:r>
                  <a:rPr kumimoji="0" lang="zh-CN" alt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英语水平：</a:t>
                </a:r>
                <a:r>
                  <a:rPr lang="zh-CN" altLang="en-US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四级（</a:t>
                </a:r>
                <a:r>
                  <a:rPr lang="en-US" altLang="zh-CN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611</a:t>
                </a:r>
                <a:r>
                  <a:rPr kumimoji="0" lang="zh-CN" altLang="en-US" sz="180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） </a:t>
                </a:r>
                <a:r>
                  <a:rPr lang="zh-CN" altLang="en-US" b="1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六级</a:t>
                </a:r>
                <a:r>
                  <a:rPr lang="en-US" altLang="zh-CN" b="1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(598) </a:t>
                </a:r>
                <a:endParaRPr kumimoji="0" lang="en-US" altLang="zh-CN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endParaRPr>
              </a:p>
              <a:p>
                <a:pPr marL="285750" marR="0" lvl="0" indent="-285750" algn="l" defTabSz="914400" rtl="0" eaLnBrk="1" fontAlgn="auto" latinLnBrk="0" hangingPunct="1">
                  <a:lnSpc>
                    <a:spcPct val="17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defRPr/>
                </a:pPr>
                <a:r>
                  <a:rPr kumimoji="0" lang="zh-CN" alt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核心课程：</a:t>
                </a:r>
                <a:r>
                  <a:rPr kumimoji="0" lang="zh-CN" altLang="en-US" sz="180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电力系统分析</a:t>
                </a:r>
                <a:r>
                  <a:rPr lang="en-US" altLang="zh-CN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(</a:t>
                </a:r>
                <a:r>
                  <a:rPr kumimoji="0" lang="en-US" altLang="zh-CN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95</a:t>
                </a:r>
                <a:r>
                  <a:rPr lang="en-US" altLang="zh-CN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) </a:t>
                </a:r>
                <a:r>
                  <a:rPr lang="zh-CN" altLang="en-US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kumimoji="0" lang="zh-CN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自动</a:t>
                </a:r>
                <a:r>
                  <a:rPr lang="zh-CN" altLang="en-US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控制原理</a:t>
                </a:r>
                <a:r>
                  <a:rPr lang="en-US" altLang="zh-CN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(</a:t>
                </a:r>
                <a:r>
                  <a:rPr kumimoji="0" lang="en-US" altLang="zh-CN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98</a:t>
                </a:r>
                <a:r>
                  <a:rPr lang="en-US" altLang="zh-CN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)</a:t>
                </a:r>
                <a:r>
                  <a:rPr lang="zh-CN" altLang="en-US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 </a:t>
                </a:r>
                <a:r>
                  <a:rPr kumimoji="0" lang="zh-CN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电机学</a:t>
                </a:r>
                <a:r>
                  <a:rPr kumimoji="0" lang="en-US" altLang="zh-CN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(93</a:t>
                </a:r>
                <a:r>
                  <a:rPr lang="en-US" altLang="zh-CN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)</a:t>
                </a:r>
                <a:r>
                  <a:rPr lang="zh-CN" altLang="en-US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kumimoji="0" lang="zh-CN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电力电子技术</a:t>
                </a:r>
                <a:r>
                  <a:rPr lang="en-US" altLang="zh-CN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(</a:t>
                </a:r>
                <a:r>
                  <a:rPr kumimoji="0" lang="en-US" altLang="zh-CN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94)  </a:t>
                </a:r>
                <a:r>
                  <a:rPr kumimoji="0" lang="zh-CN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发电厂电气部分</a:t>
                </a:r>
                <a:r>
                  <a:rPr kumimoji="0" lang="en-US" altLang="zh-CN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(91)</a:t>
                </a:r>
                <a:endParaRPr kumimoji="0" lang="en-US" altLang="zh-CN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endParaRPr>
              </a:p>
              <a:p>
                <a:pPr marL="285750" marR="0" lvl="0" indent="-285750" algn="l" defTabSz="914400" rtl="0" eaLnBrk="1" fontAlgn="auto" latinLnBrk="0" hangingPunct="1">
                  <a:lnSpc>
                    <a:spcPct val="17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defRPr/>
                </a:pPr>
                <a:r>
                  <a:rPr kumimoji="0" lang="zh-CN" alt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  <a:sym typeface="+mn-ea"/>
                  </a:rPr>
                  <a:t>奖学金：</a:t>
                </a:r>
                <a:r>
                  <a:rPr kumimoji="0" lang="zh-CN" altLang="en-US" sz="1800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  <a:sym typeface="+mn-ea"/>
                  </a:rPr>
                  <a:t>国家奖学金</a:t>
                </a:r>
                <a:endParaRPr kumimoji="0" lang="en-US" altLang="zh-CN" sz="18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  <a:sym typeface="+mn-ea"/>
                </a:endParaRPr>
              </a:p>
              <a:p>
                <a:pPr marL="285750" marR="0" lvl="0" indent="-285750" algn="l" defTabSz="914400" rtl="0" eaLnBrk="1" fontAlgn="auto" latinLnBrk="0" hangingPunct="1">
                  <a:lnSpc>
                    <a:spcPct val="17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defRPr/>
                </a:pPr>
                <a:r>
                  <a:rPr kumimoji="0" lang="zh-CN" alt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  <a:sym typeface="+mn-ea"/>
                  </a:rPr>
                  <a:t>荣誉称号：</a:t>
                </a:r>
                <a:r>
                  <a:rPr kumimoji="0" lang="zh-CN" altLang="en-US" sz="18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  <a:sym typeface="+mn-ea"/>
                  </a:rPr>
                  <a:t>四川大学优秀学生</a:t>
                </a:r>
                <a:endParaRPr kumimoji="0" lang="zh-CN" altLang="en-US" sz="18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14" name="文本框 13"/>
              <p:cNvSpPr txBox="1"/>
              <p:nvPr/>
            </p:nvSpPr>
            <p:spPr>
              <a:xfrm>
                <a:off x="4347871" y="2723387"/>
                <a:ext cx="2907564" cy="5759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marR="0" lvl="0" indent="-285750" algn="l" defTabSz="914400" rtl="0" eaLnBrk="1" fontAlgn="auto" latinLnBrk="0" hangingPunct="1">
                  <a:lnSpc>
                    <a:spcPct val="17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defRPr/>
                </a:pPr>
                <a:r>
                  <a:rPr kumimoji="0" lang="zh-CN" alt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  <a:sym typeface="+mn-ea"/>
                  </a:rPr>
                  <a:t>籍       贯：</a:t>
                </a:r>
                <a:r>
                  <a:rPr kumimoji="0" lang="en-US" altLang="zh-CN" sz="180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  <a:sym typeface="+mn-ea"/>
                  </a:rPr>
                  <a:t>   </a:t>
                </a:r>
                <a:endParaRPr kumimoji="0" lang="zh-CN" altLang="en-US" sz="180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4330618" y="3204802"/>
                <a:ext cx="2596111" cy="5759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marR="0" lvl="0" indent="-285750" algn="l" defTabSz="914400" rtl="0" eaLnBrk="1" fontAlgn="auto" latinLnBrk="0" hangingPunct="1">
                  <a:lnSpc>
                    <a:spcPct val="17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defRPr/>
                </a:pPr>
                <a:r>
                  <a:rPr kumimoji="0" lang="zh-CN" alt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  <a:sym typeface="+mn-ea"/>
                  </a:rPr>
                  <a:t>专业排名：</a:t>
                </a:r>
                <a:r>
                  <a:rPr kumimoji="0" lang="en-US" altLang="zh-CN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1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  <a:sym typeface="+mn-ea"/>
                  </a:rPr>
                  <a:t> </a:t>
                </a:r>
                <a:endParaRPr kumimoji="0" lang="zh-CN" alt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图片 1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7661" y="2554949"/>
            <a:ext cx="6252833" cy="2472274"/>
          </a:xfrm>
          <a:prstGeom prst="rect">
            <a:avLst/>
          </a:prstGeom>
        </p:spPr>
      </p:pic>
      <p:sp>
        <p:nvSpPr>
          <p:cNvPr id="17" name="矩形 16"/>
          <p:cNvSpPr/>
          <p:nvPr/>
        </p:nvSpPr>
        <p:spPr>
          <a:xfrm>
            <a:off x="506082" y="1175046"/>
            <a:ext cx="11179835" cy="874403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zh-CN" dirty="0"/>
          </a:p>
        </p:txBody>
      </p:sp>
      <p:sp>
        <p:nvSpPr>
          <p:cNvPr id="18" name="文本框 17"/>
          <p:cNvSpPr txBox="1"/>
          <p:nvPr/>
        </p:nvSpPr>
        <p:spPr>
          <a:xfrm>
            <a:off x="1210811" y="1151517"/>
            <a:ext cx="9770375" cy="8744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近年来随着新能源、高速铁路以及高压直流输电等的快速发展，大量电力电子器件的接入，导致电网中的谐波源数目急剧增加、谐波含量增大且分布广泛，电能质量恶化趋势越发明显。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3" name="图片 7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2363" y="2848591"/>
            <a:ext cx="4193554" cy="2436571"/>
          </a:xfrm>
          <a:prstGeom prst="rect">
            <a:avLst/>
          </a:prstGeom>
        </p:spPr>
      </p:pic>
      <p:sp>
        <p:nvSpPr>
          <p:cNvPr id="74" name="箭头: 右 73"/>
          <p:cNvSpPr/>
          <p:nvPr/>
        </p:nvSpPr>
        <p:spPr>
          <a:xfrm>
            <a:off x="6576999" y="3832421"/>
            <a:ext cx="582926" cy="243434"/>
          </a:xfrm>
          <a:prstGeom prst="rightArrow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929315" y="5776502"/>
            <a:ext cx="10333368" cy="874403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zh-CN" dirty="0"/>
          </a:p>
        </p:txBody>
      </p:sp>
      <p:sp>
        <p:nvSpPr>
          <p:cNvPr id="22" name="文本框 21"/>
          <p:cNvSpPr txBox="1"/>
          <p:nvPr/>
        </p:nvSpPr>
        <p:spPr>
          <a:xfrm>
            <a:off x="2156960" y="5752977"/>
            <a:ext cx="7878075" cy="8744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公共耦合点的谐波是用户和系统背景谐波</a:t>
            </a:r>
            <a:r>
              <a:rPr lang="zh-CN" altLang="en-US" b="1" dirty="0">
                <a:solidFill>
                  <a:srgbClr val="B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耦合交互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的结果，准确的</a:t>
            </a:r>
            <a:r>
              <a:rPr lang="zh-CN" altLang="en-US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谐波责任量化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是谐波管控和抑制的前提，对电网电能质量水平提升具有重要意义。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6366292" y="3594251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等效</a:t>
            </a:r>
            <a:endParaRPr lang="zh-CN" altLang="en-US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0" y="689084"/>
            <a:ext cx="61613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en-US" altLang="zh-CN" sz="1800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.1 </a:t>
            </a:r>
            <a:r>
              <a:rPr lang="zh-CN" altLang="en-US" sz="1800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研究背景</a:t>
            </a:r>
            <a:endParaRPr lang="zh-CN" altLang="en-US" sz="1800" dirty="0"/>
          </a:p>
        </p:txBody>
      </p:sp>
      <p:sp>
        <p:nvSpPr>
          <p:cNvPr id="11" name="文本框 4"/>
          <p:cNvSpPr txBox="1">
            <a:spLocks noChangeArrowheads="1"/>
          </p:cNvSpPr>
          <p:nvPr/>
        </p:nvSpPr>
        <p:spPr bwMode="auto">
          <a:xfrm>
            <a:off x="0" y="78366"/>
            <a:ext cx="102151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zh-CN" altLang="en-US" sz="2400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二、科研经历</a:t>
            </a:r>
            <a:r>
              <a:rPr lang="en-US" altLang="zh-CN" sz="2400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—</a:t>
            </a:r>
            <a:r>
              <a:rPr lang="zh-CN" altLang="en-US" sz="2400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系统侧谐波阻抗估计方法研究</a:t>
            </a:r>
            <a:endParaRPr lang="zh-CN" altLang="en-US" sz="2400" b="1" dirty="0">
              <a:solidFill>
                <a:srgbClr val="0070C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2" name="直接连接符 11"/>
          <p:cNvCxnSpPr/>
          <p:nvPr/>
        </p:nvCxnSpPr>
        <p:spPr>
          <a:xfrm>
            <a:off x="0" y="617776"/>
            <a:ext cx="12192000" cy="0"/>
          </a:xfrm>
          <a:prstGeom prst="line">
            <a:avLst/>
          </a:prstGeom>
          <a:ln w="57150">
            <a:solidFill>
              <a:srgbClr val="D8E2F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105747" y="1090852"/>
            <a:ext cx="32709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问题提出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——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独立随机矢量法：</a:t>
            </a:r>
            <a:endParaRPr lang="zh-CN" altLang="en-US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文本框 2"/>
              <p:cNvSpPr txBox="1"/>
              <p:nvPr/>
            </p:nvSpPr>
            <p:spPr>
              <a:xfrm>
                <a:off x="105748" y="1460184"/>
                <a:ext cx="6102221" cy="8158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indent="457200">
                  <a:lnSpc>
                    <a:spcPct val="150000"/>
                  </a:lnSpc>
                </a:pPr>
                <a:r>
                  <a:rPr lang="zh-CN" altLang="en-US" sz="1600" dirty="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假设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PCC</a:t>
                </a:r>
                <a:r>
                  <a:rPr lang="zh-CN" altLang="en-US" sz="1600" dirty="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谐波电流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600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altLang="zh-CN" sz="1600" b="0" i="1" smtClean="0">
                            <a:latin typeface="Cambria Math" panose="02040503050406030204" pitchFamily="18" charset="0"/>
                          </a:rPr>
                          <m:t>𝑝𝑐𝑐</m:t>
                        </m:r>
                      </m:sub>
                    </m:sSub>
                  </m:oMath>
                </a14:m>
                <a:r>
                  <a:rPr lang="zh-CN" altLang="en-US" sz="1600" dirty="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与背景谐波电流不相关，基于独立随机矢量协方差为零的特性求解系统侧谐波阻抗，有：</a:t>
                </a:r>
                <a:endParaRPr lang="zh-CN" altLang="en-US" sz="1600" dirty="0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" name="文本框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748" y="1460184"/>
                <a:ext cx="6102221" cy="815864"/>
              </a:xfrm>
              <a:prstGeom prst="rect">
                <a:avLst/>
              </a:prstGeom>
              <a:blipFill rotWithShape="1">
                <a:blip r:embed="rId1"/>
                <a:stretch>
                  <a:fillRect l="-6" t="-39" r="3" b="2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文本框 4"/>
              <p:cNvSpPr txBox="1"/>
              <p:nvPr/>
            </p:nvSpPr>
            <p:spPr>
              <a:xfrm>
                <a:off x="2127380" y="2324753"/>
                <a:ext cx="2058955" cy="4021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𝐶𝑜𝑣</m:t>
                      </m:r>
                      <m:r>
                        <a:rPr lang="en-US" altLang="zh-CN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altLang="zh-CN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zh-CN" altLang="en-US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CN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</m:acc>
                        </m:e>
                        <m:sub>
                          <m:r>
                            <a:rPr lang="en-US" altLang="zh-CN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</m:sSub>
                      <m:r>
                        <a:rPr lang="en-US" altLang="zh-CN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zh-CN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zh-CN" altLang="en-US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CN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</m:acc>
                        </m:e>
                        <m:sub>
                          <m:r>
                            <a:rPr lang="en-US" altLang="zh-CN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𝑝𝑐𝑐</m:t>
                          </m:r>
                        </m:sub>
                      </m:sSub>
                      <m:r>
                        <a:rPr lang="en-US" altLang="zh-CN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altLang="zh-CN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en-US" altLang="zh-CN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zh-CN" altLang="en-US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5" name="文本框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27380" y="2324753"/>
                <a:ext cx="2058955" cy="402161"/>
              </a:xfrm>
              <a:prstGeom prst="rect">
                <a:avLst/>
              </a:prstGeom>
              <a:blipFill rotWithShape="1">
                <a:blip r:embed="rId2"/>
                <a:stretch>
                  <a:fillRect l="-6" t="-4" r="20" b="5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文本框 5"/>
          <p:cNvSpPr txBox="1"/>
          <p:nvPr/>
        </p:nvSpPr>
        <p:spPr>
          <a:xfrm>
            <a:off x="105746" y="2726914"/>
            <a:ext cx="6102221" cy="4174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457200">
              <a:lnSpc>
                <a:spcPct val="150000"/>
              </a:lnSpc>
            </a:pPr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代入</a:t>
            </a:r>
            <a:r>
              <a:rPr lang="en-US" altLang="zh-CN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PCC</a:t>
            </a:r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电路方程对应的协方差表达式：</a:t>
            </a:r>
            <a:endParaRPr lang="zh-CN" altLang="en-US" sz="1600" dirty="0"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文本框 6"/>
              <p:cNvSpPr txBox="1"/>
              <p:nvPr/>
            </p:nvSpPr>
            <p:spPr>
              <a:xfrm>
                <a:off x="199051" y="3188150"/>
                <a:ext cx="5915610" cy="6595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sub>
                          </m:sSub>
                        </m:den>
                      </m:f>
                      <m:r>
                        <a:rPr lang="en-US" altLang="zh-CN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𝐶𝑜𝑣</m:t>
                      </m:r>
                      <m:d>
                        <m:dPr>
                          <m:ctrlP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̇"/>
                                  <m:ctrlPr>
                                    <a:rPr lang="zh-CN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CN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𝑝𝑐𝑐</m:t>
                              </m:r>
                            </m:sub>
                          </m:sSub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̇"/>
                                  <m:ctrlPr>
                                    <a:rPr lang="zh-CN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CN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𝑝𝑐𝑐</m:t>
                              </m:r>
                            </m:sub>
                          </m:sSub>
                        </m:e>
                      </m:d>
                      <m:r>
                        <a:rPr lang="en-US" altLang="zh-CN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altLang="zh-CN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𝐶𝑜𝑣</m:t>
                      </m:r>
                      <m:d>
                        <m:dPr>
                          <m:ctrlP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̇"/>
                                  <m:ctrlPr>
                                    <a:rPr lang="zh-CN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CN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𝑝𝑐𝑐</m:t>
                              </m:r>
                            </m:sub>
                          </m:sSub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̇"/>
                                  <m:ctrlPr>
                                    <a:rPr lang="zh-CN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CN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𝑝𝑐𝑐</m:t>
                              </m:r>
                            </m:sub>
                          </m:sSub>
                        </m:e>
                      </m:d>
                      <m:r>
                        <a:rPr lang="en-US" altLang="zh-CN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CN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𝐶𝑜𝑣</m:t>
                      </m:r>
                      <m:r>
                        <a:rPr lang="en-US" altLang="zh-CN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zh-CN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</m:acc>
                        </m:e>
                        <m:sub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</m:sSub>
                      <m:r>
                        <a:rPr lang="en-US" altLang="zh-CN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zh-CN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</m:acc>
                        </m:e>
                        <m:sub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𝑝𝑐𝑐</m:t>
                          </m:r>
                        </m:sub>
                      </m:sSub>
                      <m:r>
                        <a:rPr lang="en-US" altLang="zh-CN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7" name="文本框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9051" y="3188150"/>
                <a:ext cx="5915610" cy="659540"/>
              </a:xfrm>
              <a:prstGeom prst="rect">
                <a:avLst/>
              </a:prstGeom>
              <a:blipFill rotWithShape="1">
                <a:blip r:embed="rId3"/>
                <a:stretch>
                  <a:fillRect l="-5" t="-68" r="4" b="3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文本框 9"/>
          <p:cNvSpPr txBox="1"/>
          <p:nvPr/>
        </p:nvSpPr>
        <p:spPr>
          <a:xfrm>
            <a:off x="105745" y="3891504"/>
            <a:ext cx="6102221" cy="4174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457200">
              <a:lnSpc>
                <a:spcPct val="150000"/>
              </a:lnSpc>
            </a:pPr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解得系统侧谐波阻抗：</a:t>
            </a:r>
            <a:endParaRPr lang="zh-CN" altLang="en-US" sz="1600" dirty="0"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文本框 11"/>
              <p:cNvSpPr txBox="1"/>
              <p:nvPr/>
            </p:nvSpPr>
            <p:spPr>
              <a:xfrm>
                <a:off x="105745" y="4308926"/>
                <a:ext cx="5915610" cy="7684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</m:sSub>
                      <m:r>
                        <a:rPr lang="en-US" altLang="zh-CN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CN" altLang="en-US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𝐶𝑜𝑣</m:t>
                          </m:r>
                          <m:d>
                            <m:d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̇"/>
                                      <m:ctrlPr>
                                        <a:rPr lang="zh-CN" alt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CN" i="1">
                                          <a:latin typeface="Cambria Math" panose="02040503050406030204" pitchFamily="18" charset="0"/>
                                        </a:rPr>
                                        <m:t>𝑉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</a:rPr>
                                    <m:t>𝑝𝑐𝑐</m:t>
                                  </m:r>
                                </m:sub>
                              </m:s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̇"/>
                                      <m:ctrlPr>
                                        <a:rPr lang="zh-CN" alt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CN" i="1">
                                          <a:latin typeface="Cambria Math" panose="02040503050406030204" pitchFamily="18" charset="0"/>
                                        </a:rPr>
                                        <m:t>𝐼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</a:rPr>
                                    <m:t>𝑝𝑐𝑐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𝐶𝑜𝑣</m:t>
                          </m:r>
                          <m:d>
                            <m:d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̇"/>
                                      <m:ctrlPr>
                                        <a:rPr lang="zh-CN" alt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CN" i="1">
                                          <a:latin typeface="Cambria Math" panose="02040503050406030204" pitchFamily="18" charset="0"/>
                                        </a:rPr>
                                        <m:t>𝐼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</a:rPr>
                                    <m:t>𝑝𝑐𝑐</m:t>
                                  </m:r>
                                </m:sub>
                              </m:s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̇"/>
                                      <m:ctrlPr>
                                        <a:rPr lang="zh-CN" alt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CN" i="1">
                                          <a:latin typeface="Cambria Math" panose="02040503050406030204" pitchFamily="18" charset="0"/>
                                        </a:rPr>
                                        <m:t>𝐼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</a:rPr>
                                    <m:t>𝑝𝑐𝑐</m:t>
                                  </m:r>
                                </m:sub>
                              </m:sSub>
                            </m:e>
                          </m:d>
                        </m:den>
                      </m:f>
                    </m:oMath>
                  </m:oMathPara>
                </a14:m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2" name="文本框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745" y="4308926"/>
                <a:ext cx="5915610" cy="768480"/>
              </a:xfrm>
              <a:prstGeom prst="rect">
                <a:avLst/>
              </a:prstGeom>
              <a:blipFill rotWithShape="1">
                <a:blip r:embed="rId4"/>
                <a:stretch>
                  <a:fillRect l="-6" t="-59" r="5" b="7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矩形 12"/>
          <p:cNvSpPr/>
          <p:nvPr/>
        </p:nvSpPr>
        <p:spPr>
          <a:xfrm>
            <a:off x="326677" y="5237449"/>
            <a:ext cx="5473745" cy="1373866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lnSpc>
                <a:spcPct val="150000"/>
              </a:lnSpc>
              <a:buClr>
                <a:srgbClr val="C00000"/>
              </a:buClr>
              <a:buFont typeface="Wingdings" panose="05000000000000000000" pitchFamily="2" charset="2"/>
              <a:buChar char="n"/>
            </a:pPr>
            <a:r>
              <a:rPr lang="zh-CN" altLang="en-US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独立随机矢量法无法应用于强背景谐波波动，且当</a:t>
            </a:r>
            <a:r>
              <a:rPr lang="zh-CN" altLang="en-US" sz="16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用户侧谐波阻抗</a:t>
            </a:r>
            <a:r>
              <a:rPr lang="zh-CN" altLang="en-US" sz="1600" b="1" dirty="0">
                <a:solidFill>
                  <a:srgbClr val="B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非远大于</a:t>
            </a:r>
            <a:r>
              <a:rPr lang="zh-CN" altLang="en-US" sz="16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系统侧谐波阻抗</a:t>
            </a:r>
            <a:r>
              <a:rPr lang="zh-CN" altLang="en-US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、两侧谐波源非独立时其有效性会受到影响。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6207966" y="1559389"/>
            <a:ext cx="28924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chemeClr val="accent1"/>
              </a:buClr>
            </a:pP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）复</a:t>
            </a:r>
            <a:r>
              <a:rPr lang="en-US" altLang="zh-CN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ICA</a:t>
            </a:r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算法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6089779" y="1847886"/>
            <a:ext cx="6102221" cy="7873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457200">
              <a:lnSpc>
                <a:spcPct val="150000"/>
              </a:lnSpc>
            </a:pPr>
            <a:r>
              <a:rPr lang="en-US" altLang="zh-CN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ICA</a:t>
            </a:r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算法是一种</a:t>
            </a:r>
            <a:r>
              <a:rPr lang="zh-CN" altLang="en-US" sz="1600" b="1" dirty="0">
                <a:solidFill>
                  <a:srgbClr val="C000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经典盲源分离方法</a:t>
            </a:r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，用于分离通过未知矩阵混合后的独立信号源，具有较强抗背景谐波波动的能力。其模型如下：</a:t>
            </a:r>
            <a:endParaRPr lang="zh-CN" altLang="en-US" sz="1600" b="1" dirty="0"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文本框 18"/>
              <p:cNvSpPr txBox="1"/>
              <p:nvPr/>
            </p:nvSpPr>
            <p:spPr>
              <a:xfrm>
                <a:off x="8111411" y="2663731"/>
                <a:ext cx="205895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altLang="zh-CN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𝐴𝑆</m:t>
                      </m:r>
                    </m:oMath>
                  </m:oMathPara>
                </a14:m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9" name="文本框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11411" y="2663731"/>
                <a:ext cx="2058955" cy="369332"/>
              </a:xfrm>
              <a:prstGeom prst="rect">
                <a:avLst/>
              </a:prstGeom>
              <a:blipFill rotWithShape="1">
                <a:blip r:embed="rId5"/>
                <a:stretch>
                  <a:fillRect l="-27" t="-146" r="10" b="8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文本框 19"/>
              <p:cNvSpPr txBox="1"/>
              <p:nvPr/>
            </p:nvSpPr>
            <p:spPr>
              <a:xfrm>
                <a:off x="6049343" y="2954836"/>
                <a:ext cx="6102221" cy="4180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indent="457200">
                  <a:lnSpc>
                    <a:spcPct val="150000"/>
                  </a:lnSpc>
                </a:pPr>
                <a:r>
                  <a:rPr lang="zh-CN" altLang="en-US" sz="1600" dirty="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算法目的为找出最优分离矩阵</a:t>
                </a:r>
                <a14:m>
                  <m:oMath xmlns:m="http://schemas.openxmlformats.org/officeDocument/2006/math">
                    <m:r>
                      <a:rPr lang="en-US" altLang="zh-CN" sz="16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rPr>
                      <m:t>𝑊</m:t>
                    </m:r>
                    <m:r>
                      <a:rPr lang="zh-CN" altLang="en-US" sz="1600" i="1">
                        <a:latin typeface="Cambria Math" panose="020405030504060302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rPr>
                      <m:t>，</m:t>
                    </m:r>
                  </m:oMath>
                </a14:m>
                <a:r>
                  <a:rPr lang="zh-CN" altLang="en-US" sz="1600" dirty="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使：</a:t>
                </a:r>
                <a:endParaRPr lang="zh-CN" altLang="en-US" sz="1600" b="1" dirty="0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0" name="文本框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9343" y="2954836"/>
                <a:ext cx="6102221" cy="418063"/>
              </a:xfrm>
              <a:prstGeom prst="rect">
                <a:avLst/>
              </a:prstGeom>
              <a:blipFill rotWithShape="1">
                <a:blip r:embed="rId6"/>
                <a:stretch>
                  <a:fillRect l="-5" t="-43" r="3" b="9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文本框 20"/>
              <p:cNvSpPr txBox="1"/>
              <p:nvPr/>
            </p:nvSpPr>
            <p:spPr>
              <a:xfrm>
                <a:off x="8150288" y="3372899"/>
                <a:ext cx="205895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altLang="zh-CN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𝑊𝑋</m:t>
                      </m:r>
                    </m:oMath>
                  </m:oMathPara>
                </a14:m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1" name="文本框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0288" y="3372899"/>
                <a:ext cx="2058955" cy="369332"/>
              </a:xfrm>
              <a:prstGeom prst="rect">
                <a:avLst/>
              </a:prstGeom>
              <a:blipFill rotWithShape="1">
                <a:blip r:embed="rId7"/>
                <a:stretch>
                  <a:fillRect l="-3" t="-112" r="17" b="4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文本框 21"/>
          <p:cNvSpPr txBox="1"/>
          <p:nvPr/>
        </p:nvSpPr>
        <p:spPr>
          <a:xfrm>
            <a:off x="6192413" y="3748364"/>
            <a:ext cx="58969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306070" algn="just"/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分离得到的源信号与谐波阻抗矩阵存在尺度和顺序不确定性</a:t>
            </a:r>
            <a:endParaRPr lang="en-US" altLang="zh-CN" sz="1600" dirty="0"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25" name="对象 24"/>
          <p:cNvGraphicFramePr>
            <a:graphicFrameLocks noChangeAspect="1"/>
          </p:cNvGraphicFramePr>
          <p:nvPr/>
        </p:nvGraphicFramePr>
        <p:xfrm>
          <a:off x="6397795" y="4150351"/>
          <a:ext cx="3578808" cy="119229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" name="AxMath" r:id="rId8" imgW="1828800" imgH="1828800" progId="Equation.AxMath">
                  <p:embed/>
                </p:oleObj>
              </mc:Choice>
              <mc:Fallback>
                <p:oleObj name="AxMath" r:id="rId8" imgW="1828800" imgH="1828800" progId="Equation.AxMath">
                  <p:embed/>
                  <p:pic>
                    <p:nvPicPr>
                      <p:cNvPr id="0" name="图片 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397795" y="4150351"/>
                        <a:ext cx="3578808" cy="119229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6" name="对象 25"/>
          <p:cNvGraphicFramePr>
            <a:graphicFrameLocks noChangeAspect="1"/>
          </p:cNvGraphicFramePr>
          <p:nvPr/>
        </p:nvGraphicFramePr>
        <p:xfrm>
          <a:off x="10141551" y="4280855"/>
          <a:ext cx="1677221" cy="73198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" name="AxMath" r:id="rId10" imgW="1828800" imgH="1828800" progId="Equation.AxMath">
                  <p:embed/>
                </p:oleObj>
              </mc:Choice>
              <mc:Fallback>
                <p:oleObj name="AxMath" r:id="rId10" imgW="1828800" imgH="1828800" progId="Equation.AxMath">
                  <p:embed/>
                  <p:pic>
                    <p:nvPicPr>
                      <p:cNvPr id="0" name="图片 7"/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0141551" y="4280855"/>
                        <a:ext cx="1677221" cy="73198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27" name="文本框 26"/>
              <p:cNvSpPr txBox="1"/>
              <p:nvPr/>
            </p:nvSpPr>
            <p:spPr>
              <a:xfrm>
                <a:off x="6189306" y="5277146"/>
                <a:ext cx="5896949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indent="306070" algn="just"/>
                <a:r>
                  <a:rPr lang="zh-CN" altLang="en-US" sz="1600" dirty="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若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Times New Roman" panose="02020603050405020304" pitchFamily="18" charset="0"/>
                          </a:rPr>
                          <m:t>𝑍</m:t>
                        </m:r>
                      </m:e>
                      <m:sub>
                        <m: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zh-CN" altLang="en-US" sz="1600" i="1">
                        <a:latin typeface="Cambria Math" panose="020405030504060302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rPr>
                      <m:t>、</m:t>
                    </m:r>
                    <m:sSub>
                      <m:sSubPr>
                        <m:ctrlP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Times New Roman" panose="02020603050405020304" pitchFamily="18" charset="0"/>
                          </a:rPr>
                          <m:t>𝑍</m:t>
                        </m:r>
                      </m:e>
                      <m:sub>
                        <m:r>
                          <a:rPr lang="en-US" altLang="zh-CN" sz="160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zh-CN" altLang="en-US" sz="1600" dirty="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实部异号，则认为估计结果有效</a:t>
                </a:r>
                <a:endParaRPr lang="en-US" altLang="zh-CN" sz="1600" dirty="0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7" name="文本框 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9306" y="5277146"/>
                <a:ext cx="5896949" cy="338554"/>
              </a:xfrm>
              <a:prstGeom prst="rect">
                <a:avLst/>
              </a:prstGeom>
              <a:blipFill rotWithShape="1">
                <a:blip r:embed="rId12"/>
                <a:stretch>
                  <a:fillRect l="-10" t="-87" r="5" b="11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8" name="对象 27"/>
          <p:cNvGraphicFramePr>
            <a:graphicFrameLocks noChangeAspect="1"/>
          </p:cNvGraphicFramePr>
          <p:nvPr/>
        </p:nvGraphicFramePr>
        <p:xfrm>
          <a:off x="7942749" y="5615700"/>
          <a:ext cx="3335563" cy="79378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" name="AxMath" r:id="rId13" imgW="1828800" imgH="1828800" progId="Equation.AxMath">
                  <p:embed/>
                </p:oleObj>
              </mc:Choice>
              <mc:Fallback>
                <p:oleObj name="AxMath" r:id="rId13" imgW="1828800" imgH="1828800" progId="Equation.AxMath">
                  <p:embed/>
                  <p:pic>
                    <p:nvPicPr>
                      <p:cNvPr id="0" name="图片 8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7942749" y="5615700"/>
                        <a:ext cx="3335563" cy="79378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29" name="文本框 28"/>
              <p:cNvSpPr txBox="1"/>
              <p:nvPr/>
            </p:nvSpPr>
            <p:spPr>
              <a:xfrm>
                <a:off x="6189305" y="6362402"/>
                <a:ext cx="5896949" cy="3463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indent="306070" algn="just"/>
                <a:r>
                  <a:rPr lang="zh-CN" altLang="en-US" sz="1600" dirty="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同时确定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zh-CN" altLang="en-US" sz="16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 sz="16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acc>
                      </m:e>
                      <m:sub>
                        <m:r>
                          <a:rPr lang="en-US" altLang="zh-CN" sz="16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  <m:r>
                      <a:rPr lang="zh-CN" altLang="en-US" sz="1600" i="1">
                        <a:latin typeface="Cambria Math" panose="02040503050406030204" pitchFamily="18" charset="0"/>
                      </a:rPr>
                      <m:t>、</m:t>
                    </m:r>
                    <m:sSub>
                      <m:sSubPr>
                        <m:ctrlPr>
                          <a:rPr lang="en-US" altLang="zh-CN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zh-CN" altLang="en-US" sz="16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 sz="1600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acc>
                      </m:e>
                      <m:sub>
                        <m:r>
                          <a:rPr lang="en-US" altLang="zh-CN" sz="16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zh-CN" altLang="en-US" sz="1600" i="1" smtClean="0">
                        <a:latin typeface="Cambria Math" panose="02040503050406030204" pitchFamily="18" charset="0"/>
                      </a:rPr>
                      <m:t>。</m:t>
                    </m:r>
                  </m:oMath>
                </a14:m>
                <a:endParaRPr lang="en-US" altLang="zh-CN" sz="1600" dirty="0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9" name="文本框 2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9305" y="6362402"/>
                <a:ext cx="5896949" cy="346313"/>
              </a:xfrm>
              <a:prstGeom prst="rect">
                <a:avLst/>
              </a:prstGeom>
              <a:blipFill rotWithShape="1">
                <a:blip r:embed="rId15"/>
                <a:stretch>
                  <a:fillRect l="-10" t="-97" r="5" b="16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直接连接符 33"/>
          <p:cNvCxnSpPr/>
          <p:nvPr/>
        </p:nvCxnSpPr>
        <p:spPr>
          <a:xfrm>
            <a:off x="6114661" y="1088226"/>
            <a:ext cx="0" cy="575671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文本框 10"/>
          <p:cNvSpPr txBox="1"/>
          <p:nvPr/>
        </p:nvSpPr>
        <p:spPr>
          <a:xfrm>
            <a:off x="6207966" y="1088226"/>
            <a:ext cx="32495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· 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算法流程：</a:t>
            </a:r>
            <a:endParaRPr lang="zh-CN" altLang="en-US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箭头: 右 10"/>
          <p:cNvSpPr/>
          <p:nvPr/>
        </p:nvSpPr>
        <p:spPr>
          <a:xfrm>
            <a:off x="5738430" y="3637207"/>
            <a:ext cx="653143" cy="41742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文本框 14"/>
          <p:cNvSpPr txBox="1">
            <a:spLocks noChangeArrowheads="1"/>
          </p:cNvSpPr>
          <p:nvPr/>
        </p:nvSpPr>
        <p:spPr bwMode="auto">
          <a:xfrm>
            <a:off x="0" y="78366"/>
            <a:ext cx="102151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zh-CN" altLang="en-US" sz="2400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二、科研经历</a:t>
            </a:r>
            <a:r>
              <a:rPr lang="en-US" altLang="zh-CN" sz="2400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—</a:t>
            </a:r>
            <a:r>
              <a:rPr lang="zh-CN" altLang="en-US" sz="2400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系统侧谐波阻抗估计方法研究</a:t>
            </a:r>
            <a:endParaRPr lang="zh-CN" altLang="en-US" sz="2400" b="1" dirty="0">
              <a:solidFill>
                <a:srgbClr val="0070C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6" name="直接连接符 15"/>
          <p:cNvCxnSpPr/>
          <p:nvPr/>
        </p:nvCxnSpPr>
        <p:spPr>
          <a:xfrm>
            <a:off x="0" y="617776"/>
            <a:ext cx="12192000" cy="0"/>
          </a:xfrm>
          <a:prstGeom prst="line">
            <a:avLst/>
          </a:prstGeom>
          <a:ln w="57150">
            <a:solidFill>
              <a:srgbClr val="D8E2F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文本框 22"/>
          <p:cNvSpPr txBox="1"/>
          <p:nvPr/>
        </p:nvSpPr>
        <p:spPr>
          <a:xfrm>
            <a:off x="0" y="675837"/>
            <a:ext cx="80323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en-US" altLang="zh-CN" sz="1800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.2 </a:t>
            </a:r>
            <a:r>
              <a:rPr lang="zh-CN" altLang="en-US" sz="1800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授权发明专利</a:t>
            </a:r>
            <a:r>
              <a:rPr lang="en-US" altLang="zh-CN" sz="1800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—《</a:t>
            </a:r>
            <a:r>
              <a:rPr lang="zh-CN" altLang="en-US" sz="1800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基于互信息数据优选的系统侧谐波阻抗估计方法及装置</a:t>
            </a:r>
            <a:r>
              <a:rPr lang="en-US" altLang="zh-CN" sz="1800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》</a:t>
            </a:r>
            <a:endParaRPr lang="zh-CN" alt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6" name="文本框 15"/>
              <p:cNvSpPr txBox="1"/>
              <p:nvPr/>
            </p:nvSpPr>
            <p:spPr>
              <a:xfrm>
                <a:off x="594769" y="4183309"/>
                <a:ext cx="4909929" cy="83574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lnSpc>
                    <a:spcPct val="150000"/>
                  </a:lnSpc>
                  <a:buClr>
                    <a:schemeClr val="accent1"/>
                  </a:buClr>
                </a:pPr>
                <a:r>
                  <a:rPr lang="en-US" altLang="zh-CN" sz="1600" dirty="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2</a:t>
                </a:r>
                <a:r>
                  <a:rPr lang="zh-CN" altLang="en-US" sz="1600" dirty="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）通过核密度估计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(KDE)</a:t>
                </a:r>
                <a:r>
                  <a:rPr lang="zh-CN" altLang="en-US" sz="1600" dirty="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获得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zh-CN" altLang="en-US" sz="16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 sz="1600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acc>
                      </m:e>
                      <m:sub>
                        <m:r>
                          <a:rPr lang="en-US" altLang="zh-CN" sz="1600" i="1">
                            <a:latin typeface="Cambria Math" panose="02040503050406030204" pitchFamily="18" charset="0"/>
                          </a:rPr>
                          <m:t>𝑝𝑐𝑐</m:t>
                        </m:r>
                      </m:sub>
                    </m:sSub>
                  </m:oMath>
                </a14:m>
                <a:r>
                  <a:rPr lang="zh-CN" altLang="en-US" sz="1600" dirty="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zh-CN" altLang="en-US" sz="16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 sz="1600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acc>
                      </m:e>
                      <m:sub>
                        <m:r>
                          <a:rPr lang="en-US" altLang="zh-CN" sz="1600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</m:oMath>
                </a14:m>
                <a:r>
                  <a:rPr lang="zh-CN" altLang="en-US" sz="1600" dirty="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的边缘概率密度函数</a:t>
                </a:r>
                <a14:m>
                  <m:oMath xmlns:m="http://schemas.openxmlformats.org/officeDocument/2006/math">
                    <m:r>
                      <a:rPr lang="en-US" altLang="zh-CN" sz="1600" i="1">
                        <a:latin typeface="Cambria Math" panose="020405030504060302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rPr>
                      <m:t>𝑝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rPr>
                      <m:t>𝑥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rPr>
                      <m:t>)</m:t>
                    </m:r>
                    <m:r>
                      <a:rPr lang="zh-CN" altLang="en-US" sz="1600" i="1">
                        <a:latin typeface="Cambria Math" panose="020405030504060302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rPr>
                      <m:t>、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rPr>
                      <m:t>𝑝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rPr>
                      <m:t>𝑦</m:t>
                    </m:r>
                    <m:r>
                      <a:rPr lang="en-US" altLang="zh-CN" sz="1600" i="1">
                        <a:latin typeface="Cambria Math" panose="020405030504060302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rPr>
                      <m:t>)</m:t>
                    </m:r>
                    <m:r>
                      <a:rPr lang="zh-CN" altLang="en-US" sz="1600" i="1">
                        <a:latin typeface="Cambria Math" panose="020405030504060302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rPr>
                      <m:t>及其</m:t>
                    </m:r>
                  </m:oMath>
                </a14:m>
                <a:r>
                  <a:rPr lang="zh-CN" altLang="en-US" sz="1600" dirty="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联合概率密度函数</a:t>
                </a:r>
                <a14:m>
                  <m:oMath xmlns:m="http://schemas.openxmlformats.org/officeDocument/2006/math">
                    <m:r>
                      <a:rPr lang="en-US" altLang="zh-CN" sz="1600" i="1">
                        <a:latin typeface="Cambria Math" panose="020405030504060302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rPr>
                      <m:t>𝑝</m:t>
                    </m:r>
                    <m:d>
                      <m:dPr>
                        <m:ctrlP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Times New Roman" panose="02020603050405020304" pitchFamily="18" charset="0"/>
                          </a:rPr>
                          <m:t>𝑥</m:t>
                        </m:r>
                        <m: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Times New Roman" panose="02020603050405020304" pitchFamily="18" charset="0"/>
                          </a:rPr>
                          <m:t>𝑦</m:t>
                        </m:r>
                      </m:e>
                    </m:d>
                    <m:r>
                      <a:rPr lang="zh-CN" altLang="en-US" sz="1600" i="1">
                        <a:latin typeface="Cambria Math" panose="020405030504060302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rPr>
                      <m:t>。</m:t>
                    </m:r>
                  </m:oMath>
                </a14:m>
                <a:endParaRPr lang="en-US" altLang="zh-CN" sz="1600" dirty="0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6" name="文本框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769" y="4183309"/>
                <a:ext cx="4909929" cy="835742"/>
              </a:xfrm>
              <a:prstGeom prst="rect">
                <a:avLst/>
              </a:prstGeom>
              <a:blipFill rotWithShape="1">
                <a:blip r:embed="rId1"/>
                <a:stretch>
                  <a:fillRect l="-8" t="-67" r="11" b="-311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文本框 23"/>
              <p:cNvSpPr txBox="1"/>
              <p:nvPr/>
            </p:nvSpPr>
            <p:spPr>
              <a:xfrm>
                <a:off x="594766" y="5130730"/>
                <a:ext cx="390489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buClr>
                    <a:schemeClr val="accent1"/>
                  </a:buClr>
                </a:pPr>
                <a:r>
                  <a:rPr lang="en-US" altLang="zh-CN" sz="1600" dirty="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3</a:t>
                </a:r>
                <a:r>
                  <a:rPr lang="zh-CN" altLang="en-US" sz="1600" dirty="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）计算两离散随机变量</a:t>
                </a:r>
                <a14:m>
                  <m:oMath xmlns:m="http://schemas.openxmlformats.org/officeDocument/2006/math">
                    <m:r>
                      <a:rPr lang="en-US" altLang="zh-CN" sz="16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rPr>
                      <m:t>𝑋</m:t>
                    </m:r>
                    <m:r>
                      <a:rPr lang="zh-CN" altLang="en-US" sz="1600" i="1">
                        <a:latin typeface="Cambria Math" panose="020405030504060302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rPr>
                      <m:t>和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rPr>
                      <m:t>𝑌</m:t>
                    </m:r>
                  </m:oMath>
                </a14:m>
                <a:r>
                  <a:rPr lang="zh-CN" altLang="en-US" sz="1600" dirty="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的互信息：</a:t>
                </a:r>
                <a:endParaRPr lang="en-US" altLang="zh-CN" sz="1600" dirty="0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4" name="文本框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766" y="5130730"/>
                <a:ext cx="3904895" cy="338554"/>
              </a:xfrm>
              <a:prstGeom prst="rect">
                <a:avLst/>
              </a:prstGeom>
              <a:blipFill rotWithShape="1">
                <a:blip r:embed="rId2"/>
                <a:stretch>
                  <a:fillRect l="-10" t="-167" r="1" b="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1" name="图片 3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4969" y="5426330"/>
            <a:ext cx="3529524" cy="631297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2" name="文本框 31"/>
              <p:cNvSpPr txBox="1"/>
              <p:nvPr/>
            </p:nvSpPr>
            <p:spPr>
              <a:xfrm>
                <a:off x="594766" y="6027924"/>
                <a:ext cx="4909930" cy="6115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buClr>
                    <a:schemeClr val="accent1"/>
                  </a:buClr>
                </a:pPr>
                <a:r>
                  <a:rPr lang="en-US" altLang="zh-CN" sz="1600" dirty="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4</a:t>
                </a:r>
                <a:r>
                  <a:rPr lang="zh-CN" altLang="en-US" sz="1600" dirty="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）筛选出互信息</a:t>
                </a:r>
                <a14:m>
                  <m:oMath xmlns:m="http://schemas.openxmlformats.org/officeDocument/2006/math">
                    <m:r>
                      <a:rPr lang="zh-CN" altLang="en-US" sz="1600" i="1" dirty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rPr>
                      <m:t>较小</m:t>
                    </m:r>
                    <m:r>
                      <a:rPr lang="en-US" altLang="zh-CN" sz="1600" b="0" i="1" dirty="0" smtClean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Times New Roman" panose="02020603050405020304" pitchFamily="18" charset="0"/>
                          </a:rPr>
                          <m:t>𝑀</m:t>
                        </m:r>
                      </m:e>
                      <m:sub>
                        <m: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Times New Roman" panose="02020603050405020304" pitchFamily="18" charset="0"/>
                          </a:rPr>
                          <m:t>𝑗</m:t>
                        </m:r>
                      </m:sub>
                    </m:sSub>
                    <m:r>
                      <a:rPr lang="en-US" altLang="zh-CN" sz="1600" i="1">
                        <a:latin typeface="Cambria Math" panose="020405030504060302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rPr>
                      <m:t>&lt;</m:t>
                    </m:r>
                    <m:r>
                      <a:rPr lang="zh-CN" altLang="en-US" sz="1600" i="1">
                        <a:latin typeface="Cambria Math" panose="020405030504060302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rPr>
                      <m:t>𝛿</m:t>
                    </m:r>
                    <m:r>
                      <a:rPr lang="en-US" altLang="zh-CN" sz="1600" b="0" i="1" dirty="0" smtClean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rPr>
                      <m:t>)</m:t>
                    </m:r>
                    <m:r>
                      <a:rPr lang="zh-CN" altLang="en-US" sz="1600" i="1" dirty="0" smtClean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rPr>
                      <m:t>的</m:t>
                    </m:r>
                    <m:r>
                      <a:rPr lang="zh-CN" altLang="en-US" sz="1600" i="1" dirty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rPr>
                      <m:t>数据段</m:t>
                    </m:r>
                  </m:oMath>
                </a14:m>
                <a:r>
                  <a:rPr lang="zh-CN" altLang="en-US" sz="1600" dirty="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，利用独立随机矢量法求解谐波阻抗。</a:t>
                </a:r>
                <a:endParaRPr lang="en-US" altLang="zh-CN" sz="1600" dirty="0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2" name="文本框 3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766" y="6027924"/>
                <a:ext cx="4909930" cy="611514"/>
              </a:xfrm>
              <a:prstGeom prst="rect">
                <a:avLst/>
              </a:prstGeom>
              <a:blipFill rotWithShape="1">
                <a:blip r:embed="rId4"/>
                <a:stretch>
                  <a:fillRect l="-8" t="-82" r="11" b="-303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5" name="直接连接符 44"/>
          <p:cNvCxnSpPr/>
          <p:nvPr/>
        </p:nvCxnSpPr>
        <p:spPr>
          <a:xfrm>
            <a:off x="6997826" y="1066894"/>
            <a:ext cx="0" cy="575671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51" name="图片 5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6750" y="1569148"/>
            <a:ext cx="3671673" cy="5280730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 rotWithShape="1">
          <a:blip r:embed="rId6"/>
          <a:srcRect l="5861" r="6735"/>
          <a:stretch>
            <a:fillRect/>
          </a:stretch>
        </p:blipFill>
        <p:spPr>
          <a:xfrm>
            <a:off x="572995" y="1764422"/>
            <a:ext cx="5812013" cy="2216523"/>
          </a:xfrm>
          <a:prstGeom prst="rect">
            <a:avLst/>
          </a:prstGeom>
        </p:spPr>
      </p:pic>
      <p:sp>
        <p:nvSpPr>
          <p:cNvPr id="5" name="矩形: 圆角 4"/>
          <p:cNvSpPr/>
          <p:nvPr/>
        </p:nvSpPr>
        <p:spPr>
          <a:xfrm>
            <a:off x="594766" y="1569148"/>
            <a:ext cx="5829944" cy="2491457"/>
          </a:xfrm>
          <a:prstGeom prst="roundRect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文本框 6"/>
              <p:cNvSpPr txBox="1"/>
              <p:nvPr/>
            </p:nvSpPr>
            <p:spPr>
              <a:xfrm>
                <a:off x="2553617" y="1053172"/>
                <a:ext cx="1912241" cy="37798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zh-CN" altLang="en-US" sz="1800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对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8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zh-CN" altLang="en-US" sz="18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 sz="18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𝑰</m:t>
                            </m:r>
                          </m:e>
                        </m:acc>
                      </m:e>
                      <m:sub>
                        <m:r>
                          <a:rPr lang="en-US" altLang="zh-CN" sz="18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𝒖</m:t>
                        </m:r>
                      </m:sub>
                    </m:sSub>
                  </m:oMath>
                </a14:m>
                <a:r>
                  <a:rPr lang="zh-CN" altLang="en-US" sz="1800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的分离效果</a:t>
                </a:r>
                <a:endParaRPr lang="zh-CN" altLang="en-US" sz="1800" b="1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7" name="文本框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3617" y="1053172"/>
                <a:ext cx="1912241" cy="377989"/>
              </a:xfrm>
              <a:prstGeom prst="rect">
                <a:avLst/>
              </a:prstGeom>
              <a:blipFill rotWithShape="1">
                <a:blip r:embed="rId7"/>
                <a:stretch>
                  <a:fillRect l="-15" t="-90" r="28" b="13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文本框 9"/>
              <p:cNvSpPr txBox="1"/>
              <p:nvPr/>
            </p:nvSpPr>
            <p:spPr>
              <a:xfrm>
                <a:off x="8002859" y="1057500"/>
                <a:ext cx="343945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18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Times New Roman" panose="02020603050405020304" pitchFamily="18" charset="0"/>
                          </a:rPr>
                          <m:t>𝒁</m:t>
                        </m:r>
                      </m:e>
                      <m:sub>
                        <m:r>
                          <a:rPr lang="en-US" altLang="zh-CN" sz="18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Times New Roman" panose="02020603050405020304" pitchFamily="18" charset="0"/>
                          </a:rPr>
                          <m:t>𝒖</m:t>
                        </m:r>
                      </m:sub>
                    </m:sSub>
                  </m:oMath>
                </a14:m>
                <a:r>
                  <a:rPr lang="zh-CN" altLang="en-US" sz="1800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与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8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18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Times New Roman" panose="02020603050405020304" pitchFamily="18" charset="0"/>
                          </a:rPr>
                          <m:t>𝒁</m:t>
                        </m:r>
                      </m:e>
                      <m:sub>
                        <m:r>
                          <a:rPr lang="en-US" altLang="zh-CN" sz="18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Times New Roman" panose="02020603050405020304" pitchFamily="18" charset="0"/>
                          </a:rPr>
                          <m:t>𝒄</m:t>
                        </m:r>
                      </m:sub>
                    </m:sSub>
                  </m:oMath>
                </a14:m>
                <a:r>
                  <a:rPr lang="zh-CN" altLang="en-US" sz="1800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相差不大时的估计误差</a:t>
                </a:r>
                <a:endParaRPr lang="zh-CN" altLang="en-US" b="1" dirty="0"/>
              </a:p>
            </p:txBody>
          </p:sp>
        </mc:Choice>
        <mc:Fallback>
          <p:sp>
            <p:nvSpPr>
              <p:cNvPr id="10" name="文本框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2859" y="1057500"/>
                <a:ext cx="3439457" cy="369332"/>
              </a:xfrm>
              <a:prstGeom prst="rect">
                <a:avLst/>
              </a:prstGeom>
              <a:blipFill rotWithShape="1">
                <a:blip r:embed="rId8"/>
                <a:stretch>
                  <a:fillRect l="-17" t="-61" r="7" b="16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文本框 1"/>
          <p:cNvSpPr txBox="1">
            <a:spLocks noChangeArrowheads="1"/>
          </p:cNvSpPr>
          <p:nvPr/>
        </p:nvSpPr>
        <p:spPr bwMode="auto">
          <a:xfrm>
            <a:off x="0" y="30554"/>
            <a:ext cx="102151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zh-CN" altLang="en-US" sz="2400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二、科研经历</a:t>
            </a:r>
            <a:r>
              <a:rPr lang="en-US" altLang="zh-CN" sz="2400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—</a:t>
            </a:r>
            <a:r>
              <a:rPr lang="zh-CN" altLang="en-US" sz="2400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系统侧谐波阻抗估计方法研究</a:t>
            </a:r>
            <a:endParaRPr lang="zh-CN" altLang="en-US" sz="2400" b="1" dirty="0">
              <a:solidFill>
                <a:srgbClr val="0070C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" name="直接连接符 3"/>
          <p:cNvCxnSpPr/>
          <p:nvPr/>
        </p:nvCxnSpPr>
        <p:spPr>
          <a:xfrm>
            <a:off x="0" y="617776"/>
            <a:ext cx="12192000" cy="0"/>
          </a:xfrm>
          <a:prstGeom prst="line">
            <a:avLst/>
          </a:prstGeom>
          <a:ln w="57150">
            <a:solidFill>
              <a:srgbClr val="D8E2F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/>
          <p:cNvSpPr txBox="1"/>
          <p:nvPr/>
        </p:nvSpPr>
        <p:spPr>
          <a:xfrm>
            <a:off x="0" y="675837"/>
            <a:ext cx="80562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en-US" altLang="zh-CN" sz="1800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.2 </a:t>
            </a:r>
            <a:r>
              <a:rPr lang="zh-CN" altLang="en-US" sz="1800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授权发明专利</a:t>
            </a:r>
            <a:r>
              <a:rPr lang="en-US" altLang="zh-CN" sz="1800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—《</a:t>
            </a:r>
            <a:r>
              <a:rPr lang="zh-CN" altLang="en-US" sz="1800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基于互信息数据优选的系统侧谐波阻抗估计方法及装置</a:t>
            </a:r>
            <a:r>
              <a:rPr lang="en-US" altLang="zh-CN" sz="1800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》</a:t>
            </a:r>
            <a:endParaRPr lang="zh-CN" alt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组合 45"/>
          <p:cNvGrpSpPr/>
          <p:nvPr/>
        </p:nvGrpSpPr>
        <p:grpSpPr>
          <a:xfrm>
            <a:off x="7515850" y="1121335"/>
            <a:ext cx="4466302" cy="2511113"/>
            <a:chOff x="135387" y="1444689"/>
            <a:chExt cx="5245188" cy="2949031"/>
          </a:xfrm>
        </p:grpSpPr>
        <p:pic>
          <p:nvPicPr>
            <p:cNvPr id="47" name="图片 46"/>
            <p:cNvPicPr>
              <a:picLocks noChangeAspect="1"/>
            </p:cNvPicPr>
            <p:nvPr/>
          </p:nvPicPr>
          <p:blipFill rotWithShape="1">
            <a:blip r:embed="rId1"/>
            <a:srcRect l="4315" r="7535"/>
            <a:stretch>
              <a:fillRect/>
            </a:stretch>
          </p:blipFill>
          <p:spPr>
            <a:xfrm>
              <a:off x="135387" y="1498076"/>
              <a:ext cx="5037826" cy="2857506"/>
            </a:xfrm>
            <a:prstGeom prst="rect">
              <a:avLst/>
            </a:prstGeom>
          </p:spPr>
        </p:pic>
        <p:sp>
          <p:nvSpPr>
            <p:cNvPr id="48" name="矩形: 圆角 47"/>
            <p:cNvSpPr/>
            <p:nvPr/>
          </p:nvSpPr>
          <p:spPr>
            <a:xfrm>
              <a:off x="135387" y="1444689"/>
              <a:ext cx="5245188" cy="2949031"/>
            </a:xfrm>
            <a:prstGeom prst="roundRect">
              <a:avLst/>
            </a:prstGeom>
            <a:noFill/>
            <a:ln w="19050"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pic>
        <p:nvPicPr>
          <p:cNvPr id="49" name="图片 48"/>
          <p:cNvPicPr>
            <a:picLocks noChangeAspect="1"/>
          </p:cNvPicPr>
          <p:nvPr/>
        </p:nvPicPr>
        <p:blipFill rotWithShape="1">
          <a:blip r:embed="rId2"/>
          <a:srcRect t="4053" b="5969"/>
          <a:stretch>
            <a:fillRect/>
          </a:stretch>
        </p:blipFill>
        <p:spPr>
          <a:xfrm>
            <a:off x="7481571" y="3719317"/>
            <a:ext cx="4534860" cy="3060317"/>
          </a:xfrm>
          <a:prstGeom prst="rect">
            <a:avLst/>
          </a:prstGeom>
        </p:spPr>
      </p:pic>
      <p:pic>
        <p:nvPicPr>
          <p:cNvPr id="80" name="图片 7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38" y="2023971"/>
            <a:ext cx="5563986" cy="4769791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29985" y="1051142"/>
            <a:ext cx="617363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C00000"/>
              </a:buClr>
              <a:buFont typeface="Wingdings" panose="05000000000000000000" pitchFamily="2" charset="2"/>
              <a:buChar char="n"/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实际电网中，系统侧的谐波阻抗是时变的。</a:t>
            </a:r>
            <a:endParaRPr lang="en-US" altLang="zh-CN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29985" y="1322625"/>
            <a:ext cx="6173638" cy="7013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30000"/>
              </a:lnSpc>
              <a:buClr>
                <a:srgbClr val="C00000"/>
              </a:buClr>
              <a:buFont typeface="Wingdings" panose="05000000000000000000" pitchFamily="2" charset="2"/>
              <a:buChar char="n"/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基于合理假设：系统侧谐波阻抗是随时间不断变化的，但在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相邻采样时间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内，其变化并不大。</a:t>
            </a:r>
            <a:endParaRPr lang="en-US" altLang="zh-CN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矩形 9"/>
              <p:cNvSpPr/>
              <p:nvPr/>
            </p:nvSpPr>
            <p:spPr>
              <a:xfrm>
                <a:off x="6644810" y="1631099"/>
                <a:ext cx="662823" cy="1677748"/>
              </a:xfrm>
              <a:prstGeom prst="rect">
                <a:avLst/>
              </a:prstGeom>
              <a:solidFill>
                <a:srgbClr val="B4C7E7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400" b="1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阻抗估计效果</a:t>
                </a:r>
                <a:endParaRPr lang="en-US" altLang="zh-CN" sz="1400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en-US" altLang="zh-CN" sz="1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m:t>𝝀</m:t>
                      </m:r>
                      <m:r>
                        <a:rPr lang="en-US" altLang="zh-CN" sz="1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m:t>=</m:t>
                      </m:r>
                    </m:oMath>
                  </m:oMathPara>
                </a14:m>
                <a:endParaRPr lang="en-US" altLang="zh-CN" sz="1400" b="1" i="1" dirty="0">
                  <a:solidFill>
                    <a:schemeClr val="tx1"/>
                  </a:solidFill>
                  <a:latin typeface="Cambria Math" panose="02040503050406030204" pitchFamily="18" charset="0"/>
                  <a:ea typeface="微软雅黑" panose="020B0503020204020204" pitchFamily="34" charset="-122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14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altLang="zh-CN" sz="14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Times New Roman" panose="02020603050405020304" pitchFamily="18" charset="0"/>
                            </a:rPr>
                            <m:t>𝟏𝟎</m:t>
                          </m:r>
                        </m:e>
                        <m:sup>
                          <m:r>
                            <a:rPr lang="en-US" altLang="zh-CN" sz="14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en-US" altLang="zh-CN" sz="14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Times New Roman" panose="02020603050405020304" pitchFamily="18" charset="0"/>
                            </a:rPr>
                            <m:t>𝟔</m:t>
                          </m:r>
                        </m:sup>
                      </m:sSup>
                      <m:r>
                        <a:rPr lang="en-US" altLang="zh-CN" sz="1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sz="1400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0" name="矩形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4810" y="1631099"/>
                <a:ext cx="662823" cy="1677748"/>
              </a:xfrm>
              <a:prstGeom prst="rect">
                <a:avLst/>
              </a:prstGeom>
              <a:blipFill rotWithShape="1">
                <a:blip r:embed="rId4"/>
                <a:stretch>
                  <a:fillRect l="-984" t="-403" r="-950" b="-349"/>
                </a:stretch>
              </a:blip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矩形 10"/>
              <p:cNvSpPr/>
              <p:nvPr/>
            </p:nvSpPr>
            <p:spPr>
              <a:xfrm>
                <a:off x="6644810" y="3839415"/>
                <a:ext cx="662823" cy="2770077"/>
              </a:xfrm>
              <a:prstGeom prst="rect">
                <a:avLst/>
              </a:prstGeom>
              <a:solidFill>
                <a:srgbClr val="B4C7E7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400" b="1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不同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Times New Roman" panose="02020603050405020304" pitchFamily="18" charset="0"/>
                          </a:rPr>
                          <m:t>𝒁</m:t>
                        </m:r>
                      </m:e>
                      <m:sub>
                        <m:r>
                          <a:rPr lang="en-US" altLang="zh-CN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Times New Roman" panose="02020603050405020304" pitchFamily="18" charset="0"/>
                          </a:rPr>
                          <m:t>𝒄</m:t>
                        </m:r>
                      </m:sub>
                    </m:sSub>
                    <m:r>
                      <a:rPr lang="en-US" altLang="zh-CN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rPr>
                      <m:t>/</m:t>
                    </m:r>
                    <m:sSub>
                      <m:sSubPr>
                        <m:ctrlPr>
                          <a:rPr lang="en-US" altLang="zh-CN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Times New Roman" panose="02020603050405020304" pitchFamily="18" charset="0"/>
                          </a:rPr>
                          <m:t>𝒁</m:t>
                        </m:r>
                      </m:e>
                      <m:sub>
                        <m:r>
                          <a:rPr lang="en-US" altLang="zh-CN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Times New Roman" panose="02020603050405020304" pitchFamily="18" charset="0"/>
                          </a:rPr>
                          <m:t>𝒖</m:t>
                        </m:r>
                      </m:sub>
                    </m:sSub>
                  </m:oMath>
                </a14:m>
                <a:r>
                  <a:rPr lang="zh-CN" altLang="en-US" sz="1400" b="1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与不同背景谐波波动对应的估计误差</a:t>
                </a:r>
                <a:endParaRPr lang="zh-CN" altLang="en-US" sz="1400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>
          <p:sp>
            <p:nvSpPr>
              <p:cNvPr id="11" name="矩形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4810" y="3839415"/>
                <a:ext cx="662823" cy="2770077"/>
              </a:xfrm>
              <a:prstGeom prst="rect">
                <a:avLst/>
              </a:prstGeom>
              <a:blipFill rotWithShape="1">
                <a:blip r:embed="rId5"/>
                <a:stretch>
                  <a:fillRect l="-984" t="-237" r="-950" b="-214"/>
                </a:stretch>
              </a:blip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直接连接符 11"/>
          <p:cNvCxnSpPr/>
          <p:nvPr/>
        </p:nvCxnSpPr>
        <p:spPr>
          <a:xfrm>
            <a:off x="6390282" y="1448223"/>
            <a:ext cx="0" cy="526955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3" name="组合 12"/>
          <p:cNvGrpSpPr/>
          <p:nvPr/>
        </p:nvGrpSpPr>
        <p:grpSpPr>
          <a:xfrm>
            <a:off x="9282365" y="2258387"/>
            <a:ext cx="1120172" cy="887847"/>
            <a:chOff x="9413377" y="2207517"/>
            <a:chExt cx="1240109" cy="982909"/>
          </a:xfrm>
        </p:grpSpPr>
        <p:cxnSp>
          <p:nvCxnSpPr>
            <p:cNvPr id="14" name="直接箭头连接符 13"/>
            <p:cNvCxnSpPr/>
            <p:nvPr/>
          </p:nvCxnSpPr>
          <p:spPr>
            <a:xfrm flipH="1" flipV="1">
              <a:off x="9413377" y="2207517"/>
              <a:ext cx="242295" cy="26600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1" name="图片 20"/>
            <p:cNvPicPr>
              <a:picLocks noChangeAspect="1"/>
            </p:cNvPicPr>
            <p:nvPr/>
          </p:nvPicPr>
          <p:blipFill rotWithShape="1">
            <a:blip r:embed="rId6"/>
            <a:srcRect l="3877" t="13921" r="13792" b="13775"/>
            <a:stretch>
              <a:fillRect/>
            </a:stretch>
          </p:blipFill>
          <p:spPr>
            <a:xfrm>
              <a:off x="9534524" y="2492253"/>
              <a:ext cx="1118962" cy="698173"/>
            </a:xfrm>
            <a:prstGeom prst="rect">
              <a:avLst/>
            </a:prstGeom>
            <a:ln>
              <a:solidFill>
                <a:schemeClr val="tx1"/>
              </a:solidFill>
              <a:prstDash val="sysDash"/>
            </a:ln>
          </p:spPr>
        </p:pic>
      </p:grpSp>
      <p:sp>
        <p:nvSpPr>
          <p:cNvPr id="19" name="文本框 18"/>
          <p:cNvSpPr txBox="1"/>
          <p:nvPr/>
        </p:nvSpPr>
        <p:spPr>
          <a:xfrm>
            <a:off x="9749001" y="2483035"/>
            <a:ext cx="75015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800" dirty="0"/>
              <a:t>局部放大</a:t>
            </a:r>
            <a:endParaRPr lang="zh-CN" altLang="en-US" sz="800" dirty="0"/>
          </a:p>
        </p:txBody>
      </p:sp>
      <p:sp>
        <p:nvSpPr>
          <p:cNvPr id="2" name="文本框 1"/>
          <p:cNvSpPr txBox="1">
            <a:spLocks noChangeArrowheads="1"/>
          </p:cNvSpPr>
          <p:nvPr/>
        </p:nvSpPr>
        <p:spPr bwMode="auto">
          <a:xfrm>
            <a:off x="0" y="78366"/>
            <a:ext cx="102151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zh-CN" altLang="en-US" sz="2400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二、科研经历</a:t>
            </a:r>
            <a:r>
              <a:rPr lang="en-US" altLang="zh-CN" sz="2400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—</a:t>
            </a:r>
            <a:r>
              <a:rPr lang="zh-CN" altLang="en-US" sz="2400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系统侧谐波阻抗估计方法研究</a:t>
            </a:r>
            <a:endParaRPr lang="zh-CN" altLang="en-US" sz="2400" b="1" dirty="0">
              <a:solidFill>
                <a:srgbClr val="0070C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" name="直接连接符 5"/>
          <p:cNvCxnSpPr/>
          <p:nvPr/>
        </p:nvCxnSpPr>
        <p:spPr>
          <a:xfrm>
            <a:off x="-97965" y="617776"/>
            <a:ext cx="12192000" cy="0"/>
          </a:xfrm>
          <a:prstGeom prst="line">
            <a:avLst/>
          </a:prstGeom>
          <a:ln w="57150">
            <a:solidFill>
              <a:srgbClr val="D8E2F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/>
          <p:cNvSpPr txBox="1"/>
          <p:nvPr/>
        </p:nvSpPr>
        <p:spPr>
          <a:xfrm>
            <a:off x="-67980" y="684890"/>
            <a:ext cx="1229482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en-US" altLang="zh-CN" sz="1800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.3 </a:t>
            </a:r>
            <a:r>
              <a:rPr lang="zh-CN" altLang="en-US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文献复现</a:t>
            </a:r>
            <a:r>
              <a:rPr lang="en-US" altLang="zh-CN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—</a:t>
            </a:r>
            <a:r>
              <a:rPr lang="en-US" altLang="zh-CN" sz="1600" b="1" i="1" dirty="0">
                <a:solidFill>
                  <a:srgbClr val="0070C0"/>
                </a:solidFill>
                <a:latin typeface="times" panose="02020603050405020304" pitchFamily="18" charset="0"/>
                <a:ea typeface="微软雅黑" panose="020B0503020204020204" pitchFamily="34" charset="-122"/>
                <a:cs typeface="times" panose="02020603050405020304" pitchFamily="18" charset="0"/>
              </a:rPr>
              <a:t>Study on the Estimation of Utility Harmonic Impedance Based on Minimum Norm of Impedance Difference </a:t>
            </a:r>
            <a:r>
              <a:rPr lang="en-US" altLang="zh-CN" sz="1600" b="1" dirty="0">
                <a:solidFill>
                  <a:srgbClr val="0070C0"/>
                </a:solidFill>
                <a:latin typeface="times" panose="02020603050405020304" pitchFamily="18" charset="0"/>
                <a:ea typeface="微软雅黑" panose="020B0503020204020204" pitchFamily="34" charset="-122"/>
                <a:cs typeface="times" panose="02020603050405020304" pitchFamily="18" charset="0"/>
              </a:rPr>
              <a:t>(</a:t>
            </a:r>
            <a:r>
              <a:rPr lang="en-US" altLang="zh-CN" sz="1600" b="1" i="1" dirty="0">
                <a:solidFill>
                  <a:srgbClr val="0070C0"/>
                </a:solidFill>
                <a:latin typeface="times" panose="02020603050405020304" pitchFamily="18" charset="0"/>
                <a:ea typeface="微软雅黑" panose="020B0503020204020204" pitchFamily="34" charset="-122"/>
                <a:cs typeface="times" panose="02020603050405020304" pitchFamily="18" charset="0"/>
              </a:rPr>
              <a:t>IEEE ACCESS</a:t>
            </a:r>
            <a:r>
              <a:rPr lang="en-US" altLang="zh-CN" sz="1600" b="1" dirty="0">
                <a:solidFill>
                  <a:srgbClr val="0070C0"/>
                </a:solidFill>
                <a:latin typeface="times" panose="02020603050405020304" pitchFamily="18" charset="0"/>
                <a:ea typeface="微软雅黑" panose="020B0503020204020204" pitchFamily="34" charset="-122"/>
                <a:cs typeface="times" panose="02020603050405020304" pitchFamily="18" charset="0"/>
              </a:rPr>
              <a:t>)</a:t>
            </a:r>
            <a:endParaRPr lang="zh-CN" altLang="en-US" b="1" dirty="0">
              <a:solidFill>
                <a:srgbClr val="0070C0"/>
              </a:solidFill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图片 19"/>
          <p:cNvPicPr>
            <a:picLocks noChangeAspect="1"/>
          </p:cNvPicPr>
          <p:nvPr/>
        </p:nvPicPr>
        <p:blipFill rotWithShape="1">
          <a:blip r:embed="rId1"/>
          <a:srcRect r="6628"/>
          <a:stretch>
            <a:fillRect/>
          </a:stretch>
        </p:blipFill>
        <p:spPr>
          <a:xfrm>
            <a:off x="4988051" y="4255137"/>
            <a:ext cx="3548658" cy="2533687"/>
          </a:xfrm>
          <a:prstGeom prst="rect">
            <a:avLst/>
          </a:prstGeom>
        </p:spPr>
      </p:pic>
      <p:pic>
        <p:nvPicPr>
          <p:cNvPr id="26" name="图片 25"/>
          <p:cNvPicPr>
            <a:picLocks noChangeAspect="1"/>
          </p:cNvPicPr>
          <p:nvPr/>
        </p:nvPicPr>
        <p:blipFill rotWithShape="1">
          <a:blip r:embed="rId2"/>
          <a:srcRect l="5465" r="5840"/>
          <a:stretch>
            <a:fillRect/>
          </a:stretch>
        </p:blipFill>
        <p:spPr>
          <a:xfrm>
            <a:off x="8644844" y="4257947"/>
            <a:ext cx="3367303" cy="2530997"/>
          </a:xfrm>
          <a:prstGeom prst="rect">
            <a:avLst/>
          </a:prstGeom>
        </p:spPr>
      </p:pic>
      <p:pic>
        <p:nvPicPr>
          <p:cNvPr id="21" name="图片 2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629" y="2397210"/>
            <a:ext cx="3470812" cy="2313874"/>
          </a:xfrm>
          <a:prstGeom prst="rect">
            <a:avLst/>
          </a:prstGeom>
        </p:spPr>
      </p:pic>
      <p:sp>
        <p:nvSpPr>
          <p:cNvPr id="16" name="文本框 15"/>
          <p:cNvSpPr txBox="1"/>
          <p:nvPr/>
        </p:nvSpPr>
        <p:spPr>
          <a:xfrm>
            <a:off x="-2087" y="944251"/>
            <a:ext cx="69820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考虑系侧谐波阻抗</a:t>
            </a:r>
            <a:r>
              <a:rPr lang="zh-CN" altLang="en-US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连续变化或突变，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在前一方法的基础上进行</a:t>
            </a:r>
            <a:r>
              <a:rPr lang="zh-CN" altLang="en-US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改进</a:t>
            </a:r>
            <a:endParaRPr lang="zh-CN" altLang="en-US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7" name="对象 16"/>
          <p:cNvGraphicFramePr>
            <a:graphicFrameLocks noChangeAspect="1"/>
          </p:cNvGraphicFramePr>
          <p:nvPr/>
        </p:nvGraphicFramePr>
        <p:xfrm>
          <a:off x="1073476" y="1961652"/>
          <a:ext cx="2915118" cy="58393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" name="AxMath" r:id="rId4" imgW="1828800" imgH="1828800" progId="Equation.AxMath">
                  <p:embed/>
                </p:oleObj>
              </mc:Choice>
              <mc:Fallback>
                <p:oleObj name="AxMath" r:id="rId4" imgW="1828800" imgH="1828800" progId="Equation.AxMath">
                  <p:embed/>
                  <p:pic>
                    <p:nvPicPr>
                      <p:cNvPr id="0" name="图片 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073476" y="1961652"/>
                        <a:ext cx="2915118" cy="58393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" name="文本框 17"/>
          <p:cNvSpPr txBox="1"/>
          <p:nvPr/>
        </p:nvSpPr>
        <p:spPr>
          <a:xfrm>
            <a:off x="-1" y="1389561"/>
            <a:ext cx="506207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）最小化阻抗变化与背景谐波变化方差的范数平方和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71718" y="1296804"/>
            <a:ext cx="4864847" cy="5530837"/>
          </a:xfrm>
          <a:prstGeom prst="rect">
            <a:avLst/>
          </a:prstGeom>
          <a:noFill/>
          <a:ln w="19050">
            <a:solidFill>
              <a:schemeClr val="accent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文本框 22"/>
          <p:cNvSpPr txBox="1"/>
          <p:nvPr/>
        </p:nvSpPr>
        <p:spPr>
          <a:xfrm>
            <a:off x="1" y="4569845"/>
            <a:ext cx="1835392" cy="338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r>
              <a:rPr lang="zh-CN" altLang="en-US" sz="160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构造加权矩阵</a:t>
            </a:r>
            <a:endParaRPr lang="zh-CN" altLang="en-US" sz="160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24" name="对象 23"/>
          <p:cNvGraphicFramePr>
            <a:graphicFrameLocks noChangeAspect="1"/>
          </p:cNvGraphicFramePr>
          <p:nvPr/>
        </p:nvGraphicFramePr>
        <p:xfrm>
          <a:off x="179853" y="4908399"/>
          <a:ext cx="2001818" cy="109369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" name="AxMath" r:id="rId6" imgW="1828800" imgH="1828800" progId="Equation.AxMath">
                  <p:embed/>
                </p:oleObj>
              </mc:Choice>
              <mc:Fallback>
                <p:oleObj name="AxMath" r:id="rId6" imgW="1828800" imgH="1828800" progId="Equation.AxMath">
                  <p:embed/>
                  <p:pic>
                    <p:nvPicPr>
                      <p:cNvPr id="0" name="图片 2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79853" y="4908399"/>
                        <a:ext cx="2001818" cy="109369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" name="对象 24"/>
          <p:cNvGraphicFramePr>
            <a:graphicFrameLocks noChangeAspect="1"/>
          </p:cNvGraphicFramePr>
          <p:nvPr/>
        </p:nvGraphicFramePr>
        <p:xfrm>
          <a:off x="2208266" y="4908399"/>
          <a:ext cx="2701704" cy="109369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" name="AxMath" r:id="rId8" imgW="1828800" imgH="1828800" progId="Equation.AxMath">
                  <p:embed/>
                </p:oleObj>
              </mc:Choice>
              <mc:Fallback>
                <p:oleObj name="AxMath" r:id="rId8" imgW="1828800" imgH="1828800" progId="Equation.AxMath">
                  <p:embed/>
                  <p:pic>
                    <p:nvPicPr>
                      <p:cNvPr id="0" name="图片 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2208266" y="4908399"/>
                        <a:ext cx="2701704" cy="109369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对象 4"/>
          <p:cNvGraphicFramePr>
            <a:graphicFrameLocks noChangeAspect="1"/>
          </p:cNvGraphicFramePr>
          <p:nvPr/>
        </p:nvGraphicFramePr>
        <p:xfrm>
          <a:off x="569574" y="6101447"/>
          <a:ext cx="3869134" cy="62684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" name="AxMath" r:id="rId10" imgW="1828800" imgH="1828800" progId="Equation.AxMath">
                  <p:embed/>
                </p:oleObj>
              </mc:Choice>
              <mc:Fallback>
                <p:oleObj name="AxMath" r:id="rId10" imgW="1828800" imgH="1828800" progId="Equation.AxMath">
                  <p:embed/>
                  <p:pic>
                    <p:nvPicPr>
                      <p:cNvPr id="0" name="图片 5"/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569574" y="6101447"/>
                        <a:ext cx="3869134" cy="62684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矩形 6"/>
          <p:cNvSpPr/>
          <p:nvPr/>
        </p:nvSpPr>
        <p:spPr>
          <a:xfrm>
            <a:off x="5008282" y="1296805"/>
            <a:ext cx="7111999" cy="5530836"/>
          </a:xfrm>
          <a:prstGeom prst="rect">
            <a:avLst/>
          </a:prstGeom>
          <a:noFill/>
          <a:ln w="19050">
            <a:solidFill>
              <a:schemeClr val="accent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" name="文本框 7"/>
          <p:cNvSpPr txBox="1"/>
          <p:nvPr/>
        </p:nvSpPr>
        <p:spPr>
          <a:xfrm>
            <a:off x="5062071" y="1389732"/>
            <a:ext cx="506207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）改写目标函数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9" name="对象 8"/>
          <p:cNvGraphicFramePr>
            <a:graphicFrameLocks noChangeAspect="1"/>
          </p:cNvGraphicFramePr>
          <p:nvPr/>
        </p:nvGraphicFramePr>
        <p:xfrm>
          <a:off x="7385050" y="1780025"/>
          <a:ext cx="2808288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" name="AxMath" r:id="rId12" imgW="1828800" imgH="1828800" progId="Equation.AxMath">
                  <p:embed/>
                </p:oleObj>
              </mc:Choice>
              <mc:Fallback>
                <p:oleObj name="AxMath" r:id="rId12" imgW="1828800" imgH="1828800" progId="Equation.AxMath">
                  <p:embed/>
                  <p:pic>
                    <p:nvPicPr>
                      <p:cNvPr id="0" name="对象 16"/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7385050" y="1780025"/>
                        <a:ext cx="2808288" cy="3619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" name="对象 10"/>
          <p:cNvGraphicFramePr>
            <a:graphicFrameLocks noChangeAspect="1"/>
          </p:cNvGraphicFramePr>
          <p:nvPr/>
        </p:nvGraphicFramePr>
        <p:xfrm>
          <a:off x="2010429" y="1704688"/>
          <a:ext cx="1163637" cy="3143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" name="AxMath" r:id="rId14" imgW="1828800" imgH="1828800" progId="Equation.AxMath">
                  <p:embed/>
                </p:oleObj>
              </mc:Choice>
              <mc:Fallback>
                <p:oleObj name="AxMath" r:id="rId14" imgW="1828800" imgH="1828800" progId="Equation.AxMath">
                  <p:embed/>
                  <p:pic>
                    <p:nvPicPr>
                      <p:cNvPr id="0" name="对象 16"/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2010429" y="1704688"/>
                        <a:ext cx="1163637" cy="3143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文本框 12"/>
          <p:cNvSpPr txBox="1"/>
          <p:nvPr/>
        </p:nvSpPr>
        <p:spPr>
          <a:xfrm>
            <a:off x="5379019" y="2168773"/>
            <a:ext cx="102789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最小化得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4" name="对象 13"/>
          <p:cNvGraphicFramePr>
            <a:graphicFrameLocks noChangeAspect="1"/>
          </p:cNvGraphicFramePr>
          <p:nvPr/>
        </p:nvGraphicFramePr>
        <p:xfrm>
          <a:off x="5929555" y="2565581"/>
          <a:ext cx="5719762" cy="3603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" name="AxMath" r:id="rId16" imgW="1828800" imgH="1828800" progId="Equation.AxMath">
                  <p:embed/>
                </p:oleObj>
              </mc:Choice>
              <mc:Fallback>
                <p:oleObj name="AxMath" r:id="rId16" imgW="1828800" imgH="1828800" progId="Equation.AxMath">
                  <p:embed/>
                  <p:pic>
                    <p:nvPicPr>
                      <p:cNvPr id="0" name="图片 14"/>
                      <p:cNvPicPr/>
                      <p:nvPr/>
                    </p:nvPicPr>
                    <p:blipFill>
                      <a:blip r:embed="rId17"/>
                      <a:stretch>
                        <a:fillRect/>
                      </a:stretch>
                    </p:blipFill>
                    <p:spPr>
                      <a:xfrm>
                        <a:off x="5929555" y="2565581"/>
                        <a:ext cx="5719762" cy="36036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22" name="文本框 21"/>
              <p:cNvSpPr txBox="1"/>
              <p:nvPr/>
            </p:nvSpPr>
            <p:spPr>
              <a:xfrm>
                <a:off x="5062071" y="2932763"/>
                <a:ext cx="5062071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CN" sz="16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4</a:t>
                </a:r>
                <a:r>
                  <a:rPr lang="zh-CN" altLang="en-US" sz="16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）选择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1600" i="1" dirty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λ</m:t>
                    </m:r>
                  </m:oMath>
                </a14:m>
                <a:endPara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>
          <p:sp>
            <p:nvSpPr>
              <p:cNvPr id="22" name="文本框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62071" y="2932763"/>
                <a:ext cx="5062071" cy="338554"/>
              </a:xfrm>
              <a:prstGeom prst="rect">
                <a:avLst/>
              </a:prstGeom>
              <a:blipFill rotWithShape="1">
                <a:blip r:embed="rId18"/>
                <a:stretch>
                  <a:fillRect l="-10" t="-98" r="7" b="12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7" name="对象 26"/>
          <p:cNvGraphicFramePr>
            <a:graphicFrameLocks noChangeAspect="1"/>
          </p:cNvGraphicFramePr>
          <p:nvPr/>
        </p:nvGraphicFramePr>
        <p:xfrm>
          <a:off x="7464988" y="3189938"/>
          <a:ext cx="2648411" cy="56297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" name="AxMath" r:id="rId19" imgW="1828800" imgH="1828800" progId="Equation.AxMath">
                  <p:embed/>
                </p:oleObj>
              </mc:Choice>
              <mc:Fallback>
                <p:oleObj name="AxMath" r:id="rId19" imgW="1828800" imgH="1828800" progId="Equation.AxMath">
                  <p:embed/>
                  <p:pic>
                    <p:nvPicPr>
                      <p:cNvPr id="0" name="图片 27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7464988" y="3189938"/>
                        <a:ext cx="2648411" cy="56297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9" name="对象 28"/>
          <p:cNvGraphicFramePr>
            <a:graphicFrameLocks noChangeAspect="1"/>
          </p:cNvGraphicFramePr>
          <p:nvPr/>
        </p:nvGraphicFramePr>
        <p:xfrm>
          <a:off x="6391173" y="3777277"/>
          <a:ext cx="4238083" cy="62674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" name="AxMath" r:id="rId21" imgW="1828800" imgH="1828800" progId="Equation.AxMath">
                  <p:embed/>
                </p:oleObj>
              </mc:Choice>
              <mc:Fallback>
                <p:oleObj name="AxMath" r:id="rId21" imgW="1828800" imgH="1828800" progId="Equation.AxMath">
                  <p:embed/>
                  <p:pic>
                    <p:nvPicPr>
                      <p:cNvPr id="0" name="图片 29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6391173" y="3777277"/>
                        <a:ext cx="4238083" cy="62674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1" name="文本框 30"/>
          <p:cNvSpPr txBox="1"/>
          <p:nvPr/>
        </p:nvSpPr>
        <p:spPr>
          <a:xfrm>
            <a:off x="5062071" y="1389560"/>
            <a:ext cx="506207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）改写目标函数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" name="文本框 31"/>
          <p:cNvSpPr txBox="1"/>
          <p:nvPr/>
        </p:nvSpPr>
        <p:spPr>
          <a:xfrm>
            <a:off x="10211079" y="4516691"/>
            <a:ext cx="1624632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估计效果：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能够准确跟踪系统侧谐波阻抗的缓变和突变</a:t>
            </a:r>
            <a:endParaRPr lang="zh-CN" altLang="en-US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5" name="直接箭头连接符 34"/>
          <p:cNvCxnSpPr/>
          <p:nvPr/>
        </p:nvCxnSpPr>
        <p:spPr>
          <a:xfrm>
            <a:off x="5801194" y="3897100"/>
            <a:ext cx="0" cy="449704"/>
          </a:xfrm>
          <a:prstGeom prst="straightConnector1">
            <a:avLst/>
          </a:prstGeom>
          <a:ln w="28575">
            <a:solidFill>
              <a:srgbClr val="4472C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接连接符 37"/>
          <p:cNvCxnSpPr/>
          <p:nvPr/>
        </p:nvCxnSpPr>
        <p:spPr>
          <a:xfrm flipH="1">
            <a:off x="757003" y="-891915"/>
            <a:ext cx="3862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接连接符 39"/>
          <p:cNvCxnSpPr/>
          <p:nvPr/>
        </p:nvCxnSpPr>
        <p:spPr>
          <a:xfrm flipV="1">
            <a:off x="795629" y="-906905"/>
            <a:ext cx="36325" cy="679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矩形 47"/>
          <p:cNvSpPr/>
          <p:nvPr/>
        </p:nvSpPr>
        <p:spPr>
          <a:xfrm>
            <a:off x="4357827" y="3582049"/>
            <a:ext cx="1229193" cy="36598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3" name="直接连接符 32"/>
          <p:cNvCxnSpPr/>
          <p:nvPr/>
        </p:nvCxnSpPr>
        <p:spPr>
          <a:xfrm flipH="1">
            <a:off x="4050235" y="3912090"/>
            <a:ext cx="1750959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文本框 45"/>
          <p:cNvSpPr txBox="1"/>
          <p:nvPr/>
        </p:nvSpPr>
        <p:spPr>
          <a:xfrm>
            <a:off x="4118646" y="3582221"/>
            <a:ext cx="16639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b="1" dirty="0">
                <a:solidFill>
                  <a:srgbClr val="C00000"/>
                </a:solidFill>
              </a:rPr>
              <a:t>引入加权矩阵后</a:t>
            </a:r>
            <a:endParaRPr lang="zh-CN" altLang="en-US" sz="1600" b="1" dirty="0">
              <a:solidFill>
                <a:srgbClr val="C00000"/>
              </a:solidFill>
            </a:endParaRPr>
          </a:p>
        </p:txBody>
      </p:sp>
      <p:sp>
        <p:nvSpPr>
          <p:cNvPr id="50" name="文本框 49"/>
          <p:cNvSpPr txBox="1"/>
          <p:nvPr/>
        </p:nvSpPr>
        <p:spPr>
          <a:xfrm>
            <a:off x="58334" y="2507327"/>
            <a:ext cx="101514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b="1" dirty="0">
                <a:solidFill>
                  <a:srgbClr val="C00000"/>
                </a:solidFill>
              </a:rPr>
              <a:t>按原思路构造函数</a:t>
            </a:r>
            <a:endParaRPr lang="zh-CN" altLang="en-US" sz="1600" b="1" dirty="0">
              <a:solidFill>
                <a:srgbClr val="C00000"/>
              </a:solidFill>
            </a:endParaRPr>
          </a:p>
        </p:txBody>
      </p:sp>
      <p:cxnSp>
        <p:nvCxnSpPr>
          <p:cNvPr id="52" name="直接连接符 51"/>
          <p:cNvCxnSpPr/>
          <p:nvPr/>
        </p:nvCxnSpPr>
        <p:spPr>
          <a:xfrm flipV="1">
            <a:off x="6063829" y="2784811"/>
            <a:ext cx="1812" cy="149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接连接符 57"/>
          <p:cNvCxnSpPr/>
          <p:nvPr/>
        </p:nvCxnSpPr>
        <p:spPr>
          <a:xfrm>
            <a:off x="8970763" y="6098734"/>
            <a:ext cx="2856134" cy="0"/>
          </a:xfrm>
          <a:prstGeom prst="line">
            <a:avLst/>
          </a:prstGeom>
          <a:ln w="63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矩形 64"/>
          <p:cNvSpPr/>
          <p:nvPr/>
        </p:nvSpPr>
        <p:spPr>
          <a:xfrm>
            <a:off x="1691950" y="3582049"/>
            <a:ext cx="480317" cy="583930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6" name="矩形 65"/>
          <p:cNvSpPr/>
          <p:nvPr/>
        </p:nvSpPr>
        <p:spPr>
          <a:xfrm>
            <a:off x="2878657" y="3173516"/>
            <a:ext cx="480317" cy="57939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文本框 33"/>
          <p:cNvSpPr txBox="1">
            <a:spLocks noChangeArrowheads="1"/>
          </p:cNvSpPr>
          <p:nvPr/>
        </p:nvSpPr>
        <p:spPr bwMode="auto">
          <a:xfrm>
            <a:off x="0" y="78366"/>
            <a:ext cx="102151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zh-CN" altLang="en-US" sz="2400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二、科研经历</a:t>
            </a:r>
            <a:r>
              <a:rPr lang="en-US" altLang="zh-CN" sz="2400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—</a:t>
            </a:r>
            <a:r>
              <a:rPr lang="zh-CN" altLang="en-US" sz="2400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系统侧谐波阻抗估计方法研究</a:t>
            </a:r>
            <a:endParaRPr lang="zh-CN" altLang="en-US" sz="2400" b="1" dirty="0">
              <a:solidFill>
                <a:srgbClr val="0070C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6" name="直接连接符 35"/>
          <p:cNvCxnSpPr/>
          <p:nvPr/>
        </p:nvCxnSpPr>
        <p:spPr>
          <a:xfrm>
            <a:off x="0" y="617776"/>
            <a:ext cx="12192000" cy="0"/>
          </a:xfrm>
          <a:prstGeom prst="line">
            <a:avLst/>
          </a:prstGeom>
          <a:ln w="57150">
            <a:solidFill>
              <a:srgbClr val="D8E2F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/>
          <p:cNvSpPr txBox="1"/>
          <p:nvPr/>
        </p:nvSpPr>
        <p:spPr>
          <a:xfrm>
            <a:off x="0" y="643219"/>
            <a:ext cx="142277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en-US" altLang="zh-CN" sz="1800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.4 </a:t>
            </a:r>
            <a:r>
              <a:rPr lang="zh-CN" altLang="en-US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文献复现</a:t>
            </a:r>
            <a:r>
              <a:rPr lang="en-US" altLang="zh-CN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—</a:t>
            </a:r>
            <a:r>
              <a:rPr lang="en-US" altLang="zh-CN" sz="1600" b="1" i="1" dirty="0">
                <a:solidFill>
                  <a:srgbClr val="0070C0"/>
                </a:solidFill>
                <a:latin typeface="times" panose="02020603050405020304" pitchFamily="18" charset="0"/>
                <a:ea typeface="微软雅黑" panose="020B0503020204020204" pitchFamily="34" charset="-122"/>
                <a:cs typeface="times" panose="02020603050405020304" pitchFamily="18" charset="0"/>
              </a:rPr>
              <a:t>A Noninvasive Method to Estimate the Variable Utility Harmonic Impedance</a:t>
            </a:r>
            <a:r>
              <a:rPr lang="zh-CN" altLang="zh-CN" sz="1600" b="1" i="1" dirty="0">
                <a:solidFill>
                  <a:srgbClr val="0070C0"/>
                </a:solidFill>
                <a:latin typeface="times" panose="02020603050405020304" pitchFamily="18" charset="0"/>
                <a:ea typeface="微软雅黑" panose="020B0503020204020204" pitchFamily="34" charset="-122"/>
                <a:cs typeface="times" panose="02020603050405020304" pitchFamily="18" charset="0"/>
              </a:rPr>
              <a:t>（</a:t>
            </a:r>
            <a:r>
              <a:rPr lang="en-US" altLang="zh-CN" sz="1600" b="1" i="1" dirty="0">
                <a:solidFill>
                  <a:srgbClr val="0070C0"/>
                </a:solidFill>
                <a:latin typeface="times" panose="02020603050405020304" pitchFamily="18" charset="0"/>
                <a:ea typeface="微软雅黑" panose="020B0503020204020204" pitchFamily="34" charset="-122"/>
                <a:cs typeface="times" panose="02020603050405020304" pitchFamily="18" charset="0"/>
              </a:rPr>
              <a:t>IEEE Transactions on Power Delivery</a:t>
            </a:r>
            <a:r>
              <a:rPr lang="zh-CN" altLang="zh-CN" sz="1600" b="1" i="1" dirty="0">
                <a:solidFill>
                  <a:srgbClr val="0070C0"/>
                </a:solidFill>
                <a:latin typeface="times" panose="02020603050405020304" pitchFamily="18" charset="0"/>
                <a:ea typeface="微软雅黑" panose="020B0503020204020204" pitchFamily="34" charset="-122"/>
                <a:cs typeface="times" panose="02020603050405020304" pitchFamily="18" charset="0"/>
              </a:rPr>
              <a:t>）</a:t>
            </a:r>
            <a:endParaRPr lang="zh-CN" altLang="en-US" b="1" i="1" dirty="0">
              <a:solidFill>
                <a:srgbClr val="0070C0"/>
              </a:solidFill>
              <a:latin typeface="times" panose="02020603050405020304" pitchFamily="18" charset="0"/>
              <a:ea typeface="微软雅黑" panose="020B0503020204020204" pitchFamily="34" charset="-122"/>
              <a:cs typeface="times" panose="02020603050405020304" pitchFamily="18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>
            <p:custDataLst>
              <p:tags r:id="rId1"/>
            </p:custDataLst>
          </p:nvPr>
        </p:nvSpPr>
        <p:spPr>
          <a:xfrm>
            <a:off x="129880" y="1152090"/>
            <a:ext cx="7090069" cy="1803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80000"/>
              </a:lnSpc>
            </a:pPr>
            <a:r>
              <a:rPr lang="en-US" altLang="zh-CN" sz="1600" b="1" kern="100" dirty="0">
                <a:latin typeface="times" panose="02020603050405020304" pitchFamily="18" charset="0"/>
                <a:ea typeface="微软雅黑" panose="020B0503020204020204" pitchFamily="34" charset="-122"/>
                <a:cs typeface="times" panose="02020603050405020304" pitchFamily="18" charset="0"/>
              </a:rPr>
              <a:t>2020.11             </a:t>
            </a:r>
            <a:r>
              <a:rPr lang="en-US" altLang="zh-CN" sz="1600" kern="100" dirty="0">
                <a:latin typeface="times" panose="02020603050405020304" pitchFamily="18" charset="0"/>
                <a:ea typeface="微软雅黑" panose="020B0503020204020204" pitchFamily="34" charset="-122"/>
                <a:cs typeface="times" panose="02020603050405020304" pitchFamily="18" charset="0"/>
              </a:rPr>
              <a:t>2020</a:t>
            </a:r>
            <a:r>
              <a:rPr lang="zh-CN" altLang="en-US" sz="1600" kern="100" dirty="0">
                <a:latin typeface="times" panose="02020603050405020304" pitchFamily="18" charset="0"/>
                <a:ea typeface="微软雅黑" panose="020B0503020204020204" pitchFamily="34" charset="-122"/>
                <a:cs typeface="times" panose="02020603050405020304" pitchFamily="18" charset="0"/>
              </a:rPr>
              <a:t>年度全国大学生英语竞赛（</a:t>
            </a:r>
            <a:r>
              <a:rPr lang="en-US" altLang="zh-CN" sz="1600" kern="100" dirty="0">
                <a:latin typeface="times" panose="02020603050405020304" pitchFamily="18" charset="0"/>
                <a:ea typeface="微软雅黑" panose="020B0503020204020204" pitchFamily="34" charset="-122"/>
                <a:cs typeface="times" panose="02020603050405020304" pitchFamily="18" charset="0"/>
              </a:rPr>
              <a:t>NECCS</a:t>
            </a:r>
            <a:r>
              <a:rPr lang="zh-CN" altLang="en-US" sz="1600" kern="100" dirty="0">
                <a:latin typeface="times" panose="02020603050405020304" pitchFamily="18" charset="0"/>
                <a:ea typeface="微软雅黑" panose="020B0503020204020204" pitchFamily="34" charset="-122"/>
                <a:cs typeface="times" panose="02020603050405020304" pitchFamily="18" charset="0"/>
              </a:rPr>
              <a:t>）</a:t>
            </a:r>
            <a:r>
              <a:rPr lang="zh-CN" altLang="en-US" sz="1600" b="1" kern="100" dirty="0">
                <a:latin typeface="times" panose="02020603050405020304" pitchFamily="18" charset="0"/>
                <a:ea typeface="微软雅黑" panose="020B0503020204020204" pitchFamily="34" charset="-122"/>
                <a:cs typeface="times" panose="02020603050405020304" pitchFamily="18" charset="0"/>
              </a:rPr>
              <a:t>全国三等奖</a:t>
            </a:r>
            <a:endParaRPr lang="en-US" altLang="zh-CN" sz="1600" b="1" kern="100" dirty="0">
              <a:latin typeface="times" panose="02020603050405020304" pitchFamily="18" charset="0"/>
              <a:ea typeface="微软雅黑" panose="020B0503020204020204" pitchFamily="34" charset="-122"/>
              <a:cs typeface="times" panose="02020603050405020304" pitchFamily="18" charset="0"/>
            </a:endParaRPr>
          </a:p>
          <a:p>
            <a:pPr algn="just">
              <a:lnSpc>
                <a:spcPct val="180000"/>
              </a:lnSpc>
            </a:pPr>
            <a:r>
              <a:rPr lang="en-US" altLang="zh-CN" sz="1600" b="1" kern="100" dirty="0">
                <a:latin typeface="times" panose="02020603050405020304" pitchFamily="18" charset="0"/>
                <a:ea typeface="微软雅黑" panose="020B0503020204020204" pitchFamily="34" charset="-122"/>
                <a:cs typeface="times" panose="02020603050405020304" pitchFamily="18" charset="0"/>
              </a:rPr>
              <a:t>2021.05             </a:t>
            </a:r>
            <a:r>
              <a:rPr lang="en-US" altLang="zh-CN" sz="1600" kern="100" dirty="0">
                <a:latin typeface="times" panose="02020603050405020304" pitchFamily="18" charset="0"/>
                <a:ea typeface="微软雅黑" panose="020B0503020204020204" pitchFamily="34" charset="-122"/>
                <a:cs typeface="times" panose="02020603050405020304" pitchFamily="18" charset="0"/>
              </a:rPr>
              <a:t>2021</a:t>
            </a:r>
            <a:r>
              <a:rPr lang="zh-CN" altLang="en-US" sz="1600" kern="100" dirty="0">
                <a:latin typeface="times" panose="02020603050405020304" pitchFamily="18" charset="0"/>
                <a:ea typeface="微软雅黑" panose="020B0503020204020204" pitchFamily="34" charset="-122"/>
                <a:cs typeface="times" panose="02020603050405020304" pitchFamily="18" charset="0"/>
              </a:rPr>
              <a:t>年度全国大学生英语竞赛（</a:t>
            </a:r>
            <a:r>
              <a:rPr lang="en-US" altLang="zh-CN" sz="1600" kern="100" dirty="0">
                <a:latin typeface="times" panose="02020603050405020304" pitchFamily="18" charset="0"/>
                <a:ea typeface="微软雅黑" panose="020B0503020204020204" pitchFamily="34" charset="-122"/>
                <a:cs typeface="times" panose="02020603050405020304" pitchFamily="18" charset="0"/>
              </a:rPr>
              <a:t>NECCS</a:t>
            </a:r>
            <a:r>
              <a:rPr lang="zh-CN" altLang="en-US" sz="1600" kern="100" dirty="0">
                <a:latin typeface="times" panose="02020603050405020304" pitchFamily="18" charset="0"/>
                <a:ea typeface="微软雅黑" panose="020B0503020204020204" pitchFamily="34" charset="-122"/>
                <a:cs typeface="times" panose="02020603050405020304" pitchFamily="18" charset="0"/>
              </a:rPr>
              <a:t>）</a:t>
            </a:r>
            <a:r>
              <a:rPr lang="zh-CN" altLang="en-US" sz="1600" b="1" kern="100" dirty="0">
                <a:latin typeface="times" panose="02020603050405020304" pitchFamily="18" charset="0"/>
                <a:ea typeface="微软雅黑" panose="020B0503020204020204" pitchFamily="34" charset="-122"/>
                <a:cs typeface="times" panose="02020603050405020304" pitchFamily="18" charset="0"/>
              </a:rPr>
              <a:t>全国三等奖</a:t>
            </a:r>
            <a:endParaRPr lang="en-US" altLang="zh-CN" sz="1600" b="1" kern="100" dirty="0">
              <a:latin typeface="times" panose="02020603050405020304" pitchFamily="18" charset="0"/>
              <a:ea typeface="微软雅黑" panose="020B0503020204020204" pitchFamily="34" charset="-122"/>
              <a:cs typeface="times" panose="02020603050405020304" pitchFamily="18" charset="0"/>
            </a:endParaRPr>
          </a:p>
          <a:p>
            <a:pPr algn="just">
              <a:lnSpc>
                <a:spcPct val="180000"/>
              </a:lnSpc>
            </a:pPr>
            <a:r>
              <a:rPr lang="en-US" altLang="zh-CN" sz="1600" b="1" kern="100" dirty="0">
                <a:latin typeface="times" panose="02020603050405020304" pitchFamily="18" charset="0"/>
                <a:ea typeface="微软雅黑" panose="020B0503020204020204" pitchFamily="34" charset="-122"/>
                <a:cs typeface="times" panose="02020603050405020304" pitchFamily="18" charset="0"/>
              </a:rPr>
              <a:t>2021.12             </a:t>
            </a:r>
            <a:r>
              <a:rPr lang="zh-CN" altLang="en-US" sz="1600" kern="100" dirty="0">
                <a:latin typeface="times" panose="02020603050405020304" pitchFamily="18" charset="0"/>
                <a:ea typeface="微软雅黑" panose="020B0503020204020204" pitchFamily="34" charset="-122"/>
                <a:cs typeface="times" panose="02020603050405020304" pitchFamily="18" charset="0"/>
              </a:rPr>
              <a:t>第十三届全国大学生数学竞赛</a:t>
            </a:r>
            <a:r>
              <a:rPr lang="zh-CN" altLang="en-US" sz="1600" b="1" kern="100" dirty="0">
                <a:latin typeface="times" panose="02020603050405020304" pitchFamily="18" charset="0"/>
                <a:ea typeface="微软雅黑" panose="020B0503020204020204" pitchFamily="34" charset="-122"/>
                <a:cs typeface="times" panose="02020603050405020304" pitchFamily="18" charset="0"/>
              </a:rPr>
              <a:t>四川省一等奖</a:t>
            </a:r>
            <a:endParaRPr lang="en-US" altLang="zh-CN" sz="1600" b="1" kern="100" dirty="0">
              <a:latin typeface="times" panose="02020603050405020304" pitchFamily="18" charset="0"/>
              <a:ea typeface="微软雅黑" panose="020B0503020204020204" pitchFamily="34" charset="-122"/>
              <a:cs typeface="times" panose="02020603050405020304" pitchFamily="18" charset="0"/>
            </a:endParaRPr>
          </a:p>
          <a:p>
            <a:pPr algn="just">
              <a:lnSpc>
                <a:spcPct val="180000"/>
              </a:lnSpc>
            </a:pPr>
            <a:r>
              <a:rPr lang="en-US" altLang="zh-CN" sz="1600" b="1" kern="100" dirty="0">
                <a:latin typeface="times" panose="02020603050405020304" pitchFamily="18" charset="0"/>
                <a:ea typeface="微软雅黑" panose="020B0503020204020204" pitchFamily="34" charset="-122"/>
                <a:cs typeface="times" panose="02020603050405020304" pitchFamily="18" charset="0"/>
              </a:rPr>
              <a:t>2023.03             </a:t>
            </a:r>
            <a:r>
              <a:rPr lang="zh-CN" altLang="en-US" sz="1600" kern="100" dirty="0">
                <a:latin typeface="times" panose="02020603050405020304" pitchFamily="18" charset="0"/>
                <a:ea typeface="微软雅黑" panose="020B0503020204020204" pitchFamily="34" charset="-122"/>
                <a:cs typeface="times" panose="02020603050405020304" pitchFamily="18" charset="0"/>
              </a:rPr>
              <a:t>第十四届全国大学生数学竞赛</a:t>
            </a:r>
            <a:r>
              <a:rPr lang="zh-CN" altLang="en-US" sz="1600" b="1" kern="100" dirty="0">
                <a:latin typeface="times" panose="02020603050405020304" pitchFamily="18" charset="0"/>
                <a:ea typeface="微软雅黑" panose="020B0503020204020204" pitchFamily="34" charset="-122"/>
                <a:cs typeface="times" panose="02020603050405020304" pitchFamily="18" charset="0"/>
              </a:rPr>
              <a:t>四川省一等奖</a:t>
            </a:r>
            <a:endParaRPr lang="en-US" altLang="zh-CN" sz="1600" b="1" kern="100" dirty="0">
              <a:latin typeface="times" panose="02020603050405020304" pitchFamily="18" charset="0"/>
              <a:ea typeface="微软雅黑" panose="020B0503020204020204" pitchFamily="34" charset="-122"/>
              <a:cs typeface="times" panose="02020603050405020304" pitchFamily="18" charset="0"/>
            </a:endParaRPr>
          </a:p>
        </p:txBody>
      </p:sp>
      <p:sp>
        <p:nvSpPr>
          <p:cNvPr id="5" name="文本框 4"/>
          <p:cNvSpPr txBox="1"/>
          <p:nvPr>
            <p:custDataLst>
              <p:tags r:id="rId2"/>
            </p:custDataLst>
          </p:nvPr>
        </p:nvSpPr>
        <p:spPr>
          <a:xfrm>
            <a:off x="129880" y="4124362"/>
            <a:ext cx="7984136" cy="1803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80000"/>
              </a:lnSpc>
            </a:pPr>
            <a:r>
              <a:rPr lang="en-US" altLang="zh-CN" sz="1600" b="1" kern="100" dirty="0">
                <a:latin typeface="times" panose="02020603050405020304" pitchFamily="18" charset="0"/>
                <a:ea typeface="微软雅黑" panose="020B0503020204020204" pitchFamily="34" charset="-122"/>
                <a:cs typeface="times" panose="02020603050405020304" pitchFamily="18" charset="0"/>
              </a:rPr>
              <a:t>2021.09             </a:t>
            </a:r>
            <a:r>
              <a:rPr lang="en-US" altLang="zh-CN" sz="1600" kern="100" dirty="0">
                <a:latin typeface="times" panose="02020603050405020304" pitchFamily="18" charset="0"/>
                <a:ea typeface="微软雅黑" panose="020B0503020204020204" pitchFamily="34" charset="-122"/>
                <a:cs typeface="times" panose="02020603050405020304" pitchFamily="18" charset="0"/>
              </a:rPr>
              <a:t>2021</a:t>
            </a:r>
            <a:r>
              <a:rPr lang="zh-CN" altLang="en-US" sz="1600" kern="100" dirty="0">
                <a:latin typeface="times" panose="02020603050405020304" pitchFamily="18" charset="0"/>
                <a:ea typeface="微软雅黑" panose="020B0503020204020204" pitchFamily="34" charset="-122"/>
                <a:cs typeface="times" panose="02020603050405020304" pitchFamily="18" charset="0"/>
              </a:rPr>
              <a:t>年度“高教社杯”全国大学生数学建模竞赛</a:t>
            </a:r>
            <a:r>
              <a:rPr lang="zh-CN" altLang="en-US" sz="1600" b="1" kern="100" dirty="0">
                <a:latin typeface="times" panose="02020603050405020304" pitchFamily="18" charset="0"/>
                <a:ea typeface="微软雅黑" panose="020B0503020204020204" pitchFamily="34" charset="-122"/>
                <a:cs typeface="times" panose="02020603050405020304" pitchFamily="18" charset="0"/>
              </a:rPr>
              <a:t>四川省一等奖</a:t>
            </a:r>
            <a:endParaRPr lang="en-US" altLang="zh-CN" sz="1600" b="1" kern="100" dirty="0">
              <a:latin typeface="times" panose="02020603050405020304" pitchFamily="18" charset="0"/>
              <a:ea typeface="微软雅黑" panose="020B0503020204020204" pitchFamily="34" charset="-122"/>
              <a:cs typeface="times" panose="02020603050405020304" pitchFamily="18" charset="0"/>
            </a:endParaRPr>
          </a:p>
          <a:p>
            <a:pPr algn="just">
              <a:lnSpc>
                <a:spcPct val="180000"/>
              </a:lnSpc>
            </a:pPr>
            <a:r>
              <a:rPr lang="en-US" altLang="zh-CN" sz="1600" b="1" kern="100" dirty="0">
                <a:latin typeface="times" panose="02020603050405020304" pitchFamily="18" charset="0"/>
                <a:ea typeface="微软雅黑" panose="020B0503020204020204" pitchFamily="34" charset="-122"/>
                <a:cs typeface="times" panose="02020603050405020304" pitchFamily="18" charset="0"/>
              </a:rPr>
              <a:t>2022.09             </a:t>
            </a:r>
            <a:r>
              <a:rPr lang="en-US" altLang="zh-CN" sz="1600" kern="100" dirty="0">
                <a:latin typeface="times" panose="02020603050405020304" pitchFamily="18" charset="0"/>
                <a:ea typeface="微软雅黑" panose="020B0503020204020204" pitchFamily="34" charset="-122"/>
                <a:cs typeface="times" panose="02020603050405020304" pitchFamily="18" charset="0"/>
              </a:rPr>
              <a:t>2022</a:t>
            </a:r>
            <a:r>
              <a:rPr lang="zh-CN" altLang="en-US" sz="1600" kern="100" dirty="0">
                <a:latin typeface="times" panose="02020603050405020304" pitchFamily="18" charset="0"/>
                <a:ea typeface="微软雅黑" panose="020B0503020204020204" pitchFamily="34" charset="-122"/>
                <a:cs typeface="times" panose="02020603050405020304" pitchFamily="18" charset="0"/>
              </a:rPr>
              <a:t>年度“高教社杯”全国大学生数学建模竞赛</a:t>
            </a:r>
            <a:r>
              <a:rPr lang="zh-CN" altLang="en-US" sz="1600" b="1" kern="100" dirty="0">
                <a:latin typeface="times" panose="02020603050405020304" pitchFamily="18" charset="0"/>
                <a:ea typeface="微软雅黑" panose="020B0503020204020204" pitchFamily="34" charset="-122"/>
                <a:cs typeface="times" panose="02020603050405020304" pitchFamily="18" charset="0"/>
              </a:rPr>
              <a:t>四川省一等奖</a:t>
            </a:r>
            <a:endParaRPr lang="en-US" altLang="zh-CN" sz="1600" b="1" kern="100" dirty="0">
              <a:latin typeface="times" panose="02020603050405020304" pitchFamily="18" charset="0"/>
              <a:ea typeface="微软雅黑" panose="020B0503020204020204" pitchFamily="34" charset="-122"/>
              <a:cs typeface="times" panose="02020603050405020304" pitchFamily="18" charset="0"/>
            </a:endParaRPr>
          </a:p>
          <a:p>
            <a:pPr algn="just">
              <a:lnSpc>
                <a:spcPct val="180000"/>
              </a:lnSpc>
            </a:pPr>
            <a:r>
              <a:rPr lang="en-US" altLang="zh-CN" sz="1600" b="1" kern="100" dirty="0">
                <a:latin typeface="times" panose="02020603050405020304" pitchFamily="18" charset="0"/>
                <a:ea typeface="微软雅黑" panose="020B0503020204020204" pitchFamily="34" charset="-122"/>
                <a:cs typeface="times" panose="02020603050405020304" pitchFamily="18" charset="0"/>
              </a:rPr>
              <a:t>2022.02             </a:t>
            </a:r>
            <a:r>
              <a:rPr lang="en-US" altLang="zh-CN" sz="1600" kern="100" dirty="0">
                <a:latin typeface="times" panose="02020603050405020304" pitchFamily="18" charset="0"/>
                <a:ea typeface="微软雅黑" panose="020B0503020204020204" pitchFamily="34" charset="-122"/>
                <a:cs typeface="times" panose="02020603050405020304" pitchFamily="18" charset="0"/>
              </a:rPr>
              <a:t>2022</a:t>
            </a:r>
            <a:r>
              <a:rPr lang="zh-CN" altLang="zh-CN" sz="1600" kern="100" dirty="0">
                <a:latin typeface="times" panose="02020603050405020304" pitchFamily="18" charset="0"/>
                <a:ea typeface="微软雅黑" panose="020B0503020204020204" pitchFamily="34" charset="-122"/>
                <a:cs typeface="times" panose="02020603050405020304" pitchFamily="18" charset="0"/>
              </a:rPr>
              <a:t>年度美国大学生数学建模竞赛（</a:t>
            </a:r>
            <a:r>
              <a:rPr lang="en-US" altLang="zh-CN" sz="1600" kern="100" dirty="0">
                <a:latin typeface="times" panose="02020603050405020304" pitchFamily="18" charset="0"/>
                <a:ea typeface="微软雅黑" panose="020B0503020204020204" pitchFamily="34" charset="-122"/>
                <a:cs typeface="times" panose="02020603050405020304" pitchFamily="18" charset="0"/>
              </a:rPr>
              <a:t>MCM</a:t>
            </a:r>
            <a:r>
              <a:rPr lang="zh-CN" altLang="zh-CN" sz="1600" kern="100" dirty="0">
                <a:latin typeface="times" panose="02020603050405020304" pitchFamily="18" charset="0"/>
                <a:ea typeface="微软雅黑" panose="020B0503020204020204" pitchFamily="34" charset="-122"/>
                <a:cs typeface="times" panose="02020603050405020304" pitchFamily="18" charset="0"/>
              </a:rPr>
              <a:t>）</a:t>
            </a:r>
            <a:r>
              <a:rPr lang="en-US" altLang="zh-CN" sz="1600" kern="100" dirty="0">
                <a:latin typeface="times" panose="02020603050405020304" pitchFamily="18" charset="0"/>
                <a:ea typeface="微软雅黑" panose="020B0503020204020204" pitchFamily="34" charset="-122"/>
                <a:cs typeface="times" panose="02020603050405020304" pitchFamily="18" charset="0"/>
              </a:rPr>
              <a:t>H</a:t>
            </a:r>
            <a:r>
              <a:rPr lang="zh-CN" altLang="zh-CN" sz="1600" kern="100" dirty="0">
                <a:latin typeface="times" panose="02020603050405020304" pitchFamily="18" charset="0"/>
                <a:ea typeface="微软雅黑" panose="020B0503020204020204" pitchFamily="34" charset="-122"/>
                <a:cs typeface="times" panose="02020603050405020304" pitchFamily="18" charset="0"/>
              </a:rPr>
              <a:t>奖（国际二等奖）</a:t>
            </a:r>
            <a:endParaRPr lang="en-US" altLang="zh-CN" sz="1600" kern="100" dirty="0">
              <a:latin typeface="times" panose="02020603050405020304" pitchFamily="18" charset="0"/>
              <a:ea typeface="微软雅黑" panose="020B0503020204020204" pitchFamily="34" charset="-122"/>
              <a:cs typeface="times" panose="02020603050405020304" pitchFamily="18" charset="0"/>
            </a:endParaRPr>
          </a:p>
          <a:p>
            <a:pPr algn="just">
              <a:lnSpc>
                <a:spcPct val="180000"/>
              </a:lnSpc>
            </a:pPr>
            <a:r>
              <a:rPr lang="en-US" altLang="zh-CN" sz="1600" b="1" kern="100" dirty="0">
                <a:latin typeface="times" panose="02020603050405020304" pitchFamily="18" charset="0"/>
                <a:ea typeface="微软雅黑" panose="020B0503020204020204" pitchFamily="34" charset="-122"/>
                <a:cs typeface="times" panose="02020603050405020304" pitchFamily="18" charset="0"/>
              </a:rPr>
              <a:t>2021.11             </a:t>
            </a:r>
            <a:r>
              <a:rPr lang="en-US" altLang="zh-CN" sz="1600" kern="100" dirty="0">
                <a:latin typeface="times" panose="02020603050405020304" pitchFamily="18" charset="0"/>
                <a:ea typeface="微软雅黑" panose="020B0503020204020204" pitchFamily="34" charset="-122"/>
                <a:cs typeface="times" panose="02020603050405020304" pitchFamily="18" charset="0"/>
              </a:rPr>
              <a:t>2021</a:t>
            </a:r>
            <a:r>
              <a:rPr lang="zh-CN" altLang="zh-CN" sz="1600" kern="100" dirty="0">
                <a:latin typeface="times" panose="02020603050405020304" pitchFamily="18" charset="0"/>
                <a:ea typeface="微软雅黑" panose="020B0503020204020204" pitchFamily="34" charset="-122"/>
                <a:cs typeface="times" panose="02020603050405020304" pitchFamily="18" charset="0"/>
              </a:rPr>
              <a:t>年度亚太地区大学生数学建模竞赛（</a:t>
            </a:r>
            <a:r>
              <a:rPr lang="en-US" altLang="zh-CN" sz="1600" kern="100" dirty="0">
                <a:latin typeface="times" panose="02020603050405020304" pitchFamily="18" charset="0"/>
                <a:ea typeface="微软雅黑" panose="020B0503020204020204" pitchFamily="34" charset="-122"/>
                <a:cs typeface="times" panose="02020603050405020304" pitchFamily="18" charset="0"/>
              </a:rPr>
              <a:t>APMCM</a:t>
            </a:r>
            <a:r>
              <a:rPr lang="zh-CN" altLang="zh-CN" sz="1600" kern="100" dirty="0">
                <a:latin typeface="times" panose="02020603050405020304" pitchFamily="18" charset="0"/>
                <a:ea typeface="微软雅黑" panose="020B0503020204020204" pitchFamily="34" charset="-122"/>
                <a:cs typeface="times" panose="02020603050405020304" pitchFamily="18" charset="0"/>
              </a:rPr>
              <a:t>）二等奖</a:t>
            </a:r>
            <a:endParaRPr lang="zh-CN" altLang="zh-CN" sz="1600" kern="100" dirty="0">
              <a:latin typeface="times" panose="02020603050405020304" pitchFamily="18" charset="0"/>
              <a:ea typeface="微软雅黑" panose="020B0503020204020204" pitchFamily="34" charset="-122"/>
              <a:cs typeface="times" panose="02020603050405020304" pitchFamily="18" charset="0"/>
            </a:endParaRPr>
          </a:p>
        </p:txBody>
      </p:sp>
      <p:sp>
        <p:nvSpPr>
          <p:cNvPr id="6" name="文本框 5"/>
          <p:cNvSpPr txBox="1"/>
          <p:nvPr>
            <p:custDataLst>
              <p:tags r:id="rId3"/>
            </p:custDataLst>
          </p:nvPr>
        </p:nvSpPr>
        <p:spPr>
          <a:xfrm>
            <a:off x="388575" y="816711"/>
            <a:ext cx="18269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基础学科竞赛</a:t>
            </a:r>
            <a:endParaRPr lang="zh-CN" altLang="en-US" b="1" dirty="0">
              <a:solidFill>
                <a:srgbClr val="0070C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矩形 6"/>
          <p:cNvSpPr/>
          <p:nvPr>
            <p:custDataLst>
              <p:tags r:id="rId4"/>
            </p:custDataLst>
          </p:nvPr>
        </p:nvSpPr>
        <p:spPr>
          <a:xfrm rot="2657010">
            <a:off x="167833" y="915804"/>
            <a:ext cx="184428" cy="183751"/>
          </a:xfrm>
          <a:prstGeom prst="rect">
            <a:avLst/>
          </a:prstGeom>
          <a:solidFill>
            <a:srgbClr val="0070C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>
            <p:custDataLst>
              <p:tags r:id="rId5"/>
            </p:custDataLst>
          </p:nvPr>
        </p:nvSpPr>
        <p:spPr>
          <a:xfrm>
            <a:off x="388572" y="3792010"/>
            <a:ext cx="18043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数学建模竞赛</a:t>
            </a:r>
            <a:endParaRPr lang="zh-CN" altLang="en-US" b="1" dirty="0">
              <a:solidFill>
                <a:srgbClr val="0070C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矩形 8"/>
          <p:cNvSpPr/>
          <p:nvPr>
            <p:custDataLst>
              <p:tags r:id="rId6"/>
            </p:custDataLst>
          </p:nvPr>
        </p:nvSpPr>
        <p:spPr>
          <a:xfrm rot="2657010">
            <a:off x="167830" y="3891103"/>
            <a:ext cx="184428" cy="183751"/>
          </a:xfrm>
          <a:prstGeom prst="rect">
            <a:avLst/>
          </a:prstGeom>
          <a:solidFill>
            <a:srgbClr val="0070C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/>
          <p:cNvSpPr txBox="1">
            <a:spLocks noChangeArrowheads="1"/>
          </p:cNvSpPr>
          <p:nvPr/>
        </p:nvSpPr>
        <p:spPr bwMode="auto">
          <a:xfrm>
            <a:off x="0" y="65303"/>
            <a:ext cx="102151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zh-CN" altLang="en-US" sz="2400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三、竞赛经历</a:t>
            </a:r>
            <a:endParaRPr lang="zh-CN" altLang="en-US" sz="2400" b="1" dirty="0">
              <a:solidFill>
                <a:srgbClr val="0070C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1" name="直接连接符 10"/>
          <p:cNvCxnSpPr/>
          <p:nvPr/>
        </p:nvCxnSpPr>
        <p:spPr>
          <a:xfrm>
            <a:off x="0" y="617776"/>
            <a:ext cx="12192000" cy="0"/>
          </a:xfrm>
          <a:prstGeom prst="line">
            <a:avLst/>
          </a:prstGeom>
          <a:ln w="57150">
            <a:solidFill>
              <a:srgbClr val="D8E2F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 11"/>
          <p:cNvSpPr/>
          <p:nvPr/>
        </p:nvSpPr>
        <p:spPr>
          <a:xfrm>
            <a:off x="7231561" y="1055167"/>
            <a:ext cx="4813165" cy="1981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矩形 16"/>
          <p:cNvSpPr/>
          <p:nvPr/>
        </p:nvSpPr>
        <p:spPr>
          <a:xfrm>
            <a:off x="7231561" y="3233109"/>
            <a:ext cx="4813165" cy="348472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/>
          <p:cNvSpPr txBox="1"/>
          <p:nvPr/>
        </p:nvSpPr>
        <p:spPr>
          <a:xfrm>
            <a:off x="8091170" y="199961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证书</a:t>
            </a:r>
            <a:endParaRPr lang="zh-CN" alt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 rotWithShape="1">
          <a:blip r:embed="rId1"/>
          <a:srcRect l="2955" r="7620"/>
          <a:stretch>
            <a:fillRect/>
          </a:stretch>
        </p:blipFill>
        <p:spPr>
          <a:xfrm>
            <a:off x="5025371" y="3573613"/>
            <a:ext cx="3429359" cy="2876135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/>
        </p:nvPicPr>
        <p:blipFill rotWithShape="1">
          <a:blip r:embed="rId2"/>
          <a:srcRect l="7839" t="-1" r="6647" b="2400"/>
          <a:stretch>
            <a:fillRect/>
          </a:stretch>
        </p:blipFill>
        <p:spPr>
          <a:xfrm>
            <a:off x="8528341" y="3571905"/>
            <a:ext cx="3237782" cy="2825347"/>
          </a:xfrm>
          <a:prstGeom prst="rect">
            <a:avLst/>
          </a:prstGeom>
        </p:spPr>
      </p:pic>
      <p:sp>
        <p:nvSpPr>
          <p:cNvPr id="35" name="矩形 34"/>
          <p:cNvSpPr/>
          <p:nvPr/>
        </p:nvSpPr>
        <p:spPr>
          <a:xfrm>
            <a:off x="4928214" y="1156064"/>
            <a:ext cx="6911520" cy="5514724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 rotWithShape="1">
          <a:blip r:embed="rId3"/>
          <a:srcRect l="8302" t="8044" r="6281" b="13040"/>
          <a:stretch>
            <a:fillRect/>
          </a:stretch>
        </p:blipFill>
        <p:spPr>
          <a:xfrm>
            <a:off x="353919" y="1156063"/>
            <a:ext cx="4219845" cy="5514724"/>
          </a:xfrm>
          <a:prstGeom prst="rect">
            <a:avLst/>
          </a:prstGeom>
          <a:ln w="12700">
            <a:solidFill>
              <a:schemeClr val="tx1"/>
            </a:solidFill>
            <a:prstDash val="dash"/>
          </a:ln>
        </p:spPr>
      </p:pic>
      <p:sp>
        <p:nvSpPr>
          <p:cNvPr id="14" name="文本框 13"/>
          <p:cNvSpPr txBox="1"/>
          <p:nvPr/>
        </p:nvSpPr>
        <p:spPr>
          <a:xfrm>
            <a:off x="4926561" y="1216868"/>
            <a:ext cx="6911520" cy="20124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60000"/>
              </a:lnSpc>
              <a:buFont typeface="Arial" panose="020B0604020202020204" pitchFamily="34" charset="0"/>
              <a:buChar char="•"/>
              <a:defRPr/>
            </a:pP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角色：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作为队长，主导模型建立、程序编写，参与论文写作</a:t>
            </a:r>
            <a:endParaRPr lang="en-US" altLang="zh-CN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 algn="just">
              <a:lnSpc>
                <a:spcPct val="160000"/>
              </a:lnSpc>
              <a:buFont typeface="Arial" panose="020B0604020202020204" pitchFamily="34" charset="0"/>
              <a:buChar char="•"/>
              <a:defRPr/>
            </a:pP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模型：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运用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遗传算法、线性规划、基于熵权法的</a:t>
            </a: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TOPSIS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模型等策略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对生产企业原材料订购与运输问题进行求解</a:t>
            </a:r>
            <a:endParaRPr lang="en-US" altLang="zh-CN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 algn="just">
              <a:lnSpc>
                <a:spcPct val="160000"/>
              </a:lnSpc>
              <a:buFont typeface="Arial" panose="020B0604020202020204" pitchFamily="34" charset="0"/>
              <a:buChar char="•"/>
              <a:defRPr/>
            </a:pP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结果：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较完整地解决了赛题，给出了不同生产要求下的原材料订购与转运方案</a:t>
            </a:r>
            <a:endParaRPr lang="en-US" altLang="zh-CN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7" name="直接连接符 6"/>
          <p:cNvCxnSpPr/>
          <p:nvPr/>
        </p:nvCxnSpPr>
        <p:spPr>
          <a:xfrm>
            <a:off x="4928214" y="3352573"/>
            <a:ext cx="6911520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/>
          <p:cNvSpPr txBox="1">
            <a:spLocks noChangeArrowheads="1"/>
          </p:cNvSpPr>
          <p:nvPr/>
        </p:nvSpPr>
        <p:spPr bwMode="auto">
          <a:xfrm>
            <a:off x="0" y="65303"/>
            <a:ext cx="102151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zh-CN" altLang="en-US" sz="2400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三、竞赛经历</a:t>
            </a:r>
            <a:endParaRPr lang="zh-CN" altLang="en-US" sz="2400" b="1" dirty="0">
              <a:solidFill>
                <a:srgbClr val="0070C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" name="直接连接符 4"/>
          <p:cNvCxnSpPr/>
          <p:nvPr/>
        </p:nvCxnSpPr>
        <p:spPr>
          <a:xfrm>
            <a:off x="0" y="617776"/>
            <a:ext cx="12192000" cy="0"/>
          </a:xfrm>
          <a:prstGeom prst="line">
            <a:avLst/>
          </a:prstGeom>
          <a:ln w="57150">
            <a:solidFill>
              <a:srgbClr val="D8E2F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/>
          <p:cNvSpPr txBox="1"/>
          <p:nvPr/>
        </p:nvSpPr>
        <p:spPr>
          <a:xfrm>
            <a:off x="6532" y="643219"/>
            <a:ext cx="142277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3.1</a:t>
            </a:r>
            <a:r>
              <a:rPr lang="zh-CN" altLang="en-US" sz="1800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数学建模竞赛</a:t>
            </a:r>
            <a:r>
              <a:rPr lang="en-US" altLang="zh-CN" sz="1800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—21</a:t>
            </a:r>
            <a:r>
              <a:rPr lang="zh-CN" altLang="en-US" sz="1800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年国赛</a:t>
            </a:r>
            <a:r>
              <a:rPr lang="en-US" altLang="zh-CN" sz="1800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</a:t>
            </a:r>
            <a:r>
              <a:rPr lang="zh-CN" altLang="en-US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题（省一等奖）</a:t>
            </a:r>
            <a:endParaRPr lang="zh-CN" altLang="en-US" b="1" i="1" dirty="0">
              <a:solidFill>
                <a:srgbClr val="0070C0"/>
              </a:solidFill>
              <a:latin typeface="times" panose="02020603050405020304" pitchFamily="18" charset="0"/>
              <a:ea typeface="微软雅黑" panose="020B0503020204020204" pitchFamily="34" charset="-122"/>
              <a:cs typeface="times" panose="02020603050405020304" pitchFamily="18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文本框 54"/>
          <p:cNvSpPr txBox="1"/>
          <p:nvPr/>
        </p:nvSpPr>
        <p:spPr>
          <a:xfrm>
            <a:off x="46892" y="2967335"/>
            <a:ext cx="12098216" cy="92333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zh-CN" altLang="en-US" sz="5400" b="1" dirty="0">
                <a:solidFill>
                  <a:srgbClr val="D527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ea"/>
              </a:rPr>
              <a:t>感谢各位老师，恳请批评指正</a:t>
            </a:r>
            <a:endParaRPr sz="5400" b="1" dirty="0">
              <a:solidFill>
                <a:srgbClr val="D527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j-ea"/>
            </a:endParaRPr>
          </a:p>
        </p:txBody>
      </p:sp>
      <p:sp>
        <p:nvSpPr>
          <p:cNvPr id="56" name="powerpoint template design by DAJU_PPT正版来源小红书大橘PPT微信DAJU_PPT请勿抄袭搬运！盗版必究！"/>
          <p:cNvSpPr txBox="1"/>
          <p:nvPr/>
        </p:nvSpPr>
        <p:spPr>
          <a:xfrm>
            <a:off x="4267200" y="4983740"/>
            <a:ext cx="3657600" cy="391626"/>
          </a:xfrm>
          <a:prstGeom prst="roundRect">
            <a:avLst>
              <a:gd name="adj" fmla="val 50000"/>
            </a:avLst>
          </a:prstGeom>
          <a:noFill/>
          <a:ln w="12700">
            <a:solidFill>
              <a:schemeClr val="tx1"/>
            </a:solidFill>
          </a:ln>
        </p:spPr>
        <p:txBody>
          <a:bodyPr wrap="square" lIns="0" tIns="0" rIns="0" bIns="0" anchor="ctr" anchorCtr="0">
            <a:noAutofit/>
          </a:bodyPr>
          <a:lstStyle>
            <a:defPPr>
              <a:defRPr lang="zh-CN"/>
            </a:defPPr>
            <a:lvl1pPr algn="dist" fontAlgn="base">
              <a:defRPr sz="1600" b="0" i="0">
                <a:solidFill>
                  <a:schemeClr val="accent5">
                    <a:lumMod val="50000"/>
                  </a:schemeClr>
                </a:solidFill>
                <a:effectLst/>
                <a:latin typeface="+mn-ea"/>
              </a:defRPr>
            </a:lvl1pPr>
          </a:lstStyle>
          <a:p>
            <a:pPr algn="ctr"/>
            <a:r>
              <a:rPr lang="zh-CN" altLang="en-US" sz="1800" b="1" dirty="0">
                <a:solidFill>
                  <a:schemeClr val="tx1"/>
                </a:solidFill>
                <a:latin typeface="+mn-lt"/>
                <a:cs typeface="+mn-ea"/>
                <a:sym typeface="+mn-lt"/>
              </a:rPr>
              <a:t>学校：四川大学</a:t>
            </a:r>
            <a:endParaRPr lang="zh-CN" altLang="en-US" sz="1800" b="1" dirty="0">
              <a:solidFill>
                <a:schemeClr val="tx1"/>
              </a:solidFill>
              <a:latin typeface="+mn-lt"/>
              <a:cs typeface="+mn-ea"/>
              <a:sym typeface="+mn-lt"/>
            </a:endParaRPr>
          </a:p>
        </p:txBody>
      </p:sp>
      <p:sp>
        <p:nvSpPr>
          <p:cNvPr id="57" name="powerpoint template design by DAJU_PPT正版来源小红书大橘PPT微信DAJU_PPT请勿抄袭搬运！盗版必究！"/>
          <p:cNvSpPr txBox="1"/>
          <p:nvPr/>
        </p:nvSpPr>
        <p:spPr>
          <a:xfrm>
            <a:off x="4267200" y="4425201"/>
            <a:ext cx="3657600" cy="391626"/>
          </a:xfrm>
          <a:prstGeom prst="roundRect">
            <a:avLst>
              <a:gd name="adj" fmla="val 50000"/>
            </a:avLst>
          </a:prstGeom>
          <a:noFill/>
          <a:ln w="12700">
            <a:solidFill>
              <a:schemeClr val="tx1"/>
            </a:solidFill>
          </a:ln>
        </p:spPr>
        <p:txBody>
          <a:bodyPr wrap="square" lIns="0" tIns="0" rIns="0" bIns="0" anchor="ctr" anchorCtr="0">
            <a:noAutofit/>
          </a:bodyPr>
          <a:lstStyle>
            <a:defPPr>
              <a:defRPr lang="zh-CN"/>
            </a:defPPr>
            <a:lvl1pPr algn="dist" fontAlgn="base">
              <a:defRPr sz="1600" b="0" i="0">
                <a:solidFill>
                  <a:schemeClr val="accent5">
                    <a:lumMod val="50000"/>
                  </a:schemeClr>
                </a:solidFill>
                <a:effectLst/>
                <a:latin typeface="+mn-ea"/>
              </a:defRPr>
            </a:lvl1pPr>
          </a:lstStyle>
          <a:p>
            <a:pPr algn="ctr"/>
            <a:r>
              <a:rPr lang="zh-CN" altLang="en-US" sz="1800" b="1" dirty="0">
                <a:solidFill>
                  <a:schemeClr val="tx1"/>
                </a:solidFill>
                <a:latin typeface="+mn-lt"/>
                <a:cs typeface="+mn-ea"/>
                <a:sym typeface="+mn-lt"/>
              </a:rPr>
              <a:t>申请人：</a:t>
            </a:r>
            <a:r>
              <a:rPr lang="en-US" altLang="zh-CN" sz="1800" b="1" dirty="0">
                <a:solidFill>
                  <a:schemeClr val="tx1"/>
                </a:solidFill>
                <a:latin typeface="+mn-lt"/>
                <a:cs typeface="+mn-ea"/>
                <a:sym typeface="+mn-lt"/>
              </a:rPr>
              <a:t> </a:t>
            </a:r>
            <a:endParaRPr lang="en-US" altLang="zh-CN" sz="1800" b="1" dirty="0">
              <a:solidFill>
                <a:schemeClr val="tx1"/>
              </a:solidFill>
              <a:latin typeface="+mn-lt"/>
              <a:cs typeface="+mn-ea"/>
              <a:sym typeface="+mn-lt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72657" y="1193038"/>
            <a:ext cx="4446686" cy="1362443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13.87417322834648,&quot;left&quot;:329.00244094488187,&quot;top&quot;:202.20818897637795,&quot;width&quot;:315.80141732283465}"/>
</p:tagLst>
</file>

<file path=ppt/tags/tag2.xml><?xml version="1.0" encoding="utf-8"?>
<p:tagLst xmlns:p="http://schemas.openxmlformats.org/presentationml/2006/main">
  <p:tag name="KSO_WM_DIAGRAM_VIRTUALLY_FRAME" val="{&quot;height&quot;:213.87417322834648,&quot;left&quot;:329.00244094488187,&quot;top&quot;:202.20818897637795,&quot;width&quot;:315.80141732283465}"/>
</p:tagLst>
</file>

<file path=ppt/tags/tag3.xml><?xml version="1.0" encoding="utf-8"?>
<p:tagLst xmlns:p="http://schemas.openxmlformats.org/presentationml/2006/main">
  <p:tag name="KSO_WM_DIAGRAM_VIRTUALLY_FRAME" val="{&quot;height&quot;:213.87417322834648,&quot;left&quot;:329.00244094488187,&quot;top&quot;:202.20818897637795,&quot;width&quot;:315.80141732283465}"/>
</p:tagLst>
</file>

<file path=ppt/tags/tag4.xml><?xml version="1.0" encoding="utf-8"?>
<p:tagLst xmlns:p="http://schemas.openxmlformats.org/presentationml/2006/main">
  <p:tag name="KSO_WM_DIAGRAM_VIRTUALLY_FRAME" val="{&quot;height&quot;:213.87417322834648,&quot;left&quot;:329.00244094488187,&quot;top&quot;:202.20818897637795,&quot;width&quot;:315.80141732283465}"/>
</p:tagLst>
</file>

<file path=ppt/tags/tag5.xml><?xml version="1.0" encoding="utf-8"?>
<p:tagLst xmlns:p="http://schemas.openxmlformats.org/presentationml/2006/main">
  <p:tag name="KSO_WM_DIAGRAM_VIRTUALLY_FRAME" val="{&quot;height&quot;:213.87417322834648,&quot;left&quot;:329.00244094488187,&quot;top&quot;:202.20818897637795,&quot;width&quot;:315.80141732283465}"/>
</p:tagLst>
</file>

<file path=ppt/tags/tag6.xml><?xml version="1.0" encoding="utf-8"?>
<p:tagLst xmlns:p="http://schemas.openxmlformats.org/presentationml/2006/main">
  <p:tag name="KSO_WM_DIAGRAM_VIRTUALLY_FRAME" val="{&quot;height&quot;:213.87417322834648,&quot;left&quot;:329.00244094488187,&quot;top&quot;:202.20818897637795,&quot;width&quot;:315.80141732283465}"/>
</p:tagLst>
</file>

<file path=ppt/tags/tag7.xml><?xml version="1.0" encoding="utf-8"?>
<p:tagLst xmlns:p="http://schemas.openxmlformats.org/presentationml/2006/main">
  <p:tag name="KSO_WM_DIAGRAM_VIRTUALLY_FRAME" val="{&quot;height&quot;:402.41803149606295,&quot;left&quot;:10.226771653543306,&quot;top&quot;:64.30795275590552,&quot;width&quot;:628.6721259842519}"/>
</p:tagLst>
</file>

<file path=ppt/tags/tag8.xml><?xml version="1.0" encoding="utf-8"?>
<p:tagLst xmlns:p="http://schemas.openxmlformats.org/presentationml/2006/main">
  <p:tag name="KSO_WM_DIAGRAM_VIRTUALLY_FRAME" val="{&quot;height&quot;:402.41803149606295,&quot;left&quot;:10.226771653543306,&quot;top&quot;:64.30795275590552,&quot;width&quot;:628.6721259842519}"/>
</p:tagLst>
</file>

<file path=ppt/tags/tag9.xml><?xml version="1.0" encoding="utf-8"?>
<p:tagLst xmlns:p="http://schemas.openxmlformats.org/presentationml/2006/main">
  <p:tag name="KSO_WM_DIAGRAM_VIRTUALLY_FRAME" val="{&quot;height&quot;:402.41803149606295,&quot;left&quot;:10.226771653543306,&quot;top&quot;:64.30795275590552,&quot;width&quot;:628.6721259842519}"/>
</p:tagLst>
</file>

<file path=ppt/tags/tag10.xml><?xml version="1.0" encoding="utf-8"?>
<p:tagLst xmlns:p="http://schemas.openxmlformats.org/presentationml/2006/main">
  <p:tag name="KSO_WM_DIAGRAM_VIRTUALLY_FRAME" val="{&quot;height&quot;:402.41803149606295,&quot;left&quot;:10.226771653543306,&quot;top&quot;:64.30795275590552,&quot;width&quot;:628.6721259842519}"/>
</p:tagLst>
</file>

<file path=ppt/tags/tag11.xml><?xml version="1.0" encoding="utf-8"?>
<p:tagLst xmlns:p="http://schemas.openxmlformats.org/presentationml/2006/main">
  <p:tag name="KSO_WM_DIAGRAM_VIRTUALLY_FRAME" val="{&quot;height&quot;:402.41803149606295,&quot;left&quot;:10.226771653543306,&quot;top&quot;:64.30795275590552,&quot;width&quot;:628.6721259842519}"/>
</p:tagLst>
</file>

<file path=ppt/tags/tag12.xml><?xml version="1.0" encoding="utf-8"?>
<p:tagLst xmlns:p="http://schemas.openxmlformats.org/presentationml/2006/main">
  <p:tag name="KSO_WM_DIAGRAM_VIRTUALLY_FRAME" val="{&quot;height&quot;:402.41803149606295,&quot;left&quot;:10.226771653543306,&quot;top&quot;:64.30795275590552,&quot;width&quot;:628.6721259842519}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2383</Words>
  <Application>WPS 演示</Application>
  <PresentationFormat>宽屏</PresentationFormat>
  <Paragraphs>173</Paragraphs>
  <Slides>11</Slides>
  <Notes>1</Notes>
  <HiddenSlides>0</HiddenSlides>
  <MMClips>0</MMClips>
  <ScaleCrop>false</ScaleCrop>
  <HeadingPairs>
    <vt:vector size="8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12</vt:i4>
      </vt:variant>
      <vt:variant>
        <vt:lpstr>幻灯片标题</vt:lpstr>
      </vt:variant>
      <vt:variant>
        <vt:i4>11</vt:i4>
      </vt:variant>
    </vt:vector>
  </HeadingPairs>
  <TitlesOfParts>
    <vt:vector size="37" baseType="lpstr">
      <vt:lpstr>Arial</vt:lpstr>
      <vt:lpstr>宋体</vt:lpstr>
      <vt:lpstr>Wingdings</vt:lpstr>
      <vt:lpstr>微软雅黑</vt:lpstr>
      <vt:lpstr>Calibri</vt:lpstr>
      <vt:lpstr>Times New Roman</vt:lpstr>
      <vt:lpstr>Cambria Math</vt:lpstr>
      <vt:lpstr>times</vt:lpstr>
      <vt:lpstr>等线</vt:lpstr>
      <vt:lpstr>Arial Unicode MS</vt:lpstr>
      <vt:lpstr>等线 Light</vt:lpstr>
      <vt:lpstr>Wingdings</vt:lpstr>
      <vt:lpstr>Good Times</vt:lpstr>
      <vt:lpstr>Office 主题​​</vt:lpstr>
      <vt:lpstr>Equation.AxMath</vt:lpstr>
      <vt:lpstr>Equation.AxMath</vt:lpstr>
      <vt:lpstr>Equation.AxMath</vt:lpstr>
      <vt:lpstr>Equation.AxMath</vt:lpstr>
      <vt:lpstr>Equation.AxMath</vt:lpstr>
      <vt:lpstr>Equation.AxMath</vt:lpstr>
      <vt:lpstr>Equation.AxMath</vt:lpstr>
      <vt:lpstr>Equation.AxMath</vt:lpstr>
      <vt:lpstr>Equation.AxMath</vt:lpstr>
      <vt:lpstr>Equation.AxMath</vt:lpstr>
      <vt:lpstr>Equation.AxMath</vt:lpstr>
      <vt:lpstr>Equation.AxMath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1</dc:creator>
  <cp:lastModifiedBy>Chris</cp:lastModifiedBy>
  <cp:revision>275</cp:revision>
  <cp:lastPrinted>2023-06-22T08:07:00Z</cp:lastPrinted>
  <dcterms:created xsi:type="dcterms:W3CDTF">2021-07-07T18:23:00Z</dcterms:created>
  <dcterms:modified xsi:type="dcterms:W3CDTF">2026-05-17T08:48:28Z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D60A981207374A18939EF43AB6302B3D_13</vt:lpwstr>
  </property>
  <property fmtid="{D5CDD505-2E9C-101B-9397-08002B2CF9AE}" pid="3" name="KSOProductBuildVer">
    <vt:lpwstr>2052-12.1.0.26375</vt:lpwstr>
  </property>
</Properties>
</file>