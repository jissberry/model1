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5"/>
  </p:notesMasterIdLst>
  <p:sldIdLst>
    <p:sldId id="292" r:id="rId4"/>
    <p:sldId id="257" r:id="rId5"/>
    <p:sldId id="258" r:id="rId6"/>
    <p:sldId id="277" r:id="rId7"/>
    <p:sldId id="278" r:id="rId8"/>
    <p:sldId id="279" r:id="rId9"/>
    <p:sldId id="281" r:id="rId10"/>
    <p:sldId id="283" r:id="rId11"/>
    <p:sldId id="288" r:id="rId12"/>
    <p:sldId id="285" r:id="rId13"/>
    <p:sldId id="29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0070C0"/>
    <a:srgbClr val="E6E6E6"/>
    <a:srgbClr val="D52700"/>
    <a:srgbClr val="DC2800"/>
    <a:srgbClr val="B4C7E7"/>
    <a:srgbClr val="294E8E"/>
    <a:srgbClr val="FFFFFF"/>
    <a:srgbClr val="7877C3"/>
    <a:srgbClr val="B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25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6B5B7-F477-45F3-8B0E-2764DBE3D0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4DDF3-2ADE-4779-9CCB-750675609A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 userDrawn="1"/>
        </p:nvSpPr>
        <p:spPr>
          <a:xfrm rot="16200000">
            <a:off x="8559799" y="3225799"/>
            <a:ext cx="3632201" cy="3632201"/>
          </a:xfrm>
          <a:prstGeom prst="rtTriangle">
            <a:avLst/>
          </a:prstGeom>
          <a:solidFill>
            <a:srgbClr val="778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-2" y="-1"/>
            <a:ext cx="3632201" cy="3632201"/>
          </a:xfrm>
          <a:prstGeom prst="rtTriangle">
            <a:avLst/>
          </a:prstGeom>
          <a:solidFill>
            <a:srgbClr val="778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598547" y="562838"/>
            <a:ext cx="15101090" cy="5732323"/>
            <a:chOff x="-1598547" y="562838"/>
            <a:chExt cx="15101090" cy="5732323"/>
          </a:xfrm>
        </p:grpSpPr>
        <p:pic>
          <p:nvPicPr>
            <p:cNvPr id="18" name="稻壳儿搜索【幻雨工作室】_3"/>
            <p:cNvPicPr>
              <a:picLocks noChangeAspect="1"/>
            </p:cNvPicPr>
            <p:nvPr userDrawn="1"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375453" y="562838"/>
              <a:ext cx="2127090" cy="5732321"/>
            </a:xfrm>
            <a:prstGeom prst="rect">
              <a:avLst/>
            </a:prstGeom>
          </p:spPr>
        </p:pic>
        <p:pic>
          <p:nvPicPr>
            <p:cNvPr id="19" name="稻壳儿搜索【幻雨工作室】_4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598547" y="562838"/>
              <a:ext cx="2292371" cy="5732321"/>
            </a:xfrm>
            <a:prstGeom prst="rect">
              <a:avLst/>
            </a:prstGeom>
          </p:spPr>
        </p:pic>
        <p:sp>
          <p:nvSpPr>
            <p:cNvPr id="20" name="稻壳儿搜索【幻雨工作室】_5"/>
            <p:cNvSpPr/>
            <p:nvPr userDrawn="1"/>
          </p:nvSpPr>
          <p:spPr>
            <a:xfrm>
              <a:off x="682172" y="562840"/>
              <a:ext cx="10827656" cy="5732321"/>
            </a:xfrm>
            <a:prstGeom prst="rect">
              <a:avLst/>
            </a:prstGeom>
            <a:solidFill>
              <a:schemeClr val="bg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/>
          <p:cNvSpPr/>
          <p:nvPr userDrawn="1"/>
        </p:nvSpPr>
        <p:spPr>
          <a:xfrm rot="16200000">
            <a:off x="8559799" y="3225799"/>
            <a:ext cx="3632201" cy="3632201"/>
          </a:xfrm>
          <a:prstGeom prst="rtTriangle">
            <a:avLst/>
          </a:prstGeom>
          <a:solidFill>
            <a:srgbClr val="778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直角三角形 5"/>
          <p:cNvSpPr/>
          <p:nvPr userDrawn="1"/>
        </p:nvSpPr>
        <p:spPr>
          <a:xfrm rot="5400000">
            <a:off x="-2" y="-1"/>
            <a:ext cx="3632201" cy="3632201"/>
          </a:xfrm>
          <a:prstGeom prst="rtTriangle">
            <a:avLst/>
          </a:prstGeom>
          <a:solidFill>
            <a:srgbClr val="778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稻壳儿搜索【幻雨工作室】_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40735" y="214744"/>
            <a:ext cx="2127090" cy="6428510"/>
          </a:xfrm>
          <a:prstGeom prst="rect">
            <a:avLst/>
          </a:prstGeom>
        </p:spPr>
      </p:pic>
      <p:pic>
        <p:nvPicPr>
          <p:cNvPr id="16" name="稻壳儿搜索【幻雨工作室】_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4172" y="214744"/>
            <a:ext cx="2292371" cy="6428510"/>
          </a:xfrm>
          <a:prstGeom prst="rect">
            <a:avLst/>
          </a:prstGeom>
        </p:spPr>
      </p:pic>
      <p:sp>
        <p:nvSpPr>
          <p:cNvPr id="17" name="稻壳儿搜索【幻雨工作室】_5"/>
          <p:cNvSpPr/>
          <p:nvPr userDrawn="1"/>
        </p:nvSpPr>
        <p:spPr>
          <a:xfrm>
            <a:off x="331561" y="214745"/>
            <a:ext cx="11528878" cy="6428510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8FC2A-5435-4BFD-A9D8-8A08F3C99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389C1-997B-45B7-B003-C1630D99E6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C16FB-ECD3-44CC-B851-6BB33F804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A7378-F53C-4EFD-8D67-95D715C8DF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oleObject" Target="../embeddings/oleObject1.bin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7.png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3.bin"/><Relationship Id="rId12" Type="http://schemas.openxmlformats.org/officeDocument/2006/relationships/image" Target="../media/image15.png"/><Relationship Id="rId11" Type="http://schemas.openxmlformats.org/officeDocument/2006/relationships/image" Target="../media/image14.wmf"/><Relationship Id="rId10" Type="http://schemas.openxmlformats.org/officeDocument/2006/relationships/oleObject" Target="../embeddings/oleObject2.bin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36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34.png"/><Relationship Id="rId24" Type="http://schemas.openxmlformats.org/officeDocument/2006/relationships/vmlDrawing" Target="../drawings/vmlDrawing2.v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12.bin"/><Relationship Id="rId20" Type="http://schemas.openxmlformats.org/officeDocument/2006/relationships/image" Target="../media/image43.wmf"/><Relationship Id="rId2" Type="http://schemas.openxmlformats.org/officeDocument/2006/relationships/image" Target="../media/image33.png"/><Relationship Id="rId19" Type="http://schemas.openxmlformats.org/officeDocument/2006/relationships/oleObject" Target="../embeddings/oleObject11.bin"/><Relationship Id="rId18" Type="http://schemas.openxmlformats.org/officeDocument/2006/relationships/image" Target="../media/image42.png"/><Relationship Id="rId17" Type="http://schemas.openxmlformats.org/officeDocument/2006/relationships/image" Target="../media/image41.wmf"/><Relationship Id="rId16" Type="http://schemas.openxmlformats.org/officeDocument/2006/relationships/oleObject" Target="../embeddings/oleObject10.bin"/><Relationship Id="rId15" Type="http://schemas.openxmlformats.org/officeDocument/2006/relationships/image" Target="../media/image40.wmf"/><Relationship Id="rId14" Type="http://schemas.openxmlformats.org/officeDocument/2006/relationships/oleObject" Target="../embeddings/oleObject9.bin"/><Relationship Id="rId13" Type="http://schemas.openxmlformats.org/officeDocument/2006/relationships/image" Target="../media/image39.wmf"/><Relationship Id="rId12" Type="http://schemas.openxmlformats.org/officeDocument/2006/relationships/oleObject" Target="../embeddings/oleObject8.bin"/><Relationship Id="rId11" Type="http://schemas.openxmlformats.org/officeDocument/2006/relationships/image" Target="../media/image38.wmf"/><Relationship Id="rId10" Type="http://schemas.openxmlformats.org/officeDocument/2006/relationships/oleObject" Target="../embeddings/oleObject7.bin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085" y="750570"/>
            <a:ext cx="3724910" cy="9493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85800" y="1859280"/>
            <a:ext cx="10820400" cy="3449320"/>
          </a:xfrm>
          <a:prstGeom prst="rect">
            <a:avLst/>
          </a:prstGeom>
          <a:solidFill>
            <a:srgbClr val="1E3C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稻壳儿搜索【幻雨工作室】_6"/>
          <p:cNvSpPr txBox="1"/>
          <p:nvPr/>
        </p:nvSpPr>
        <p:spPr>
          <a:xfrm>
            <a:off x="685800" y="4656889"/>
            <a:ext cx="10820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汇报人：范天成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  期：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2026.08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2305089"/>
            <a:ext cx="1082040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好学力行  求是创新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大学预推免个人汇报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792" y="5585348"/>
            <a:ext cx="2606416" cy="471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32150" y="109896"/>
            <a:ext cx="2727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汇报提纲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>
            <p:custDataLst>
              <p:tags r:id="rId1"/>
            </p:custDataLst>
          </p:nvPr>
        </p:nvSpPr>
        <p:spPr>
          <a:xfrm>
            <a:off x="4178331" y="2568044"/>
            <a:ext cx="647700" cy="647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1</a:t>
            </a:r>
            <a:endParaRPr lang="zh-CN" altLang="en-US" sz="3200" b="1" dirty="0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5095684" y="2605530"/>
            <a:ext cx="309332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基本情况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4178331" y="3607390"/>
            <a:ext cx="647700" cy="647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2</a:t>
            </a:r>
            <a:endParaRPr lang="zh-CN" altLang="en-US" sz="3200" b="1" dirty="0"/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4985305" y="3638852"/>
            <a:ext cx="27737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0" y="99148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>
            <p:custDataLst>
              <p:tags r:id="rId5"/>
            </p:custDataLst>
          </p:nvPr>
        </p:nvSpPr>
        <p:spPr>
          <a:xfrm>
            <a:off x="4178331" y="4636546"/>
            <a:ext cx="647700" cy="647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3</a:t>
            </a:r>
            <a:endParaRPr lang="zh-CN" altLang="en-US" sz="3200" b="1" dirty="0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4985305" y="4668008"/>
            <a:ext cx="27737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4"/>
          <p:cNvSpPr txBox="1">
            <a:spLocks noChangeArrowheads="1"/>
          </p:cNvSpPr>
          <p:nvPr/>
        </p:nvSpPr>
        <p:spPr bwMode="auto">
          <a:xfrm>
            <a:off x="0" y="68044"/>
            <a:ext cx="31089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一、个人基本情况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4729878" y="1251315"/>
            <a:ext cx="6639814" cy="5012911"/>
            <a:chOff x="4616319" y="1430610"/>
            <a:chExt cx="6639814" cy="5012911"/>
          </a:xfrm>
        </p:grpSpPr>
        <p:sp>
          <p:nvSpPr>
            <p:cNvPr id="10" name="文本框 9"/>
            <p:cNvSpPr txBox="1"/>
            <p:nvPr/>
          </p:nvSpPr>
          <p:spPr>
            <a:xfrm>
              <a:off x="7172829" y="1430610"/>
              <a:ext cx="1572895" cy="5835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kern="100" dirty="0">
                  <a:effectLst/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范天成</a:t>
              </a:r>
              <a:endParaRPr lang="zh-CN" altLang="en-US" sz="3200" b="1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616319" y="1989631"/>
              <a:ext cx="6639814" cy="4453890"/>
              <a:chOff x="881026" y="1786431"/>
              <a:chExt cx="6639814" cy="445389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881026" y="1786431"/>
                <a:ext cx="6639814" cy="445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	 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校：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中国矿业大学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专       业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：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电气工程及其自动化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出生年月：</a:t>
                </a:r>
                <a:r>
                  <a:rPr kumimoji="0" lang="en-US" altLang="zh-CN" sz="1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2004.09   </a:t>
                </a:r>
                <a:endParaRPr kumimoji="0" lang="zh-CN" altLang="en-US" sz="1800" i="0" u="none" strike="noStrike" kern="1200" cap="none" spc="0" normalizeH="0" baseline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专业成绩：</a:t>
                </a:r>
                <a:r>
                  <a:rPr kumimoji="0" lang="en-US" altLang="zh-CN" sz="1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4.5072/5</a:t>
                </a:r>
                <a:endParaRPr kumimoji="0" lang="zh-CN" altLang="en-US" sz="1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英语水平：六级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(663) </a:t>
                </a:r>
                <a:r>
                  <a:rPr lang="zh-CN" altLang="en-US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四级</a:t>
                </a:r>
                <a:r>
                  <a:rPr lang="en-US" altLang="zh-CN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(645)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核心课程：</a:t>
                </a:r>
                <a:r>
                  <a:rPr kumimoji="0" lang="zh-CN" altLang="en-US" sz="1800" i="0" u="none" strike="noStrike" kern="1200" cap="none" spc="0" normalizeH="0" baseline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高数A2</a:t>
                </a:r>
                <a:r>
                  <a:rPr kumimoji="0" lang="en-US" altLang="zh-CN" sz="1800" i="0" u="none" strike="noStrike" kern="1200" cap="none" spc="0" normalizeH="0" baseline="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(100)  </a:t>
                </a:r>
                <a:r>
                  <a:rPr kumimoji="0" lang="zh-CN" altLang="en-US" sz="1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电路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95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模拟电路与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EDA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基础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(96)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自动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控制原理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89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电机学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(88</a:t>
                </a:r>
                <a:r>
                  <a:rPr lang="en-US" altLang="zh-CN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电力系统分析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(94)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奖学金：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国家奖学金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*2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荣誉称号：</a:t>
                </a:r>
                <a:r>
                  <a:rPr kumimoji="0" lang="zh-CN" altLang="en-US" sz="1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中国矿业大学院级优秀团员</a:t>
                </a:r>
                <a:endParaRPr kumimoji="0" lang="zh-CN" altLang="en-US" sz="1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4347871" y="2723387"/>
                <a:ext cx="2907564" cy="575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籍       贯：</a:t>
                </a:r>
                <a:r>
                  <a:rPr kumimoji="0" lang="zh-CN" altLang="en-US" sz="1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浙江杭州</a:t>
                </a:r>
                <a:r>
                  <a:rPr kumimoji="0" lang="en-US" altLang="zh-CN" sz="1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   </a:t>
                </a:r>
                <a:endParaRPr kumimoji="0" lang="zh-CN" altLang="en-US" sz="1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4330618" y="3204802"/>
                <a:ext cx="2596111" cy="575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专业排名：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2/386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 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61" y="2554949"/>
            <a:ext cx="6252833" cy="2472274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506082" y="1175046"/>
            <a:ext cx="11179835" cy="874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18" name="文本框 17"/>
          <p:cNvSpPr txBox="1"/>
          <p:nvPr/>
        </p:nvSpPr>
        <p:spPr>
          <a:xfrm>
            <a:off x="1210811" y="1151517"/>
            <a:ext cx="9770375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近年来随着新能源、高速铁路以及高压直流输电等的快速发展，大量电力电子器件的接入，导致电网中的谐波源数目急剧增加、谐波含量增大且分布广泛，电能质量恶化趋势越发明显。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63" y="2848591"/>
            <a:ext cx="4193554" cy="2436571"/>
          </a:xfrm>
          <a:prstGeom prst="rect">
            <a:avLst/>
          </a:prstGeom>
        </p:spPr>
      </p:pic>
      <p:sp>
        <p:nvSpPr>
          <p:cNvPr id="74" name="箭头: 右 73"/>
          <p:cNvSpPr/>
          <p:nvPr/>
        </p:nvSpPr>
        <p:spPr>
          <a:xfrm>
            <a:off x="6576999" y="3832421"/>
            <a:ext cx="582926" cy="243434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929315" y="5776502"/>
            <a:ext cx="10333368" cy="874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22" name="文本框 21"/>
          <p:cNvSpPr txBox="1"/>
          <p:nvPr/>
        </p:nvSpPr>
        <p:spPr>
          <a:xfrm>
            <a:off x="2156960" y="5752977"/>
            <a:ext cx="7878075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公共耦合点的谐波是用户和系统背景谐波</a:t>
            </a:r>
            <a:r>
              <a:rPr lang="zh-CN" altLang="en-US" b="1" dirty="0">
                <a:solidFill>
                  <a:srgbClr val="B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耦合交互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的结果，准确的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谐波责任量化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是谐波管控和抑制的前提，对电网电能质量水平提升具有重要意义。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66292" y="359425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689084"/>
            <a:ext cx="616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 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1800" dirty="0"/>
          </a:p>
        </p:txBody>
      </p:sp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0" y="78366"/>
            <a:ext cx="10215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二、科研经历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系统侧谐波阻抗估计方法研究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747" y="1090852"/>
            <a:ext cx="327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独立随机矢量法：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5748" y="1460184"/>
                <a:ext cx="6102221" cy="815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>
                  <a:lnSpc>
                    <a:spcPct val="150000"/>
                  </a:lnSpc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假设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PCC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谐波电流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𝑝𝑐𝑐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与背景谐波电流不相关，基于独立随机矢量协方差为零的特性求解系统侧谐波阻抗，有：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8" y="1460184"/>
                <a:ext cx="6102221" cy="815864"/>
              </a:xfrm>
              <a:prstGeom prst="rect">
                <a:avLst/>
              </a:prstGeom>
              <a:blipFill rotWithShape="1">
                <a:blip r:embed="rId1"/>
                <a:stretch>
                  <a:fillRect l="-6" t="-39" r="3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127380" y="2324753"/>
                <a:ext cx="2058955" cy="402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380" y="2324753"/>
                <a:ext cx="2058955" cy="402161"/>
              </a:xfrm>
              <a:prstGeom prst="rect">
                <a:avLst/>
              </a:prstGeom>
              <a:blipFill rotWithShape="1">
                <a:blip r:embed="rId2"/>
                <a:stretch>
                  <a:fillRect l="-6" t="-4" r="20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105746" y="2726914"/>
            <a:ext cx="6102221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代入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PCC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电路方程对应的协方差表达式：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99051" y="3188150"/>
                <a:ext cx="5915610" cy="659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𝑝𝑐𝑐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𝑝𝑐𝑐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𝑝𝑐𝑐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𝑝𝑐𝑐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51" y="3188150"/>
                <a:ext cx="5915610" cy="659540"/>
              </a:xfrm>
              <a:prstGeom prst="rect">
                <a:avLst/>
              </a:prstGeom>
              <a:blipFill rotWithShape="1">
                <a:blip r:embed="rId3"/>
                <a:stretch>
                  <a:fillRect l="-5" t="-68" r="4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05745" y="3891504"/>
            <a:ext cx="6102221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解得系统侧谐波阻抗：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05745" y="4308926"/>
                <a:ext cx="5915610" cy="768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𝑝𝑐𝑐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𝑝𝑐𝑐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𝑝𝑐𝑐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𝑝𝑐𝑐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5" y="4308926"/>
                <a:ext cx="5915610" cy="768480"/>
              </a:xfrm>
              <a:prstGeom prst="rect">
                <a:avLst/>
              </a:prstGeom>
              <a:blipFill rotWithShape="1">
                <a:blip r:embed="rId4"/>
                <a:stretch>
                  <a:fillRect l="-6" t="-59" r="5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326677" y="5237449"/>
            <a:ext cx="5473745" cy="1373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独立随机矢量法无法应用于强背景谐波波动，且当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用户侧谐波阻抗</a:t>
            </a:r>
            <a:r>
              <a:rPr lang="zh-CN" altLang="en-US" sz="1600" b="1" dirty="0">
                <a:solidFill>
                  <a:srgbClr val="B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非远大于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系统侧谐波阻抗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、两侧谐波源非独立时其有效性会受到影响。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07966" y="1559389"/>
            <a:ext cx="28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）复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ICA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89779" y="1847886"/>
            <a:ext cx="6102221" cy="787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ICA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算法是一种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经典盲源分离方法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，用于分离通过未知矩阵混合后的独立信号源，具有较强抗背景谐波波动的能力。其模型如下：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8111411" y="2663731"/>
                <a:ext cx="2058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𝐴𝑆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411" y="2663731"/>
                <a:ext cx="205895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7" t="-146" r="10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6049343" y="2954836"/>
                <a:ext cx="6102221" cy="418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>
                  <a:lnSpc>
                    <a:spcPct val="150000"/>
                  </a:lnSpc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算法目的为找出最优分离矩阵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𝑊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，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使：</a:t>
                </a:r>
                <a:endParaRPr lang="zh-CN" altLang="en-US" sz="16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343" y="2954836"/>
                <a:ext cx="6102221" cy="418063"/>
              </a:xfrm>
              <a:prstGeom prst="rect">
                <a:avLst/>
              </a:prstGeom>
              <a:blipFill rotWithShape="1">
                <a:blip r:embed="rId6"/>
                <a:stretch>
                  <a:fillRect l="-5" t="-43" r="3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8150288" y="3372899"/>
                <a:ext cx="20589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𝑊𝑋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288" y="3372899"/>
                <a:ext cx="2058955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3" t="-112" r="17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6192413" y="3748364"/>
            <a:ext cx="5896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06070" algn="just"/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分离得到的源信号与谐波阻抗矩阵存在尺度和顺序不确定性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397795" y="4150351"/>
          <a:ext cx="3578808" cy="119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AxMath" r:id="rId8" imgW="1828800" imgH="1828800" progId="Equation.AxMath">
                  <p:embed/>
                </p:oleObj>
              </mc:Choice>
              <mc:Fallback>
                <p:oleObj name="AxMath" r:id="rId8" imgW="1828800" imgH="1828800" progId="Equation.AxMath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97795" y="4150351"/>
                        <a:ext cx="3578808" cy="1192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0141551" y="4280855"/>
          <a:ext cx="1677221" cy="731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AxMath" r:id="rId10" imgW="1828800" imgH="1828800" progId="Equation.AxMath">
                  <p:embed/>
                </p:oleObj>
              </mc:Choice>
              <mc:Fallback>
                <p:oleObj name="AxMath" r:id="rId10" imgW="1828800" imgH="1828800" progId="Equation.AxMath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141551" y="4280855"/>
                        <a:ext cx="1677221" cy="731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6189306" y="5277146"/>
                <a:ext cx="58969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306070" algn="just"/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实部异号，则认为估计结果有效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06" y="5277146"/>
                <a:ext cx="5896949" cy="338554"/>
              </a:xfrm>
              <a:prstGeom prst="rect">
                <a:avLst/>
              </a:prstGeom>
              <a:blipFill rotWithShape="1">
                <a:blip r:embed="rId12"/>
                <a:stretch>
                  <a:fillRect l="-10" t="-87" r="5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942749" y="5615700"/>
          <a:ext cx="3335563" cy="79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AxMath" r:id="rId13" imgW="1828800" imgH="1828800" progId="Equation.AxMath">
                  <p:embed/>
                </p:oleObj>
              </mc:Choice>
              <mc:Fallback>
                <p:oleObj name="AxMath" r:id="rId13" imgW="1828800" imgH="1828800" progId="Equation.AxMath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42749" y="5615700"/>
                        <a:ext cx="3335563" cy="793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6189305" y="6362402"/>
                <a:ext cx="5896949" cy="346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306070" algn="just"/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同时确定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305" y="6362402"/>
                <a:ext cx="5896949" cy="346313"/>
              </a:xfrm>
              <a:prstGeom prst="rect">
                <a:avLst/>
              </a:prstGeom>
              <a:blipFill rotWithShape="1">
                <a:blip r:embed="rId15"/>
                <a:stretch>
                  <a:fillRect l="-10" t="-97" r="5" b="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连接符 33"/>
          <p:cNvCxnSpPr/>
          <p:nvPr/>
        </p:nvCxnSpPr>
        <p:spPr>
          <a:xfrm>
            <a:off x="6114661" y="1088226"/>
            <a:ext cx="0" cy="575671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207966" y="1088226"/>
            <a:ext cx="324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算法流程：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右 10"/>
          <p:cNvSpPr/>
          <p:nvPr/>
        </p:nvSpPr>
        <p:spPr>
          <a:xfrm>
            <a:off x="5738430" y="3637207"/>
            <a:ext cx="653143" cy="417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0" y="78366"/>
            <a:ext cx="10215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二、科研经历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系统侧谐波阻抗估计方法研究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0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0" y="675837"/>
            <a:ext cx="8032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.2 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授权发明专利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—《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基于互信息数据优选的系统侧谐波阻抗估计方法及装置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94769" y="4183309"/>
                <a:ext cx="4909929" cy="835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chemeClr val="accent1"/>
                  </a:buClr>
                </a:pP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）通过核密度估计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(KDE)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获得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𝑝𝑐𝑐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的边缘概率密度函数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、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及其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联合概率密度函数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69" y="4183309"/>
                <a:ext cx="4909929" cy="835742"/>
              </a:xfrm>
              <a:prstGeom prst="rect">
                <a:avLst/>
              </a:prstGeom>
              <a:blipFill rotWithShape="1">
                <a:blip r:embed="rId1"/>
                <a:stretch>
                  <a:fillRect l="-8" t="-67" r="11" b="-3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594766" y="5130730"/>
                <a:ext cx="39048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）计算两离散随机变量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的互信息：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66" y="5130730"/>
                <a:ext cx="3904895" cy="338554"/>
              </a:xfrm>
              <a:prstGeom prst="rect">
                <a:avLst/>
              </a:prstGeom>
              <a:blipFill rotWithShape="1">
                <a:blip r:embed="rId2"/>
                <a:stretch>
                  <a:fillRect l="-10" t="-167" r="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969" y="5426330"/>
            <a:ext cx="3529524" cy="6312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94766" y="6027924"/>
                <a:ext cx="4909930" cy="611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）筛选出互信息</a:t>
                </a:r>
                <a14:m>
                  <m:oMath xmlns:m="http://schemas.openxmlformats.org/officeDocument/2006/math">
                    <m:r>
                      <a:rPr lang="zh-CN" altLang="en-US" sz="160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较小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的</m:t>
                    </m:r>
                    <m:r>
                      <a:rPr lang="zh-CN" altLang="en-US" sz="160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数据段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，利用独立随机矢量法求解谐波阻抗。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66" y="6027924"/>
                <a:ext cx="4909930" cy="611514"/>
              </a:xfrm>
              <a:prstGeom prst="rect">
                <a:avLst/>
              </a:prstGeom>
              <a:blipFill rotWithShape="1">
                <a:blip r:embed="rId4"/>
                <a:stretch>
                  <a:fillRect l="-8" t="-82" r="11" b="-3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连接符 44"/>
          <p:cNvCxnSpPr/>
          <p:nvPr/>
        </p:nvCxnSpPr>
        <p:spPr>
          <a:xfrm>
            <a:off x="6997826" y="1066894"/>
            <a:ext cx="0" cy="575671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50" y="1569148"/>
            <a:ext cx="3671673" cy="52807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/>
          <a:srcRect l="5861" r="6735"/>
          <a:stretch>
            <a:fillRect/>
          </a:stretch>
        </p:blipFill>
        <p:spPr>
          <a:xfrm>
            <a:off x="572995" y="1764422"/>
            <a:ext cx="5812013" cy="2216523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594766" y="1569148"/>
            <a:ext cx="5829944" cy="2491457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553617" y="1053172"/>
                <a:ext cx="1912241" cy="377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zh-CN" alt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的分离效果</a:t>
                </a:r>
                <a:endParaRPr lang="zh-CN" alt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617" y="1053172"/>
                <a:ext cx="1912241" cy="377989"/>
              </a:xfrm>
              <a:prstGeom prst="rect">
                <a:avLst/>
              </a:prstGeom>
              <a:blipFill rotWithShape="1">
                <a:blip r:embed="rId7"/>
                <a:stretch>
                  <a:fillRect l="-15" t="-90" r="28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002859" y="1057500"/>
                <a:ext cx="34394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zh-CN" alt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相差不大时的估计误差</a:t>
                </a:r>
                <a:endParaRPr lang="zh-CN" altLang="en-US" b="1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859" y="1057500"/>
                <a:ext cx="3439457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7" t="-61" r="7" b="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0" y="30554"/>
            <a:ext cx="10215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二、科研经历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系统侧谐波阻抗估计方法研究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0" y="675837"/>
            <a:ext cx="8056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.2 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授权发明专利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—《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基于互信息数据优选的系统侧谐波阻抗估计方法及装置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7515850" y="1121335"/>
            <a:ext cx="4466302" cy="2511113"/>
            <a:chOff x="135387" y="1444689"/>
            <a:chExt cx="5245188" cy="2949031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1"/>
            <a:srcRect l="4315" r="7535"/>
            <a:stretch>
              <a:fillRect/>
            </a:stretch>
          </p:blipFill>
          <p:spPr>
            <a:xfrm>
              <a:off x="135387" y="1498076"/>
              <a:ext cx="5037826" cy="2857506"/>
            </a:xfrm>
            <a:prstGeom prst="rect">
              <a:avLst/>
            </a:prstGeom>
          </p:spPr>
        </p:pic>
        <p:sp>
          <p:nvSpPr>
            <p:cNvPr id="48" name="矩形: 圆角 47"/>
            <p:cNvSpPr/>
            <p:nvPr/>
          </p:nvSpPr>
          <p:spPr>
            <a:xfrm>
              <a:off x="135387" y="1444689"/>
              <a:ext cx="5245188" cy="2949031"/>
            </a:xfrm>
            <a:prstGeom prst="round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/>
          <a:srcRect t="4053" b="5969"/>
          <a:stretch>
            <a:fillRect/>
          </a:stretch>
        </p:blipFill>
        <p:spPr>
          <a:xfrm>
            <a:off x="7481571" y="3719317"/>
            <a:ext cx="4534860" cy="3060317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38" y="2023971"/>
            <a:ext cx="5563986" cy="476979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985" y="1051142"/>
            <a:ext cx="6173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实际电网中，系统侧的谐波阻抗是时变的。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985" y="1322625"/>
            <a:ext cx="6173638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基于合理假设：系统侧谐波阻抗是随时间不断变化的，但在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相邻采样时间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内，其变化并不大。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6644810" y="1631099"/>
                <a:ext cx="662823" cy="1677748"/>
              </a:xfrm>
              <a:prstGeom prst="rect">
                <a:avLst/>
              </a:prstGeom>
              <a:solidFill>
                <a:srgbClr val="B4C7E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阻抗估计效果</a:t>
                </a:r>
                <a:endPara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𝝀</m:t>
                      </m:r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14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n-US" altLang="zh-CN" sz="1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810" y="1631099"/>
                <a:ext cx="662823" cy="1677748"/>
              </a:xfrm>
              <a:prstGeom prst="rect">
                <a:avLst/>
              </a:prstGeom>
              <a:blipFill rotWithShape="1">
                <a:blip r:embed="rId4"/>
                <a:stretch>
                  <a:fillRect l="-984" t="-403" r="-950" b="-349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6644810" y="3839415"/>
                <a:ext cx="662823" cy="2770077"/>
              </a:xfrm>
              <a:prstGeom prst="rect">
                <a:avLst/>
              </a:prstGeom>
              <a:solidFill>
                <a:srgbClr val="B4C7E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与不同背景谐波波动对应的估计误差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810" y="3839415"/>
                <a:ext cx="662823" cy="2770077"/>
              </a:xfrm>
              <a:prstGeom prst="rect">
                <a:avLst/>
              </a:prstGeom>
              <a:blipFill rotWithShape="1">
                <a:blip r:embed="rId5"/>
                <a:stretch>
                  <a:fillRect l="-984" t="-237" r="-950" b="-214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/>
          <p:cNvCxnSpPr/>
          <p:nvPr/>
        </p:nvCxnSpPr>
        <p:spPr>
          <a:xfrm>
            <a:off x="6390282" y="1448223"/>
            <a:ext cx="0" cy="526955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9282365" y="2258387"/>
            <a:ext cx="1120172" cy="887847"/>
            <a:chOff x="9413377" y="2207517"/>
            <a:chExt cx="1240109" cy="982909"/>
          </a:xfrm>
        </p:grpSpPr>
        <p:cxnSp>
          <p:nvCxnSpPr>
            <p:cNvPr id="14" name="直接箭头连接符 13"/>
            <p:cNvCxnSpPr/>
            <p:nvPr/>
          </p:nvCxnSpPr>
          <p:spPr>
            <a:xfrm flipH="1" flipV="1">
              <a:off x="9413377" y="2207517"/>
              <a:ext cx="242295" cy="2660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6"/>
            <a:srcRect l="3877" t="13921" r="13792" b="13775"/>
            <a:stretch>
              <a:fillRect/>
            </a:stretch>
          </p:blipFill>
          <p:spPr>
            <a:xfrm>
              <a:off x="9534524" y="2492253"/>
              <a:ext cx="1118962" cy="698173"/>
            </a:xfrm>
            <a:prstGeom prst="rect">
              <a:avLst/>
            </a:prstGeom>
            <a:ln>
              <a:solidFill>
                <a:schemeClr val="tx1"/>
              </a:solidFill>
              <a:prstDash val="sysDash"/>
            </a:ln>
          </p:spPr>
        </p:pic>
      </p:grpSp>
      <p:sp>
        <p:nvSpPr>
          <p:cNvPr id="19" name="文本框 18"/>
          <p:cNvSpPr txBox="1"/>
          <p:nvPr/>
        </p:nvSpPr>
        <p:spPr>
          <a:xfrm>
            <a:off x="9749001" y="2483035"/>
            <a:ext cx="7501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/>
              <a:t>局部放大</a:t>
            </a:r>
            <a:endParaRPr lang="zh-CN" altLang="en-US" sz="800" dirty="0"/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0" y="78366"/>
            <a:ext cx="10215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二、科研经历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系统侧谐波阻抗估计方法研究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-97965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-67980" y="684890"/>
            <a:ext cx="12294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.3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文献复现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1600" b="1" i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Study on the Estimation of Utility Harmonic Impedance Based on Minimum Norm of Impedance Difference </a:t>
            </a:r>
            <a:r>
              <a:rPr lang="en-US" altLang="zh-CN" sz="1600" b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IEEE ACCESS</a:t>
            </a:r>
            <a:r>
              <a:rPr lang="en-US" altLang="zh-CN" sz="1600" b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)</a:t>
            </a:r>
            <a:endParaRPr lang="zh-CN" altLang="en-US" b="1" dirty="0">
              <a:solidFill>
                <a:srgbClr val="0070C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1"/>
          <a:srcRect r="6628"/>
          <a:stretch>
            <a:fillRect/>
          </a:stretch>
        </p:blipFill>
        <p:spPr>
          <a:xfrm>
            <a:off x="4988051" y="4255137"/>
            <a:ext cx="3548658" cy="253368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/>
          <a:srcRect l="5465" r="5840"/>
          <a:stretch>
            <a:fillRect/>
          </a:stretch>
        </p:blipFill>
        <p:spPr>
          <a:xfrm>
            <a:off x="8644844" y="4257947"/>
            <a:ext cx="3367303" cy="253099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29" y="2397210"/>
            <a:ext cx="3470812" cy="2313874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2087" y="944251"/>
            <a:ext cx="6982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考虑系侧谐波阻抗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连续变化或突变，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在前一方法的基础上进行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073476" y="1961652"/>
          <a:ext cx="2915118" cy="583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AxMath" r:id="rId4" imgW="1828800" imgH="1828800" progId="Equation.AxMath">
                  <p:embed/>
                </p:oleObj>
              </mc:Choice>
              <mc:Fallback>
                <p:oleObj name="AxMath" r:id="rId4" imgW="1828800" imgH="1828800" progId="Equation.AxMath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3476" y="1961652"/>
                        <a:ext cx="2915118" cy="583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-1" y="1389561"/>
            <a:ext cx="5062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）最小化阻抗变化与背景谐波变化方差的范数平方和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1718" y="1296804"/>
            <a:ext cx="4864847" cy="553083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" y="4569845"/>
            <a:ext cx="1835392" cy="338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构造加权矩阵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79853" y="4908399"/>
          <a:ext cx="2001818" cy="1093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AxMath" r:id="rId6" imgW="1828800" imgH="1828800" progId="Equation.AxMath">
                  <p:embed/>
                </p:oleObj>
              </mc:Choice>
              <mc:Fallback>
                <p:oleObj name="AxMath" r:id="rId6" imgW="1828800" imgH="1828800" progId="Equation.AxMat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9853" y="4908399"/>
                        <a:ext cx="2001818" cy="1093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208266" y="4908399"/>
          <a:ext cx="2701704" cy="1093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AxMath" r:id="rId8" imgW="1828800" imgH="1828800" progId="Equation.AxMath">
                  <p:embed/>
                </p:oleObj>
              </mc:Choice>
              <mc:Fallback>
                <p:oleObj name="AxMath" r:id="rId8" imgW="1828800" imgH="1828800" progId="Equation.AxMath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08266" y="4908399"/>
                        <a:ext cx="2701704" cy="1093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69574" y="6101447"/>
          <a:ext cx="3869134" cy="626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AxMath" r:id="rId10" imgW="1828800" imgH="1828800" progId="Equation.AxMath">
                  <p:embed/>
                </p:oleObj>
              </mc:Choice>
              <mc:Fallback>
                <p:oleObj name="AxMath" r:id="rId10" imgW="1828800" imgH="1828800" progId="Equation.AxMath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9574" y="6101447"/>
                        <a:ext cx="3869134" cy="626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5008282" y="1296805"/>
            <a:ext cx="7111999" cy="553083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062071" y="1389732"/>
            <a:ext cx="5062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）改写目标函数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385050" y="1780025"/>
          <a:ext cx="28082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AxMath" r:id="rId12" imgW="1828800" imgH="1828800" progId="Equation.AxMath">
                  <p:embed/>
                </p:oleObj>
              </mc:Choice>
              <mc:Fallback>
                <p:oleObj name="AxMath" r:id="rId12" imgW="1828800" imgH="1828800" progId="Equation.AxMath">
                  <p:embed/>
                  <p:pic>
                    <p:nvPicPr>
                      <p:cNvPr id="0" name="对象 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385050" y="1780025"/>
                        <a:ext cx="2808288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010429" y="1704688"/>
          <a:ext cx="116363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AxMath" r:id="rId14" imgW="1828800" imgH="1828800" progId="Equation.AxMath">
                  <p:embed/>
                </p:oleObj>
              </mc:Choice>
              <mc:Fallback>
                <p:oleObj name="AxMath" r:id="rId14" imgW="1828800" imgH="1828800" progId="Equation.AxMath">
                  <p:embed/>
                  <p:pic>
                    <p:nvPicPr>
                      <p:cNvPr id="0" name="对象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10429" y="1704688"/>
                        <a:ext cx="1163637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379019" y="2168773"/>
            <a:ext cx="10278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最小化得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929555" y="2565581"/>
          <a:ext cx="57197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AxMath" r:id="rId16" imgW="1828800" imgH="1828800" progId="Equation.AxMath">
                  <p:embed/>
                </p:oleObj>
              </mc:Choice>
              <mc:Fallback>
                <p:oleObj name="AxMath" r:id="rId16" imgW="1828800" imgH="1828800" progId="Equation.AxMath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29555" y="2565581"/>
                        <a:ext cx="5719762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5062071" y="2932763"/>
                <a:ext cx="50620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）选择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λ</m:t>
                    </m:r>
                  </m:oMath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071" y="2932763"/>
                <a:ext cx="5062071" cy="338554"/>
              </a:xfrm>
              <a:prstGeom prst="rect">
                <a:avLst/>
              </a:prstGeom>
              <a:blipFill rotWithShape="1">
                <a:blip r:embed="rId18"/>
                <a:stretch>
                  <a:fillRect l="-10" t="-98" r="7" b="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7464988" y="3189938"/>
          <a:ext cx="2648411" cy="562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AxMath" r:id="rId19" imgW="1828800" imgH="1828800" progId="Equation.AxMath">
                  <p:embed/>
                </p:oleObj>
              </mc:Choice>
              <mc:Fallback>
                <p:oleObj name="AxMath" r:id="rId19" imgW="1828800" imgH="1828800" progId="Equation.AxMath">
                  <p:embed/>
                  <p:pic>
                    <p:nvPicPr>
                      <p:cNvPr id="0" name="图片 2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64988" y="3189938"/>
                        <a:ext cx="2648411" cy="562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391173" y="3777277"/>
          <a:ext cx="4238083" cy="626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AxMath" r:id="rId21" imgW="1828800" imgH="1828800" progId="Equation.AxMath">
                  <p:embed/>
                </p:oleObj>
              </mc:Choice>
              <mc:Fallback>
                <p:oleObj name="AxMath" r:id="rId21" imgW="1828800" imgH="1828800" progId="Equation.AxMath">
                  <p:embed/>
                  <p:pic>
                    <p:nvPicPr>
                      <p:cNvPr id="0" name="图片 2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91173" y="3777277"/>
                        <a:ext cx="4238083" cy="626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5062071" y="1389560"/>
            <a:ext cx="5062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）改写目标函数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211079" y="4516691"/>
            <a:ext cx="16246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估计效果：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能够准确跟踪系统侧谐波阻抗的缓变和突变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5801194" y="3897100"/>
            <a:ext cx="0" cy="449704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757003" y="-891915"/>
            <a:ext cx="38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795629" y="-906905"/>
            <a:ext cx="36325" cy="67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4357827" y="3582049"/>
            <a:ext cx="1229193" cy="3659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4050235" y="3912090"/>
            <a:ext cx="175095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4118646" y="3582221"/>
            <a:ext cx="1663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引入加权矩阵后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334" y="2507327"/>
            <a:ext cx="1015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按原思路构造函数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V="1">
            <a:off x="6063829" y="2784811"/>
            <a:ext cx="1812" cy="14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970763" y="6098734"/>
            <a:ext cx="2856134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691950" y="3582049"/>
            <a:ext cx="480317" cy="58393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2878657" y="3173516"/>
            <a:ext cx="480317" cy="57939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0" y="78366"/>
            <a:ext cx="10215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二、科研经历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系统侧谐波阻抗估计方法研究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0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0" y="643219"/>
            <a:ext cx="1422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.4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文献复现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1600" b="1" i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A Noninvasive Method to Estimate the Variable Utility Harmonic Impedance</a:t>
            </a:r>
            <a:r>
              <a:rPr lang="zh-CN" altLang="zh-CN" sz="1600" b="1" i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（</a:t>
            </a:r>
            <a:r>
              <a:rPr lang="en-US" altLang="zh-CN" sz="1600" b="1" i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IEEE Transactions on Power Delivery</a:t>
            </a:r>
            <a:r>
              <a:rPr lang="zh-CN" altLang="zh-CN" sz="1600" b="1" i="1" dirty="0">
                <a:solidFill>
                  <a:srgbClr val="0070C0"/>
                </a:solidFill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）</a:t>
            </a:r>
            <a:endParaRPr lang="zh-CN" altLang="en-US" b="1" i="1" dirty="0">
              <a:solidFill>
                <a:srgbClr val="0070C0"/>
              </a:solidFill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30175" y="1151890"/>
            <a:ext cx="7089775" cy="3136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2025.05             </a:t>
            </a:r>
            <a:r>
              <a:rPr lang="en-US" altLang="zh-CN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2025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年度全国大学生英语竞赛（</a:t>
            </a:r>
            <a:r>
              <a:rPr lang="en-US" altLang="zh-CN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NECCS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）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二等奖</a:t>
            </a:r>
            <a:endParaRPr lang="en-US" altLang="zh-CN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2024.05             </a:t>
            </a:r>
            <a:r>
              <a:rPr lang="en-US" altLang="zh-CN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2024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年度全国大学生英语竞赛（</a:t>
            </a:r>
            <a:r>
              <a:rPr lang="en-US" altLang="zh-CN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NECCS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）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三等奖</a:t>
            </a:r>
            <a:endParaRPr lang="zh-CN" altLang="en-US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2024.05             </a:t>
            </a:r>
            <a:r>
              <a:rPr lang="en-US" altLang="zh-CN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2024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年词达人杯全国大学生英语词汇能力大赛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江苏省二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等奖</a:t>
            </a:r>
            <a:endParaRPr lang="zh-CN" altLang="en-US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  <a:sym typeface="+mn-ea"/>
            </a:endParaRPr>
          </a:p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2024.05             </a:t>
            </a:r>
            <a:r>
              <a:rPr lang="en-US" altLang="zh-CN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2024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年外研社全国大学生外语能力大赛校赛笔译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  <a:sym typeface="+mn-ea"/>
              </a:rPr>
              <a:t>三等奖</a:t>
            </a:r>
            <a:endParaRPr lang="zh-CN" altLang="en-US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  <a:sym typeface="+mn-ea"/>
            </a:endParaRPr>
          </a:p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2024.12             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第十三届全国大学生数学竞赛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江苏省三等奖</a:t>
            </a:r>
            <a:endParaRPr lang="en-US" altLang="zh-CN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2024.06             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第二十一届江苏省高等数学竞赛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江苏省一等奖</a:t>
            </a:r>
            <a:endParaRPr lang="en-US" altLang="zh-CN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30175" y="4525010"/>
            <a:ext cx="7983855" cy="10896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2025.05             </a:t>
            </a:r>
            <a:r>
              <a:rPr lang="en-US" altLang="zh-CN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2025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年美国大学生数学建模竞赛</a:t>
            </a: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H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奖</a:t>
            </a:r>
            <a:endParaRPr lang="en-US" altLang="zh-CN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algn="just">
              <a:lnSpc>
                <a:spcPct val="180000"/>
              </a:lnSpc>
            </a:pPr>
            <a:r>
              <a:rPr lang="en-US" altLang="zh-CN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2024.06             </a:t>
            </a:r>
            <a:r>
              <a:rPr lang="zh-CN" altLang="en-US" sz="1600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第二十一届五一数学建模竞赛</a:t>
            </a:r>
            <a:r>
              <a:rPr lang="zh-CN" altLang="en-US" sz="1600" b="1" kern="100" dirty="0">
                <a:latin typeface="times" panose="02020603050405020304" pitchFamily="18" charset="0"/>
                <a:ea typeface="微软雅黑" panose="020B0503020204020204" pitchFamily="34" charset="-122"/>
                <a:cs typeface="times" panose="02020603050405020304" pitchFamily="18" charset="0"/>
              </a:rPr>
              <a:t>江苏省二等奖</a:t>
            </a:r>
            <a:endParaRPr lang="en-US" altLang="zh-CN" sz="1600" b="1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algn="just">
              <a:lnSpc>
                <a:spcPct val="180000"/>
              </a:lnSpc>
            </a:pPr>
            <a:endParaRPr lang="zh-CN" altLang="zh-CN" sz="1600" kern="100" dirty="0"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388575" y="816711"/>
            <a:ext cx="182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基础学科竞赛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 rot="2657010">
            <a:off x="167833" y="915804"/>
            <a:ext cx="184428" cy="18375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52072" y="4087920"/>
            <a:ext cx="180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数学建模竞赛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 rot="2657010">
            <a:off x="165925" y="4181298"/>
            <a:ext cx="184428" cy="183751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0" y="65303"/>
            <a:ext cx="10215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三、竞赛经历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231561" y="1055167"/>
            <a:ext cx="4813165" cy="1981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231561" y="3233109"/>
            <a:ext cx="4813165" cy="34847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091170" y="1999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证书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2955" r="7620"/>
          <a:stretch>
            <a:fillRect/>
          </a:stretch>
        </p:blipFill>
        <p:spPr>
          <a:xfrm>
            <a:off x="5025371" y="3573613"/>
            <a:ext cx="3429359" cy="28761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l="7839" t="-1" r="6647" b="2400"/>
          <a:stretch>
            <a:fillRect/>
          </a:stretch>
        </p:blipFill>
        <p:spPr>
          <a:xfrm>
            <a:off x="8528341" y="3571905"/>
            <a:ext cx="3237782" cy="2825347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4928214" y="1156064"/>
            <a:ext cx="6911520" cy="551472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8302" t="8044" r="6281" b="13040"/>
          <a:stretch>
            <a:fillRect/>
          </a:stretch>
        </p:blipFill>
        <p:spPr>
          <a:xfrm>
            <a:off x="353919" y="1156063"/>
            <a:ext cx="4219845" cy="5514724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</p:pic>
      <p:sp>
        <p:nvSpPr>
          <p:cNvPr id="14" name="文本框 13"/>
          <p:cNvSpPr txBox="1"/>
          <p:nvPr/>
        </p:nvSpPr>
        <p:spPr>
          <a:xfrm>
            <a:off x="4926561" y="1216868"/>
            <a:ext cx="6911520" cy="201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角色：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作为队长，主导模型建立、程序编写，参与论文写作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遗传算法、线性规划、基于熵权法的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TOPSIS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模型等策略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对生产企业原材料订购与运输问题进行求解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较完整地解决了赛题，给出了不同生产要求下的原材料订购与转运方案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928214" y="3352573"/>
            <a:ext cx="691152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0" y="65303"/>
            <a:ext cx="102151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三、竞赛经历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617776"/>
            <a:ext cx="12192000" cy="0"/>
          </a:xfrm>
          <a:prstGeom prst="line">
            <a:avLst/>
          </a:prstGeom>
          <a:ln w="57150">
            <a:solidFill>
              <a:srgbClr val="D8E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532" y="643219"/>
            <a:ext cx="1422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数学建模竞赛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—21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年国赛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题（省一等奖）</a:t>
            </a:r>
            <a:endParaRPr lang="zh-CN" altLang="en-US" b="1" i="1" dirty="0">
              <a:solidFill>
                <a:srgbClr val="0070C0"/>
              </a:solidFill>
              <a:latin typeface="times" panose="02020603050405020304" pitchFamily="18" charset="0"/>
              <a:ea typeface="微软雅黑" panose="020B050302020402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085" y="750570"/>
            <a:ext cx="3724910" cy="9493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85800" y="1859280"/>
            <a:ext cx="10820400" cy="3449320"/>
          </a:xfrm>
          <a:prstGeom prst="rect">
            <a:avLst/>
          </a:prstGeom>
          <a:solidFill>
            <a:srgbClr val="1E3C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稻壳儿搜索【幻雨工作室】_6"/>
          <p:cNvSpPr txBox="1"/>
          <p:nvPr/>
        </p:nvSpPr>
        <p:spPr>
          <a:xfrm>
            <a:off x="685800" y="4656889"/>
            <a:ext cx="10820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汇报人：范天成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   期：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2026.08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2660015"/>
            <a:ext cx="10820400" cy="1427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感谢各位老师，恳请批评指正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792" y="5585348"/>
            <a:ext cx="2606416" cy="471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13.87417322834648,&quot;left&quot;:329.00244094488187,&quot;top&quot;:202.20818897637795,&quot;width&quot;:315.80141732283465}"/>
</p:tagLst>
</file>

<file path=ppt/tags/tag2.xml><?xml version="1.0" encoding="utf-8"?>
<p:tagLst xmlns:p="http://schemas.openxmlformats.org/presentationml/2006/main">
  <p:tag name="KSO_WM_DIAGRAM_VIRTUALLY_FRAME" val="{&quot;height&quot;:213.87417322834648,&quot;left&quot;:329.00244094488187,&quot;top&quot;:202.20818897637795,&quot;width&quot;:315.80141732283465}"/>
</p:tagLst>
</file>

<file path=ppt/tags/tag3.xml><?xml version="1.0" encoding="utf-8"?>
<p:tagLst xmlns:p="http://schemas.openxmlformats.org/presentationml/2006/main">
  <p:tag name="KSO_WM_DIAGRAM_VIRTUALLY_FRAME" val="{&quot;height&quot;:213.87417322834648,&quot;left&quot;:329.00244094488187,&quot;top&quot;:202.20818897637795,&quot;width&quot;:315.80141732283465}"/>
</p:tagLst>
</file>

<file path=ppt/tags/tag4.xml><?xml version="1.0" encoding="utf-8"?>
<p:tagLst xmlns:p="http://schemas.openxmlformats.org/presentationml/2006/main">
  <p:tag name="KSO_WM_DIAGRAM_VIRTUALLY_FRAME" val="{&quot;height&quot;:213.87417322834648,&quot;left&quot;:329.00244094488187,&quot;top&quot;:202.20818897637795,&quot;width&quot;:315.80141732283465}"/>
</p:tagLst>
</file>

<file path=ppt/tags/tag5.xml><?xml version="1.0" encoding="utf-8"?>
<p:tagLst xmlns:p="http://schemas.openxmlformats.org/presentationml/2006/main">
  <p:tag name="KSO_WM_DIAGRAM_VIRTUALLY_FRAME" val="{&quot;height&quot;:213.87417322834648,&quot;left&quot;:329.00244094488187,&quot;top&quot;:202.20818897637795,&quot;width&quot;:315.80141732283465}"/>
</p:tagLst>
</file>

<file path=ppt/tags/tag6.xml><?xml version="1.0" encoding="utf-8"?>
<p:tagLst xmlns:p="http://schemas.openxmlformats.org/presentationml/2006/main">
  <p:tag name="KSO_WM_DIAGRAM_VIRTUALLY_FRAME" val="{&quot;height&quot;:213.87417322834648,&quot;left&quot;:329.00244094488187,&quot;top&quot;:202.20818897637795,&quot;width&quot;:315.80141732283465}"/>
</p:tagLst>
</file>

<file path=ppt/tags/tag7.xml><?xml version="1.0" encoding="utf-8"?>
<p:tagLst xmlns:p="http://schemas.openxmlformats.org/presentationml/2006/main">
  <p:tag name="KSO_WM_DIAGRAM_VIRTUALLY_FRAME" val="{&quot;height&quot;:437.2920472440945,&quot;left&quot;:10.076791428641354,&quot;top&quot;:64.30795275590552,&quot;width&quot;:628.8232085713587}"/>
</p:tagLst>
</file>

<file path=ppt/tags/tag8.xml><?xml version="1.0" encoding="utf-8"?>
<p:tagLst xmlns:p="http://schemas.openxmlformats.org/presentationml/2006/main">
  <p:tag name="KSO_WM_DIAGRAM_VIRTUALLY_FRAME" val="{&quot;height&quot;:437.2920472440945,&quot;left&quot;:10.076791428641354,&quot;top&quot;:64.30795275590552,&quot;width&quot;:628.8232085713587}"/>
</p:tagLst>
</file>

<file path=ppt/tags/tag9.xml><?xml version="1.0" encoding="utf-8"?>
<p:tagLst xmlns:p="http://schemas.openxmlformats.org/presentationml/2006/main">
  <p:tag name="KSO_WM_DIAGRAM_VIRTUALLY_FRAME" val="{&quot;height&quot;:437.2920472440945,&quot;left&quot;:10.076791428641354,&quot;top&quot;:64.30795275590552,&quot;width&quot;:628.8232085713587}"/>
</p:tagLst>
</file>

<file path=ppt/tags/tag10.xml><?xml version="1.0" encoding="utf-8"?>
<p:tagLst xmlns:p="http://schemas.openxmlformats.org/presentationml/2006/main">
  <p:tag name="KSO_WM_DIAGRAM_VIRTUALLY_FRAME" val="{&quot;height&quot;:437.2920472440945,&quot;left&quot;:10.076791428641354,&quot;top&quot;:64.30795275590552,&quot;width&quot;:628.8232085713587}"/>
</p:tagLst>
</file>

<file path=ppt/tags/tag11.xml><?xml version="1.0" encoding="utf-8"?>
<p:tagLst xmlns:p="http://schemas.openxmlformats.org/presentationml/2006/main">
  <p:tag name="KSO_WM_DIAGRAM_VIRTUALLY_FRAME" val="{&quot;height&quot;:437.2920472440945,&quot;left&quot;:10.076791428641354,&quot;top&quot;:64.30795275590552,&quot;width&quot;:628.8232085713587}"/>
</p:tagLst>
</file>

<file path=ppt/tags/tag12.xml><?xml version="1.0" encoding="utf-8"?>
<p:tagLst xmlns:p="http://schemas.openxmlformats.org/presentationml/2006/main">
  <p:tag name="KSO_WM_DIAGRAM_VIRTUALLY_FRAME" val="{&quot;height&quot;:437.2920472440945,&quot;left&quot;:10.076791428641354,&quot;top&quot;:64.30795275590552,&quot;width&quot;:628.823208571358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E3F41"/>
      </a:accent1>
      <a:accent2>
        <a:srgbClr val="9DA2A4"/>
      </a:accent2>
      <a:accent3>
        <a:srgbClr val="3E3F41"/>
      </a:accent3>
      <a:accent4>
        <a:srgbClr val="9DA2A4"/>
      </a:accent4>
      <a:accent5>
        <a:srgbClr val="3E3F41"/>
      </a:accent5>
      <a:accent6>
        <a:srgbClr val="9DA2A4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2419</Words>
  <Application>WPS 演示</Application>
  <PresentationFormat>宽屏</PresentationFormat>
  <Paragraphs>169</Paragraphs>
  <Slides>11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11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Calibri</vt:lpstr>
      <vt:lpstr>Times New Roman</vt:lpstr>
      <vt:lpstr>Cambria Math</vt:lpstr>
      <vt:lpstr>times</vt:lpstr>
      <vt:lpstr>等线</vt:lpstr>
      <vt:lpstr>Arial Unicode MS</vt:lpstr>
      <vt:lpstr>等线 Light</vt:lpstr>
      <vt:lpstr>Good Times</vt:lpstr>
      <vt:lpstr>字魂105号-简雅黑</vt:lpstr>
      <vt:lpstr>Calibri Light</vt:lpstr>
      <vt:lpstr>黑体</vt:lpstr>
      <vt:lpstr>Arial Black</vt:lpstr>
      <vt:lpstr>MS Mincho</vt:lpstr>
      <vt:lpstr>Segoe Print</vt:lpstr>
      <vt:lpstr>Office 主题​​</vt:lpstr>
      <vt:lpstr>1_Office 主题​​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范天成</cp:lastModifiedBy>
  <cp:revision>276</cp:revision>
  <cp:lastPrinted>2023-06-22T08:07:00Z</cp:lastPrinted>
  <dcterms:created xsi:type="dcterms:W3CDTF">2021-07-07T18:23:00Z</dcterms:created>
  <dcterms:modified xsi:type="dcterms:W3CDTF">2026-08-04T15:42:31Z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D60A981207374A18939EF43AB6302B3D_13</vt:lpwstr>
  </property>
  <property fmtid="{D5CDD505-2E9C-101B-9397-08002B2CF9AE}" pid="3" name="KSOProductBuildVer">
    <vt:lpwstr>2052-12.1.0.23542</vt:lpwstr>
  </property>
</Properties>
</file>