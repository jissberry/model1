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wdp" ContentType="image/vnd.ms-photo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  <p:sldMasterId id="2147483666" r:id="rId4"/>
  </p:sldMasterIdLst>
  <p:notesMasterIdLst>
    <p:notesMasterId r:id="rId7"/>
  </p:notesMasterIdLst>
  <p:sldIdLst>
    <p:sldId id="3228" r:id="rId5"/>
    <p:sldId id="270" r:id="rId6"/>
    <p:sldId id="293" r:id="rId8"/>
    <p:sldId id="3255" r:id="rId9"/>
    <p:sldId id="3278" r:id="rId10"/>
    <p:sldId id="3279" r:id="rId11"/>
    <p:sldId id="3284" r:id="rId12"/>
    <p:sldId id="3285" r:id="rId13"/>
    <p:sldId id="3343" r:id="rId14"/>
    <p:sldId id="3341" r:id="rId15"/>
    <p:sldId id="3346" r:id="rId16"/>
    <p:sldId id="3282" r:id="rId17"/>
    <p:sldId id="3281" r:id="rId18"/>
    <p:sldId id="3347" r:id="rId19"/>
    <p:sldId id="3338" r:id="rId20"/>
    <p:sldId id="3339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8" userDrawn="1">
          <p15:clr>
            <a:srgbClr val="A4A3A4"/>
          </p15:clr>
        </p15:guide>
        <p15:guide id="2" pos="381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395428891" name="宋祥喆" initials="宋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78C3"/>
    <a:srgbClr val="1A78C2"/>
    <a:srgbClr val="1B6299"/>
    <a:srgbClr val="8609AD"/>
    <a:srgbClr val="1C6299"/>
    <a:srgbClr val="1B6298"/>
    <a:srgbClr val="96C4D1"/>
    <a:srgbClr val="6F3A97"/>
    <a:srgbClr val="D7E0E6"/>
    <a:srgbClr val="286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68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888" y="579"/>
      </p:cViewPr>
      <p:guideLst>
        <p:guide orient="horz" pos="2278"/>
        <p:guide pos="381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893C12-D317-442F-945E-D6517EECB5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6DC35-3D39-4E5D-813A-1465AB5946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C6EB1-3B9C-423A-A463-BABF6B6D69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75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47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19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84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56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90" y="1681163"/>
            <a:ext cx="515778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90" y="2505076"/>
            <a:ext cx="515778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6"/>
            <a:ext cx="5183189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90" y="987428"/>
            <a:ext cx="617219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90" y="987428"/>
            <a:ext cx="617219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3765" indent="0">
              <a:buNone/>
              <a:defRPr sz="2400"/>
            </a:lvl3pPr>
            <a:lvl4pPr marL="1370965" indent="0">
              <a:buNone/>
              <a:defRPr sz="2000"/>
            </a:lvl4pPr>
            <a:lvl5pPr marL="1827530" indent="0">
              <a:buNone/>
              <a:defRPr sz="2000"/>
            </a:lvl5pPr>
            <a:lvl6pPr marL="2284730" indent="0">
              <a:buNone/>
              <a:defRPr sz="2000"/>
            </a:lvl6pPr>
            <a:lvl7pPr marL="2741930" indent="0">
              <a:buNone/>
              <a:defRPr sz="2000"/>
            </a:lvl7pPr>
            <a:lvl8pPr marL="3198495" indent="0">
              <a:buNone/>
              <a:defRPr sz="2000"/>
            </a:lvl8pPr>
            <a:lvl9pPr marL="3655695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8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2" y="365128"/>
            <a:ext cx="7734301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 advClick="0" advTm="1000">
    <p:randomBar dir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7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transition spd="slow" advClick="0" advTm="1000">
    <p:randomBar dir="vert"/>
  </p:transition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3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1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0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7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6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389" y="365780"/>
            <a:ext cx="10515224" cy="132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389" y="1825890"/>
            <a:ext cx="10515224" cy="4351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389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3E93-166D-47F5-9EF1-ACEABE24AE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413" y="6356747"/>
            <a:ext cx="4115176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166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D5ACA-62CA-46DB-AD6B-12EDD6D51A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xStyles>
    <p:titleStyle>
      <a:lvl1pPr algn="l" defTabSz="866775" rtl="0" eaLnBrk="1" latinLnBrk="0" hangingPunct="1">
        <a:lnSpc>
          <a:spcPct val="90000"/>
        </a:lnSpc>
        <a:spcBef>
          <a:spcPct val="0"/>
        </a:spcBef>
        <a:buNone/>
        <a:defRPr sz="41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535" indent="-216535" algn="l" defTabSz="866775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2pPr>
      <a:lvl3pPr marL="108394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3pPr>
      <a:lvl4pPr marL="151701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95072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38379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81749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25120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68427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1pPr>
      <a:lvl2pPr marL="43370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6677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3pPr>
      <a:lvl4pPr marL="130048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73418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16725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60096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03403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46773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microsoft.com/office/2007/relationships/hdphoto" Target="../media/image5.wdp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1.xml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6.pn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26.xml"/><Relationship Id="rId7" Type="http://schemas.openxmlformats.org/officeDocument/2006/relationships/image" Target="../media/image12.wmf"/><Relationship Id="rId6" Type="http://schemas.openxmlformats.org/officeDocument/2006/relationships/oleObject" Target="../embeddings/oleObject3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10.png"/><Relationship Id="rId2" Type="http://schemas.openxmlformats.org/officeDocument/2006/relationships/image" Target="../media/image9.wmf"/><Relationship Id="rId13" Type="http://schemas.openxmlformats.org/officeDocument/2006/relationships/notesSlide" Target="../notesSlides/notesSlide6.xml"/><Relationship Id="rId12" Type="http://schemas.openxmlformats.org/officeDocument/2006/relationships/vmlDrawing" Target="../drawings/vmlDrawing1.vml"/><Relationship Id="rId11" Type="http://schemas.openxmlformats.org/officeDocument/2006/relationships/slideLayout" Target="../slideLayouts/slideLayout4.xml"/><Relationship Id="rId10" Type="http://schemas.openxmlformats.org/officeDocument/2006/relationships/tags" Target="../tags/tag27.xml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wmf"/><Relationship Id="rId2" Type="http://schemas.openxmlformats.org/officeDocument/2006/relationships/oleObject" Target="../embeddings/oleObject4.bin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4.xml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emf"/><Relationship Id="rId1" Type="http://schemas.openxmlformats.org/officeDocument/2006/relationships/oleObject" Target="../embeddings/oleObject5.bin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7.png"/><Relationship Id="rId1" Type="http://schemas.openxmlformats.org/officeDocument/2006/relationships/tags" Target="../tags/tag3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546580"/>
            <a:ext cx="12191331" cy="1838567"/>
          </a:xfrm>
          <a:prstGeom prst="rect">
            <a:avLst/>
          </a:prstGeom>
          <a:solidFill>
            <a:srgbClr val="1A78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386906" y="3923981"/>
            <a:ext cx="6498497" cy="274320"/>
          </a:xfrm>
          <a:prstGeom prst="rect">
            <a:avLst/>
          </a:prstGeom>
        </p:spPr>
        <p:txBody>
          <a:bodyPr wrap="square" lIns="91397" tIns="45699" rIns="91397" bIns="45699">
            <a:spAutoFit/>
          </a:bodyPr>
          <a:lstStyle/>
          <a:p>
            <a:pPr algn="ctr" defTabSz="913765">
              <a:defRPr/>
            </a:pPr>
            <a:r>
              <a:rPr lang="en-US" altLang="zh-CN" sz="1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Estimation of the ROA in Power Systems After Large Disturbances</a:t>
            </a:r>
            <a:endParaRPr lang="en-US" altLang="zh-CN" sz="12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24353" y="2153727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2014069"/>
            <a:ext cx="3140616" cy="290358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902947" y="3137457"/>
            <a:ext cx="5466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3765">
              <a:defRPr/>
            </a:pPr>
            <a:r>
              <a:rPr lang="zh-CN" altLang="en-US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电力系统大扰动</a:t>
            </a:r>
            <a:r>
              <a:rPr lang="zh-CN" altLang="en-US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后吸引域估计</a:t>
            </a:r>
            <a:endParaRPr lang="zh-CN" altLang="en-US" sz="32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  <a14:imgEffect>
                      <a14:sharpenSoften amoun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401" y="150150"/>
            <a:ext cx="1966449" cy="575997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4977429" y="5239093"/>
            <a:ext cx="3028952" cy="799311"/>
            <a:chOff x="4977763" y="4912139"/>
            <a:chExt cx="3028952" cy="799311"/>
          </a:xfrm>
        </p:grpSpPr>
        <p:sp>
          <p:nvSpPr>
            <p:cNvPr id="16" name="文本占位符 56"/>
            <p:cNvSpPr txBox="1"/>
            <p:nvPr/>
          </p:nvSpPr>
          <p:spPr>
            <a:xfrm>
              <a:off x="5530014" y="4912139"/>
              <a:ext cx="1924047" cy="353120"/>
            </a:xfrm>
            <a:custGeom>
              <a:avLst/>
              <a:gdLst>
                <a:gd name="connsiteX0" fmla="*/ 0 w 1747925"/>
                <a:gd name="connsiteY0" fmla="*/ 176559 h 353120"/>
                <a:gd name="connsiteX1" fmla="*/ 0 w 1747925"/>
                <a:gd name="connsiteY1" fmla="*/ 176560 h 353120"/>
                <a:gd name="connsiteX2" fmla="*/ 0 w 1747925"/>
                <a:gd name="connsiteY2" fmla="*/ 176560 h 353120"/>
                <a:gd name="connsiteX3" fmla="*/ 176560 w 1747925"/>
                <a:gd name="connsiteY3" fmla="*/ 0 h 353120"/>
                <a:gd name="connsiteX4" fmla="*/ 1571365 w 1747925"/>
                <a:gd name="connsiteY4" fmla="*/ 0 h 353120"/>
                <a:gd name="connsiteX5" fmla="*/ 1747925 w 1747925"/>
                <a:gd name="connsiteY5" fmla="*/ 176560 h 353120"/>
                <a:gd name="connsiteX6" fmla="*/ 1747924 w 1747925"/>
                <a:gd name="connsiteY6" fmla="*/ 176560 h 353120"/>
                <a:gd name="connsiteX7" fmla="*/ 1571364 w 1747925"/>
                <a:gd name="connsiteY7" fmla="*/ 353120 h 353120"/>
                <a:gd name="connsiteX8" fmla="*/ 176560 w 1747925"/>
                <a:gd name="connsiteY8" fmla="*/ 353119 h 353120"/>
                <a:gd name="connsiteX9" fmla="*/ 13875 w 1747925"/>
                <a:gd name="connsiteY9" fmla="*/ 245284 h 353120"/>
                <a:gd name="connsiteX10" fmla="*/ 0 w 1747925"/>
                <a:gd name="connsiteY10" fmla="*/ 176560 h 353120"/>
                <a:gd name="connsiteX11" fmla="*/ 13875 w 1747925"/>
                <a:gd name="connsiteY11" fmla="*/ 107835 h 353120"/>
                <a:gd name="connsiteX12" fmla="*/ 176560 w 1747925"/>
                <a:gd name="connsiteY12" fmla="*/ 0 h 353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47925" h="353120">
                  <a:moveTo>
                    <a:pt x="0" y="176559"/>
                  </a:moveTo>
                  <a:lnTo>
                    <a:pt x="0" y="176560"/>
                  </a:lnTo>
                  <a:lnTo>
                    <a:pt x="0" y="176560"/>
                  </a:lnTo>
                  <a:close/>
                  <a:moveTo>
                    <a:pt x="176560" y="0"/>
                  </a:moveTo>
                  <a:lnTo>
                    <a:pt x="1571365" y="0"/>
                  </a:lnTo>
                  <a:cubicBezTo>
                    <a:pt x="1668876" y="0"/>
                    <a:pt x="1747925" y="79049"/>
                    <a:pt x="1747925" y="176560"/>
                  </a:cubicBezTo>
                  <a:lnTo>
                    <a:pt x="1747924" y="176560"/>
                  </a:lnTo>
                  <a:cubicBezTo>
                    <a:pt x="1747924" y="274071"/>
                    <a:pt x="1668875" y="353120"/>
                    <a:pt x="1571364" y="353120"/>
                  </a:cubicBezTo>
                  <a:lnTo>
                    <a:pt x="176560" y="353119"/>
                  </a:lnTo>
                  <a:cubicBezTo>
                    <a:pt x="103427" y="353119"/>
                    <a:pt x="40679" y="308654"/>
                    <a:pt x="13875" y="245284"/>
                  </a:cubicBezTo>
                  <a:lnTo>
                    <a:pt x="0" y="176560"/>
                  </a:lnTo>
                  <a:lnTo>
                    <a:pt x="13875" y="107835"/>
                  </a:lnTo>
                  <a:cubicBezTo>
                    <a:pt x="40679" y="44465"/>
                    <a:pt x="103427" y="0"/>
                    <a:pt x="176560" y="0"/>
                  </a:cubicBezTo>
                  <a:close/>
                </a:path>
              </a:pathLst>
            </a:custGeom>
            <a:solidFill>
              <a:srgbClr val="1A78C3"/>
            </a:solidFill>
          </p:spPr>
          <p:txBody>
            <a:bodyPr vert="horz" wrap="square" lIns="91440" tIns="45720" rIns="91440" bIns="45720" rtlCol="0" anchor="ctr" anchorCtr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Tx/>
                <a:buNone/>
                <a:defRPr sz="1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Tx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Tx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Tx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Tx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zh-CN" altLang="en-US" dirty="0">
                  <a:solidFill>
                    <a:sysClr val="window" lastClr="FFFFFF"/>
                  </a:solidFill>
                  <a:latin typeface="Arial" panose="020B0604020202020204"/>
                  <a:ea typeface="微软雅黑" panose="020B0503020204020204" pitchFamily="34" charset="-122"/>
                </a:rPr>
                <a:t>汇报人：</a:t>
              </a:r>
              <a:r>
                <a:rPr lang="en-US" altLang="zh-CN" dirty="0">
                  <a:solidFill>
                    <a:sysClr val="window" lastClr="FFFFFF"/>
                  </a:solidFill>
                  <a:latin typeface="Arial" panose="020B0604020202020204"/>
                  <a:ea typeface="微软雅黑" panose="020B0503020204020204" pitchFamily="34" charset="-122"/>
                </a:rPr>
                <a:t> </a:t>
              </a:r>
              <a:endParaRPr lang="en-US" altLang="zh-CN" dirty="0">
                <a:solidFill>
                  <a:sysClr val="window" lastClr="FFFFFF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17" name="文本占位符 13"/>
            <p:cNvSpPr txBox="1"/>
            <p:nvPr/>
          </p:nvSpPr>
          <p:spPr>
            <a:xfrm>
              <a:off x="4977763" y="5415179"/>
              <a:ext cx="3028952" cy="29627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zh-CN" dirty="0">
                  <a:solidFill>
                    <a:sysClr val="windowText" lastClr="000000"/>
                  </a:solidFill>
                  <a:latin typeface="Arial" panose="020B0604020202020204"/>
                  <a:ea typeface="微软雅黑" panose="020B0503020204020204" pitchFamily="34" charset="-122"/>
                </a:rPr>
                <a:t> 2024 / 5 / 6</a:t>
              </a:r>
              <a:endParaRPr lang="zh-CN" altLang="en-US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 advClick="0" advTm="1000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/>
          <p:cNvSpPr/>
          <p:nvPr/>
        </p:nvSpPr>
        <p:spPr>
          <a:xfrm flipH="1">
            <a:off x="0" y="0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7" name="组合 16"/>
          <p:cNvGrpSpPr/>
          <p:nvPr>
            <p:custDataLst>
              <p:tags r:id="rId1"/>
            </p:custDataLst>
          </p:nvPr>
        </p:nvGrpSpPr>
        <p:grpSpPr>
          <a:xfrm>
            <a:off x="3785242" y="2110338"/>
            <a:ext cx="2863850" cy="1227723"/>
            <a:chOff x="5576876" y="540040"/>
            <a:chExt cx="2863850" cy="1227723"/>
          </a:xfrm>
        </p:grpSpPr>
        <p:sp>
          <p:nvSpPr>
            <p:cNvPr id="18" name="文本框 17"/>
            <p:cNvSpPr txBox="1"/>
            <p:nvPr>
              <p:custDataLst>
                <p:tags r:id="rId2"/>
              </p:custDataLst>
            </p:nvPr>
          </p:nvSpPr>
          <p:spPr>
            <a:xfrm>
              <a:off x="5576876" y="540040"/>
              <a:ext cx="77938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1200" cap="none" spc="30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1C6299"/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bg1"/>
                      </a:gs>
                    </a:gsLst>
                    <a:lin ang="5400000" scaled="1"/>
                    <a:tileRect/>
                  </a:gra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pitchFamily="34" charset="-122"/>
                  <a:cs typeface="+mn-cs"/>
                </a:rPr>
                <a:t>01</a:t>
              </a:r>
              <a:endParaRPr kumimoji="0" lang="zh-CN" altLang="en-US" sz="4400" b="0" i="0" u="none" strike="noStrike" kern="1200" cap="none" spc="30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1C6299"/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3"/>
              </p:custDataLst>
            </p:nvPr>
          </p:nvSpPr>
          <p:spPr>
            <a:xfrm>
              <a:off x="5576876" y="977361"/>
              <a:ext cx="25831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300" normalizeH="0" baseline="0" noProof="0" dirty="0">
                  <a:ln>
                    <a:noFill/>
                  </a:ln>
                  <a:solidFill>
                    <a:srgbClr val="44546A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研究背景与意义</a:t>
              </a:r>
              <a:endPara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4"/>
              </p:custDataLst>
            </p:nvPr>
          </p:nvSpPr>
          <p:spPr>
            <a:xfrm>
              <a:off x="5576876" y="1461058"/>
              <a:ext cx="2863850" cy="3067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10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Background and significance </a:t>
              </a:r>
              <a:endPara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5"/>
            </p:custDataLst>
          </p:nvPr>
        </p:nvGrpSpPr>
        <p:grpSpPr>
          <a:xfrm>
            <a:off x="7789084" y="2110338"/>
            <a:ext cx="3554095" cy="1227723"/>
            <a:chOff x="8704421" y="540040"/>
            <a:chExt cx="3554095" cy="1227723"/>
          </a:xfrm>
        </p:grpSpPr>
        <p:sp>
          <p:nvSpPr>
            <p:cNvPr id="22" name="文本框 21"/>
            <p:cNvSpPr txBox="1"/>
            <p:nvPr>
              <p:custDataLst>
                <p:tags r:id="rId6"/>
              </p:custDataLst>
            </p:nvPr>
          </p:nvSpPr>
          <p:spPr>
            <a:xfrm>
              <a:off x="8704421" y="540040"/>
              <a:ext cx="848309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 spc="300">
                  <a:gradFill>
                    <a:gsLst>
                      <a:gs pos="0">
                        <a:srgbClr val="5C307D"/>
                      </a:gs>
                      <a:gs pos="90000">
                        <a:srgbClr val="5C307D">
                          <a:alpha val="0"/>
                        </a:srgbClr>
                      </a:gs>
                    </a:gsLst>
                    <a:lin ang="5400000" scaled="1"/>
                  </a:gradFill>
                  <a:latin typeface="Impact" panose="020B0806030902050204" pitchFamily="34" charset="0"/>
                  <a:ea typeface="微软雅黑" panose="020B0503020204020204" pitchFamily="3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1200" cap="none" spc="30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1C6299"/>
                      </a:gs>
                      <a:gs pos="97403">
                        <a:srgbClr val="5C307D">
                          <a:alpha val="0"/>
                        </a:srgbClr>
                      </a:gs>
                      <a:gs pos="97000">
                        <a:schemeClr val="bg1"/>
                      </a:gs>
                    </a:gsLst>
                    <a:lin ang="5400000" scaled="1"/>
                    <a:tileRect/>
                  </a:gra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4400" b="0" i="0" u="none" strike="noStrike" kern="1200" cap="none" spc="30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1C6299"/>
                    </a:gs>
                    <a:gs pos="97403">
                      <a:srgbClr val="5C307D">
                        <a:alpha val="0"/>
                      </a:srgbClr>
                    </a:gs>
                    <a:gs pos="97000">
                      <a:schemeClr val="bg1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7"/>
              </p:custDataLst>
            </p:nvPr>
          </p:nvSpPr>
          <p:spPr>
            <a:xfrm>
              <a:off x="8704421" y="977361"/>
              <a:ext cx="2926080" cy="4235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j-cs"/>
                  <a:sym typeface="+mn-ea"/>
                </a:rPr>
                <a:t>模型分析及算法设计</a:t>
              </a:r>
              <a:endPara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8"/>
              </p:custDataLst>
            </p:nvPr>
          </p:nvSpPr>
          <p:spPr>
            <a:xfrm>
              <a:off x="8704421" y="1461058"/>
              <a:ext cx="3554095" cy="3067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10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Model Analysis and Algorithm Design</a:t>
              </a:r>
              <a:endPara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9"/>
            </p:custDataLst>
          </p:nvPr>
        </p:nvGrpSpPr>
        <p:grpSpPr>
          <a:xfrm>
            <a:off x="3785242" y="3851694"/>
            <a:ext cx="3216275" cy="1197181"/>
            <a:chOff x="5576876" y="2230747"/>
            <a:chExt cx="3216275" cy="1197181"/>
          </a:xfrm>
        </p:grpSpPr>
        <p:sp>
          <p:nvSpPr>
            <p:cNvPr id="26" name="文本框 25"/>
            <p:cNvSpPr txBox="1"/>
            <p:nvPr>
              <p:custDataLst>
                <p:tags r:id="rId10"/>
              </p:custDataLst>
            </p:nvPr>
          </p:nvSpPr>
          <p:spPr>
            <a:xfrm>
              <a:off x="5576876" y="2230747"/>
              <a:ext cx="864339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 spc="300">
                  <a:gradFill>
                    <a:gsLst>
                      <a:gs pos="0">
                        <a:srgbClr val="5C307D"/>
                      </a:gs>
                      <a:gs pos="90000">
                        <a:srgbClr val="5C307D">
                          <a:alpha val="0"/>
                        </a:srgbClr>
                      </a:gs>
                    </a:gsLst>
                    <a:lin ang="5400000" scaled="1"/>
                  </a:gradFill>
                  <a:latin typeface="Impact" panose="020B0806030902050204" pitchFamily="34" charset="0"/>
                  <a:ea typeface="微软雅黑" panose="020B0503020204020204" pitchFamily="3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1200" cap="none" spc="300" normalizeH="0" baseline="0" noProof="0" dirty="0">
                  <a:ln>
                    <a:noFill/>
                  </a:ln>
                  <a:gradFill>
                    <a:gsLst>
                      <a:gs pos="0">
                        <a:srgbClr val="1C6299"/>
                      </a:gs>
                      <a:gs pos="90000">
                        <a:schemeClr val="bg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44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0">
                      <a:srgbClr val="1C6299"/>
                    </a:gs>
                    <a:gs pos="9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11"/>
              </p:custDataLst>
            </p:nvPr>
          </p:nvSpPr>
          <p:spPr>
            <a:xfrm>
              <a:off x="5576876" y="2637526"/>
              <a:ext cx="22402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300" normalizeH="0" baseline="0" noProof="0" dirty="0">
                  <a:ln>
                    <a:noFill/>
                  </a:ln>
                  <a:solidFill>
                    <a:srgbClr val="44546A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估计</a:t>
              </a:r>
              <a:r>
                <a:rPr kumimoji="0" lang="zh-CN" altLang="en-US" sz="2400" b="1" i="0" u="none" strike="noStrike" kern="1200" cap="none" spc="300" normalizeH="0" baseline="0" noProof="0" dirty="0">
                  <a:ln>
                    <a:noFill/>
                  </a:ln>
                  <a:solidFill>
                    <a:srgbClr val="44546A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效果对比</a:t>
              </a:r>
              <a:endPara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文本框 27"/>
            <p:cNvSpPr txBox="1"/>
            <p:nvPr>
              <p:custDataLst>
                <p:tags r:id="rId12"/>
              </p:custDataLst>
            </p:nvPr>
          </p:nvSpPr>
          <p:spPr>
            <a:xfrm>
              <a:off x="5576876" y="3121223"/>
              <a:ext cx="3216275" cy="3067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10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Comparison of Estimation Effects</a:t>
              </a:r>
              <a:endPara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9" name="组合 28"/>
          <p:cNvGrpSpPr/>
          <p:nvPr>
            <p:custDataLst>
              <p:tags r:id="rId13"/>
            </p:custDataLst>
          </p:nvPr>
        </p:nvGrpSpPr>
        <p:grpSpPr>
          <a:xfrm>
            <a:off x="7789084" y="3851694"/>
            <a:ext cx="2194560" cy="1197181"/>
            <a:chOff x="8704421" y="2230747"/>
            <a:chExt cx="2194560" cy="1197181"/>
          </a:xfrm>
        </p:grpSpPr>
        <p:sp>
          <p:nvSpPr>
            <p:cNvPr id="30" name="文本框 29"/>
            <p:cNvSpPr txBox="1"/>
            <p:nvPr>
              <p:custDataLst>
                <p:tags r:id="rId14"/>
              </p:custDataLst>
            </p:nvPr>
          </p:nvSpPr>
          <p:spPr>
            <a:xfrm>
              <a:off x="8704421" y="2230747"/>
              <a:ext cx="846707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 spc="300">
                  <a:gradFill>
                    <a:gsLst>
                      <a:gs pos="0">
                        <a:srgbClr val="5C307D"/>
                      </a:gs>
                      <a:gs pos="90000">
                        <a:srgbClr val="5C307D">
                          <a:alpha val="0"/>
                        </a:srgbClr>
                      </a:gs>
                    </a:gsLst>
                    <a:lin ang="5400000" scaled="1"/>
                  </a:gradFill>
                  <a:latin typeface="Impact" panose="020B0806030902050204" pitchFamily="34" charset="0"/>
                  <a:ea typeface="微软雅黑" panose="020B0503020204020204" pitchFamily="3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1200" cap="none" spc="300" normalizeH="0" baseline="0" noProof="0" dirty="0">
                  <a:ln>
                    <a:noFill/>
                  </a:ln>
                  <a:gradFill>
                    <a:gsLst>
                      <a:gs pos="0">
                        <a:srgbClr val="1C6299"/>
                      </a:gs>
                      <a:gs pos="10000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44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0">
                      <a:srgbClr val="1C6299"/>
                    </a:gs>
                    <a:gs pos="10000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1" name="文本框 30"/>
            <p:cNvSpPr txBox="1"/>
            <p:nvPr>
              <p:custDataLst>
                <p:tags r:id="rId15"/>
              </p:custDataLst>
            </p:nvPr>
          </p:nvSpPr>
          <p:spPr>
            <a:xfrm>
              <a:off x="8704421" y="2637526"/>
              <a:ext cx="18973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300" normalizeH="0" baseline="0" noProof="0" dirty="0">
                  <a:ln>
                    <a:noFill/>
                  </a:ln>
                  <a:solidFill>
                    <a:srgbClr val="44546A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总结与展望</a:t>
              </a:r>
              <a:endPara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6"/>
              </p:custDataLst>
            </p:nvPr>
          </p:nvSpPr>
          <p:spPr>
            <a:xfrm>
              <a:off x="8704421" y="3121223"/>
              <a:ext cx="2194560" cy="3067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10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Summary and Outlook</a:t>
              </a:r>
              <a:endPara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57933" y="870126"/>
            <a:ext cx="1601400" cy="5445722"/>
            <a:chOff x="457933" y="870126"/>
            <a:chExt cx="1601400" cy="5445722"/>
          </a:xfrm>
        </p:grpSpPr>
        <p:sp>
          <p:nvSpPr>
            <p:cNvPr id="37" name="文本框 36"/>
            <p:cNvSpPr txBox="1"/>
            <p:nvPr/>
          </p:nvSpPr>
          <p:spPr>
            <a:xfrm rot="16200000">
              <a:off x="-1541653" y="2869712"/>
              <a:ext cx="5445722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5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Contents</a:t>
              </a:r>
              <a:r>
                <a:rPr kumimoji="0" lang="en-US" altLang="zh-CN" sz="8800" b="1" i="0" u="none" strike="noStrike" kern="1200" cap="none" spc="50" normalizeH="0" baseline="0" noProof="0" dirty="0">
                  <a:ln>
                    <a:noFill/>
                  </a:ln>
                  <a:solidFill>
                    <a:srgbClr val="1C629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.</a:t>
              </a:r>
              <a:endParaRPr kumimoji="0" lang="zh-CN" altLang="en-US" sz="8800" b="1" i="0" u="none" strike="noStrike" kern="1200" cap="none" spc="50" normalizeH="0" baseline="0" noProof="0" dirty="0">
                <a:ln>
                  <a:noFill/>
                </a:ln>
                <a:solidFill>
                  <a:srgbClr val="1C629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320669" y="5117804"/>
              <a:ext cx="738664" cy="1169551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600" normalizeH="0" baseline="0" noProof="0" dirty="0">
                  <a:ln>
                    <a:noFill/>
                  </a:ln>
                  <a:solidFill>
                    <a:srgbClr val="1C629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目录</a:t>
              </a:r>
              <a:endParaRPr kumimoji="0" lang="zh-CN" altLang="en-US" sz="3600" b="1" i="0" u="none" strike="noStrike" kern="1200" cap="none" spc="600" normalizeH="0" baseline="0" noProof="0" dirty="0">
                <a:ln>
                  <a:noFill/>
                </a:ln>
                <a:solidFill>
                  <a:srgbClr val="1C629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10718598" y="6315848"/>
            <a:ext cx="1052654" cy="108000"/>
            <a:chOff x="10467218" y="6126091"/>
            <a:chExt cx="1052654" cy="108000"/>
          </a:xfrm>
          <a:gradFill>
            <a:gsLst>
              <a:gs pos="0">
                <a:srgbClr val="1C6299"/>
              </a:gs>
              <a:gs pos="100000">
                <a:srgbClr val="5C307D">
                  <a:alpha val="40000"/>
                </a:srgbClr>
              </a:gs>
            </a:gsLst>
            <a:lin ang="0" scaled="0"/>
          </a:gradFill>
        </p:grpSpPr>
        <p:sp>
          <p:nvSpPr>
            <p:cNvPr id="40" name="椭圆 39"/>
            <p:cNvSpPr/>
            <p:nvPr/>
          </p:nvSpPr>
          <p:spPr>
            <a:xfrm>
              <a:off x="10467218" y="6126091"/>
              <a:ext cx="108000" cy="1080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5C307D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10703381" y="6126091"/>
              <a:ext cx="108000" cy="1080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5C307D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10939545" y="6126091"/>
              <a:ext cx="108000" cy="1080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5C307D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11175708" y="6126091"/>
              <a:ext cx="108000" cy="1080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5C307D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11411872" y="6126091"/>
              <a:ext cx="108000" cy="1080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5C307D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837" y="136675"/>
            <a:ext cx="1663415" cy="4872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58171" y="2105561"/>
            <a:ext cx="2214068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6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98052">
                      <a:schemeClr val="bg1"/>
                    </a:gs>
                    <a:gs pos="0">
                      <a:srgbClr val="1C6299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600" b="0" i="0" u="none" strike="noStrike" kern="1200" cap="none" spc="300" normalizeH="0" baseline="0" noProof="0" dirty="0">
              <a:ln>
                <a:noFill/>
              </a:ln>
              <a:gradFill>
                <a:gsLst>
                  <a:gs pos="98052">
                    <a:schemeClr val="bg1"/>
                  </a:gs>
                  <a:gs pos="0">
                    <a:srgbClr val="1C6299"/>
                  </a:gs>
                  <a:gs pos="10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5560176" y="2495551"/>
            <a:ext cx="6713702" cy="1035858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10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研究背景与意义</a:t>
            </a:r>
            <a:endParaRPr kumimoji="0" lang="zh-CN" altLang="en-US" sz="4000" b="1" i="0" u="none" strike="noStrike" kern="1200" cap="none" spc="10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4" name="文本占位符 2"/>
          <p:cNvSpPr txBox="1"/>
          <p:nvPr/>
        </p:nvSpPr>
        <p:spPr>
          <a:xfrm>
            <a:off x="5560176" y="3511550"/>
            <a:ext cx="6792912" cy="927100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 spc="1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Background and significance of the topic</a:t>
            </a:r>
            <a:endParaRPr kumimoji="0" lang="en-US" altLang="zh-CN" sz="1800" b="0" i="0" u="none" strike="noStrike" kern="1200" cap="none" spc="10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619693" y="2143125"/>
            <a:ext cx="0" cy="257175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dashDot"/>
            <a:miter lim="800000"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5560176" y="3432579"/>
            <a:ext cx="720000" cy="1016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任意多边形: 形状 16"/>
          <p:cNvSpPr/>
          <p:nvPr/>
        </p:nvSpPr>
        <p:spPr>
          <a:xfrm flipH="1">
            <a:off x="0" y="0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837" y="136675"/>
            <a:ext cx="1663415" cy="487234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8917027" y="597107"/>
            <a:ext cx="6452568" cy="5936919"/>
          </a:xfrm>
          <a:prstGeom prst="ellipse">
            <a:avLst/>
          </a:prstGeom>
          <a:blipFill dpi="0" rotWithShape="1">
            <a:blip r:embed="rId2">
              <a:alphaModFix amt="11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 defTabSz="963930" fontAlgn="auto">
              <a:spcBef>
                <a:spcPts val="0"/>
              </a:spcBef>
              <a:spcAft>
                <a:spcPts val="0"/>
              </a:spcAft>
            </a:pPr>
            <a:endParaRPr lang="zh-CN" altLang="en-US" sz="19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研究背景与意义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01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0085" y="2043430"/>
            <a:ext cx="5269865" cy="32531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just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电力系统大扰动后暂态稳定性分析是确保电网安全运行的关键环节。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突发事件如线路故障可能引发系统失稳，导致大面积停电。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通过快速、准确的稳定性评估，可及时采取保护措施，防止事故扩大，同时优化运行决策，减少计算资源浪费。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165" y="1266825"/>
            <a:ext cx="871474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algn="l" defTabSz="137541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b="1" i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电力系统大扰动后稳定性</a:t>
            </a:r>
            <a:r>
              <a:rPr lang="zh-CN" altLang="en-US" b="1" i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zh-CN" altLang="en-US" b="1" i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标题占位符 1"/>
          <p:cNvSpPr txBox="1"/>
          <p:nvPr/>
        </p:nvSpPr>
        <p:spPr>
          <a:xfrm>
            <a:off x="9586595" y="0"/>
            <a:ext cx="2036445" cy="817880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  <a:sym typeface="+mn-lt"/>
              </a:rPr>
              <a:t>1</a:t>
            </a:r>
            <a:r>
              <a:rPr lang="en-US" altLang="zh-CN" sz="26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lt"/>
              </a:rPr>
              <a:t>.1 </a:t>
            </a:r>
            <a:r>
              <a:rPr lang="zh-CN" altLang="en-US" sz="2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  <a:sym typeface="+mn-lt"/>
              </a:rPr>
              <a:t>背景介绍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  <a:sym typeface="+mn-lt"/>
            </a:endParaRPr>
          </a:p>
        </p:txBody>
      </p:sp>
      <p:pic>
        <p:nvPicPr>
          <p:cNvPr id="5" name="图片 4" descr="tai-yang-luo-zai-dian-zhu-de-yin-ying-hou-mia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0630" y="1872615"/>
            <a:ext cx="5312410" cy="35413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研究背景与意义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01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标题占位符 1"/>
          <p:cNvSpPr txBox="1"/>
          <p:nvPr/>
        </p:nvSpPr>
        <p:spPr>
          <a:xfrm>
            <a:off x="9586595" y="0"/>
            <a:ext cx="2036445" cy="817880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  <a:sym typeface="+mn-lt"/>
              </a:rPr>
              <a:t>1</a:t>
            </a:r>
            <a:r>
              <a:rPr lang="en-US" altLang="zh-CN" sz="26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lt"/>
              </a:rPr>
              <a:t>.2 </a:t>
            </a:r>
            <a:r>
              <a:rPr lang="zh-CN" altLang="en-US" sz="26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lt"/>
              </a:rPr>
              <a:t>现有算法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  <a:sym typeface="+mn-lt"/>
            </a:endParaRPr>
          </a:p>
        </p:txBody>
      </p:sp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664202" y="1481890"/>
            <a:ext cx="3306486" cy="4700336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>
            <p:custDataLst>
              <p:tags r:id="rId2"/>
            </p:custDataLst>
          </p:nvPr>
        </p:nvSpPr>
        <p:spPr>
          <a:xfrm>
            <a:off x="908678" y="1383888"/>
            <a:ext cx="2817534" cy="31341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直接时域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仿真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3"/>
            </p:custDataLst>
          </p:nvPr>
        </p:nvSpPr>
        <p:spPr>
          <a:xfrm>
            <a:off x="775590" y="1966445"/>
            <a:ext cx="3306486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</a:rPr>
              <a:t>通过对转子运动方程</a:t>
            </a:r>
            <a:r>
              <a:rPr lang="zh-CN" altLang="en-US" sz="1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</a:rPr>
              <a:t>进行数值积分</a:t>
            </a:r>
            <a:r>
              <a:rPr lang="zh-CN" altLang="en-US" sz="1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</a:rPr>
              <a:t>模拟，求得相角差的变化轨迹从而判断稳定性。</a:t>
            </a:r>
            <a:endParaRPr lang="zh-CN" altLang="en-US" sz="1600" b="1" dirty="0">
              <a:solidFill>
                <a:schemeClr val="accent1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endParaRPr lang="zh-CN" altLang="en-US" sz="1600" b="1" dirty="0">
              <a:solidFill>
                <a:schemeClr val="accent1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求解过程繁琐，不利于故障后的迅速评估；</a:t>
            </a:r>
            <a:endParaRPr lang="zh-CN" altLang="en-US" sz="1600" b="1" dirty="0">
              <a:solidFill>
                <a:schemeClr val="accent1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>
            <a:off x="4490712" y="1481890"/>
            <a:ext cx="3306486" cy="4700336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: 圆角 15"/>
          <p:cNvSpPr/>
          <p:nvPr>
            <p:custDataLst>
              <p:tags r:id="rId5"/>
            </p:custDataLst>
          </p:nvPr>
        </p:nvSpPr>
        <p:spPr>
          <a:xfrm>
            <a:off x="4735188" y="1383888"/>
            <a:ext cx="2817534" cy="31341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能量函数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法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4602100" y="1966445"/>
            <a:ext cx="3306486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lvl="0" indent="-285750" algn="l"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寻找一个类似系统能量的函数，根据其随时间单调递减的特性判断</a:t>
            </a:r>
            <a:r>
              <a:rPr lang="zh-CN" altLang="en-US" sz="1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稳定性。</a:t>
            </a:r>
            <a:endParaRPr lang="zh-CN" altLang="en-US" sz="1600" b="1" dirty="0">
              <a:solidFill>
                <a:schemeClr val="accent1"/>
              </a:solidFill>
              <a:latin typeface="Arial" panose="020B0604020202020204"/>
              <a:ea typeface="微软雅黑" panose="020B0503020204020204" pitchFamily="34" charset="-122"/>
              <a:sym typeface="+mn-ea"/>
            </a:endParaRPr>
          </a:p>
          <a:p>
            <a:pPr marL="285750" lvl="0" indent="-285750" algn="l">
              <a:buClrTx/>
              <a:buSzTx/>
              <a:buFont typeface="Wingdings" panose="05000000000000000000" pitchFamily="2" charset="2"/>
              <a:buChar char="p"/>
            </a:pPr>
            <a:endParaRPr lang="zh-CN" altLang="en-US" sz="1600" b="1" dirty="0">
              <a:solidFill>
                <a:schemeClr val="accent1"/>
              </a:solidFill>
              <a:latin typeface="Arial" panose="020B0604020202020204"/>
              <a:ea typeface="微软雅黑" panose="020B0503020204020204" pitchFamily="34" charset="-122"/>
              <a:sym typeface="+mn-ea"/>
            </a:endParaRPr>
          </a:p>
          <a:p>
            <a:pPr marL="285750" lvl="0" indent="-285750" algn="l"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保守性</a:t>
            </a:r>
            <a:r>
              <a:rPr lang="zh-CN" altLang="en-US" sz="1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强</a:t>
            </a:r>
            <a:endParaRPr lang="zh-CN" altLang="en-US" sz="1600" b="1" dirty="0">
              <a:solidFill>
                <a:schemeClr val="accent1"/>
              </a:solidFill>
              <a:latin typeface="Arial" panose="020B0604020202020204"/>
              <a:ea typeface="微软雅黑" panose="020B0503020204020204" pitchFamily="34" charset="-122"/>
              <a:sym typeface="+mn-ea"/>
            </a:endParaRPr>
          </a:p>
          <a:p>
            <a:pPr marL="285750" lvl="0" indent="-285750" algn="l"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依赖于对</a:t>
            </a:r>
            <a:r>
              <a:rPr lang="en-US" altLang="zh-CN" sz="1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UEP</a:t>
            </a:r>
            <a:r>
              <a:rPr lang="zh-CN" altLang="en-US" sz="1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的搜索，是一个</a:t>
            </a:r>
            <a:r>
              <a:rPr lang="en-US" altLang="zh-CN" sz="1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NP-Hard</a:t>
            </a:r>
            <a:r>
              <a:rPr lang="zh-CN" altLang="en-US" sz="1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的</a:t>
            </a:r>
            <a:r>
              <a:rPr lang="zh-CN" altLang="en-US" sz="1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问题</a:t>
            </a:r>
            <a:endParaRPr lang="zh-CN" altLang="en-US" sz="1600" b="1" dirty="0">
              <a:solidFill>
                <a:schemeClr val="accent1"/>
              </a:solidFill>
              <a:latin typeface="Arial" panose="020B0604020202020204"/>
              <a:ea typeface="微软雅黑" panose="020B0503020204020204" pitchFamily="34" charset="-122"/>
              <a:sym typeface="+mn-ea"/>
            </a:endParaRPr>
          </a:p>
          <a:p>
            <a:pPr lvl="0" indent="0" algn="l">
              <a:buClrTx/>
              <a:buSzTx/>
              <a:buFont typeface="Wingdings" panose="05000000000000000000" pitchFamily="2" charset="2"/>
              <a:buNone/>
            </a:pPr>
            <a:endParaRPr lang="zh-CN" altLang="en-US" sz="1600" b="1" dirty="0">
              <a:solidFill>
                <a:schemeClr val="accent1"/>
              </a:solidFill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" name="矩形 21"/>
          <p:cNvSpPr/>
          <p:nvPr>
            <p:custDataLst>
              <p:tags r:id="rId7"/>
            </p:custDataLst>
          </p:nvPr>
        </p:nvSpPr>
        <p:spPr>
          <a:xfrm>
            <a:off x="8316587" y="1481890"/>
            <a:ext cx="3306486" cy="4700336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: 圆角 15"/>
          <p:cNvSpPr/>
          <p:nvPr>
            <p:custDataLst>
              <p:tags r:id="rId8"/>
            </p:custDataLst>
          </p:nvPr>
        </p:nvSpPr>
        <p:spPr>
          <a:xfrm>
            <a:off x="8561063" y="1383888"/>
            <a:ext cx="2817534" cy="31341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Lyapunov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法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9"/>
            </p:custDataLst>
          </p:nvPr>
        </p:nvSpPr>
        <p:spPr>
          <a:xfrm>
            <a:off x="8428610" y="1966445"/>
            <a:ext cx="3306486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lvl="0" indent="-285750" algn="l"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利用非线性控制理论和优化技术构造</a:t>
            </a:r>
            <a:r>
              <a:rPr lang="en-US" altLang="zh-CN" sz="1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Lyapunov</a:t>
            </a:r>
            <a:r>
              <a:rPr lang="zh-CN" altLang="en-US" sz="1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函数，从而验证系统的</a:t>
            </a:r>
            <a:r>
              <a:rPr lang="zh-CN" altLang="en-US" sz="1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稳定性。</a:t>
            </a:r>
            <a:endParaRPr lang="zh-CN" altLang="en-US" sz="1600" b="1" dirty="0">
              <a:solidFill>
                <a:schemeClr val="accent1"/>
              </a:solidFill>
              <a:latin typeface="Arial" panose="020B0604020202020204"/>
              <a:ea typeface="微软雅黑" panose="020B0503020204020204" pitchFamily="34" charset="-122"/>
              <a:sym typeface="+mn-ea"/>
            </a:endParaRPr>
          </a:p>
          <a:p>
            <a:pPr marL="285750" lvl="0" indent="-285750" algn="l">
              <a:buClrTx/>
              <a:buSzTx/>
              <a:buFont typeface="Wingdings" panose="05000000000000000000" pitchFamily="2" charset="2"/>
              <a:buChar char="p"/>
            </a:pPr>
            <a:endParaRPr lang="zh-CN" altLang="en-US" sz="1600" b="1" dirty="0">
              <a:solidFill>
                <a:schemeClr val="accent1"/>
              </a:solidFill>
              <a:latin typeface="Arial" panose="020B0604020202020204"/>
              <a:ea typeface="微软雅黑" panose="020B0503020204020204" pitchFamily="34" charset="-122"/>
              <a:sym typeface="+mn-ea"/>
            </a:endParaRPr>
          </a:p>
          <a:p>
            <a:pPr marL="285750" lvl="0" indent="-285750" algn="l"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更大的吸引域范围，保守性</a:t>
            </a:r>
            <a:r>
              <a:rPr lang="zh-CN" altLang="en-US" sz="1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更弱</a:t>
            </a:r>
            <a:endParaRPr lang="zh-CN" altLang="en-US" sz="1600" b="1" dirty="0">
              <a:solidFill>
                <a:schemeClr val="accent1"/>
              </a:solidFill>
              <a:latin typeface="Arial" panose="020B0604020202020204"/>
              <a:ea typeface="微软雅黑" panose="020B0503020204020204" pitchFamily="34" charset="-122"/>
              <a:sym typeface="+mn-ea"/>
            </a:endParaRPr>
          </a:p>
          <a:p>
            <a:pPr marL="285750" lvl="0" indent="-285750" algn="l"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计算复杂度</a:t>
            </a:r>
            <a:r>
              <a:rPr lang="zh-CN" altLang="en-US" sz="1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低</a:t>
            </a:r>
            <a:endParaRPr lang="zh-CN" altLang="en-US" sz="1600" b="1" dirty="0">
              <a:solidFill>
                <a:schemeClr val="accent1"/>
              </a:solidFill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794125" y="887730"/>
            <a:ext cx="419989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algn="l" defTabSz="137541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b="1" i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现有的分析</a:t>
            </a:r>
            <a:r>
              <a:rPr lang="zh-CN" altLang="en-US" b="1" i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方法可以分为以下三类：</a:t>
            </a:r>
            <a:endParaRPr lang="zh-CN" altLang="en-US" b="1" i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734754" y="4424935"/>
            <a:ext cx="2817534" cy="361202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控制不稳定平衡点</a:t>
            </a:r>
            <a:r>
              <a:rPr lang="zh-CN" altLang="en-US" b="1" dirty="0">
                <a:solidFill>
                  <a:schemeClr val="bg1"/>
                </a:solidFill>
              </a:rPr>
              <a:t>法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608889" y="4424934"/>
            <a:ext cx="2817534" cy="361202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SOS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608889" y="4881407"/>
            <a:ext cx="2817534" cy="361202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……</a:t>
            </a:r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35389" y="3974085"/>
            <a:ext cx="2817534" cy="361202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最近不稳定平衡点</a:t>
            </a:r>
            <a:r>
              <a:rPr lang="zh-CN" altLang="en-US" b="1" dirty="0">
                <a:solidFill>
                  <a:schemeClr val="bg1"/>
                </a:solidFill>
              </a:rPr>
              <a:t>法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8608889" y="3968370"/>
            <a:ext cx="2817534" cy="361202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LFF</a:t>
            </a:r>
            <a:endParaRPr lang="en-US" altLang="zh-CN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58171" y="2105561"/>
            <a:ext cx="2447290" cy="2646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6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98052">
                      <a:schemeClr val="bg1"/>
                    </a:gs>
                    <a:gs pos="0">
                      <a:srgbClr val="1C6299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02</a:t>
            </a:r>
            <a:endParaRPr kumimoji="0" lang="zh-CN" altLang="en-US" sz="16600" b="0" i="0" u="none" strike="noStrike" kern="1200" cap="none" spc="300" normalizeH="0" baseline="0" noProof="0" dirty="0">
              <a:ln>
                <a:noFill/>
              </a:ln>
              <a:gradFill>
                <a:gsLst>
                  <a:gs pos="98052">
                    <a:schemeClr val="bg1"/>
                  </a:gs>
                  <a:gs pos="0">
                    <a:srgbClr val="1C6299"/>
                  </a:gs>
                  <a:gs pos="10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5560176" y="2505076"/>
            <a:ext cx="6713702" cy="1035858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10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模型分析及算法设计</a:t>
            </a:r>
            <a:endParaRPr kumimoji="0" lang="zh-CN" altLang="en-US" sz="4000" b="1" i="0" u="none" strike="noStrike" kern="1200" cap="none" spc="10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4" name="文本占位符 2"/>
          <p:cNvSpPr txBox="1"/>
          <p:nvPr/>
        </p:nvSpPr>
        <p:spPr>
          <a:xfrm>
            <a:off x="5550535" y="3749675"/>
            <a:ext cx="6792595" cy="927100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 spc="1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Model Analysis and Algorithm Design</a:t>
            </a:r>
            <a:endParaRPr kumimoji="0" lang="en-US" altLang="zh-CN" sz="1800" b="0" i="0" u="none" strike="noStrike" kern="1200" cap="none" spc="10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619693" y="2143125"/>
            <a:ext cx="0" cy="257175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dashDot"/>
            <a:miter lim="800000"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5560176" y="3432579"/>
            <a:ext cx="720000" cy="1016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任意多边形: 形状 16"/>
          <p:cNvSpPr/>
          <p:nvPr/>
        </p:nvSpPr>
        <p:spPr>
          <a:xfrm flipH="1">
            <a:off x="0" y="0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837" y="136675"/>
            <a:ext cx="1663415" cy="487234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8917027" y="597107"/>
            <a:ext cx="6452568" cy="5936919"/>
          </a:xfrm>
          <a:prstGeom prst="ellipse">
            <a:avLst/>
          </a:prstGeom>
          <a:blipFill dpi="0" rotWithShape="1">
            <a:blip r:embed="rId2">
              <a:alphaModFix amt="11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 defTabSz="963930" fontAlgn="auto">
              <a:spcBef>
                <a:spcPts val="0"/>
              </a:spcBef>
              <a:spcAft>
                <a:spcPts val="0"/>
              </a:spcAft>
            </a:pPr>
            <a:endParaRPr lang="zh-CN" altLang="en-US" sz="19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模型分析及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算法设计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标题占位符 1"/>
          <p:cNvSpPr txBox="1"/>
          <p:nvPr/>
        </p:nvSpPr>
        <p:spPr>
          <a:xfrm>
            <a:off x="9586595" y="0"/>
            <a:ext cx="2036445" cy="817880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lt"/>
              </a:rPr>
              <a:t>2.1 </a:t>
            </a:r>
            <a:r>
              <a:rPr lang="zh-CN" altLang="en-US" sz="26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lt"/>
              </a:rPr>
              <a:t>模型</a:t>
            </a:r>
            <a:r>
              <a:rPr lang="zh-CN" altLang="en-US" sz="26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lt"/>
              </a:rPr>
              <a:t>分析</a:t>
            </a:r>
            <a:endParaRPr lang="zh-CN" altLang="en-US" sz="2600" b="1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9900" y="851535"/>
            <a:ext cx="11225530" cy="45529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69900" y="1235075"/>
            <a:ext cx="11225530" cy="4625340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5312410" y="893445"/>
            <a:ext cx="11709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r>
              <a:rPr lang="zh-CN" altLang="en-US" sz="16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分析</a:t>
            </a:r>
            <a:endParaRPr lang="zh-CN" altLang="en-US" sz="16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4360" y="1587500"/>
            <a:ext cx="5387340" cy="593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研究不考虑电导效应的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摇摆方程：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60400" y="2180590"/>
          <a:ext cx="4064635" cy="1002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2679700" imgH="660400" progId="Equation.KSEE3">
                  <p:embed/>
                </p:oleObj>
              </mc:Choice>
              <mc:Fallback>
                <p:oleObj name="" r:id="rId1" imgW="2679700" imgH="6604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0400" y="2180590"/>
                        <a:ext cx="4064635" cy="1002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225" y="2339340"/>
            <a:ext cx="2987675" cy="253492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660400" y="293687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当发电机数量为</a:t>
            </a:r>
            <a:r>
              <a:rPr lang="en-US" altLang="zh-CN"/>
              <a:t>1</a:t>
            </a:r>
            <a:r>
              <a:rPr lang="zh-CN" altLang="en-US"/>
              <a:t>时：</a:t>
            </a:r>
            <a:endParaRPr lang="zh-CN" altLang="en-US"/>
          </a:p>
          <a:p>
            <a:r>
              <a:rPr lang="zh-CN" altLang="en-US"/>
              <a:t>取</a:t>
            </a:r>
            <a:r>
              <a:rPr lang="en-US" altLang="zh-CN"/>
              <a:t>m=1</a:t>
            </a:r>
            <a:r>
              <a:rPr lang="zh-CN" altLang="en-US"/>
              <a:t>，</a:t>
            </a:r>
            <a:r>
              <a:rPr lang="en-US" altLang="zh-CN"/>
              <a:t>d=1</a:t>
            </a:r>
            <a:r>
              <a:rPr lang="zh-CN" altLang="en-US"/>
              <a:t>，</a:t>
            </a:r>
            <a:r>
              <a:rPr lang="en-US" altLang="zh-CN"/>
              <a:t>           =0.8</a:t>
            </a:r>
            <a:r>
              <a:rPr lang="zh-CN" altLang="en-US"/>
              <a:t>，</a:t>
            </a:r>
            <a:r>
              <a:rPr lang="en-US" altLang="zh-CN"/>
              <a:t>P=0.4</a:t>
            </a:r>
            <a:endParaRPr lang="en-US" altLang="zh-CN"/>
          </a:p>
        </p:txBody>
      </p:sp>
      <p:graphicFrame>
        <p:nvGraphicFramePr>
          <p:cNvPr id="27" name="对象 26"/>
          <p:cNvGraphicFramePr/>
          <p:nvPr/>
        </p:nvGraphicFramePr>
        <p:xfrm>
          <a:off x="2247900" y="3267075"/>
          <a:ext cx="669290" cy="323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" r:id="rId4" imgW="660400" imgH="355600" progId="Equation.KSEE3">
                  <p:embed/>
                </p:oleObj>
              </mc:Choice>
              <mc:Fallback>
                <p:oleObj name="" r:id="rId4" imgW="660400" imgH="355600" progId="Equation.KSEE3">
                  <p:embed/>
                  <p:pic>
                    <p:nvPicPr>
                      <p:cNvPr id="0" name="图片 2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47900" y="3267075"/>
                        <a:ext cx="669290" cy="3232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对象 6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35648" y="3590290"/>
          <a:ext cx="2273300" cy="424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6" imgW="1498600" imgH="279400" progId="Equation.KSEE3">
                  <p:embed/>
                </p:oleObj>
              </mc:Choice>
              <mc:Fallback>
                <p:oleObj name="" r:id="rId6" imgW="1498600" imgH="2794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35648" y="3590290"/>
                        <a:ext cx="2273300" cy="424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矩形 64"/>
          <p:cNvSpPr/>
          <p:nvPr>
            <p:custDataLst>
              <p:tags r:id="rId8"/>
            </p:custDataLst>
          </p:nvPr>
        </p:nvSpPr>
        <p:spPr>
          <a:xfrm>
            <a:off x="4724400" y="1763395"/>
            <a:ext cx="3676650" cy="352171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7" name="图片 6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7585" y="1830705"/>
            <a:ext cx="3498215" cy="3387090"/>
          </a:xfrm>
          <a:prstGeom prst="rect">
            <a:avLst/>
          </a:prstGeom>
        </p:spPr>
      </p:pic>
      <p:sp>
        <p:nvSpPr>
          <p:cNvPr id="68" name="矩形 67"/>
          <p:cNvSpPr/>
          <p:nvPr>
            <p:custDataLst>
              <p:tags r:id="rId10"/>
            </p:custDataLst>
          </p:nvPr>
        </p:nvSpPr>
        <p:spPr>
          <a:xfrm>
            <a:off x="8499475" y="2276475"/>
            <a:ext cx="3122930" cy="2679065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518160" y="457263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平衡点附近取点，分别绘制系统与反系统的相轨迹，</a:t>
            </a:r>
            <a:r>
              <a:rPr lang="zh-CN" altLang="en-US"/>
              <a:t>得到系统</a:t>
            </a:r>
            <a:r>
              <a:rPr lang="zh-CN" altLang="en-US"/>
              <a:t>大致吸引域。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模型分析及算法设计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标题占位符 1"/>
          <p:cNvSpPr txBox="1"/>
          <p:nvPr/>
        </p:nvSpPr>
        <p:spPr>
          <a:xfrm>
            <a:off x="8656320" y="0"/>
            <a:ext cx="2966720" cy="817880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lt"/>
              </a:rPr>
              <a:t>2.2 </a:t>
            </a:r>
            <a:r>
              <a:rPr lang="zh-CN" altLang="en-US" sz="26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lt"/>
              </a:rPr>
              <a:t>算法</a:t>
            </a:r>
            <a:r>
              <a:rPr lang="zh-CN" altLang="en-US" sz="26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lt"/>
              </a:rPr>
              <a:t>原理</a:t>
            </a:r>
            <a:endParaRPr lang="zh-CN" altLang="en-US" sz="2600" b="1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787400" y="887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/>
        </p:nvSpPr>
        <p:spPr>
          <a:xfrm>
            <a:off x="469900" y="851535"/>
            <a:ext cx="11225530" cy="45529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69900" y="1235075"/>
            <a:ext cx="11225530" cy="4625340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4324985" y="899795"/>
            <a:ext cx="39046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最近不稳定平衡点法（</a:t>
            </a:r>
            <a:r>
              <a:rPr lang="en-US" altLang="zh-CN" sz="16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Closest  UEP</a:t>
            </a:r>
            <a:r>
              <a:rPr lang="zh-CN" altLang="en-US" sz="16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6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594360" y="1530350"/>
                <a:ext cx="5245100" cy="308229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·</a:t>
                </a:r>
                <a:r>
                  <a: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通过求解平衡方程找到系统稳定平衡点</a:t>
                </a:r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SEP</a:t>
                </a:r>
                <a:endPara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·</a:t>
                </a:r>
                <a:r>
                  <a: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构造能量函数</a:t>
                </a:r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E</a:t>
                </a:r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包含系统动能（发电机）及势能，可证明该能量函数</a:t>
                </a:r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在平衡点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附近随时间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递减。</a:t>
                </a:r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·</a:t>
                </a:r>
                <a:r>
                  <a: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搜索</a:t>
                </a:r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SEP</a:t>
                </a:r>
                <a:r>
                  <a: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附近最近的不稳定平衡点</a:t>
                </a:r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UEP</a:t>
                </a:r>
                <a:endPara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·</a:t>
                </a:r>
                <a:r>
                  <a: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计算临界能量值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𝑬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𝒄𝒓</m:t>
                        </m:r>
                      </m:sub>
                    </m:sSub>
                  </m:oMath>
                </a14:m>
                <a:endParaRPr lang="en-US" altLang="zh-CN" sz="1600" b="1" i="1">
                  <a:latin typeface="Cambria Math" panose="02040503050406030204" charset="0"/>
                  <a:ea typeface="微软雅黑" panose="020B0503020204020204" pitchFamily="34" charset="-122"/>
                  <a:cs typeface="Cambria Math" panose="02040503050406030204" charset="0"/>
                </a:endParaRPr>
              </a:p>
              <a:p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UEP通常对应能量函数的极值点</a:t>
                </a:r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·</a:t>
                </a:r>
                <a:r>
                  <a: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绘制</a:t>
                </a:r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E=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𝑬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𝒄𝒓</m:t>
                        </m:r>
                      </m:sub>
                    </m:sSub>
                  </m:oMath>
                </a14:m>
                <a:r>
                  <a: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的等高线即为吸引域</a:t>
                </a:r>
                <a:endPara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endPara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1530350"/>
                <a:ext cx="5245100" cy="308229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60400" y="2083435"/>
          <a:ext cx="4325620" cy="636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2" imgW="3022600" imgH="444500" progId="Equation.KSEE3">
                  <p:embed/>
                </p:oleObj>
              </mc:Choice>
              <mc:Fallback>
                <p:oleObj name="" r:id="rId2" imgW="3022600" imgH="4445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0400" y="2083435"/>
                        <a:ext cx="4325620" cy="636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594360" y="4906010"/>
                <a:ext cx="4432300" cy="4902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/>
                  <a:t>难点在于求取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charset="0"/>
                          </a:rPr>
                          <m:t>𝑬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charset="0"/>
                          </a:rPr>
                          <m:t>𝒄𝒓</m:t>
                        </m:r>
                      </m:sub>
                    </m:sSub>
                  </m:oMath>
                </a14:m>
                <a:r>
                  <a:rPr lang="zh-CN" altLang="en-US"/>
                  <a:t>，对于高维系统</a:t>
                </a:r>
                <a:r>
                  <a:rPr lang="zh-CN" altLang="en-US"/>
                  <a:t>较难寻找</a:t>
                </a:r>
                <a:endParaRPr lang="zh-CN" altLang="en-US">
                  <a:latin typeface="Cambria Math" panose="02040503050406030204" charset="0"/>
                  <a:ea typeface="微软雅黑" panose="020B0503020204020204" pitchFamily="34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4906010"/>
                <a:ext cx="4432300" cy="490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 descr="UE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160" y="3602355"/>
            <a:ext cx="3345180" cy="21907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437005"/>
            <a:ext cx="4691380" cy="1682750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 rot="5400000">
            <a:off x="8241030" y="3117850"/>
            <a:ext cx="462280" cy="485775"/>
          </a:xfrm>
          <a:prstGeom prst="righ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模型分析及算法设计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标题占位符 1"/>
          <p:cNvSpPr txBox="1"/>
          <p:nvPr/>
        </p:nvSpPr>
        <p:spPr>
          <a:xfrm>
            <a:off x="8656320" y="0"/>
            <a:ext cx="2966720" cy="817880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lt"/>
              </a:rPr>
              <a:t>2.2 </a:t>
            </a:r>
            <a:r>
              <a:rPr lang="zh-CN" altLang="en-US" sz="26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lt"/>
              </a:rPr>
              <a:t>算法</a:t>
            </a:r>
            <a:r>
              <a:rPr lang="zh-CN" altLang="en-US" sz="26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lt"/>
              </a:rPr>
              <a:t>原理</a:t>
            </a:r>
            <a:endParaRPr lang="zh-CN" altLang="en-US" sz="2600" b="1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787400" y="887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/>
        </p:nvSpPr>
        <p:spPr>
          <a:xfrm>
            <a:off x="469900" y="851535"/>
            <a:ext cx="11225530" cy="45529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69900" y="1235075"/>
            <a:ext cx="11225530" cy="4625340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4324985" y="899795"/>
            <a:ext cx="39046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二次型李雅普诺夫函数</a:t>
            </a:r>
            <a:r>
              <a:rPr lang="zh-CN" altLang="en-US" sz="16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</a:t>
            </a:r>
            <a:endParaRPr lang="zh-CN" altLang="en-US" sz="16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94360" y="1530350"/>
            <a:ext cx="5245100" cy="2401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将系统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在平衡点处的线性化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构造二次型形式的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李雅普诺夫函数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忽略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高阶项，求解李雅普诺夫方程得到矩阵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</a:t>
            </a:r>
            <a:endParaRPr lang="en-US" altLang="zh-CN" sz="1600" b="1" i="1">
              <a:latin typeface="Cambria Math" panose="02040503050406030204" charset="0"/>
              <a:ea typeface="微软雅黑" panose="020B0503020204020204" pitchFamily="34" charset="-122"/>
              <a:cs typeface="Cambria Math" panose="02040503050406030204" charset="0"/>
            </a:endParaRPr>
          </a:p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二分法优化吸引域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3248660" y="1885315"/>
            <a:ext cx="462280" cy="485775"/>
          </a:xfrm>
          <a:prstGeom prst="righ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00" y="1991360"/>
            <a:ext cx="2364105" cy="27368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485" y="1788160"/>
            <a:ext cx="2433320" cy="8286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515" y="1735455"/>
            <a:ext cx="4972685" cy="1088390"/>
          </a:xfrm>
          <a:prstGeom prst="rect">
            <a:avLst/>
          </a:prstGeom>
        </p:spPr>
      </p:pic>
      <p:sp>
        <p:nvSpPr>
          <p:cNvPr id="15" name="右箭头 14"/>
          <p:cNvSpPr/>
          <p:nvPr/>
        </p:nvSpPr>
        <p:spPr>
          <a:xfrm>
            <a:off x="7564120" y="4295140"/>
            <a:ext cx="462280" cy="485775"/>
          </a:xfrm>
          <a:prstGeom prst="righ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1605" y="3020695"/>
            <a:ext cx="1061085" cy="24574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5140" y="3252470"/>
            <a:ext cx="3413760" cy="2513330"/>
          </a:xfrm>
          <a:prstGeom prst="rect">
            <a:avLst/>
          </a:prstGeom>
        </p:spPr>
      </p:pic>
      <p:sp>
        <p:nvSpPr>
          <p:cNvPr id="19" name="右箭头 18"/>
          <p:cNvSpPr/>
          <p:nvPr/>
        </p:nvSpPr>
        <p:spPr>
          <a:xfrm>
            <a:off x="6192520" y="1991360"/>
            <a:ext cx="462280" cy="485775"/>
          </a:xfrm>
          <a:prstGeom prst="righ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785" y="3505835"/>
            <a:ext cx="2383155" cy="217487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594360" y="46621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特点：简单，依赖于</a:t>
            </a:r>
            <a:r>
              <a:rPr lang="zh-CN" altLang="en-US"/>
              <a:t>线性化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模型分析及算法设计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标题占位符 1"/>
          <p:cNvSpPr txBox="1"/>
          <p:nvPr/>
        </p:nvSpPr>
        <p:spPr>
          <a:xfrm>
            <a:off x="8656320" y="0"/>
            <a:ext cx="2966720" cy="817880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lt"/>
              </a:rPr>
              <a:t>2.2 </a:t>
            </a:r>
            <a:r>
              <a:rPr lang="zh-CN" altLang="en-US" sz="26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lt"/>
              </a:rPr>
              <a:t>算法</a:t>
            </a:r>
            <a:r>
              <a:rPr lang="zh-CN" altLang="en-US" sz="26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lt"/>
              </a:rPr>
              <a:t>原理</a:t>
            </a:r>
            <a:endParaRPr lang="zh-CN" altLang="en-US" sz="2600" b="1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787400" y="887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/>
        </p:nvSpPr>
        <p:spPr>
          <a:xfrm>
            <a:off x="469900" y="851535"/>
            <a:ext cx="11225530" cy="45529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69900" y="1235075"/>
            <a:ext cx="11225530" cy="4625340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4324985" y="899795"/>
            <a:ext cx="39046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李雅普诺夫函数</a:t>
            </a:r>
            <a:r>
              <a:rPr lang="zh-CN" altLang="en-US" sz="16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族（</a:t>
            </a:r>
            <a:r>
              <a:rPr lang="en-US" sz="16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LFF</a:t>
            </a:r>
            <a:r>
              <a:rPr lang="zh-CN" altLang="en-US" sz="16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）法</a:t>
            </a:r>
            <a:endParaRPr lang="zh-CN" altLang="en-US" sz="16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94360" y="1530350"/>
            <a:ext cx="634936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相比二次型李雅普诺夫函数形式，增添非线性项以抵消原系统非线性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影响。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寻找界限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根据新增的非线性项的特点，将系统约束在一定的范围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求解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LMI</a:t>
            </a:r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lyapunov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条件转化为矩阵不等式，使用LMI工具箱进行求解矩阵参数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，从而获得一个凸集的李雅普诺夫函数，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优化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吸引域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在P的凸部分上，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使用二分法对吸引域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大小进行优化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右箭头 21"/>
          <p:cNvSpPr/>
          <p:nvPr/>
        </p:nvSpPr>
        <p:spPr>
          <a:xfrm rot="5400000">
            <a:off x="8585835" y="2534285"/>
            <a:ext cx="462280" cy="485775"/>
          </a:xfrm>
          <a:prstGeom prst="righ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 rot="5400000">
            <a:off x="8585835" y="3837940"/>
            <a:ext cx="462280" cy="485775"/>
          </a:xfrm>
          <a:prstGeom prst="righ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3280" y="3008630"/>
            <a:ext cx="3748405" cy="958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280" y="4387850"/>
            <a:ext cx="3834130" cy="508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280" y="1916430"/>
            <a:ext cx="3633470" cy="48196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0180" y="3939540"/>
            <a:ext cx="2632710" cy="22288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rcRect r="3024"/>
          <a:stretch>
            <a:fillRect/>
          </a:stretch>
        </p:blipFill>
        <p:spPr>
          <a:xfrm>
            <a:off x="3586480" y="4726305"/>
            <a:ext cx="1955165" cy="499110"/>
          </a:xfrm>
          <a:prstGeom prst="rect">
            <a:avLst/>
          </a:prstGeom>
        </p:spPr>
      </p:pic>
      <p:sp>
        <p:nvSpPr>
          <p:cNvPr id="15" name="右箭头 14"/>
          <p:cNvSpPr/>
          <p:nvPr/>
        </p:nvSpPr>
        <p:spPr>
          <a:xfrm>
            <a:off x="1986280" y="4732655"/>
            <a:ext cx="1309370" cy="485775"/>
          </a:xfrm>
          <a:prstGeom prst="righ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545" y="4690745"/>
            <a:ext cx="763905" cy="52324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986280" y="5225415"/>
            <a:ext cx="1425575" cy="404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舒尔补引理</a:t>
            </a:r>
            <a:endParaRPr lang="zh-CN" altLang="en-US" sz="140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6565" y="4467225"/>
            <a:ext cx="1859915" cy="214630"/>
          </a:xfrm>
          <a:prstGeom prst="rect">
            <a:avLst/>
          </a:prstGeom>
        </p:spPr>
      </p:pic>
      <p:sp>
        <p:nvSpPr>
          <p:cNvPr id="65" name="矩形 64"/>
          <p:cNvSpPr/>
          <p:nvPr>
            <p:custDataLst>
              <p:tags r:id="rId8"/>
            </p:custDataLst>
          </p:nvPr>
        </p:nvSpPr>
        <p:spPr>
          <a:xfrm>
            <a:off x="7063740" y="1763395"/>
            <a:ext cx="4628515" cy="352171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9"/>
            </p:custDataLst>
          </p:nvPr>
        </p:nvSpPr>
        <p:spPr>
          <a:xfrm>
            <a:off x="786765" y="4377055"/>
            <a:ext cx="4817110" cy="11811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模型分析及算法设计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标题占位符 1"/>
          <p:cNvSpPr txBox="1"/>
          <p:nvPr/>
        </p:nvSpPr>
        <p:spPr>
          <a:xfrm>
            <a:off x="8656320" y="0"/>
            <a:ext cx="2966720" cy="817880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lt"/>
              </a:rPr>
              <a:t>2.2 </a:t>
            </a:r>
            <a:r>
              <a:rPr lang="zh-CN" altLang="en-US" sz="26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lt"/>
              </a:rPr>
              <a:t>算法</a:t>
            </a:r>
            <a:r>
              <a:rPr lang="zh-CN" altLang="en-US" sz="26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lt"/>
              </a:rPr>
              <a:t>原理</a:t>
            </a:r>
            <a:endParaRPr lang="zh-CN" altLang="en-US" sz="2600" b="1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787400" y="887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/>
        </p:nvSpPr>
        <p:spPr>
          <a:xfrm>
            <a:off x="469900" y="851535"/>
            <a:ext cx="11225530" cy="45529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69900" y="1235075"/>
            <a:ext cx="11225530" cy="4625340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4324985" y="899795"/>
            <a:ext cx="39046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平方和</a:t>
            </a:r>
            <a:r>
              <a:rPr lang="zh-CN" altLang="en-US" sz="16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规划（</a:t>
            </a:r>
            <a:r>
              <a:rPr lang="en-US" sz="16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SOS</a:t>
            </a:r>
            <a:r>
              <a:rPr lang="zh-CN" altLang="en-US" sz="16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）法</a:t>
            </a:r>
            <a:endParaRPr lang="zh-CN" altLang="en-US" sz="16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94360" y="1530350"/>
            <a:ext cx="6349365" cy="1421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基本原理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将电力系统摆动方程通过变量代换转化为多项式微分代数方程（DAE），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即可应用SOS技术。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生成平方和形式的SOS变量作为李雅普诺夫函数，使其正定性和递减性能通过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SOS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方法来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检验。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3" name="对象 2"/>
          <p:cNvGraphicFramePr/>
          <p:nvPr/>
        </p:nvGraphicFramePr>
        <p:xfrm>
          <a:off x="7089140" y="1249045"/>
          <a:ext cx="4269740" cy="4409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" imgW="4100195" imgH="4404995" progId="Visio.Drawing.15">
                  <p:embed/>
                </p:oleObj>
              </mc:Choice>
              <mc:Fallback>
                <p:oleObj name="" r:id="rId1" imgW="4100195" imgH="4404995" progId="Visio.Drawing.15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089140" y="1249045"/>
                        <a:ext cx="4269740" cy="4409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8964295" y="5523230"/>
            <a:ext cx="12922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黑体" panose="02010609060101010101" charset="-122"/>
                <a:ea typeface="黑体" panose="02010609060101010101" charset="-122"/>
              </a:rPr>
              <a:t>优化流程</a:t>
            </a:r>
            <a:endParaRPr lang="zh-CN" altLang="en-US" sz="16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75" y="3061970"/>
            <a:ext cx="4952365" cy="43751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720" y="3594100"/>
            <a:ext cx="3263265" cy="3854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00" y="4548505"/>
            <a:ext cx="933450" cy="659130"/>
          </a:xfrm>
          <a:prstGeom prst="rect">
            <a:avLst/>
          </a:prstGeom>
        </p:spPr>
      </p:pic>
      <p:sp>
        <p:nvSpPr>
          <p:cNvPr id="22" name="右箭头 21"/>
          <p:cNvSpPr/>
          <p:nvPr/>
        </p:nvSpPr>
        <p:spPr>
          <a:xfrm>
            <a:off x="2163445" y="4655820"/>
            <a:ext cx="462280" cy="485775"/>
          </a:xfrm>
          <a:prstGeom prst="righ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5115" y="4548505"/>
            <a:ext cx="4064635" cy="647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58171" y="2105561"/>
            <a:ext cx="2507615" cy="2646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6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98052">
                      <a:schemeClr val="bg1"/>
                    </a:gs>
                    <a:gs pos="0">
                      <a:srgbClr val="1C6299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03</a:t>
            </a:r>
            <a:endParaRPr kumimoji="0" lang="zh-CN" altLang="en-US" sz="16600" b="0" i="0" u="none" strike="noStrike" kern="1200" cap="none" spc="300" normalizeH="0" baseline="0" noProof="0" dirty="0">
              <a:ln>
                <a:noFill/>
              </a:ln>
              <a:gradFill>
                <a:gsLst>
                  <a:gs pos="98052">
                    <a:schemeClr val="bg1"/>
                  </a:gs>
                  <a:gs pos="0">
                    <a:srgbClr val="1C6299"/>
                  </a:gs>
                  <a:gs pos="10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5560176" y="2505076"/>
            <a:ext cx="6713702" cy="1035858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30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ea"/>
              </a:rPr>
              <a:t>估计效果</a:t>
            </a:r>
            <a:r>
              <a:rPr lang="zh-CN" altLang="en-US" spc="30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ea"/>
              </a:rPr>
              <a:t>对比</a:t>
            </a:r>
            <a:endParaRPr lang="zh-CN" altLang="en-US" spc="300" noProof="0" dirty="0">
              <a:ln>
                <a:noFill/>
              </a:ln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4" name="文本占位符 2"/>
          <p:cNvSpPr txBox="1"/>
          <p:nvPr/>
        </p:nvSpPr>
        <p:spPr>
          <a:xfrm>
            <a:off x="5550535" y="3540760"/>
            <a:ext cx="6792595" cy="927100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 spc="1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Comparison of Estimation Effects</a:t>
            </a:r>
            <a:endParaRPr kumimoji="0" lang="en-US" altLang="zh-CN" sz="1800" b="0" i="0" u="none" strike="noStrike" kern="1200" cap="none" spc="10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619693" y="2143125"/>
            <a:ext cx="0" cy="257175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dashDot"/>
            <a:miter lim="800000"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5560176" y="3432579"/>
            <a:ext cx="720000" cy="1016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任意多边形: 形状 16"/>
          <p:cNvSpPr/>
          <p:nvPr/>
        </p:nvSpPr>
        <p:spPr>
          <a:xfrm flipH="1">
            <a:off x="0" y="0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837" y="136675"/>
            <a:ext cx="1663415" cy="487234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8917027" y="597107"/>
            <a:ext cx="6452568" cy="5936919"/>
          </a:xfrm>
          <a:prstGeom prst="ellipse">
            <a:avLst/>
          </a:prstGeom>
          <a:blipFill dpi="0" rotWithShape="1">
            <a:blip r:embed="rId2">
              <a:alphaModFix amt="11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 defTabSz="963930" fontAlgn="auto">
              <a:spcBef>
                <a:spcPts val="0"/>
              </a:spcBef>
              <a:spcAft>
                <a:spcPts val="0"/>
              </a:spcAft>
            </a:pPr>
            <a:endParaRPr lang="zh-CN" altLang="en-US" sz="19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估计效果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对比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标题占位符 1"/>
          <p:cNvSpPr txBox="1"/>
          <p:nvPr/>
        </p:nvSpPr>
        <p:spPr>
          <a:xfrm>
            <a:off x="9586595" y="0"/>
            <a:ext cx="2036445" cy="817880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lt"/>
              </a:rPr>
              <a:t>3.1 </a:t>
            </a:r>
            <a:r>
              <a:rPr lang="zh-CN" altLang="en-US" sz="26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lt"/>
              </a:rPr>
              <a:t>效果对比</a:t>
            </a:r>
            <a:endParaRPr lang="zh-CN" altLang="en-US" sz="2600" b="1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038340" y="1666875"/>
            <a:ext cx="4751705" cy="2304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由图可以看出：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SOS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方法（紫线）求得的吸引域范围最大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LFF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方法（黄线）求得的吸引域范围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次之；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二次型李雅普诺夫方法（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蓝线）的结果次之；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Closest UEP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方法（绿线）的吸引域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估计最小。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459105" y="977900"/>
            <a:ext cx="6188710" cy="5198745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170940"/>
            <a:ext cx="5657850" cy="4813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估计效果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对比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标题占位符 1"/>
          <p:cNvSpPr txBox="1"/>
          <p:nvPr/>
        </p:nvSpPr>
        <p:spPr>
          <a:xfrm>
            <a:off x="9586595" y="0"/>
            <a:ext cx="2036445" cy="817880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lt"/>
              </a:rPr>
              <a:t>3.1 </a:t>
            </a:r>
            <a:r>
              <a:rPr lang="zh-CN" altLang="en-US" sz="26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lt"/>
              </a:rPr>
              <a:t>效果对比</a:t>
            </a:r>
            <a:endParaRPr lang="zh-CN" altLang="en-US" sz="2600" b="1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51535" y="1557020"/>
            <a:ext cx="5161280" cy="421576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最近不稳定平衡点法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通过识别系统最近的不稳定平衡点（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UEP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），利用能量函数比较初始能量与临界能量来估计吸引域。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估计结果保守，吸引域范围较小。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二次型李雅普诺夫法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线性化系统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后构造二次型函数，通过线性矩阵不等式求解矩阵参数以确保稳定性，估计吸引域。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对于非线性程度高的系统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过于保守。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LFF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法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通过半定规划构造一个李雅普诺夫函数族，结合非线性项和自适应算法优化吸引域估计。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吸引域估计范围更大，减少了保守性。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SOS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法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将李雅普诺夫函数的正定性条件转化为和平方（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SOS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）条件，通过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SDP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求解高阶多项式函数来估计吸引域。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计算复杂度高，但保守性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弱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圆角矩形 18"/>
          <p:cNvSpPr/>
          <p:nvPr/>
        </p:nvSpPr>
        <p:spPr>
          <a:xfrm>
            <a:off x="542290" y="1294130"/>
            <a:ext cx="5532120" cy="4478655"/>
          </a:xfrm>
          <a:prstGeom prst="roundRect">
            <a:avLst/>
          </a:prstGeom>
          <a:noFill/>
          <a:ln w="19050">
            <a:solidFill>
              <a:srgbClr val="286B9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6" name="文本框 5"/>
          <p:cNvSpPr txBox="1"/>
          <p:nvPr/>
        </p:nvSpPr>
        <p:spPr>
          <a:xfrm>
            <a:off x="6106795" y="3136265"/>
            <a:ext cx="12026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稳定性</a:t>
            </a:r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左大括号 10"/>
          <p:cNvSpPr/>
          <p:nvPr/>
        </p:nvSpPr>
        <p:spPr>
          <a:xfrm>
            <a:off x="7327900" y="2901315"/>
            <a:ext cx="154305" cy="914400"/>
          </a:xfrm>
          <a:prstGeom prst="leftBrace">
            <a:avLst/>
          </a:prstGeom>
          <a:noFill/>
          <a:ln w="190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164705" y="3833495"/>
            <a:ext cx="25768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Lyapunov</a:t>
            </a:r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en-US" altLang="zh-CN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buClrTx/>
              <a:buSzTx/>
              <a:buFontTx/>
            </a:pP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Lyapunov Function Method</a:t>
            </a:r>
            <a:endParaRPr lang="en-US" altLang="zh-CN" sz="12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93585" y="2379345"/>
            <a:ext cx="26619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直接时域仿真</a:t>
            </a:r>
            <a:endParaRPr lang="en-US" altLang="zh-CN" sz="12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 Residual Learning</a:t>
            </a:r>
            <a:endParaRPr lang="en-US" altLang="zh-CN" sz="12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左大括号 29"/>
          <p:cNvSpPr/>
          <p:nvPr/>
        </p:nvSpPr>
        <p:spPr>
          <a:xfrm>
            <a:off x="9524365" y="3473450"/>
            <a:ext cx="154305" cy="914400"/>
          </a:xfrm>
          <a:prstGeom prst="leftBrace">
            <a:avLst/>
          </a:prstGeom>
          <a:noFill/>
          <a:ln w="190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9818370" y="3726180"/>
            <a:ext cx="195897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ctr">
              <a:buClrTx/>
              <a:buSzTx/>
              <a:buFontTx/>
            </a:pPr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李雅普诺夫函数族</a:t>
            </a:r>
            <a:endParaRPr 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buClrTx/>
              <a:buSzTx/>
              <a:buFontTx/>
            </a:pPr>
            <a:r>
              <a:rPr lang="en-US" altLang="zh-CN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LFF</a:t>
            </a:r>
            <a:endParaRPr lang="en-US" altLang="zh-CN" sz="12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818370" y="4345623"/>
            <a:ext cx="193865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ctr">
              <a:buClrTx/>
              <a:buSzTx/>
              <a:buFontTx/>
            </a:pPr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平方和规划</a:t>
            </a:r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buClrTx/>
              <a:buSzTx/>
              <a:buFontTx/>
            </a:pPr>
            <a:r>
              <a:rPr lang="en-US" altLang="zh-CN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SOS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 of Square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2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093585" y="3079750"/>
            <a:ext cx="26619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能量函数法</a:t>
            </a:r>
            <a:endParaRPr lang="en-US" altLang="zh-CN" sz="12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nergy Function Method</a:t>
            </a:r>
            <a:endParaRPr lang="en-US" altLang="zh-CN" sz="12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600565" y="3106420"/>
            <a:ext cx="239458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ctr">
              <a:buClrTx/>
              <a:buSzTx/>
              <a:buFontTx/>
            </a:pPr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二次型李雅普诺夫</a:t>
            </a:r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buClrTx/>
              <a:buSzTx/>
              <a:buFontTx/>
            </a:pPr>
            <a:r>
              <a:rPr lang="en-US" altLang="zh-CN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quadratic lyapunov function</a:t>
            </a:r>
            <a:endParaRPr lang="en-US" altLang="zh-CN" sz="12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58171" y="2105561"/>
            <a:ext cx="2442210" cy="2646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6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98052">
                      <a:schemeClr val="bg1"/>
                    </a:gs>
                    <a:gs pos="0">
                      <a:srgbClr val="1C6299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04</a:t>
            </a:r>
            <a:endParaRPr kumimoji="0" lang="zh-CN" altLang="en-US" sz="16600" b="0" i="0" u="none" strike="noStrike" kern="1200" cap="none" spc="300" normalizeH="0" baseline="0" noProof="0" dirty="0">
              <a:ln>
                <a:noFill/>
              </a:ln>
              <a:gradFill>
                <a:gsLst>
                  <a:gs pos="98052">
                    <a:schemeClr val="bg1"/>
                  </a:gs>
                  <a:gs pos="0">
                    <a:srgbClr val="1C6299"/>
                  </a:gs>
                  <a:gs pos="10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5560176" y="2505076"/>
            <a:ext cx="6713702" cy="1035858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30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ea"/>
              </a:rPr>
              <a:t>总结与</a:t>
            </a:r>
            <a:r>
              <a:rPr kumimoji="0" lang="zh-CN" altLang="en-US" sz="4000" b="1" i="0" u="none" strike="noStrike" kern="1200" cap="none" spc="30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ea"/>
              </a:rPr>
              <a:t>展望</a:t>
            </a:r>
            <a:endParaRPr kumimoji="0" lang="zh-CN" altLang="en-US" sz="4000" b="1" i="0" u="none" strike="noStrike" kern="1200" cap="none" spc="300" normalizeH="0" baseline="0" noProof="0" dirty="0">
              <a:ln>
                <a:noFill/>
              </a:ln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4" name="文本占位符 2"/>
          <p:cNvSpPr txBox="1"/>
          <p:nvPr/>
        </p:nvSpPr>
        <p:spPr>
          <a:xfrm>
            <a:off x="5550535" y="3749675"/>
            <a:ext cx="6792595" cy="927100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 spc="1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Summary and Outlook</a:t>
            </a:r>
            <a:endParaRPr kumimoji="0" lang="en-US" altLang="zh-CN" b="0" i="0" u="none" strike="noStrike" kern="1200" cap="none" spc="10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10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619693" y="2143125"/>
            <a:ext cx="0" cy="257175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dashDot"/>
            <a:miter lim="800000"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5560176" y="3432579"/>
            <a:ext cx="720000" cy="1016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任意多边形: 形状 16"/>
          <p:cNvSpPr/>
          <p:nvPr/>
        </p:nvSpPr>
        <p:spPr>
          <a:xfrm flipH="1">
            <a:off x="0" y="0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837" y="136675"/>
            <a:ext cx="1663415" cy="487234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8917027" y="597107"/>
            <a:ext cx="6452568" cy="5936919"/>
          </a:xfrm>
          <a:prstGeom prst="ellipse">
            <a:avLst/>
          </a:prstGeom>
          <a:blipFill dpi="0" rotWithShape="1">
            <a:blip r:embed="rId2">
              <a:alphaModFix amt="11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 defTabSz="963930" fontAlgn="auto">
              <a:spcBef>
                <a:spcPts val="0"/>
              </a:spcBef>
              <a:spcAft>
                <a:spcPts val="0"/>
              </a:spcAft>
            </a:pPr>
            <a:endParaRPr lang="zh-CN" altLang="en-US" sz="19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未来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研究展望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标题占位符 1"/>
          <p:cNvSpPr txBox="1"/>
          <p:nvPr/>
        </p:nvSpPr>
        <p:spPr>
          <a:xfrm>
            <a:off x="9586595" y="0"/>
            <a:ext cx="2036445" cy="817880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  <a:sym typeface="+mn-lt"/>
              </a:rPr>
              <a:t>4</a:t>
            </a:r>
            <a:r>
              <a:rPr lang="en-US" altLang="zh-CN" sz="26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lt"/>
              </a:rPr>
              <a:t>.1 </a:t>
            </a:r>
            <a:r>
              <a:rPr lang="zh-CN" altLang="en-US" sz="26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lt"/>
              </a:rPr>
              <a:t>研究展望</a:t>
            </a:r>
            <a:endParaRPr lang="zh-CN" altLang="en-US" sz="2600" b="1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9005" y="1706245"/>
            <a:ext cx="4191635" cy="388937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buClrTx/>
              <a:buSzTx/>
              <a:buFontTx/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LFF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方法主要依赖于对二次型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Lyapunov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函数添加非线性项从而凑配成平方和，技巧性强，难以推广至有电导模型。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endParaRPr lang="zh-CN" altLang="en-US" sz="1600" b="1" dirty="0">
              <a:solidFill>
                <a:schemeClr val="accent1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SOS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方法从原理上具有普适性，对于有电导的摇摆方程模型仍然适用，因此可以将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SOS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方法推广至其他假设更少的模型。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圆角矩形 18"/>
          <p:cNvSpPr/>
          <p:nvPr/>
        </p:nvSpPr>
        <p:spPr>
          <a:xfrm>
            <a:off x="563880" y="1612900"/>
            <a:ext cx="4994275" cy="4122420"/>
          </a:xfrm>
          <a:prstGeom prst="roundRect">
            <a:avLst/>
          </a:prstGeom>
          <a:noFill/>
          <a:ln w="19050">
            <a:solidFill>
              <a:srgbClr val="286B9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660400" y="1012825"/>
            <a:ext cx="238442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algn="l" defTabSz="137541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b="1" i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推广</a:t>
            </a:r>
            <a:endParaRPr lang="zh-CN" altLang="en-US" b="1" i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908800" y="1012825"/>
            <a:ext cx="238442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algn="l" defTabSz="137541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b="1" i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改进方向</a:t>
            </a:r>
            <a:endParaRPr lang="zh-CN" altLang="en-US" b="1" i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64300" y="2022475"/>
            <a:ext cx="4712335" cy="3829685"/>
          </a:xfrm>
          <a:prstGeom prst="rect">
            <a:avLst/>
          </a:prstGeom>
        </p:spPr>
        <p:txBody>
          <a:bodyPr wrap="square">
            <a:noAutofit/>
          </a:bodyPr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未来研究可以进一步放宽对转移电导的限制条件，开发无需假设小电导的通用算法。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SOS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分解的计算复杂度随着变量数量和多项式阶数的增加而显著上升。未来的研究可以探索结合数据驱动的方法加速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Lyapunov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函数的搜索过程。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平方和规划的思想能够将非线性的函数转换为多项式，从而方便使用凸优化进行求解，因此可以拓展到其他研究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领域。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圆角矩形 18"/>
          <p:cNvSpPr/>
          <p:nvPr/>
        </p:nvSpPr>
        <p:spPr>
          <a:xfrm>
            <a:off x="6266815" y="1500505"/>
            <a:ext cx="5356225" cy="4234180"/>
          </a:xfrm>
          <a:prstGeom prst="roundRect">
            <a:avLst/>
          </a:prstGeom>
          <a:noFill/>
          <a:ln w="19050">
            <a:solidFill>
              <a:srgbClr val="286B9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308.26527559055114,&quot;left&quot;:298.0505511811023,&quot;top&quot;:89.36834645669292,&quot;width&quot;:595.1131496062992}"/>
</p:tagLst>
</file>

<file path=ppt/tags/tag2.xml><?xml version="1.0" encoding="utf-8"?>
<p:tagLst xmlns:p="http://schemas.openxmlformats.org/presentationml/2006/main">
  <p:tag name="KSO_WM_DIAGRAM_VIRTUALLY_FRAME" val="{&quot;height&quot;:308.26527559055114,&quot;left&quot;:298.0505511811023,&quot;top&quot;:89.36834645669292,&quot;width&quot;:595.1131496062992}"/>
</p:tagLst>
</file>

<file path=ppt/tags/tag3.xml><?xml version="1.0" encoding="utf-8"?>
<p:tagLst xmlns:p="http://schemas.openxmlformats.org/presentationml/2006/main">
  <p:tag name="KSO_WM_DIAGRAM_VIRTUALLY_FRAME" val="{&quot;height&quot;:308.26527559055114,&quot;left&quot;:298.0505511811023,&quot;top&quot;:89.36834645669292,&quot;width&quot;:595.1131496062992}"/>
</p:tagLst>
</file>

<file path=ppt/tags/tag4.xml><?xml version="1.0" encoding="utf-8"?>
<p:tagLst xmlns:p="http://schemas.openxmlformats.org/presentationml/2006/main">
  <p:tag name="KSO_WM_DIAGRAM_VIRTUALLY_FRAME" val="{&quot;height&quot;:308.26527559055114,&quot;left&quot;:298.0505511811023,&quot;top&quot;:89.36834645669292,&quot;width&quot;:595.1131496062992}"/>
</p:tagLst>
</file>

<file path=ppt/tags/tag5.xml><?xml version="1.0" encoding="utf-8"?>
<p:tagLst xmlns:p="http://schemas.openxmlformats.org/presentationml/2006/main">
  <p:tag name="KSO_WM_DIAGRAM_VIRTUALLY_FRAME" val="{&quot;height&quot;:308.26527559055114,&quot;left&quot;:298.0505511811023,&quot;top&quot;:89.36834645669292,&quot;width&quot;:595.1131496062992}"/>
</p:tagLst>
</file>

<file path=ppt/tags/tag6.xml><?xml version="1.0" encoding="utf-8"?>
<p:tagLst xmlns:p="http://schemas.openxmlformats.org/presentationml/2006/main">
  <p:tag name="KSO_WM_DIAGRAM_VIRTUALLY_FRAME" val="{&quot;height&quot;:308.26527559055114,&quot;left&quot;:298.0505511811023,&quot;top&quot;:89.36834645669292,&quot;width&quot;:595.1131496062992}"/>
</p:tagLst>
</file>

<file path=ppt/tags/tag7.xml><?xml version="1.0" encoding="utf-8"?>
<p:tagLst xmlns:p="http://schemas.openxmlformats.org/presentationml/2006/main">
  <p:tag name="KSO_WM_DIAGRAM_VIRTUALLY_FRAME" val="{&quot;height&quot;:308.26527559055114,&quot;left&quot;:298.0505511811023,&quot;top&quot;:89.36834645669292,&quot;width&quot;:595.1131496062992}"/>
</p:tagLst>
</file>

<file path=ppt/tags/tag8.xml><?xml version="1.0" encoding="utf-8"?>
<p:tagLst xmlns:p="http://schemas.openxmlformats.org/presentationml/2006/main">
  <p:tag name="KSO_WM_DIAGRAM_VIRTUALLY_FRAME" val="{&quot;height&quot;:308.26527559055114,&quot;left&quot;:298.0505511811023,&quot;top&quot;:89.36834645669292,&quot;width&quot;:595.1131496062992}"/>
</p:tagLst>
</file>

<file path=ppt/tags/tag9.xml><?xml version="1.0" encoding="utf-8"?>
<p:tagLst xmlns:p="http://schemas.openxmlformats.org/presentationml/2006/main">
  <p:tag name="KSO_WM_DIAGRAM_VIRTUALLY_FRAME" val="{&quot;height&quot;:308.26527559055114,&quot;left&quot;:298.0505511811023,&quot;top&quot;:89.36834645669292,&quot;width&quot;:595.1131496062992}"/>
</p:tagLst>
</file>

<file path=ppt/tags/tag10.xml><?xml version="1.0" encoding="utf-8"?>
<p:tagLst xmlns:p="http://schemas.openxmlformats.org/presentationml/2006/main">
  <p:tag name="KSO_WM_DIAGRAM_VIRTUALLY_FRAME" val="{&quot;height&quot;:308.26527559055114,&quot;left&quot;:298.0505511811023,&quot;top&quot;:89.36834645669292,&quot;width&quot;:595.1131496062992}"/>
</p:tagLst>
</file>

<file path=ppt/tags/tag11.xml><?xml version="1.0" encoding="utf-8"?>
<p:tagLst xmlns:p="http://schemas.openxmlformats.org/presentationml/2006/main">
  <p:tag name="KSO_WM_DIAGRAM_VIRTUALLY_FRAME" val="{&quot;height&quot;:308.26527559055114,&quot;left&quot;:298.0505511811023,&quot;top&quot;:89.36834645669292,&quot;width&quot;:595.1131496062992}"/>
</p:tagLst>
</file>

<file path=ppt/tags/tag12.xml><?xml version="1.0" encoding="utf-8"?>
<p:tagLst xmlns:p="http://schemas.openxmlformats.org/presentationml/2006/main">
  <p:tag name="KSO_WM_DIAGRAM_VIRTUALLY_FRAME" val="{&quot;height&quot;:308.26527559055114,&quot;left&quot;:298.0505511811023,&quot;top&quot;:89.36834645669292,&quot;width&quot;:595.1131496062992}"/>
</p:tagLst>
</file>

<file path=ppt/tags/tag13.xml><?xml version="1.0" encoding="utf-8"?>
<p:tagLst xmlns:p="http://schemas.openxmlformats.org/presentationml/2006/main">
  <p:tag name="KSO_WM_DIAGRAM_VIRTUALLY_FRAME" val="{&quot;height&quot;:308.26527559055114,&quot;left&quot;:298.0505511811023,&quot;top&quot;:89.36834645669292,&quot;width&quot;:595.1131496062992}"/>
</p:tagLst>
</file>

<file path=ppt/tags/tag14.xml><?xml version="1.0" encoding="utf-8"?>
<p:tagLst xmlns:p="http://schemas.openxmlformats.org/presentationml/2006/main">
  <p:tag name="KSO_WM_DIAGRAM_VIRTUALLY_FRAME" val="{&quot;height&quot;:308.26527559055114,&quot;left&quot;:298.0505511811023,&quot;top&quot;:89.36834645669292,&quot;width&quot;:595.1131496062992}"/>
</p:tagLst>
</file>

<file path=ppt/tags/tag15.xml><?xml version="1.0" encoding="utf-8"?>
<p:tagLst xmlns:p="http://schemas.openxmlformats.org/presentationml/2006/main">
  <p:tag name="KSO_WM_DIAGRAM_VIRTUALLY_FRAME" val="{&quot;height&quot;:308.26527559055114,&quot;left&quot;:298.0505511811023,&quot;top&quot;:89.36834645669292,&quot;width&quot;:595.1131496062992}"/>
</p:tagLst>
</file>

<file path=ppt/tags/tag16.xml><?xml version="1.0" encoding="utf-8"?>
<p:tagLst xmlns:p="http://schemas.openxmlformats.org/presentationml/2006/main">
  <p:tag name="KSO_WM_DIAGRAM_VIRTUALLY_FRAME" val="{&quot;height&quot;:308.26527559055114,&quot;left&quot;:298.0505511811023,&quot;top&quot;:89.36834645669292,&quot;width&quot;:595.1131496062992}"/>
</p:tagLst>
</file>

<file path=ppt/tags/tag17.xml><?xml version="1.0" encoding="utf-8"?>
<p:tagLst xmlns:p="http://schemas.openxmlformats.org/presentationml/2006/main">
  <p:tag name="KSO_WM_DIAGRAM_VIRTUALLY_FRAME" val="{&quot;height&quot;:458.3376377952756,&quot;left&quot;:32.69937007874016,&quot;top&quot;:49.45181102362203,&quot;width&quot;:1050.7818110236221}"/>
</p:tagLst>
</file>

<file path=ppt/tags/tag18.xml><?xml version="1.0" encoding="utf-8"?>
<p:tagLst xmlns:p="http://schemas.openxmlformats.org/presentationml/2006/main">
  <p:tag name="KSO_WM_DIAGRAM_VIRTUALLY_FRAME" val="{&quot;height&quot;:458.3376377952756,&quot;left&quot;:32.69937007874016,&quot;top&quot;:49.45181102362203,&quot;width&quot;:1050.7818110236221}"/>
</p:tagLst>
</file>

<file path=ppt/tags/tag19.xml><?xml version="1.0" encoding="utf-8"?>
<p:tagLst xmlns:p="http://schemas.openxmlformats.org/presentationml/2006/main">
  <p:tag name="KSO_WM_DIAGRAM_VIRTUALLY_FRAME" val="{&quot;height&quot;:458.3376377952756,&quot;left&quot;:32.69937007874016,&quot;top&quot;:49.45181102362203,&quot;width&quot;:1050.7818110236221}"/>
</p:tagLst>
</file>

<file path=ppt/tags/tag20.xml><?xml version="1.0" encoding="utf-8"?>
<p:tagLst xmlns:p="http://schemas.openxmlformats.org/presentationml/2006/main">
  <p:tag name="KSO_WM_DIAGRAM_VIRTUALLY_FRAME" val="{&quot;height&quot;:458.3376377952756,&quot;left&quot;:32.69937007874016,&quot;top&quot;:49.45181102362203,&quot;width&quot;:1050.7818110236221}"/>
</p:tagLst>
</file>

<file path=ppt/tags/tag21.xml><?xml version="1.0" encoding="utf-8"?>
<p:tagLst xmlns:p="http://schemas.openxmlformats.org/presentationml/2006/main">
  <p:tag name="KSO_WM_DIAGRAM_VIRTUALLY_FRAME" val="{&quot;height&quot;:458.3376377952756,&quot;left&quot;:32.69937007874016,&quot;top&quot;:49.45181102362203,&quot;width&quot;:1050.7818110236221}"/>
</p:tagLst>
</file>

<file path=ppt/tags/tag22.xml><?xml version="1.0" encoding="utf-8"?>
<p:tagLst xmlns:p="http://schemas.openxmlformats.org/presentationml/2006/main">
  <p:tag name="KSO_WM_DIAGRAM_VIRTUALLY_FRAME" val="{&quot;height&quot;:458.3376377952756,&quot;left&quot;:32.69937007874016,&quot;top&quot;:49.45181102362203,&quot;width&quot;:1050.7818110236221}"/>
</p:tagLst>
</file>

<file path=ppt/tags/tag23.xml><?xml version="1.0" encoding="utf-8"?>
<p:tagLst xmlns:p="http://schemas.openxmlformats.org/presentationml/2006/main">
  <p:tag name="KSO_WM_DIAGRAM_VIRTUALLY_FRAME" val="{&quot;height&quot;:458.3376377952756,&quot;left&quot;:32.69937007874016,&quot;top&quot;:49.45181102362203,&quot;width&quot;:1050.7818110236221}"/>
</p:tagLst>
</file>

<file path=ppt/tags/tag24.xml><?xml version="1.0" encoding="utf-8"?>
<p:tagLst xmlns:p="http://schemas.openxmlformats.org/presentationml/2006/main">
  <p:tag name="KSO_WM_DIAGRAM_VIRTUALLY_FRAME" val="{&quot;height&quot;:458.3376377952756,&quot;left&quot;:32.69937007874016,&quot;top&quot;:49.45181102362203,&quot;width&quot;:1050.7818110236221}"/>
</p:tagLst>
</file>

<file path=ppt/tags/tag25.xml><?xml version="1.0" encoding="utf-8"?>
<p:tagLst xmlns:p="http://schemas.openxmlformats.org/presentationml/2006/main">
  <p:tag name="KSO_WM_DIAGRAM_VIRTUALLY_FRAME" val="{&quot;height&quot;:458.3376377952756,&quot;left&quot;:32.69937007874016,&quot;top&quot;:49.45181102362203,&quot;width&quot;:1050.7818110236221}"/>
</p:tagLst>
</file>

<file path=ppt/tags/tag26.xml><?xml version="1.0" encoding="utf-8"?>
<p:tagLst xmlns:p="http://schemas.openxmlformats.org/presentationml/2006/main">
  <p:tag name="KSO_WM_DIAGRAM_VIRTUALLY_FRAME" val="{&quot;height&quot;:458.3376377952756,&quot;left&quot;:32.69937007874016,&quot;top&quot;:49.45181102362203,&quot;width&quot;:1050.7818110236221}"/>
</p:tagLst>
</file>

<file path=ppt/tags/tag27.xml><?xml version="1.0" encoding="utf-8"?>
<p:tagLst xmlns:p="http://schemas.openxmlformats.org/presentationml/2006/main">
  <p:tag name="KSO_WM_DIAGRAM_VIRTUALLY_FRAME" val="{&quot;height&quot;:458.3376377952756,&quot;left&quot;:32.69937007874016,&quot;top&quot;:49.45181102362203,&quot;width&quot;:1050.7818110236221}"/>
</p:tagLst>
</file>

<file path=ppt/tags/tag28.xml><?xml version="1.0" encoding="utf-8"?>
<p:tagLst xmlns:p="http://schemas.openxmlformats.org/presentationml/2006/main">
  <p:tag name="KSO_WM_DIAGRAM_VIRTUALLY_FRAME" val="{&quot;height&quot;:458.3376377952756,&quot;left&quot;:32.69937007874016,&quot;top&quot;:49.45181102362203,&quot;width&quot;:1050.7818110236221}"/>
</p:tagLst>
</file>

<file path=ppt/tags/tag29.xml><?xml version="1.0" encoding="utf-8"?>
<p:tagLst xmlns:p="http://schemas.openxmlformats.org/presentationml/2006/main">
  <p:tag name="KSO_WM_DIAGRAM_VIRTUALLY_FRAME" val="{&quot;height&quot;:458.3376377952756,&quot;left&quot;:32.69937007874016,&quot;top&quot;:49.45181102362203,&quot;width&quot;:1050.7818110236221}"/>
</p:tagLst>
</file>

<file path=ppt/tags/tag30.xml><?xml version="1.0" encoding="utf-8"?>
<p:tagLst xmlns:p="http://schemas.openxmlformats.org/presentationml/2006/main">
  <p:tag name="KSO_WM_DIAGRAM_VIRTUALLY_FRAME" val="{&quot;height&quot;:458.3376377952756,&quot;left&quot;:32.69937007874016,&quot;top&quot;:49.45181102362203,&quot;width&quot;:1050.7818110236221}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自定义 10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91B89"/>
      </a:accent1>
      <a:accent2>
        <a:srgbClr val="EEB51A"/>
      </a:accent2>
      <a:accent3>
        <a:srgbClr val="591B89"/>
      </a:accent3>
      <a:accent4>
        <a:srgbClr val="EEB51A"/>
      </a:accent4>
      <a:accent5>
        <a:srgbClr val="591B89"/>
      </a:accent5>
      <a:accent6>
        <a:srgbClr val="EEB51A"/>
      </a:accent6>
      <a:hlink>
        <a:srgbClr val="591B89"/>
      </a:hlink>
      <a:folHlink>
        <a:srgbClr val="EEB51A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3128</Words>
  <Application>WPS 演示</Application>
  <PresentationFormat>宽屏</PresentationFormat>
  <Paragraphs>382</Paragraphs>
  <Slides>16</Slides>
  <Notes>27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16</vt:i4>
      </vt:variant>
    </vt:vector>
  </HeadingPairs>
  <TitlesOfParts>
    <vt:vector size="37" baseType="lpstr">
      <vt:lpstr>Arial</vt:lpstr>
      <vt:lpstr>宋体</vt:lpstr>
      <vt:lpstr>Wingdings</vt:lpstr>
      <vt:lpstr>Calibri</vt:lpstr>
      <vt:lpstr>等线</vt:lpstr>
      <vt:lpstr>微软雅黑</vt:lpstr>
      <vt:lpstr>Arial</vt:lpstr>
      <vt:lpstr>Impact</vt:lpstr>
      <vt:lpstr>Cambria Math</vt:lpstr>
      <vt:lpstr>黑体</vt:lpstr>
      <vt:lpstr>Arial Unicode MS</vt:lpstr>
      <vt:lpstr>等线 Light</vt:lpstr>
      <vt:lpstr>Calibri Light</vt:lpstr>
      <vt:lpstr>1_Office 主题​​</vt:lpstr>
      <vt:lpstr>2_Office 主题​​</vt:lpstr>
      <vt:lpstr>1_自定义设计方案</vt:lpstr>
      <vt:lpstr>Equation.KSEE3</vt:lpstr>
      <vt:lpstr>Equation.KSEE3</vt:lpstr>
      <vt:lpstr>Equation.KSEE3</vt:lpstr>
      <vt:lpstr>Equation.KSEE3</vt:lpstr>
      <vt:lpstr>Visio.Drawing.15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紫色沉稳简约毕业答辩毕业论文答辩PPT</dc:title>
  <dc:creator>lenovo</dc:creator>
  <cp:lastModifiedBy>Chris</cp:lastModifiedBy>
  <cp:revision>93</cp:revision>
  <dcterms:created xsi:type="dcterms:W3CDTF">2019-03-09T08:01:00Z</dcterms:created>
  <dcterms:modified xsi:type="dcterms:W3CDTF">2026-07-26T10:45:27Z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7D2063F739A14DE7A4D78CCEBFC6B3C3_13</vt:lpwstr>
  </property>
</Properties>
</file>