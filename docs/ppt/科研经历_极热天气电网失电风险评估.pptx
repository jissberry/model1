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6128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二、科研经历</a:t>
            </a: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—考虑热故障及源荷失衡的极热天气电网失电风险评估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76656"/>
            <a:ext cx="12191695" cy="0"/>
          </a:xfrm>
          <a:prstGeom prst="bentConnector3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0040" y="731520"/>
            <a:ext cx="11521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2.1  </a:t>
            </a:r>
            <a:r>
              <a:rPr sz="1700" b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研究背景与总体思路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777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20140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34440"/>
            <a:ext cx="10981944" cy="8046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近年来极端高温、静风等复合气象事件频发：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源侧机组降容、荷侧空调负荷激增</a:t>
            </a: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，同时高温重载抬升发电机、线路与变压器的</a:t>
            </a:r>
            <a:r>
              <a:rPr sz="13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热故障概率</a:t>
            </a:r>
            <a:r>
              <a:rPr sz="13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。亟需在统一框架下评估源荷失衡与热故障耦合下的电网失电风险。</a:t>
            </a:r>
          </a:p>
        </p:txBody>
      </p:sp>
      <p:pic>
        <p:nvPicPr>
          <p:cNvPr id="8" name="Picture 7" descr="preview_01_framework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64592"/>
            <a:ext cx="7635240" cy="31118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2240280"/>
            <a:ext cx="3657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研究流程（两阶段运行逻辑）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615184"/>
            <a:ext cx="3429000" cy="548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2642615"/>
            <a:ext cx="329184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① 源荷失衡建模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898648"/>
            <a:ext cx="32461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四类电源降容 + 温敏负荷增长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241548"/>
            <a:ext cx="3429000" cy="548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3268979"/>
            <a:ext cx="329184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② 基准 DC-OPF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525012"/>
            <a:ext cx="32461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MIQP 求解；不施加爬坡约束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867912"/>
            <a:ext cx="3429000" cy="548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3895344"/>
            <a:ext cx="329184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③ 热故障概率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4151376"/>
            <a:ext cx="32461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变压器 / 发电机 / 线路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494276"/>
            <a:ext cx="3429000" cy="548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4521708"/>
            <a:ext cx="329184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④ 蒙特卡洛场景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4777740"/>
            <a:ext cx="32461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2000 × 85 维故障抽样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5120640"/>
            <a:ext cx="3429000" cy="548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5148072"/>
            <a:ext cx="329184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⑤ 故障后 OPF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5404104"/>
            <a:ext cx="32461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以基准出力为爬坡中心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5747004"/>
            <a:ext cx="3429000" cy="548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5774436"/>
            <a:ext cx="329184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⑥ 失电风险统计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6030468"/>
            <a:ext cx="32461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均值 / 分位数 / 尾部风险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75895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算例：修改版 IEEE 39 节点系统（39 节点 / 46 支路 / 10 机 / 29 节点变压器）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6128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二、科研经历</a:t>
            </a: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—考虑热故障及源荷失衡的极热天气电网失电风险评估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76656"/>
            <a:ext cx="12191695" cy="0"/>
          </a:xfrm>
          <a:prstGeom prst="bentConnector3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0040" y="731520"/>
            <a:ext cx="11521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2.2  </a:t>
            </a:r>
            <a:r>
              <a:rPr sz="1700" b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极热无风条件下的源荷失衡建模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777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 / 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44768" y="1234440"/>
            <a:ext cx="0" cy="4892039"/>
          </a:xfrm>
          <a:prstGeom prst="bentConnector3">
            <a:avLst/>
          </a:prstGeom>
          <a:ln w="13970">
            <a:solidFill>
              <a:srgbClr val="2E75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1188720"/>
            <a:ext cx="566928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源侧：四类电源可用出力修正</a:t>
            </a:r>
          </a:p>
        </p:txBody>
      </p:sp>
      <p:pic>
        <p:nvPicPr>
          <p:cNvPr id="8" name="Picture 7" descr="d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16" y="1517904"/>
            <a:ext cx="3979326" cy="475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2029968"/>
            <a:ext cx="56692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火电按</a:t>
            </a: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进气密度、冷却效率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下降线性降容；水电受</a:t>
            </a: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枯水折减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；风速低于切入风速时</a:t>
            </a: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风电近乎停发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；光伏按</a:t>
            </a: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温度—辐照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修正。</a:t>
            </a:r>
          </a:p>
        </p:txBody>
      </p:sp>
      <p:pic>
        <p:nvPicPr>
          <p:cNvPr id="10" name="Picture 9" descr="preview_02_source_load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31618"/>
            <a:ext cx="5897880" cy="17607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1188720"/>
            <a:ext cx="566928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荷侧：温敏负荷增长与分级切负荷</a:t>
            </a:r>
          </a:p>
        </p:txBody>
      </p:sp>
      <p:pic>
        <p:nvPicPr>
          <p:cNvPr id="12" name="Picture 11" descr="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880" y="1517904"/>
            <a:ext cx="4582798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7648" y="2029968"/>
            <a:ext cx="55778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负荷分为</a:t>
            </a: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刚性 + 温敏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两部分，温敏负荷随温度上升；并按</a:t>
            </a: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一级 / 二级 / 三级</a:t>
            </a: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设置差异化失负荷价值 VOLL，优先保障关键负荷。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9260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971800"/>
            <a:ext cx="5175504" cy="1325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源荷缺口的形成：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40 °C、2 m/s 场景下，系统可用出力上界约 </a:t>
            </a: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6008.36 MW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极热修正后总需求约 </a:t>
            </a: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6754.57 MW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二者形成确定性</a:t>
            </a:r>
            <a:r>
              <a:rPr sz="1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原始能量缺口 ≈ 746.21 MW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526280"/>
            <a:ext cx="53949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4572000"/>
            <a:ext cx="5175504" cy="1417319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分级切负荷约束：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0 ≤ s(j,k) ≤ D(j,k)(T)，  k = 1,2,3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VOLL₁ = 10000，VOLL₂ = 5000，VOLL₃ = 1000 $/MWh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→ 引导模型把切负荷集中到</a:t>
            </a: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三级可中断负荷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108192"/>
            <a:ext cx="5852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图：四类机组降容特性、风速—功率曲线与源荷缺口随温度的演化。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6128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二、科研经历</a:t>
            </a: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—考虑热故障及源荷失衡的极热天气电网失电风险评估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76656"/>
            <a:ext cx="12191695" cy="0"/>
          </a:xfrm>
          <a:prstGeom prst="bentConnector3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0040" y="731520"/>
            <a:ext cx="11521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2.3  </a:t>
            </a:r>
            <a:r>
              <a:rPr sz="1700" b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基准运行状态的 DC-OPF / MIQP 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777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4008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目标函数：发电成本 + 分级切负荷惩罚</a:t>
            </a:r>
          </a:p>
        </p:txBody>
      </p:sp>
      <p:pic>
        <p:nvPicPr>
          <p:cNvPr id="7" name="Picture 6" descr="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19" y="1517904"/>
            <a:ext cx="335280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157984"/>
            <a:ext cx="5943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直流潮流与节点功率平衡</a:t>
            </a:r>
          </a:p>
        </p:txBody>
      </p:sp>
      <p:pic>
        <p:nvPicPr>
          <p:cNvPr id="9" name="Picture 8" descr="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079" y="2468880"/>
            <a:ext cx="362928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108960"/>
            <a:ext cx="5943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火电启停与极热出力约束</a:t>
            </a:r>
          </a:p>
        </p:txBody>
      </p:sp>
      <p:pic>
        <p:nvPicPr>
          <p:cNvPr id="11" name="Picture 10" descr="u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53" y="3419856"/>
            <a:ext cx="4590853" cy="457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11480" y="4041648"/>
            <a:ext cx="59893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4087368"/>
            <a:ext cx="5769864" cy="19659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模型要点：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含火电二次成本 + 0/1 启停 → </a:t>
            </a: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混合整数二次规划（MIQP）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基准 OPF 为极端气象后的静态快照，</a:t>
            </a: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不施加爬坡约束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启停变量避免孤岛内</a:t>
            </a: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最小出力过剩导致的不可行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MATLAB/Gurobi 主求解 + Python 连续 QP 枚举</a:t>
            </a: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交叉验证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188720"/>
            <a:ext cx="51206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基准调度结果与网络约束</a:t>
            </a:r>
          </a:p>
        </p:txBody>
      </p:sp>
      <p:pic>
        <p:nvPicPr>
          <p:cNvPr id="15" name="Picture 14" descr="preview_03_dispatch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207424"/>
            <a:ext cx="5394960" cy="186707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583680" y="4892040"/>
            <a:ext cx="534924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4937759"/>
            <a:ext cx="5129783" cy="11155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关键发现：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燃气机组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G4 极热上界 668.5 MW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，受支路热稳约束仅出力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651.9 MW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→ 最优切负荷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762.81 MW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= 746.21 MW 缺口 + 16.60 MW 网络闲置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6128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二、科研经历</a:t>
            </a: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—考虑热故障及源荷失衡的极热天气电网失电风险评估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76656"/>
            <a:ext cx="12191695" cy="0"/>
          </a:xfrm>
          <a:prstGeom prst="bentConnector3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0040" y="731520"/>
            <a:ext cx="11521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2.4  </a:t>
            </a:r>
            <a:r>
              <a:rPr sz="1700" b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极热条件下的元件热故障概率模型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777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 /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47091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34440"/>
            <a:ext cx="4489704" cy="5669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统一框架：</a:t>
            </a: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应力相关故障率 λ → 评估窗口故障概率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pic>
        <p:nvPicPr>
          <p:cNvPr id="8" name="Picture 7" descr="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79843"/>
            <a:ext cx="2286000" cy="39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335024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（Δt = 24 h 暴露窗口）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057400"/>
            <a:ext cx="59893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57400"/>
            <a:ext cx="91440" cy="1298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130552"/>
            <a:ext cx="201168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节点变压器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42316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热点温度 + Arrhenius 绝缘热老化加速</a:t>
            </a:r>
          </a:p>
        </p:txBody>
      </p:sp>
      <p:pic>
        <p:nvPicPr>
          <p:cNvPr id="14" name="Picture 13" descr="t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585" y="2697480"/>
            <a:ext cx="2491388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3108960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▶ 环境温度驱动；DC-OPF 无无功，不用视在负载比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474720"/>
            <a:ext cx="59893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474720"/>
            <a:ext cx="91440" cy="12984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547872"/>
            <a:ext cx="201168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发电机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84048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温度应力 + 出力率的比例风险模型</a:t>
            </a:r>
          </a:p>
        </p:txBody>
      </p:sp>
      <p:pic>
        <p:nvPicPr>
          <p:cNvPr id="20" name="Picture 19" descr="g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520" y="4114800"/>
            <a:ext cx="4275519" cy="4206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3504" y="4526279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▶ 燃气机组温度敏感、出力率高，故障概率最高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892040"/>
            <a:ext cx="59893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892040"/>
            <a:ext cx="91440" cy="12984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4965192"/>
            <a:ext cx="201168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输电线路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5257800"/>
            <a:ext cx="5669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IEEE 738 导线温度 + 过载应力放大</a:t>
            </a:r>
          </a:p>
        </p:txBody>
      </p:sp>
      <p:pic>
        <p:nvPicPr>
          <p:cNvPr id="26" name="Picture 25" descr="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23" y="5532120"/>
            <a:ext cx="5420313" cy="4206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5943600"/>
            <a:ext cx="566928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▶ 满载断面导线温度超连续运行限值，概率显著上升</a:t>
            </a:r>
          </a:p>
        </p:txBody>
      </p:sp>
      <p:pic>
        <p:nvPicPr>
          <p:cNvPr id="28" name="Picture 27" descr="preview_05_fault_probability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754483"/>
            <a:ext cx="5440680" cy="1669073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583680" y="5504688"/>
            <a:ext cx="53492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5550407"/>
            <a:ext cx="5129783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24 h 条件故障概率：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G10 ≈ 4.11%、G4 ≈ 4.04%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最高风险线路 L27 ≈ 0.42%；节点变压器 ≈ 0.015%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6128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二、科研经历</a:t>
            </a: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—考虑热故障及源荷失衡的极热天气电网失电风险评估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76656"/>
            <a:ext cx="12191695" cy="0"/>
          </a:xfrm>
          <a:prstGeom prst="bentConnector3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0040" y="731520"/>
            <a:ext cx="11521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2.5  </a:t>
            </a:r>
            <a:r>
              <a:rPr sz="1700" b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蒙特卡洛故障场景与故障后 OPF 遍历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777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45720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① 85 维故障场景抽样</a:t>
            </a:r>
          </a:p>
        </p:txBody>
      </p:sp>
      <p:pic>
        <p:nvPicPr>
          <p:cNvPr id="7" name="Picture 6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9846"/>
            <a:ext cx="2926080" cy="3098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20440" y="1481328"/>
            <a:ext cx="2743200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按元件故障概率独立抽样，生成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2000 个 85 维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0/1 场景（10 机 + 46 线 + 29 变压器）。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88720"/>
            <a:ext cx="530352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② 故障映射与拓扑重构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539496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• 发电机故障：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P(G)=0，火电强制停机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• 线路故障：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支路退出，不参与 B 矩阵装配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• 变压器故障：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关联支路退出，刻画通道受损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2606040"/>
            <a:ext cx="11475720" cy="0"/>
          </a:xfrm>
          <a:prstGeom prst="bentConnector3">
            <a:avLst/>
          </a:prstGeom>
          <a:ln w="127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2697480"/>
            <a:ext cx="59436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③ 故障后 OPF：以基准出力为爬坡中心</a:t>
            </a:r>
          </a:p>
        </p:txBody>
      </p:sp>
      <p:pic>
        <p:nvPicPr>
          <p:cNvPr id="13" name="Picture 12" descr="r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981" y="3017520"/>
            <a:ext cx="3649717" cy="457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11480" y="3611880"/>
            <a:ext cx="5806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3657600"/>
            <a:ext cx="5586983" cy="24231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求解与统计结果：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保留火电启停 →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全部 2000 个场景均获最优解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总故障事件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739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；含故障场景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631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；发电机事件占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70.2%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388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个场景出现至少一台火电关停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抽样经验频率与理论概率总体吻合，单场景最多 3 个故障</a:t>
            </a:r>
          </a:p>
        </p:txBody>
      </p:sp>
      <p:pic>
        <p:nvPicPr>
          <p:cNvPr id="16" name="Picture 15" descr="preview_06_monte_carlo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400889"/>
            <a:ext cx="5623560" cy="21593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6128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二、科研经历</a:t>
            </a:r>
            <a:r>
              <a:rPr sz="2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—考虑热故障及源荷失衡的极热天气电网失电风险评估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76656"/>
            <a:ext cx="12191695" cy="0"/>
          </a:xfrm>
          <a:prstGeom prst="bentConnector3">
            <a:avLst/>
          </a:prstGeom>
          <a:ln w="2794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0040" y="731520"/>
            <a:ext cx="11521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2.6  </a:t>
            </a:r>
            <a:r>
              <a:rPr sz="1700" b="0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失电风险评估结果与结论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55664"/>
            <a:ext cx="777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 / 6</a:t>
            </a:r>
          </a:p>
        </p:txBody>
      </p:sp>
      <p:pic>
        <p:nvPicPr>
          <p:cNvPr id="6" name="Picture 5" descr="preview_07_shed_distributi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73" y="1188720"/>
            <a:ext cx="6629973" cy="2487168"/>
          </a:xfrm>
          <a:prstGeom prst="rect">
            <a:avLst/>
          </a:prstGeom>
        </p:spPr>
      </p:pic>
      <p:pic>
        <p:nvPicPr>
          <p:cNvPr id="7" name="Picture 6" descr="preview_08_risk_drivers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72" y="3749039"/>
            <a:ext cx="6393375" cy="2395728"/>
          </a:xfrm>
          <a:prstGeom prst="rect">
            <a:avLst/>
          </a:prstGeom>
        </p:spPr>
      </p:pic>
      <p:pic>
        <p:nvPicPr>
          <p:cNvPr id="8" name="Picture 7" descr="bri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220363"/>
            <a:ext cx="4709160" cy="5402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920240"/>
            <a:ext cx="1481328" cy="841248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11680"/>
            <a:ext cx="142646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951.58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2404872"/>
            <a:ext cx="14264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均值 / MW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87384" y="1920240"/>
            <a:ext cx="1481328" cy="841248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815" y="2011680"/>
            <a:ext cx="142646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1765.56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4815" y="2404872"/>
            <a:ext cx="14264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P95 / MW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96728" y="1920240"/>
            <a:ext cx="1481328" cy="841248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9" y="2011680"/>
            <a:ext cx="142646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3330.40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9" y="2404872"/>
            <a:ext cx="14264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最大值 / MW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2926080"/>
            <a:ext cx="4709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2971800"/>
            <a:ext cx="4489704" cy="1325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风险分布特征：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约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75%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场景仍停在 762.81 MW 基准切负荷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风险集中于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右侧尾部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，最大值约为基准的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4.4 倍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电源故障后果强于单纯网络故障；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电源 + 网络混合故障风险最高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4498848"/>
            <a:ext cx="4709160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4544568"/>
            <a:ext cx="4489704" cy="15361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主要结论：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① 极热无风形成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≈746 MW</a:t>
            </a: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缺口，网络约束下切负荷 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≈763 MW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② 差异化 VOLL 使切负荷全部落在三级负荷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③ 热故障叠加后切负荷呈</a:t>
            </a:r>
            <a:r>
              <a:rPr sz="11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显著尾部风险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④ 数值链条闭合并经 Python 交叉验证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