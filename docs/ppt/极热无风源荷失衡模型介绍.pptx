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60604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731520" y="1508760"/>
            <a:ext cx="13624560" cy="2057400"/>
          </a:xfrm>
          <a:prstGeom prst="ellipse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907792"/>
            <a:ext cx="12191695" cy="32004"/>
          </a:xfrm>
          <a:prstGeom prst="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21792"/>
            <a:ext cx="10561320" cy="5669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500" b="0">
                <a:solidFill>
                  <a:srgbClr val="FFFFFF"/>
                </a:solidFill>
                <a:latin typeface="微软雅黑"/>
              </a:rPr>
              <a:t>极热无风条件下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11201400" cy="7772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3400" b="1">
                <a:solidFill>
                  <a:srgbClr val="FFFFFF"/>
                </a:solidFill>
                <a:latin typeface="微软雅黑"/>
              </a:rPr>
              <a:t>源荷失衡与热故障耦合风险评估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105613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0">
                <a:solidFill>
                  <a:srgbClr val="D9EAF7"/>
                </a:solidFill>
                <a:latin typeface="微软雅黑"/>
              </a:rPr>
              <a:t>基于修改版 IEEE 39 节点系统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3730752"/>
            <a:ext cx="40690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400" b="1">
                <a:solidFill>
                  <a:srgbClr val="17365D"/>
                </a:solidFill>
                <a:latin typeface="微软雅黑"/>
              </a:rPr>
              <a:t>模型介绍与算例分析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4315968"/>
            <a:ext cx="2331720" cy="4114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4864608"/>
            <a:ext cx="37033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400" b="0">
                <a:solidFill>
                  <a:srgbClr val="667085"/>
                </a:solidFill>
                <a:latin typeface="微软雅黑"/>
              </a:rPr>
              <a:t>汇报人：________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5285232"/>
            <a:ext cx="37033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>
                <a:solidFill>
                  <a:srgbClr val="667085"/>
                </a:solidFill>
                <a:latin typeface="微软雅黑"/>
              </a:rPr>
              <a:t>2026 年 8 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6199632"/>
            <a:ext cx="9628632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1">
                <a:solidFill>
                  <a:srgbClr val="4472C4"/>
                </a:solidFill>
                <a:latin typeface="Arial"/>
              </a:rPr>
              <a:t>SOURCE–LOAD IMBALANCE  ·  THERMAL FAULT  ·  RISK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669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C00000"/>
                </a:solidFill>
                <a:latin typeface="微软雅黑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"/>
            <a:ext cx="2377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67085"/>
                </a:solidFill>
                <a:latin typeface="微软雅黑"/>
              </a:rPr>
              <a:t>01  RESEARCH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7365D"/>
                </a:solidFill>
                <a:latin typeface="微软雅黑"/>
              </a:rPr>
              <a:t>研究背景与问题定义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94360" cy="4114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234440"/>
            <a:ext cx="10744200" cy="16459"/>
          </a:xfrm>
          <a:prstGeom prst="rect">
            <a:avLst/>
          </a:prstGeom>
          <a:solidFill>
            <a:srgbClr val="D9E2F3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686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667085"/>
                </a:solidFill>
                <a:latin typeface="微软雅黑"/>
              </a:rPr>
              <a:t>2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50876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1508760"/>
            <a:ext cx="64008" cy="182880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3" y="1636776"/>
            <a:ext cx="246888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C00000"/>
                </a:solidFill>
                <a:latin typeface="微软雅黑"/>
              </a:rPr>
              <a:t>极热天气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3" y="2020824"/>
            <a:ext cx="2432304" cy="12070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机组冷却效率下降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光伏温升降效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设备绝缘老化加速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64992" y="150876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64992" y="1508760"/>
            <a:ext cx="64008" cy="18288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9584" y="1636776"/>
            <a:ext cx="246888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4472C4"/>
                </a:solidFill>
                <a:latin typeface="微软雅黑"/>
              </a:rPr>
              <a:t>静风与枯水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9584" y="2020824"/>
            <a:ext cx="2432304" cy="12070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风速低于切入风速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水电可用容量折减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新能源支撑能力下降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508760"/>
            <a:ext cx="274320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91072" y="1508760"/>
            <a:ext cx="64008" cy="182880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1636776"/>
            <a:ext cx="246888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7030A0"/>
                </a:solidFill>
                <a:latin typeface="微软雅黑"/>
              </a:rPr>
              <a:t>温敏负荷增长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020824"/>
            <a:ext cx="2432304" cy="12070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空调负荷快速攀升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供需裕度被持续压缩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形成确定性源荷缺口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17152" y="1508760"/>
            <a:ext cx="2532888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17152" y="1508760"/>
            <a:ext cx="64008" cy="182880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81744" y="1636776"/>
            <a:ext cx="225856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ED7D31"/>
                </a:solidFill>
                <a:latin typeface="微软雅黑"/>
              </a:rPr>
              <a:t>热故障叠加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2020824"/>
            <a:ext cx="2221992" cy="12070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重载与高温共同抬升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发电机、线路、变压器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故障概率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703320"/>
            <a:ext cx="141732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7365D"/>
                </a:solidFill>
                <a:latin typeface="微软雅黑"/>
              </a:rPr>
              <a:t>复合灾害链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28800" y="3831336"/>
            <a:ext cx="9692640" cy="36576"/>
          </a:xfrm>
          <a:prstGeom prst="rect">
            <a:avLst/>
          </a:prstGeom>
          <a:solidFill>
            <a:srgbClr val="D9E2F3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251960"/>
            <a:ext cx="1664208" cy="658368"/>
          </a:xfrm>
          <a:prstGeom prst="roundRect">
            <a:avLst>
              <a:gd name="adj" fmla="val 8000"/>
            </a:avLst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425696"/>
            <a:ext cx="157276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气象冲击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96312" y="4379976"/>
            <a:ext cx="5029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>
                <a:solidFill>
                  <a:srgbClr val="667085"/>
                </a:solidFill>
                <a:latin typeface="微软雅黑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44952" y="4251960"/>
            <a:ext cx="1664208" cy="658368"/>
          </a:xfrm>
          <a:prstGeom prst="roundRect">
            <a:avLst>
              <a:gd name="adj" fmla="val 8000"/>
            </a:avLst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90672" y="4425696"/>
            <a:ext cx="157276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源荷缺口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64024" y="4379976"/>
            <a:ext cx="5029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>
                <a:solidFill>
                  <a:srgbClr val="667085"/>
                </a:solidFill>
                <a:latin typeface="微软雅黑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312664" y="4251960"/>
            <a:ext cx="1664208" cy="658368"/>
          </a:xfrm>
          <a:prstGeom prst="roundRect">
            <a:avLst>
              <a:gd name="adj" fmla="val 8000"/>
            </a:avLst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58383" y="4425696"/>
            <a:ext cx="157276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潮流重分布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31736" y="4379976"/>
            <a:ext cx="5029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>
                <a:solidFill>
                  <a:srgbClr val="667085"/>
                </a:solidFill>
                <a:latin typeface="微软雅黑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0375" y="4251960"/>
            <a:ext cx="1664208" cy="658368"/>
          </a:xfrm>
          <a:prstGeom prst="roundRect">
            <a:avLst>
              <a:gd name="adj" fmla="val 8000"/>
            </a:avLst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26096" y="4425696"/>
            <a:ext cx="157276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热故障概率升高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9447" y="4379976"/>
            <a:ext cx="50292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>
                <a:solidFill>
                  <a:srgbClr val="667085"/>
                </a:solidFill>
                <a:latin typeface="微软雅黑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848088" y="4251960"/>
            <a:ext cx="1664208" cy="658368"/>
          </a:xfrm>
          <a:prstGeom prst="roundRect">
            <a:avLst>
              <a:gd name="adj" fmla="val 8000"/>
            </a:avLst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893808" y="4425696"/>
            <a:ext cx="1572768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故障后切负荷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0080" y="5303520"/>
            <a:ext cx="10927080" cy="86868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5504688"/>
            <a:ext cx="11430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C00000"/>
                </a:solidFill>
                <a:latin typeface="微软雅黑"/>
              </a:rPr>
              <a:t>核心问题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01952" y="5449824"/>
            <a:ext cx="928116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1">
                <a:solidFill>
                  <a:srgbClr val="17365D"/>
                </a:solidFill>
                <a:latin typeface="微软雅黑"/>
              </a:rPr>
              <a:t>如何在统一框架中量化“确定性源荷失衡”与“随机元件热故障”对失电风险的耦合影响？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" y="6254496"/>
            <a:ext cx="97840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 b="0">
                <a:solidFill>
                  <a:srgbClr val="667085"/>
                </a:solidFill>
                <a:latin typeface="微软雅黑"/>
              </a:rPr>
              <a:t>背景数据来源：文献[1]–[17]；本汇报数值均为修改版 IEEE 39 节点算例结果。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669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C00000"/>
                </a:solidFill>
                <a:latin typeface="微软雅黑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"/>
            <a:ext cx="2377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67085"/>
                </a:solidFill>
                <a:latin typeface="微软雅黑"/>
              </a:rPr>
              <a:t>02 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7365D"/>
                </a:solidFill>
                <a:latin typeface="微软雅黑"/>
              </a:rPr>
              <a:t>研究思路与总体框架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94360" cy="4114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234440"/>
            <a:ext cx="10744200" cy="16459"/>
          </a:xfrm>
          <a:prstGeom prst="rect">
            <a:avLst/>
          </a:prstGeom>
          <a:solidFill>
            <a:srgbClr val="D9E2F3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686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667085"/>
                </a:solidFill>
                <a:latin typeface="微软雅黑"/>
              </a:rPr>
              <a:t>3 / 10</a:t>
            </a:r>
          </a:p>
        </p:txBody>
      </p:sp>
      <p:pic>
        <p:nvPicPr>
          <p:cNvPr id="9" name="Picture 8" descr="preview_01_framework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509873"/>
            <a:ext cx="11301984" cy="46063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80160" y="6217920"/>
            <a:ext cx="9646920" cy="21945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C00000"/>
                </a:solidFill>
                <a:latin typeface="微软雅黑"/>
              </a:rPr>
              <a:t>两阶段运行逻辑：基准 OPF 无爬坡约束；故障后 OPF 以基准出力为爬坡中心。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669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C00000"/>
                </a:solidFill>
                <a:latin typeface="微软雅黑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"/>
            <a:ext cx="2377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67085"/>
                </a:solidFill>
                <a:latin typeface="微软雅黑"/>
              </a:rPr>
              <a:t>02 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7365D"/>
                </a:solidFill>
                <a:latin typeface="微软雅黑"/>
              </a:rPr>
              <a:t>极热无风条件下的源荷失衡模型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94360" cy="4114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234440"/>
            <a:ext cx="10744200" cy="16459"/>
          </a:xfrm>
          <a:prstGeom prst="rect">
            <a:avLst/>
          </a:prstGeom>
          <a:solidFill>
            <a:srgbClr val="D9E2F3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686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667085"/>
                </a:solidFill>
                <a:latin typeface="微软雅黑"/>
              </a:rPr>
              <a:t>4 / 10</a:t>
            </a:r>
          </a:p>
        </p:txBody>
      </p:sp>
      <p:pic>
        <p:nvPicPr>
          <p:cNvPr id="9" name="Picture 8" descr="preview_02_source_load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284" y="1399032"/>
            <a:ext cx="11332950" cy="3383280"/>
          </a:xfrm>
          <a:prstGeom prst="rect">
            <a:avLst/>
          </a:prstGeom>
        </p:spPr>
      </p:pic>
      <p:pic>
        <p:nvPicPr>
          <p:cNvPr id="10" name="Picture 9" descr="sou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601" y="4846320"/>
            <a:ext cx="4357892" cy="530352"/>
          </a:xfrm>
          <a:prstGeom prst="rect">
            <a:avLst/>
          </a:prstGeom>
        </p:spPr>
      </p:pic>
      <p:pic>
        <p:nvPicPr>
          <p:cNvPr id="11" name="Picture 10" descr="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4852076"/>
            <a:ext cx="5440680" cy="5188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5404104"/>
            <a:ext cx="59436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C00000"/>
                </a:solidFill>
                <a:latin typeface="微软雅黑"/>
              </a:rPr>
              <a:t>源侧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5385816"/>
            <a:ext cx="4709160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263238"/>
                </a:solidFill>
                <a:latin typeface="微软雅黑"/>
              </a:rPr>
              <a:t>火电高温降容 · 水电枯水折减 · 风电低风速停发 · 光伏温度—辐照修正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404104"/>
            <a:ext cx="594360" cy="23774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1">
                <a:solidFill>
                  <a:srgbClr val="7030A0"/>
                </a:solidFill>
                <a:latin typeface="微软雅黑"/>
              </a:rPr>
              <a:t>荷侧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5385816"/>
            <a:ext cx="4709160" cy="3931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263238"/>
                </a:solidFill>
                <a:latin typeface="微软雅黑"/>
              </a:rPr>
              <a:t>刚性负荷 + 温敏负荷；按一级/二级/三级设置差异化 VOLL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" y="5934456"/>
            <a:ext cx="10927080" cy="384048"/>
          </a:xfrm>
          <a:prstGeom prst="roundRect">
            <a:avLst>
              <a:gd name="adj" fmla="val 8000"/>
            </a:avLst>
          </a:prstGeom>
          <a:solidFill>
            <a:srgbClr val="FFF2F2"/>
          </a:solidFill>
          <a:ln>
            <a:solidFill>
              <a:srgbClr val="F4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998464"/>
            <a:ext cx="1056132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C00000"/>
                </a:solidFill>
                <a:latin typeface="微软雅黑"/>
              </a:rPr>
              <a:t>40 °C、2 m/s 场景：可用出力下降与负荷增长共同形成 746.21 MW 原始能量缺口。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669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C00000"/>
                </a:solidFill>
                <a:latin typeface="微软雅黑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"/>
            <a:ext cx="2377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67085"/>
                </a:solidFill>
                <a:latin typeface="微软雅黑"/>
              </a:rPr>
              <a:t>03  OPTIMIZATION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7365D"/>
                </a:solidFill>
                <a:latin typeface="微软雅黑"/>
              </a:rPr>
              <a:t>基准 DC-OPF / MIQP 与算例设置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94360" cy="4114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234440"/>
            <a:ext cx="10744200" cy="16459"/>
          </a:xfrm>
          <a:prstGeom prst="rect">
            <a:avLst/>
          </a:prstGeom>
          <a:solidFill>
            <a:srgbClr val="D9E2F3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686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667085"/>
                </a:solidFill>
                <a:latin typeface="微软雅黑"/>
              </a:rPr>
              <a:t>5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" y="1444752"/>
            <a:ext cx="699516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" y="1444752"/>
            <a:ext cx="64008" cy="114300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3" y="1572768"/>
            <a:ext cx="67208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4472C4"/>
                </a:solidFill>
                <a:latin typeface="微软雅黑"/>
              </a:rPr>
              <a:t>优化目标：发电经济性 + 分级失负荷代价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3" y="1956816"/>
            <a:ext cx="6684264" cy="52120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</a:p>
        </p:txBody>
      </p:sp>
      <p:pic>
        <p:nvPicPr>
          <p:cNvPr id="13" name="Picture 12" descr="op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547" y="1847088"/>
            <a:ext cx="4283024" cy="56692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38912" y="2761488"/>
            <a:ext cx="3355848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" y="2761488"/>
            <a:ext cx="64008" cy="1353312"/>
          </a:xfrm>
          <a:prstGeom prst="rect">
            <a:avLst/>
          </a:prstGeom>
          <a:solidFill>
            <a:srgbClr val="70AD47"/>
          </a:solidFill>
          <a:ln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3" y="2889504"/>
            <a:ext cx="30815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70AD47"/>
                </a:solidFill>
                <a:latin typeface="微软雅黑"/>
              </a:rPr>
              <a:t>网络约束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3" y="3273552"/>
            <a:ext cx="3044952" cy="7315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节点功率平衡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直流支路潮流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支路热稳限额与平衡节点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78224" y="2761488"/>
            <a:ext cx="3355848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78224" y="2761488"/>
            <a:ext cx="64008" cy="1353312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2816" y="2889504"/>
            <a:ext cx="3081528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ED7D31"/>
                </a:solidFill>
                <a:latin typeface="微软雅黑"/>
              </a:rPr>
              <a:t>机组约束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42816" y="3273552"/>
            <a:ext cx="3044952" cy="7315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火电启停 u∈{0,1}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极热修正出力上下界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基准状态不施加爬坡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" y="4315968"/>
            <a:ext cx="699516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" y="4315968"/>
            <a:ext cx="64008" cy="1353312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3" y="4443983"/>
            <a:ext cx="67208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>
                <a:solidFill>
                  <a:srgbClr val="7030A0"/>
                </a:solidFill>
                <a:latin typeface="微软雅黑"/>
              </a:rPr>
              <a:t>分级切负荷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3" y="4828031"/>
            <a:ext cx="6684264" cy="731519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VOLL₁=10000、VOLL₂=5000、VOLL₃=1000 $/MWh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优化模型优先保障一级关键负荷和二级重要负荷。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54112" y="1444752"/>
            <a:ext cx="3995928" cy="422452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1" y="1673352"/>
            <a:ext cx="342900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800" b="1">
                <a:solidFill>
                  <a:srgbClr val="17365D"/>
                </a:solidFill>
                <a:latin typeface="微软雅黑"/>
              </a:rPr>
              <a:t>修改版 IEEE 39 节点系统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74152" y="2240280"/>
            <a:ext cx="1481328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29016" y="2331720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>
                <a:solidFill>
                  <a:srgbClr val="17365D"/>
                </a:solidFill>
                <a:latin typeface="微软雅黑"/>
              </a:rPr>
              <a:t>39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2724912"/>
            <a:ext cx="1298448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667085"/>
                </a:solidFill>
                <a:latin typeface="微软雅黑"/>
              </a:rPr>
              <a:t>节点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74352" y="2240280"/>
            <a:ext cx="1481328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29216" y="2331720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>
                <a:solidFill>
                  <a:srgbClr val="4472C4"/>
                </a:solidFill>
                <a:latin typeface="微软雅黑"/>
              </a:rPr>
              <a:t>46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65792" y="2724912"/>
            <a:ext cx="1298448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667085"/>
                </a:solidFill>
                <a:latin typeface="微软雅黑"/>
              </a:rPr>
              <a:t>支路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4152" y="3246120"/>
            <a:ext cx="1481328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9016" y="3337560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>
                <a:solidFill>
                  <a:srgbClr val="ED7D31"/>
                </a:solidFill>
                <a:latin typeface="微软雅黑"/>
              </a:rP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65592" y="3730752"/>
            <a:ext cx="1298448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667085"/>
                </a:solidFill>
                <a:latin typeface="微软雅黑"/>
              </a:rPr>
              <a:t>发电机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674352" y="3246120"/>
            <a:ext cx="1481328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729216" y="3337560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>
                <a:solidFill>
                  <a:srgbClr val="7030A0"/>
                </a:solidFill>
                <a:latin typeface="微软雅黑"/>
              </a:rPr>
              <a:t>29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65792" y="3730752"/>
            <a:ext cx="1298448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667085"/>
                </a:solidFill>
                <a:latin typeface="微软雅黑"/>
              </a:rPr>
              <a:t>节点变压器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28431" y="4370832"/>
            <a:ext cx="105156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C00000"/>
                </a:solidFill>
                <a:latin typeface="微软雅黑"/>
              </a:rPr>
              <a:t>气象输入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42832" y="4297680"/>
            <a:ext cx="2057400" cy="9601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63238"/>
                </a:solidFill>
                <a:latin typeface="微软雅黑"/>
              </a:rPr>
              <a:t>T = 40 °C</a:t>
            </a:r>
          </a:p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63238"/>
                </a:solidFill>
                <a:latin typeface="微软雅黑"/>
              </a:rPr>
              <a:t>v = 2 m/s</a:t>
            </a:r>
          </a:p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263238"/>
                </a:solidFill>
                <a:latin typeface="微软雅黑"/>
              </a:rPr>
              <a:t>G = 900 W/m²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73568" y="5266944"/>
            <a:ext cx="3520440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667085"/>
                </a:solidFill>
                <a:latin typeface="微软雅黑"/>
              </a:rPr>
              <a:t>实现：MATLAB/Gurobi 主模型 + Python 连续 QP 枚举交叉验证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669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C00000"/>
                </a:solidFill>
                <a:latin typeface="微软雅黑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"/>
            <a:ext cx="2377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67085"/>
                </a:solidFill>
                <a:latin typeface="微软雅黑"/>
              </a:rPr>
              <a:t>04  BASELINE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7365D"/>
                </a:solidFill>
                <a:latin typeface="微软雅黑"/>
              </a:rPr>
              <a:t>基准 OPF：能量缺口与网络约束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94360" cy="4114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234440"/>
            <a:ext cx="10744200" cy="16459"/>
          </a:xfrm>
          <a:prstGeom prst="rect">
            <a:avLst/>
          </a:prstGeom>
          <a:solidFill>
            <a:srgbClr val="D9E2F3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686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667085"/>
                </a:solidFill>
                <a:latin typeface="微软雅黑"/>
              </a:rPr>
              <a:t>6 / 10</a:t>
            </a:r>
          </a:p>
        </p:txBody>
      </p:sp>
      <p:pic>
        <p:nvPicPr>
          <p:cNvPr id="9" name="Picture 8" descr="preview_03_dispatch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252359"/>
            <a:ext cx="7909560" cy="273732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531352" y="1572768"/>
            <a:ext cx="1325880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86216" y="1664208"/>
            <a:ext cx="12161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7030A0"/>
                </a:solidFill>
                <a:latin typeface="微软雅黑"/>
              </a:rPr>
              <a:t>6754.57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22792" y="2057400"/>
            <a:ext cx="11430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667085"/>
                </a:solidFill>
                <a:latin typeface="微软雅黑"/>
              </a:rPr>
              <a:t>极热需求 / MW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985248" y="1572768"/>
            <a:ext cx="1325880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40112" y="1664208"/>
            <a:ext cx="12161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4472C4"/>
                </a:solidFill>
                <a:latin typeface="微软雅黑"/>
              </a:rPr>
              <a:t>6008.36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76688" y="2057400"/>
            <a:ext cx="11430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667085"/>
                </a:solidFill>
                <a:latin typeface="微软雅黑"/>
              </a:rPr>
              <a:t>可用上界 / MW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31352" y="2578608"/>
            <a:ext cx="1325880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86216" y="2670048"/>
            <a:ext cx="12161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>
                <a:solidFill>
                  <a:srgbClr val="ED7D31"/>
                </a:solidFill>
                <a:latin typeface="微软雅黑"/>
              </a:rPr>
              <a:t>746.21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22792" y="3063239"/>
            <a:ext cx="11430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667085"/>
                </a:solidFill>
                <a:latin typeface="微软雅黑"/>
              </a:rPr>
              <a:t>原始缺口 / MW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985248" y="2578608"/>
            <a:ext cx="1325880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40112" y="2670048"/>
            <a:ext cx="12161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>
                <a:solidFill>
                  <a:srgbClr val="C00000"/>
                </a:solidFill>
                <a:latin typeface="微软雅黑"/>
              </a:rPr>
              <a:t>762.81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76688" y="3063239"/>
            <a:ext cx="114300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667085"/>
                </a:solidFill>
                <a:latin typeface="微软雅黑"/>
              </a:rPr>
              <a:t>最优切负荷 / MW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3703320"/>
            <a:ext cx="310896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0" y="3703320"/>
            <a:ext cx="64008" cy="13258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77072" y="3831335"/>
            <a:ext cx="2834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C00000"/>
                </a:solidFill>
                <a:latin typeface="微软雅黑"/>
              </a:rPr>
              <a:t>为什么多出 16.60 MW？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77072" y="4215383"/>
            <a:ext cx="2798064" cy="7040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263238"/>
                </a:solidFill>
                <a:latin typeface="微软雅黑"/>
              </a:rPr>
              <a:t>G4 极热上界 668.5 MW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263238"/>
                </a:solidFill>
                <a:latin typeface="微软雅黑"/>
              </a:rPr>
              <a:t>受支路热稳约束仅出力 651.9 MW</a:t>
            </a:r>
          </a:p>
          <a:p>
            <a:pPr algn="l">
              <a:lnSpc>
                <a:spcPct val="108000"/>
              </a:lnSpc>
            </a:pPr>
            <a:r>
              <a:rPr sz="1100" b="0">
                <a:solidFill>
                  <a:srgbClr val="263238"/>
                </a:solidFill>
                <a:latin typeface="微软雅黑"/>
              </a:rPr>
              <a:t>差值即网络约束闲置能力。</a:t>
            </a:r>
          </a:p>
        </p:txBody>
      </p:sp>
      <p:pic>
        <p:nvPicPr>
          <p:cNvPr id="26" name="Picture 25" descr="bal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9327" y="5196791"/>
            <a:ext cx="3310128" cy="387193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594360" y="5907024"/>
            <a:ext cx="10927080" cy="384048"/>
          </a:xfrm>
          <a:prstGeom prst="roundRect">
            <a:avLst>
              <a:gd name="adj" fmla="val 8000"/>
            </a:avLst>
          </a:prstGeom>
          <a:solidFill>
            <a:srgbClr val="EFF8EF"/>
          </a:solidFill>
          <a:ln>
            <a:solidFill>
              <a:srgbClr val="C6E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5980176"/>
            <a:ext cx="1056132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70AD47"/>
                </a:solidFill>
                <a:latin typeface="微软雅黑"/>
              </a:rPr>
              <a:t>结果：总切负荷占需求 11.29%，全部来自三级可中断负荷；线路最大负载率 100%，无越限。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669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C00000"/>
                </a:solidFill>
                <a:latin typeface="微软雅黑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"/>
            <a:ext cx="2377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67085"/>
                </a:solidFill>
                <a:latin typeface="微软雅黑"/>
              </a:rPr>
              <a:t>05  THERMAL FAULT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7365D"/>
                </a:solidFill>
                <a:latin typeface="微软雅黑"/>
              </a:rPr>
              <a:t>极热条件下的元件热故障概率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94360" cy="4114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234440"/>
            <a:ext cx="10744200" cy="16459"/>
          </a:xfrm>
          <a:prstGeom prst="rect">
            <a:avLst/>
          </a:prstGeom>
          <a:solidFill>
            <a:srgbClr val="D9E2F3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686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667085"/>
                </a:solidFill>
                <a:latin typeface="微软雅黑"/>
              </a:rPr>
              <a:t>7 / 10</a:t>
            </a:r>
          </a:p>
        </p:txBody>
      </p:sp>
      <p:pic>
        <p:nvPicPr>
          <p:cNvPr id="9" name="Picture 8" descr="preview_05_fault_probability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194999"/>
            <a:ext cx="8641080" cy="265088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171432" y="1481328"/>
            <a:ext cx="256032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71432" y="1481328"/>
            <a:ext cx="64008" cy="1051560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36024" y="1609344"/>
            <a:ext cx="228600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7365D"/>
                </a:solidFill>
                <a:latin typeface="微软雅黑"/>
              </a:rPr>
              <a:t>统一概率映射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6024" y="1993392"/>
            <a:ext cx="2249424" cy="42976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</a:p>
        </p:txBody>
      </p:sp>
      <p:pic>
        <p:nvPicPr>
          <p:cNvPr id="14" name="Picture 13" descr="p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1876377"/>
            <a:ext cx="2249424" cy="407764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9171432" y="2724912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71432" y="2724912"/>
            <a:ext cx="64008" cy="1097280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36024" y="2852928"/>
            <a:ext cx="228600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7030A0"/>
                </a:solidFill>
                <a:latin typeface="微软雅黑"/>
              </a:rPr>
              <a:t>节点变压器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36024" y="3236976"/>
            <a:ext cx="2249424" cy="4754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263238"/>
                </a:solidFill>
                <a:latin typeface="微软雅黑"/>
              </a:rPr>
              <a:t>热点温度 + Arrhenius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263238"/>
                </a:solidFill>
                <a:latin typeface="微软雅黑"/>
              </a:rPr>
              <a:t>绝缘热老化加速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71432" y="3950208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71432" y="3950208"/>
            <a:ext cx="64008" cy="1097280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4078224"/>
            <a:ext cx="228600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ED7D31"/>
                </a:solidFill>
                <a:latin typeface="微软雅黑"/>
              </a:rPr>
              <a:t>发电机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4462272"/>
            <a:ext cx="2249424" cy="4754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263238"/>
                </a:solidFill>
                <a:latin typeface="微软雅黑"/>
              </a:rPr>
              <a:t>温度应力 + 出力率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263238"/>
                </a:solidFill>
                <a:latin typeface="微软雅黑"/>
              </a:rPr>
              <a:t>比例风险模型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71432" y="5175504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71432" y="5175504"/>
            <a:ext cx="64008" cy="1097280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6024" y="5303520"/>
            <a:ext cx="228600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C00000"/>
                </a:solidFill>
                <a:latin typeface="微软雅黑"/>
              </a:rPr>
              <a:t>输电线路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36024" y="5687568"/>
            <a:ext cx="2249424" cy="475487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263238"/>
                </a:solidFill>
                <a:latin typeface="微软雅黑"/>
              </a:rPr>
              <a:t>IEEE 738 导线温度</a:t>
            </a:r>
          </a:p>
          <a:p>
            <a:pPr algn="l">
              <a:lnSpc>
                <a:spcPct val="108000"/>
              </a:lnSpc>
            </a:pPr>
            <a:r>
              <a:rPr sz="1000" b="0">
                <a:solidFill>
                  <a:srgbClr val="263238"/>
                </a:solidFill>
                <a:latin typeface="微软雅黑"/>
              </a:rPr>
              <a:t>温度/过载应力放大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907024"/>
            <a:ext cx="8275320" cy="40233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000" b="1">
                <a:solidFill>
                  <a:srgbClr val="17365D"/>
                </a:solidFill>
                <a:latin typeface="微软雅黑"/>
              </a:rPr>
              <a:t>24 h 条件故障概率估计：G10≈4.11%，G4≈4.04%；最高风险线路 L27≈0.42%；变压器≈0.015%。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669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C00000"/>
                </a:solidFill>
                <a:latin typeface="微软雅黑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"/>
            <a:ext cx="2377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67085"/>
                </a:solidFill>
                <a:latin typeface="微软雅黑"/>
              </a:rPr>
              <a:t>06  SCENARIO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7365D"/>
                </a:solidFill>
                <a:latin typeface="微软雅黑"/>
              </a:rPr>
              <a:t>蒙特卡洛场景与故障后 OPF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94360" cy="4114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234440"/>
            <a:ext cx="10744200" cy="16459"/>
          </a:xfrm>
          <a:prstGeom prst="rect">
            <a:avLst/>
          </a:prstGeom>
          <a:solidFill>
            <a:srgbClr val="D9E2F3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686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667085"/>
                </a:solidFill>
                <a:latin typeface="微软雅黑"/>
              </a:rPr>
              <a:t>8 / 10</a:t>
            </a:r>
          </a:p>
        </p:txBody>
      </p:sp>
      <p:pic>
        <p:nvPicPr>
          <p:cNvPr id="9" name="Picture 8" descr="preview_06_monte_carl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585412"/>
            <a:ext cx="6601968" cy="253503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269480" y="1481328"/>
            <a:ext cx="446227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69480" y="1481328"/>
            <a:ext cx="64008" cy="932688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34072" y="1609344"/>
            <a:ext cx="418795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17365D"/>
                </a:solidFill>
                <a:latin typeface="微软雅黑"/>
              </a:rPr>
              <a:t>① 85 维故障向量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4072" y="1993392"/>
            <a:ext cx="415137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263238"/>
                </a:solidFill>
                <a:latin typeface="微软雅黑"/>
              </a:rPr>
              <a:t>10 台发电机 + 46 条线路 + 29 台节点变压器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2560320"/>
            <a:ext cx="446227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2560320"/>
            <a:ext cx="64008" cy="932688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34072" y="2688336"/>
            <a:ext cx="418795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7030A0"/>
                </a:solidFill>
                <a:latin typeface="微软雅黑"/>
              </a:rPr>
              <a:t>② 0/1 故障映射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2" y="3072384"/>
            <a:ext cx="415137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263238"/>
                </a:solidFill>
                <a:latin typeface="微软雅黑"/>
              </a:rPr>
              <a:t>机组退出；线路退出；变压器故障映射为关联支路退出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3639312"/>
            <a:ext cx="4462272" cy="9326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9480" y="3639312"/>
            <a:ext cx="64008" cy="93268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4072" y="3767328"/>
            <a:ext cx="4187952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C00000"/>
                </a:solidFill>
                <a:latin typeface="微软雅黑"/>
              </a:rPr>
              <a:t>③ 故障后重调度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4072" y="4151376"/>
            <a:ext cx="4151376" cy="310896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0">
                <a:solidFill>
                  <a:srgbClr val="263238"/>
                </a:solidFill>
                <a:latin typeface="微软雅黑"/>
              </a:rPr>
              <a:t>以基准 Pᴳ★ 为爬坡中心；火电可停机处理孤岛最小出力过剩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736592"/>
            <a:ext cx="1627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828031"/>
            <a:ext cx="15179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>
                <a:solidFill>
                  <a:srgbClr val="4472C4"/>
                </a:solidFill>
                <a:latin typeface="微软雅黑"/>
              </a:rPr>
              <a:t>2000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221224"/>
            <a:ext cx="14447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667085"/>
                </a:solidFill>
                <a:latin typeface="微软雅黑"/>
              </a:rPr>
              <a:t>场景数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59152" y="4736592"/>
            <a:ext cx="1627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14016" y="4828031"/>
            <a:ext cx="15179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>
                <a:solidFill>
                  <a:srgbClr val="ED7D31"/>
                </a:solidFill>
                <a:latin typeface="微软雅黑"/>
              </a:rPr>
              <a:t>739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50592" y="5221224"/>
            <a:ext cx="14447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667085"/>
                </a:solidFill>
                <a:latin typeface="微软雅黑"/>
              </a:rPr>
              <a:t>总故障事件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51376" y="4736592"/>
            <a:ext cx="1627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06240" y="4828031"/>
            <a:ext cx="15179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>
                <a:solidFill>
                  <a:srgbClr val="7030A0"/>
                </a:solidFill>
                <a:latin typeface="微软雅黑"/>
              </a:rPr>
              <a:t>631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42816" y="5221224"/>
            <a:ext cx="14447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667085"/>
                </a:solidFill>
                <a:latin typeface="微软雅黑"/>
              </a:rPr>
              <a:t>含故障场景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4736592"/>
            <a:ext cx="1627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98464" y="4828031"/>
            <a:ext cx="15179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>
                <a:solidFill>
                  <a:srgbClr val="C00000"/>
                </a:solidFill>
                <a:latin typeface="微软雅黑"/>
              </a:rPr>
              <a:t>70.2%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5221224"/>
            <a:ext cx="14447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667085"/>
                </a:solidFill>
                <a:latin typeface="微软雅黑"/>
              </a:rPr>
              <a:t>发电机事件占比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35824" y="4736592"/>
            <a:ext cx="1627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90688" y="4828031"/>
            <a:ext cx="15179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>
                <a:solidFill>
                  <a:srgbClr val="70AD47"/>
                </a:solidFill>
                <a:latin typeface="微软雅黑"/>
              </a:rPr>
              <a:t>388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27264" y="5221224"/>
            <a:ext cx="14447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667085"/>
                </a:solidFill>
                <a:latin typeface="微软雅黑"/>
              </a:rPr>
              <a:t>含火电关停场景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528048" y="4736592"/>
            <a:ext cx="1627632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82912" y="4828031"/>
            <a:ext cx="151790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500" b="1">
                <a:solidFill>
                  <a:srgbClr val="17365D"/>
                </a:solidFill>
                <a:latin typeface="微软雅黑"/>
              </a:rPr>
              <a:t>2000/2000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19488" y="5221224"/>
            <a:ext cx="1444752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667085"/>
                </a:solidFill>
                <a:latin typeface="微软雅黑"/>
              </a:rPr>
              <a:t>获得最优解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5833872"/>
            <a:ext cx="10789920" cy="438912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934456"/>
            <a:ext cx="104698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1">
                <a:solidFill>
                  <a:srgbClr val="17365D"/>
                </a:solidFill>
                <a:latin typeface="微软雅黑"/>
              </a:rPr>
              <a:t>抽样一致性：经验故障频率与理论概率总体贴合；单场景最多 3 个故障元件。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669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C00000"/>
                </a:solidFill>
                <a:latin typeface="微软雅黑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"/>
            <a:ext cx="2377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67085"/>
                </a:solidFill>
                <a:latin typeface="微软雅黑"/>
              </a:rPr>
              <a:t>07  RISK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7365D"/>
                </a:solidFill>
                <a:latin typeface="微软雅黑"/>
              </a:rPr>
              <a:t>故障后切负荷分布与风险主导因素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94360" cy="4114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234440"/>
            <a:ext cx="10744200" cy="16459"/>
          </a:xfrm>
          <a:prstGeom prst="rect">
            <a:avLst/>
          </a:prstGeom>
          <a:solidFill>
            <a:srgbClr val="D9E2F3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686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667085"/>
                </a:solidFill>
                <a:latin typeface="微软雅黑"/>
              </a:rPr>
              <a:t>9 / 10</a:t>
            </a:r>
          </a:p>
        </p:txBody>
      </p:sp>
      <p:pic>
        <p:nvPicPr>
          <p:cNvPr id="9" name="Picture 8" descr="preview_07_shed_distributio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31" y="1417320"/>
            <a:ext cx="6703097" cy="2514600"/>
          </a:xfrm>
          <a:prstGeom prst="rect">
            <a:avLst/>
          </a:prstGeom>
        </p:spPr>
      </p:pic>
      <p:pic>
        <p:nvPicPr>
          <p:cNvPr id="10" name="Picture 9" descr="preview_08_risk_drivers_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99" y="3986784"/>
            <a:ext cx="6222560" cy="23317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424927" y="1499616"/>
            <a:ext cx="1298448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1591056"/>
            <a:ext cx="11887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2200" b="1">
                <a:solidFill>
                  <a:srgbClr val="4472C4"/>
                </a:solidFill>
                <a:latin typeface="微软雅黑"/>
              </a:rPr>
              <a:t>951.58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7" y="1984248"/>
            <a:ext cx="1115568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667085"/>
                </a:solidFill>
                <a:latin typeface="微软雅黑"/>
              </a:rPr>
              <a:t>均值 / MW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51392" y="1499616"/>
            <a:ext cx="1298448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06256" y="1591056"/>
            <a:ext cx="11887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ED7D31"/>
                </a:solidFill>
                <a:latin typeface="微软雅黑"/>
              </a:rPr>
              <a:t>1765.56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42832" y="1984248"/>
            <a:ext cx="1115568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667085"/>
                </a:solidFill>
                <a:latin typeface="微软雅黑"/>
              </a:rPr>
              <a:t>P95 / MW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77856" y="1499616"/>
            <a:ext cx="1298448" cy="84124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1591056"/>
            <a:ext cx="1188719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>
                <a:solidFill>
                  <a:srgbClr val="C00000"/>
                </a:solidFill>
                <a:latin typeface="微软雅黑"/>
              </a:rPr>
              <a:t>3330.40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69296" y="1984248"/>
            <a:ext cx="1115568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00" b="0">
                <a:solidFill>
                  <a:srgbClr val="667085"/>
                </a:solidFill>
                <a:latin typeface="微软雅黑"/>
              </a:rPr>
              <a:t>最大值 / MW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88352" y="2578608"/>
            <a:ext cx="425196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88352" y="2578608"/>
            <a:ext cx="64008" cy="1133856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52944" y="2706624"/>
            <a:ext cx="3977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4472C4"/>
                </a:solidFill>
                <a:latin typeface="微软雅黑"/>
              </a:rPr>
              <a:t>分布特征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3090672"/>
            <a:ext cx="3941064" cy="51206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263238"/>
                </a:solidFill>
                <a:latin typeface="微软雅黑"/>
              </a:rPr>
              <a:t>约 75% 场景仍停留在 762.81 MW 基准切负荷；风险主要集中于右侧尾部。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88352" y="3877056"/>
            <a:ext cx="425196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88352" y="3877056"/>
            <a:ext cx="64008" cy="1133856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52944" y="4005072"/>
            <a:ext cx="3977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C00000"/>
                </a:solidFill>
                <a:latin typeface="微软雅黑"/>
              </a:rPr>
              <a:t>主导因素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52944" y="4389120"/>
            <a:ext cx="3941064" cy="51206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263238"/>
                </a:solidFill>
                <a:latin typeface="微软雅黑"/>
              </a:rPr>
              <a:t>电源故障后果强于单纯网络故障；电源与网络混合故障对应最高风险。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88352" y="5175504"/>
            <a:ext cx="4251960" cy="11338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88352" y="5175504"/>
            <a:ext cx="64008" cy="1133856"/>
          </a:xfrm>
          <a:prstGeom prst="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52944" y="5303520"/>
            <a:ext cx="3977640" cy="329184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>
                <a:solidFill>
                  <a:srgbClr val="ED7D31"/>
                </a:solidFill>
                <a:latin typeface="微软雅黑"/>
              </a:rPr>
              <a:t>尾部口径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52944" y="5687568"/>
            <a:ext cx="3941064" cy="512063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>
                <a:solidFill>
                  <a:srgbClr val="263238"/>
                </a:solidFill>
                <a:latin typeface="微软雅黑"/>
              </a:rPr>
              <a:t>90% 分位总切负荷 1542.81 MW，相对基准新增 780 MW；最大值约为基准 4.4 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56032"/>
            <a:ext cx="566928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>
                <a:solidFill>
                  <a:srgbClr val="C00000"/>
                </a:solidFill>
                <a:latin typeface="微软雅黑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10896"/>
            <a:ext cx="237744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 b="1">
                <a:solidFill>
                  <a:srgbClr val="667085"/>
                </a:solidFill>
                <a:latin typeface="微软雅黑"/>
              </a:rPr>
              <a:t>08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67512"/>
            <a:ext cx="111556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500" b="1">
                <a:solidFill>
                  <a:srgbClr val="17365D"/>
                </a:solidFill>
                <a:latin typeface="微软雅黑"/>
              </a:rPr>
              <a:t>主要结论、模型边界与展望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34440"/>
            <a:ext cx="594360" cy="41148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234440"/>
            <a:ext cx="10744200" cy="16459"/>
          </a:xfrm>
          <a:prstGeom prst="rect">
            <a:avLst/>
          </a:prstGeom>
          <a:solidFill>
            <a:srgbClr val="D9E2F3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492240"/>
            <a:ext cx="86868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800" b="0">
                <a:solidFill>
                  <a:srgbClr val="667085"/>
                </a:solidFill>
                <a:latin typeface="微软雅黑"/>
              </a:rPr>
              <a:t>10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444752"/>
            <a:ext cx="18288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>
                <a:solidFill>
                  <a:srgbClr val="17365D"/>
                </a:solidFill>
                <a:latin typeface="微软雅黑"/>
              </a:rPr>
              <a:t>主要结论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74519"/>
            <a:ext cx="5532120" cy="3611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4472C4"/>
                </a:solidFill>
                <a:latin typeface="微软雅黑"/>
              </a:rPr>
              <a:t>● </a:t>
            </a:r>
            <a:r>
              <a:rPr sz="1500" b="1">
                <a:solidFill>
                  <a:srgbClr val="17365D"/>
                </a:solidFill>
                <a:latin typeface="微软雅黑"/>
              </a:rPr>
              <a:t>确定性缺口：</a:t>
            </a:r>
            <a:r>
              <a:rPr sz="1500">
                <a:solidFill>
                  <a:srgbClr val="263238"/>
                </a:solidFill>
                <a:latin typeface="微软雅黑"/>
              </a:rPr>
              <a:t>40 °C 极热无风形成约 746 MW 原始能量缺口；考虑网络约束后切负荷约 763 MW。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4472C4"/>
                </a:solidFill>
                <a:latin typeface="微软雅黑"/>
              </a:rPr>
              <a:t>● </a:t>
            </a:r>
            <a:r>
              <a:rPr sz="1500" b="1">
                <a:solidFill>
                  <a:srgbClr val="17365D"/>
                </a:solidFill>
                <a:latin typeface="微软雅黑"/>
              </a:rPr>
              <a:t>关键负荷保障：</a:t>
            </a:r>
            <a:r>
              <a:rPr sz="1500">
                <a:solidFill>
                  <a:srgbClr val="263238"/>
                </a:solidFill>
                <a:latin typeface="微软雅黑"/>
              </a:rPr>
              <a:t>差异化 VOLL 将基准切负荷全部集中在三级可中断负荷。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4472C4"/>
                </a:solidFill>
                <a:latin typeface="微软雅黑"/>
              </a:rPr>
              <a:t>● </a:t>
            </a:r>
            <a:r>
              <a:rPr sz="1500" b="1">
                <a:solidFill>
                  <a:srgbClr val="17365D"/>
                </a:solidFill>
                <a:latin typeface="微软雅黑"/>
              </a:rPr>
              <a:t>尾部风险突出：</a:t>
            </a:r>
            <a:r>
              <a:rPr sz="1500">
                <a:solidFill>
                  <a:srgbClr val="263238"/>
                </a:solidFill>
                <a:latin typeface="微软雅黑"/>
              </a:rPr>
              <a:t>多数场景不增加切负荷，但 P95 达 1766 MW；电源故障是主要风险驱动。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500">
                <a:solidFill>
                  <a:srgbClr val="4472C4"/>
                </a:solidFill>
                <a:latin typeface="微软雅黑"/>
              </a:rPr>
              <a:t>● </a:t>
            </a:r>
            <a:r>
              <a:rPr sz="1500" b="1">
                <a:solidFill>
                  <a:srgbClr val="17365D"/>
                </a:solidFill>
                <a:latin typeface="微软雅黑"/>
              </a:rPr>
              <a:t>方法可复现：</a:t>
            </a:r>
            <a:r>
              <a:rPr sz="1500">
                <a:solidFill>
                  <a:srgbClr val="263238"/>
                </a:solidFill>
                <a:latin typeface="微软雅黑"/>
              </a:rPr>
              <a:t>基准 OPF—故障概率—MC 抽样—故障后 OPF 的数值链条闭合，并经 Python 交叉验证。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44752"/>
            <a:ext cx="5468112" cy="2304288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>
            <a:solidFill>
              <a:srgbClr val="D9E2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664208"/>
            <a:ext cx="1463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C00000"/>
                </a:solidFill>
                <a:latin typeface="微软雅黑"/>
              </a:rPr>
              <a:t>模型边界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57400"/>
            <a:ext cx="4919472" cy="1490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• DC 潮流未计及电压、无功与变压器视在功率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• 单时段静态快照；基准无爬坡、故障后有爬坡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• 元件独立抽样，未描述区域共因故障与保护动态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• 故障概率参数未经真实运维数据标定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• 修改版测试系统结果不能直接外推至真实电网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986784"/>
            <a:ext cx="5468112" cy="1783080"/>
          </a:xfrm>
          <a:prstGeom prst="roundRect">
            <a:avLst>
              <a:gd name="adj" fmla="val 8000"/>
            </a:avLst>
          </a:prstGeom>
          <a:solidFill>
            <a:srgbClr val="EFF5FB"/>
          </a:solidFill>
          <a:ln>
            <a:solidFill>
              <a:srgbClr val="BDD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4206240"/>
            <a:ext cx="146304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>
                <a:solidFill>
                  <a:srgbClr val="4472C4"/>
                </a:solidFill>
                <a:latin typeface="微软雅黑"/>
              </a:rPr>
              <a:t>下一步工作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590288"/>
            <a:ext cx="4919472" cy="102412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① 引入 AC-OPF，刻画电压/无功与视在功率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② 扩展多时段调度、储能和需求响应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③ 结合真实气象场与设备运维数据标定参数</a:t>
            </a:r>
          </a:p>
          <a:p>
            <a:pPr algn="l">
              <a:lnSpc>
                <a:spcPct val="108000"/>
              </a:lnSpc>
            </a:pPr>
            <a:r>
              <a:rPr sz="1200" b="0">
                <a:solidFill>
                  <a:srgbClr val="263238"/>
                </a:solidFill>
                <a:latin typeface="微软雅黑"/>
              </a:rPr>
              <a:t>④ 建模共因故障、保护动作与恢复过程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5925312"/>
            <a:ext cx="10972800" cy="402336"/>
          </a:xfrm>
          <a:prstGeom prst="roundRect">
            <a:avLst>
              <a:gd name="adj" fmla="val 8000"/>
            </a:avLst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6007608"/>
            <a:ext cx="10607040" cy="2103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1200" b="1">
                <a:solidFill>
                  <a:srgbClr val="FFFFFF"/>
                </a:solidFill>
                <a:latin typeface="微软雅黑"/>
              </a:rPr>
              <a:t>所提框架用于极端气象风险评估，而非对特定真实电网的确定性运行预测。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