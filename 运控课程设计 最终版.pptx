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tags/tag2.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3.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media/image20.jpg" ContentType="image/gif"/>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sldIdLst>
    <p:sldId id="565" r:id="rId2"/>
    <p:sldId id="370" r:id="rId3"/>
    <p:sldId id="460" r:id="rId4"/>
    <p:sldId id="545" r:id="rId5"/>
    <p:sldId id="510" r:id="rId6"/>
    <p:sldId id="546" r:id="rId7"/>
    <p:sldId id="511" r:id="rId8"/>
    <p:sldId id="547" r:id="rId9"/>
    <p:sldId id="512" r:id="rId10"/>
    <p:sldId id="513" r:id="rId11"/>
    <p:sldId id="566" r:id="rId12"/>
    <p:sldId id="514" r:id="rId13"/>
    <p:sldId id="515" r:id="rId14"/>
    <p:sldId id="556" r:id="rId15"/>
    <p:sldId id="554" r:id="rId16"/>
    <p:sldId id="555" r:id="rId17"/>
    <p:sldId id="553" r:id="rId18"/>
    <p:sldId id="516" r:id="rId19"/>
    <p:sldId id="551" r:id="rId20"/>
    <p:sldId id="521" r:id="rId21"/>
    <p:sldId id="548" r:id="rId22"/>
    <p:sldId id="519" r:id="rId23"/>
    <p:sldId id="520" r:id="rId24"/>
    <p:sldId id="552" r:id="rId25"/>
    <p:sldId id="549" r:id="rId26"/>
    <p:sldId id="526" r:id="rId27"/>
    <p:sldId id="527" r:id="rId28"/>
    <p:sldId id="530" r:id="rId29"/>
    <p:sldId id="529" r:id="rId30"/>
    <p:sldId id="531" r:id="rId31"/>
    <p:sldId id="568" r:id="rId32"/>
    <p:sldId id="569" r:id="rId33"/>
    <p:sldId id="570" r:id="rId34"/>
    <p:sldId id="571" r:id="rId35"/>
    <p:sldId id="577" r:id="rId36"/>
    <p:sldId id="533" r:id="rId37"/>
    <p:sldId id="532" r:id="rId38"/>
    <p:sldId id="575" r:id="rId39"/>
    <p:sldId id="534" r:id="rId40"/>
    <p:sldId id="572" r:id="rId41"/>
    <p:sldId id="576" r:id="rId42"/>
    <p:sldId id="535" r:id="rId43"/>
    <p:sldId id="567" r:id="rId44"/>
    <p:sldId id="573" r:id="rId45"/>
    <p:sldId id="536" r:id="rId46"/>
    <p:sldId id="574" r:id="rId47"/>
    <p:sldId id="538" r:id="rId48"/>
    <p:sldId id="557" r:id="rId49"/>
    <p:sldId id="558" r:id="rId50"/>
    <p:sldId id="559" r:id="rId51"/>
    <p:sldId id="578" r:id="rId52"/>
    <p:sldId id="560" r:id="rId53"/>
    <p:sldId id="563" r:id="rId54"/>
    <p:sldId id="564" r:id="rId55"/>
    <p:sldId id="561" r:id="rId56"/>
    <p:sldId id="562" r:id="rId57"/>
    <p:sldId id="550" r:id="rId58"/>
    <p:sldId id="539" r:id="rId59"/>
    <p:sldId id="540" r:id="rId6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A488322-F2BA-4B5B-9748-0D474271808F}" styleName="中度样式 3 - 强调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848" autoAdjust="0"/>
  </p:normalViewPr>
  <p:slideViewPr>
    <p:cSldViewPr snapToGrid="0">
      <p:cViewPr varScale="1">
        <p:scale>
          <a:sx n="74" d="100"/>
          <a:sy n="74" d="100"/>
        </p:scale>
        <p:origin x="96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797360-585D-4E7B-ABA4-353F67AA700C}" type="datetimeFigureOut">
              <a:rPr lang="zh-CN" altLang="en-US" smtClean="0"/>
              <a:t>2025/6/13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F53809-E036-4EA7-979D-5342B9CB17A9}" type="slidenum">
              <a:rPr lang="zh-CN" altLang="en-US" smtClean="0"/>
              <a:t>‹#›</a:t>
            </a:fld>
            <a:endParaRPr lang="zh-CN" altLang="en-US"/>
          </a:p>
        </p:txBody>
      </p:sp>
    </p:spTree>
    <p:extLst>
      <p:ext uri="{BB962C8B-B14F-4D97-AF65-F5344CB8AC3E}">
        <p14:creationId xmlns:p14="http://schemas.microsoft.com/office/powerpoint/2010/main" val="2921446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60EFC-9792-27D1-7A64-1EF2E9DF3F1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17C111D-1E59-8DF6-9A86-07F87670D47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4566BF9-4E83-EAEB-069E-07FD4283D87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B0E97E9-CFCB-C983-9E45-435DE247C894}"/>
              </a:ext>
            </a:extLst>
          </p:cNvPr>
          <p:cNvSpPr>
            <a:spLocks noGrp="1"/>
          </p:cNvSpPr>
          <p:nvPr>
            <p:ph type="sldNum" sz="quarter" idx="10"/>
          </p:nvPr>
        </p:nvSpPr>
        <p:spPr/>
        <p:txBody>
          <a:bodyPr/>
          <a:lstStyle/>
          <a:p>
            <a:fld id="{D6F26B45-0BA7-4AA2-B94B-F29E66ECFF91}" type="slidenum">
              <a:rPr lang="zh-CN" altLang="en-US" smtClean="0"/>
              <a:t>1</a:t>
            </a:fld>
            <a:endParaRPr lang="zh-CN" altLang="en-US"/>
          </a:p>
        </p:txBody>
      </p:sp>
    </p:spTree>
    <p:extLst>
      <p:ext uri="{BB962C8B-B14F-4D97-AF65-F5344CB8AC3E}">
        <p14:creationId xmlns:p14="http://schemas.microsoft.com/office/powerpoint/2010/main" val="32636795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6F26B45-0BA7-4AA2-B94B-F29E66ECFF91}"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1E930-E4F8-E4C1-E296-BC1F06B90C9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9E6363C-399D-9B49-6CA9-F09580B17EF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BEFE36D-0741-EC49-8504-9BCD0BB3C67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3DD535A-82A4-6B88-B803-5D2163B0BCB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8860217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A5F89-F005-A7D4-4396-765CE5664DF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454016-1465-9F80-A95A-2F75D7776C0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26C8D9-8E5C-AAF6-731F-685C9998524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C30D4F0-B60B-C3EB-6C76-CCC2DC4C863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9705718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E5615-4605-EFBE-1884-3DBF9C37412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61A25D4-29EF-E51C-BC39-FEB16DFAB81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9A77EF2-DC4A-BBB6-E76E-B2211EEE0FC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FB94AB7-A1E4-D5F1-1EB1-385A1C9E54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1062570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3E03C-5522-A23F-5892-585EBBB0381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D672C8F-A443-D89A-0C08-49773F9EC8F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1C7572F-51E1-DD8D-DD86-67DDC9B7045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563FC33-FAC6-831C-1D47-DDB87ECB462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8224321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837DE-3673-1AF9-52BA-0D67B59847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DE6686-51E8-0D83-B2F9-73FCA08F6E9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0FC5D6B-8683-45B4-8014-6351112E5B6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64BB8AF-9AC9-C8EB-3F4B-B3ECC9B3145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293804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0F175-8577-E8F6-DE7E-51C3C27876D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B12D4D6-5F8F-76B5-FBFC-A3CABF384E5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5254ED3-12B0-03DE-7EBD-4B14088D581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36B829D-D059-D0EA-B2EF-BAAC691C92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3393770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C5B5C-1169-6801-7B2A-C60D4B2D84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A32DBD3-7C81-0388-1A14-6F56EE2BF21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92F599-CC12-254F-879D-D68C99DE958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0EFA911-4F9A-E43F-2110-03F7AA302F6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0106221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23F26-E6AB-F2CC-9942-8C534E969F3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67FA398-468E-7336-DFDF-73FF365F6E8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09EB7CC-7437-B4C2-7BF8-E6A56066ED0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00A1CA5-10E1-DDBE-D1DE-DB0333D39DA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662425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2A500-BEB1-DA15-F59F-96110B510E5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0EF2E63-9B3B-1673-E4D2-D0DE2D53E12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7B99EC5-FA17-BE93-7A14-F09C4A23A1D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A1C0D6F-9554-01D2-3283-6C096A95967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4103378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B8FE1-551E-D1FB-1957-A97B65D3D8B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1D6365-61E9-B012-F205-F4E15274962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5A7BC37-3452-6D58-F434-0DB93E068CE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59DA161-A54C-17A1-B438-BB0D2C8BA69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503127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DF3CA-845E-6595-31D2-0A67E839D46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144AA09-B58E-A53A-6999-EAB9480D4DE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C8967C0-1DA7-869C-657B-7A1C38059FE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55F48A9-BC88-276D-2267-381363F8883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928241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D49EA-116B-214D-556F-17E01B42B6B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595DE88-BEA7-7D6A-9733-D2EF9A7C802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29AC3DD-4612-A633-4B91-5A1C96422C0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E3461A6-06D0-CE83-105F-021EFE5566F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866935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EF9D6-F79E-DA96-A815-A1AE22979EA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F4E4A16-49AD-AF7A-A68B-5C79C17A4E4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0312DA-3693-A289-948C-61BCC7ABC14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6C4B9B1-FB54-4CB5-1BEF-E749702ECC8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2564670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07647-9CD5-F60E-A7C8-A6FCD8B860C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CF0DB5-517C-B9A4-FC5C-E852213FDD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2291ACD-2220-2F78-AF6A-533BAD69692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2F3A644-AE2D-E4A8-0E33-58F40808290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186446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E4B49-B185-9B42-67BB-38FFD63A6DF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AE69DC-3131-72D6-3C96-04F608EE90C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13570C9-96EE-2CC7-4A8B-998E077EA3C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B1E71D7-BFAD-9F5F-6070-78D5C4A84E2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9270848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2B5D0-C974-FCB4-64C5-1657061731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D5E62C7-20EB-062A-48D7-C7F91890700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B6EE421-17FF-10EF-E42C-ED4FCA5D790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7F5B206-017A-76E4-4467-70B26835969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430289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9C93A-19DA-B93E-4B79-DB8A8C030C8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0BAE47-CAE0-DB09-5CF0-75D9C973B8E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6BC4A1B-65A9-1D23-B932-9DBCE71F9DD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A6E076F-CF2E-BD70-5622-2D34FEA1043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787512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76EC2-2B86-3594-C3C1-6D821F6304F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F778F09-6B5A-BB1D-4D8B-0E9B7E400A2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2182092-87D4-ADA4-48C1-77BCA9229AB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4FC8DD5-307B-C5EC-9975-957C514319C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3962066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A127A-ADB4-0D04-7A49-494DD1B8A77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8703ADA-720B-A0D5-CAF8-96D8482D9F9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F70EE6A-2F22-0B98-6023-3A238A9764E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6C95BBB-CC24-8842-926A-0F6D281F51D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84945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04504-D1BC-5A51-CFC2-8E43070EB66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40E09D4-1880-0B4A-7514-062AC10FE2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34686B1-AF51-DCE6-5F2A-91E39E0BEEE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F3EB463-0EB7-89FE-4FF2-B90DAAF1D77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4250008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DF603-2818-86C3-DD8F-28F11865DCD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4E1C030-30A1-0FAD-A41B-472B3AE4355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4219A30-BD8F-DBE7-743B-54AC0FB8399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7A03648-7307-C9E8-5BF7-52F59319C34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2531092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D0477-96E5-2F73-5D7A-880846FB82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1804B86-D5F3-4058-D959-0C58F1ED12B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D129652-27CA-2302-EF70-5CFD8841201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CC4C81B-D048-7FA7-36E3-9016F5B3112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5288345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D7CFD-79E4-0A59-CBCB-73E36A7EFA1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1E8CDAA-2313-7A35-7405-BA502CB72D6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A8C6596-1640-93B0-A011-60280303A61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3ED8F15-2CEF-944B-DE8F-0BF97AF4A1A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8711466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5F5A7-E0FC-5CCD-C1E8-7FB5B115FE1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9858CA7-6EB8-E20A-9895-961E9619FD3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477CB85-5E6F-8304-AA33-D10944BCD39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43DDAEA-3C7D-CD92-B644-A8C12B25248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09642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5C1B0-182E-AC46-1C41-2402787E4B5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80A473-BA15-2CC9-F8E4-93A51888008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22FDCF-F342-2DFA-0AB6-EC66AC8DABB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30D3EB4-393B-41EC-F1D1-659ED5C8E23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810011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F121B-8558-5CE0-7015-C5C71669C47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F97179B-FE21-12DB-F200-788266E3C26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166F553-FC5C-5D59-096C-121D14D4C25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B2B1148-9188-3DDA-0FDE-AC72D24797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6204463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9547B-4D12-18E0-867F-84A6A0946FD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9096CF-A3E2-CB1E-2A77-F1F8B0275C3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3D804C9-5675-300F-5D29-4CAE6E6F742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A05D8CE-FCD0-9673-3C98-7900156E29C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055149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C6D8B-26B2-2CE5-0DAE-C033D00B12A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53D27B-4411-C8A7-498A-11526D5E85F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DA2BA19-C870-C815-E81D-A25D1EA6E68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5189A70-E942-C0C8-9EFF-4E107303207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7325210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D0E11-2086-B58D-DDDD-2CF5E46811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6B74198-880D-60E6-80C3-8CD1BF235FE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0604DDC-51E1-B948-9310-50E29163F0F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0B38C35-F531-14D2-15C1-652807C5A09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452166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0B5C8-01CF-8A05-9026-429CD386F0C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BF1B9E-2DB6-2BC4-711E-61353F0B1A4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94C2FC5-19CC-2EC9-39EE-B8A58BDEF76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681FCAC-5BC6-3ED6-1DD0-EB6DABB2BDE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1313531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DA245-928D-214C-A30E-3BFF137B1F2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F5B2983-A453-9BAF-8758-F56081CE8E8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65BAE07-70E2-4997-A462-C5436DE411E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B6F9AE6-A616-70B8-8C9D-C229AE78890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2820047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AFF7F-283D-91AE-33C7-367CBDF6218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9DFA9F4-A64F-745E-919B-7F3355468C2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34C4F7E-D955-8E40-79E2-FBEDA77A82F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9F0F997-CB31-B43B-A564-235FAD942FE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1294031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AA329-BE10-84E7-2DC3-A363509046A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43B1EA-B97F-D2F2-5F3A-4CF2A3D2968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C4E7168-E293-EA13-C610-195886B6FA2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69AD7A3-5411-E06D-110B-C03DCDC7AD0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263660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D53F7-05E8-26DB-1B9F-0E11A6919FD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B7DD283-5636-2A36-2872-99E3687F73A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781E10C-F8AA-CE66-379B-B96814C4274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AFCAE9C-E58C-94D0-8864-BE9FF42822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9860359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A1126-A177-FB8F-733D-B83617E2B9F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F5A04F-A332-7E07-ED42-2836D24A9EF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9D7E11B-A986-1226-775A-5C32DB5A522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41438AD-9547-829E-3F96-F8D5883B72F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9062162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9C4DA-E67E-0A51-F1B8-18BB2A66F50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E3D8D24-CEE5-BC19-7BBF-96EE893882B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3752F4E-BA3E-07AD-3D50-D876691B302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1F43408-7DED-2FA6-BC7D-A718751342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8456589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F83CA-743E-C158-9616-5CDB0790ED1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8DA5A9E-6BDC-EE96-D126-5ACC09A991F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9751A55-3240-7BA0-D9D6-1386573B458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801FEA9-3475-ECA8-9486-E1A26CDBB88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1057173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2F4E8-A72A-D173-5A93-8F9DE4EA7DF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641CF3-BF76-AA53-77A4-DA2E0E1C6F2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9682605-ED93-11B2-6603-AE71A09BD95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E81549E-40FB-81EA-23D4-C317CAC2444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8272646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D1E18-8ED7-2399-8818-DA2BC8304B8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26015A7-3978-3258-CA3D-33F51666B31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82B2567-B014-4D1B-1C4D-A6A37709260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FA3C45C-F76F-F9F3-FC8A-7D27B0AD07C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63279706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8553D-2C16-B747-BF24-5C99873A4F1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61E362F-4646-1467-B1DC-DE9BA6FE367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368BED3-B11D-A7CC-4725-9563227BB9A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D0F1967-BA87-DF77-79A3-987232F79AD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13532916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90B33-719C-14C2-D4FA-B17AD315C3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29713EA-7FA8-5677-ADC3-BF665BE3812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3798A9A-7A9D-13D6-FDCB-20B91B4C320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D2C2219-D10D-911D-60F0-1999BB9906B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86393618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5598A-30AC-ACD1-0876-5B975C94BBE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480FED-D67F-C989-7E8F-79CC4A8AA0B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4EACA7D-174A-BE93-4CD0-22BE6293223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8A699A4-4025-1209-8DAA-3BA59EE4901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86621636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2A2C9-B47F-AFAE-7F65-C441CA1D601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7BEB15B-85F2-7CF6-CF54-C8F6352905B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F3FAFAA-89A5-F7E9-DF7D-9CE131344DF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7FE6543-564B-79E7-D17E-604C59EE407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21840504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9D582-CBD6-90F3-BDB1-1C4935A38A7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8203C38-E8BA-7DF2-384D-60DB60A4672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940E327-F520-51D2-3ECD-C73361DE3F5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792AB55-D343-4693-54AB-25678D7A56F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02723103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70892-730A-4265-8E32-437FD173E3E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78CC6FC-3D47-9643-F558-F9FF65637C7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95B7CC6-FB24-A0A9-B4BC-6B018387FBA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AE9FDB2-5E13-F5DA-D593-88BC4BE0712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13156766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EDBB4-5412-6533-4C80-93B3A9AE948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1A8B48-2500-EF5D-BC96-4318FCAA378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2C776EE-09B1-9801-55C9-50BCACCB8B3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6DBE7FB-F5F9-87FC-DDC0-CC169F4B419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6705713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C7E2E-B79F-E591-AFA6-C627E335499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0B99733-071D-4F89-D275-6DB7910BB47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C0C3BF0-2F36-1B0E-D762-7132296664C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42C7132-C522-E5F0-025D-0CDF850730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49825795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B25D-A2C9-B6CB-6CD9-563964001A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0FD8784-F321-846F-8B99-3B8062B84D8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7ADF06F-BAD7-FF7E-14FB-81F624D0711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ECB79EB-DD50-4F7E-7B0C-6AD87BA7020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49852711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F1321-ECEE-34EB-C7E5-A65F208E98D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1033F7F-AC34-4286-A841-1FAA34666D8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00C41E-B64A-5DBA-0020-0535FD59CA9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BFC317B-9809-D84A-DAF3-70E585AA56C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F6E60-5CAA-4F08-A2B9-5C5EFEBC818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22139798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E1BF6-F778-DBDF-E0E2-9A45D08E42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FF8F8DA-B8EA-FEF4-54F7-E2E1CBB72CC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4AE1D3C-8792-5363-D062-188B6F91A71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EB813BE-C1F5-CD00-F322-C205B7B521B7}"/>
              </a:ext>
            </a:extLst>
          </p:cNvPr>
          <p:cNvSpPr>
            <a:spLocks noGrp="1"/>
          </p:cNvSpPr>
          <p:nvPr>
            <p:ph type="sldNum" sz="quarter" idx="10"/>
          </p:nvPr>
        </p:nvSpPr>
        <p:spPr/>
        <p:txBody>
          <a:bodyPr/>
          <a:lstStyle/>
          <a:p>
            <a:fld id="{D6F26B45-0BA7-4AA2-B94B-F29E66ECFF91}" type="slidenum">
              <a:rPr lang="zh-CN" altLang="en-US" smtClean="0"/>
              <a:t>59</a:t>
            </a:fld>
            <a:endParaRPr lang="zh-CN" altLang="en-US"/>
          </a:p>
        </p:txBody>
      </p:sp>
    </p:spTree>
    <p:extLst>
      <p:ext uri="{BB962C8B-B14F-4D97-AF65-F5344CB8AC3E}">
        <p14:creationId xmlns:p14="http://schemas.microsoft.com/office/powerpoint/2010/main" val="2535668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362587-47F9-8E85-CE65-4E265488479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1051ECD-BAFF-B65A-EAEF-5D3C44AB6D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5152A34-FAEE-EB2D-EE20-C7B2BE184F45}"/>
              </a:ext>
            </a:extLst>
          </p:cNvPr>
          <p:cNvSpPr>
            <a:spLocks noGrp="1"/>
          </p:cNvSpPr>
          <p:nvPr>
            <p:ph type="dt" sz="half" idx="10"/>
          </p:nvPr>
        </p:nvSpPr>
        <p:spPr/>
        <p:txBody>
          <a:bodyPr/>
          <a:lstStyle/>
          <a:p>
            <a:fld id="{4B7B9662-FD35-42D7-8919-5C562D09001C}" type="datetimeFigureOut">
              <a:rPr lang="zh-CN" altLang="en-US" smtClean="0"/>
              <a:t>2025/6/13</a:t>
            </a:fld>
            <a:endParaRPr lang="zh-CN" altLang="en-US"/>
          </a:p>
        </p:txBody>
      </p:sp>
      <p:sp>
        <p:nvSpPr>
          <p:cNvPr id="5" name="页脚占位符 4">
            <a:extLst>
              <a:ext uri="{FF2B5EF4-FFF2-40B4-BE49-F238E27FC236}">
                <a16:creationId xmlns:a16="http://schemas.microsoft.com/office/drawing/2014/main" id="{F913ECFE-ECDA-85B5-0F3B-CAFC9E19ABC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442182D-F0F1-92A5-7EA4-B130A933890E}"/>
              </a:ext>
            </a:extLst>
          </p:cNvPr>
          <p:cNvSpPr>
            <a:spLocks noGrp="1"/>
          </p:cNvSpPr>
          <p:nvPr>
            <p:ph type="sldNum" sz="quarter" idx="12"/>
          </p:nvPr>
        </p:nvSpPr>
        <p:spPr/>
        <p:txBody>
          <a:bodyPr/>
          <a:lstStyle/>
          <a:p>
            <a:fld id="{45884060-D014-42E8-A2F6-81DCCB385D16}" type="slidenum">
              <a:rPr lang="zh-CN" altLang="en-US" smtClean="0"/>
              <a:t>‹#›</a:t>
            </a:fld>
            <a:endParaRPr lang="zh-CN" altLang="en-US"/>
          </a:p>
        </p:txBody>
      </p:sp>
    </p:spTree>
    <p:extLst>
      <p:ext uri="{BB962C8B-B14F-4D97-AF65-F5344CB8AC3E}">
        <p14:creationId xmlns:p14="http://schemas.microsoft.com/office/powerpoint/2010/main" val="874870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95CC2D-CCF3-4436-15F6-75815D0AB77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F6581A2-6B90-8C2A-558D-C466A083BFA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DD0E84C-526E-3C09-5DBF-7E6ACE835B60}"/>
              </a:ext>
            </a:extLst>
          </p:cNvPr>
          <p:cNvSpPr>
            <a:spLocks noGrp="1"/>
          </p:cNvSpPr>
          <p:nvPr>
            <p:ph type="dt" sz="half" idx="10"/>
          </p:nvPr>
        </p:nvSpPr>
        <p:spPr/>
        <p:txBody>
          <a:bodyPr/>
          <a:lstStyle/>
          <a:p>
            <a:fld id="{4B7B9662-FD35-42D7-8919-5C562D09001C}" type="datetimeFigureOut">
              <a:rPr lang="zh-CN" altLang="en-US" smtClean="0"/>
              <a:t>2025/6/13</a:t>
            </a:fld>
            <a:endParaRPr lang="zh-CN" altLang="en-US"/>
          </a:p>
        </p:txBody>
      </p:sp>
      <p:sp>
        <p:nvSpPr>
          <p:cNvPr id="5" name="页脚占位符 4">
            <a:extLst>
              <a:ext uri="{FF2B5EF4-FFF2-40B4-BE49-F238E27FC236}">
                <a16:creationId xmlns:a16="http://schemas.microsoft.com/office/drawing/2014/main" id="{500BAA8D-8BE7-A738-C497-98A85225553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7150C0B-5E92-ED50-877C-5AC94B29CC5E}"/>
              </a:ext>
            </a:extLst>
          </p:cNvPr>
          <p:cNvSpPr>
            <a:spLocks noGrp="1"/>
          </p:cNvSpPr>
          <p:nvPr>
            <p:ph type="sldNum" sz="quarter" idx="12"/>
          </p:nvPr>
        </p:nvSpPr>
        <p:spPr/>
        <p:txBody>
          <a:bodyPr/>
          <a:lstStyle/>
          <a:p>
            <a:fld id="{45884060-D014-42E8-A2F6-81DCCB385D16}" type="slidenum">
              <a:rPr lang="zh-CN" altLang="en-US" smtClean="0"/>
              <a:t>‹#›</a:t>
            </a:fld>
            <a:endParaRPr lang="zh-CN" altLang="en-US"/>
          </a:p>
        </p:txBody>
      </p:sp>
    </p:spTree>
    <p:extLst>
      <p:ext uri="{BB962C8B-B14F-4D97-AF65-F5344CB8AC3E}">
        <p14:creationId xmlns:p14="http://schemas.microsoft.com/office/powerpoint/2010/main" val="535843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BBD3B2-AE76-5D08-987D-D9DFCD544354}"/>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AC6A07F-03B5-F6CA-622D-AB81B63AF2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B70389D-C5B6-0E76-D804-C2B538BE213D}"/>
              </a:ext>
            </a:extLst>
          </p:cNvPr>
          <p:cNvSpPr>
            <a:spLocks noGrp="1"/>
          </p:cNvSpPr>
          <p:nvPr>
            <p:ph type="dt" sz="half" idx="10"/>
          </p:nvPr>
        </p:nvSpPr>
        <p:spPr/>
        <p:txBody>
          <a:bodyPr/>
          <a:lstStyle/>
          <a:p>
            <a:fld id="{4B7B9662-FD35-42D7-8919-5C562D09001C}" type="datetimeFigureOut">
              <a:rPr lang="zh-CN" altLang="en-US" smtClean="0"/>
              <a:t>2025/6/13</a:t>
            </a:fld>
            <a:endParaRPr lang="zh-CN" altLang="en-US"/>
          </a:p>
        </p:txBody>
      </p:sp>
      <p:sp>
        <p:nvSpPr>
          <p:cNvPr id="5" name="页脚占位符 4">
            <a:extLst>
              <a:ext uri="{FF2B5EF4-FFF2-40B4-BE49-F238E27FC236}">
                <a16:creationId xmlns:a16="http://schemas.microsoft.com/office/drawing/2014/main" id="{A08C6F42-E5D2-A213-803B-43F904BC8BD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6ABFF53-EB26-EA91-4536-FAB94D7066A5}"/>
              </a:ext>
            </a:extLst>
          </p:cNvPr>
          <p:cNvSpPr>
            <a:spLocks noGrp="1"/>
          </p:cNvSpPr>
          <p:nvPr>
            <p:ph type="sldNum" sz="quarter" idx="12"/>
          </p:nvPr>
        </p:nvSpPr>
        <p:spPr/>
        <p:txBody>
          <a:bodyPr/>
          <a:lstStyle/>
          <a:p>
            <a:fld id="{45884060-D014-42E8-A2F6-81DCCB385D16}" type="slidenum">
              <a:rPr lang="zh-CN" altLang="en-US" smtClean="0"/>
              <a:t>‹#›</a:t>
            </a:fld>
            <a:endParaRPr lang="zh-CN" altLang="en-US"/>
          </a:p>
        </p:txBody>
      </p:sp>
    </p:spTree>
    <p:extLst>
      <p:ext uri="{BB962C8B-B14F-4D97-AF65-F5344CB8AC3E}">
        <p14:creationId xmlns:p14="http://schemas.microsoft.com/office/powerpoint/2010/main" val="3483271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CF8B49-FF90-6163-D385-7FB51D7008C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8192711-7F76-E641-4C11-90E65CEF265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661FA99-2F51-3002-A064-5365F25DB76A}"/>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9462433-1846-DA3D-4AD7-C8326982AE6B}"/>
              </a:ext>
            </a:extLst>
          </p:cNvPr>
          <p:cNvSpPr>
            <a:spLocks noGrp="1"/>
          </p:cNvSpPr>
          <p:nvPr>
            <p:ph type="dt" sz="half" idx="10"/>
          </p:nvPr>
        </p:nvSpPr>
        <p:spPr/>
        <p:txBody>
          <a:bodyPr/>
          <a:lstStyle/>
          <a:p>
            <a:fld id="{4B7B9662-FD35-42D7-8919-5C562D09001C}" type="datetimeFigureOut">
              <a:rPr lang="zh-CN" altLang="en-US" smtClean="0"/>
              <a:t>2025/6/13</a:t>
            </a:fld>
            <a:endParaRPr lang="zh-CN" altLang="en-US"/>
          </a:p>
        </p:txBody>
      </p:sp>
      <p:sp>
        <p:nvSpPr>
          <p:cNvPr id="6" name="页脚占位符 5">
            <a:extLst>
              <a:ext uri="{FF2B5EF4-FFF2-40B4-BE49-F238E27FC236}">
                <a16:creationId xmlns:a16="http://schemas.microsoft.com/office/drawing/2014/main" id="{3E55F8A3-FEF5-FE34-689A-C4C865A072D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B0577B0-B258-D322-BDEA-0A740955032C}"/>
              </a:ext>
            </a:extLst>
          </p:cNvPr>
          <p:cNvSpPr>
            <a:spLocks noGrp="1"/>
          </p:cNvSpPr>
          <p:nvPr>
            <p:ph type="sldNum" sz="quarter" idx="12"/>
          </p:nvPr>
        </p:nvSpPr>
        <p:spPr/>
        <p:txBody>
          <a:bodyPr/>
          <a:lstStyle/>
          <a:p>
            <a:fld id="{45884060-D014-42E8-A2F6-81DCCB385D16}" type="slidenum">
              <a:rPr lang="zh-CN" altLang="en-US" smtClean="0"/>
              <a:t>‹#›</a:t>
            </a:fld>
            <a:endParaRPr lang="zh-CN" altLang="en-US"/>
          </a:p>
        </p:txBody>
      </p:sp>
    </p:spTree>
    <p:extLst>
      <p:ext uri="{BB962C8B-B14F-4D97-AF65-F5344CB8AC3E}">
        <p14:creationId xmlns:p14="http://schemas.microsoft.com/office/powerpoint/2010/main" val="2597607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24D375-9C0C-9F03-5E35-3BB70B9E86E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72D3F07-7389-4512-3E6B-F3F6C48FF8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F79CC02-55F5-E6B3-7C53-EFF476318B3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FFB9939-D85B-C654-F275-9758CF4653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3A3222C-7FBD-FCB8-FD4B-B07507CA35B0}"/>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4515534-6C8B-23A7-1341-905B138C1123}"/>
              </a:ext>
            </a:extLst>
          </p:cNvPr>
          <p:cNvSpPr>
            <a:spLocks noGrp="1"/>
          </p:cNvSpPr>
          <p:nvPr>
            <p:ph type="dt" sz="half" idx="10"/>
          </p:nvPr>
        </p:nvSpPr>
        <p:spPr/>
        <p:txBody>
          <a:bodyPr/>
          <a:lstStyle/>
          <a:p>
            <a:fld id="{4B7B9662-FD35-42D7-8919-5C562D09001C}" type="datetimeFigureOut">
              <a:rPr lang="zh-CN" altLang="en-US" smtClean="0"/>
              <a:t>2025/6/13</a:t>
            </a:fld>
            <a:endParaRPr lang="zh-CN" altLang="en-US"/>
          </a:p>
        </p:txBody>
      </p:sp>
      <p:sp>
        <p:nvSpPr>
          <p:cNvPr id="8" name="页脚占位符 7">
            <a:extLst>
              <a:ext uri="{FF2B5EF4-FFF2-40B4-BE49-F238E27FC236}">
                <a16:creationId xmlns:a16="http://schemas.microsoft.com/office/drawing/2014/main" id="{C6306DE0-58AC-E3D3-F1BD-78F4C7682FD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AFBF536-C006-DB6B-D5F5-89C40F430D00}"/>
              </a:ext>
            </a:extLst>
          </p:cNvPr>
          <p:cNvSpPr>
            <a:spLocks noGrp="1"/>
          </p:cNvSpPr>
          <p:nvPr>
            <p:ph type="sldNum" sz="quarter" idx="12"/>
          </p:nvPr>
        </p:nvSpPr>
        <p:spPr/>
        <p:txBody>
          <a:bodyPr/>
          <a:lstStyle/>
          <a:p>
            <a:fld id="{45884060-D014-42E8-A2F6-81DCCB385D16}" type="slidenum">
              <a:rPr lang="zh-CN" altLang="en-US" smtClean="0"/>
              <a:t>‹#›</a:t>
            </a:fld>
            <a:endParaRPr lang="zh-CN" altLang="en-US"/>
          </a:p>
        </p:txBody>
      </p:sp>
    </p:spTree>
    <p:extLst>
      <p:ext uri="{BB962C8B-B14F-4D97-AF65-F5344CB8AC3E}">
        <p14:creationId xmlns:p14="http://schemas.microsoft.com/office/powerpoint/2010/main" val="1479895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2C4D36-3A51-4E29-F30B-E410E0F7EFB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5ECBF0A-6FD2-1A7F-1AAF-AF2C29462FFA}"/>
              </a:ext>
            </a:extLst>
          </p:cNvPr>
          <p:cNvSpPr>
            <a:spLocks noGrp="1"/>
          </p:cNvSpPr>
          <p:nvPr>
            <p:ph type="dt" sz="half" idx="10"/>
          </p:nvPr>
        </p:nvSpPr>
        <p:spPr/>
        <p:txBody>
          <a:bodyPr/>
          <a:lstStyle/>
          <a:p>
            <a:fld id="{4B7B9662-FD35-42D7-8919-5C562D09001C}" type="datetimeFigureOut">
              <a:rPr lang="zh-CN" altLang="en-US" smtClean="0"/>
              <a:t>2025/6/13</a:t>
            </a:fld>
            <a:endParaRPr lang="zh-CN" altLang="en-US"/>
          </a:p>
        </p:txBody>
      </p:sp>
      <p:sp>
        <p:nvSpPr>
          <p:cNvPr id="4" name="页脚占位符 3">
            <a:extLst>
              <a:ext uri="{FF2B5EF4-FFF2-40B4-BE49-F238E27FC236}">
                <a16:creationId xmlns:a16="http://schemas.microsoft.com/office/drawing/2014/main" id="{F3A84A31-8A38-BF6D-EC67-D3F08E0A51C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AB3D00D-8423-B77C-B10E-22ABD63EF55C}"/>
              </a:ext>
            </a:extLst>
          </p:cNvPr>
          <p:cNvSpPr>
            <a:spLocks noGrp="1"/>
          </p:cNvSpPr>
          <p:nvPr>
            <p:ph type="sldNum" sz="quarter" idx="12"/>
          </p:nvPr>
        </p:nvSpPr>
        <p:spPr/>
        <p:txBody>
          <a:bodyPr/>
          <a:lstStyle/>
          <a:p>
            <a:fld id="{45884060-D014-42E8-A2F6-81DCCB385D16}" type="slidenum">
              <a:rPr lang="zh-CN" altLang="en-US" smtClean="0"/>
              <a:t>‹#›</a:t>
            </a:fld>
            <a:endParaRPr lang="zh-CN" altLang="en-US"/>
          </a:p>
        </p:txBody>
      </p:sp>
    </p:spTree>
    <p:extLst>
      <p:ext uri="{BB962C8B-B14F-4D97-AF65-F5344CB8AC3E}">
        <p14:creationId xmlns:p14="http://schemas.microsoft.com/office/powerpoint/2010/main" val="3802078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D56C9BC-130F-26D9-BA09-D372553566FD}"/>
              </a:ext>
            </a:extLst>
          </p:cNvPr>
          <p:cNvSpPr>
            <a:spLocks noGrp="1"/>
          </p:cNvSpPr>
          <p:nvPr>
            <p:ph type="dt" sz="half" idx="10"/>
          </p:nvPr>
        </p:nvSpPr>
        <p:spPr/>
        <p:txBody>
          <a:bodyPr/>
          <a:lstStyle/>
          <a:p>
            <a:fld id="{4B7B9662-FD35-42D7-8919-5C562D09001C}" type="datetimeFigureOut">
              <a:rPr lang="zh-CN" altLang="en-US" smtClean="0"/>
              <a:t>2025/6/13</a:t>
            </a:fld>
            <a:endParaRPr lang="zh-CN" altLang="en-US"/>
          </a:p>
        </p:txBody>
      </p:sp>
      <p:sp>
        <p:nvSpPr>
          <p:cNvPr id="3" name="页脚占位符 2">
            <a:extLst>
              <a:ext uri="{FF2B5EF4-FFF2-40B4-BE49-F238E27FC236}">
                <a16:creationId xmlns:a16="http://schemas.microsoft.com/office/drawing/2014/main" id="{B883498E-8DAC-1F1F-6211-F9B10B49514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C582453-75D0-A360-9E84-BA48B52EF7AA}"/>
              </a:ext>
            </a:extLst>
          </p:cNvPr>
          <p:cNvSpPr>
            <a:spLocks noGrp="1"/>
          </p:cNvSpPr>
          <p:nvPr>
            <p:ph type="sldNum" sz="quarter" idx="12"/>
          </p:nvPr>
        </p:nvSpPr>
        <p:spPr/>
        <p:txBody>
          <a:bodyPr/>
          <a:lstStyle/>
          <a:p>
            <a:fld id="{45884060-D014-42E8-A2F6-81DCCB385D16}" type="slidenum">
              <a:rPr lang="zh-CN" altLang="en-US" smtClean="0"/>
              <a:t>‹#›</a:t>
            </a:fld>
            <a:endParaRPr lang="zh-CN" altLang="en-US"/>
          </a:p>
        </p:txBody>
      </p:sp>
    </p:spTree>
    <p:extLst>
      <p:ext uri="{BB962C8B-B14F-4D97-AF65-F5344CB8AC3E}">
        <p14:creationId xmlns:p14="http://schemas.microsoft.com/office/powerpoint/2010/main" val="2759648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52799B-EB01-23FF-2520-431BE0A214C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2E72FB7-B9B6-5C01-3F2C-5EC3137CFE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EE8B376-B946-6E76-4192-7F0A2A3877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3EB01D1-CB60-27BF-AB5E-AC2CA9005F96}"/>
              </a:ext>
            </a:extLst>
          </p:cNvPr>
          <p:cNvSpPr>
            <a:spLocks noGrp="1"/>
          </p:cNvSpPr>
          <p:nvPr>
            <p:ph type="dt" sz="half" idx="10"/>
          </p:nvPr>
        </p:nvSpPr>
        <p:spPr/>
        <p:txBody>
          <a:bodyPr/>
          <a:lstStyle/>
          <a:p>
            <a:fld id="{4B7B9662-FD35-42D7-8919-5C562D09001C}" type="datetimeFigureOut">
              <a:rPr lang="zh-CN" altLang="en-US" smtClean="0"/>
              <a:t>2025/6/13</a:t>
            </a:fld>
            <a:endParaRPr lang="zh-CN" altLang="en-US"/>
          </a:p>
        </p:txBody>
      </p:sp>
      <p:sp>
        <p:nvSpPr>
          <p:cNvPr id="6" name="页脚占位符 5">
            <a:extLst>
              <a:ext uri="{FF2B5EF4-FFF2-40B4-BE49-F238E27FC236}">
                <a16:creationId xmlns:a16="http://schemas.microsoft.com/office/drawing/2014/main" id="{6693F843-F34F-D9F5-E342-365836A49D8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D625126-4064-E16D-7EC0-6C3D412A36BA}"/>
              </a:ext>
            </a:extLst>
          </p:cNvPr>
          <p:cNvSpPr>
            <a:spLocks noGrp="1"/>
          </p:cNvSpPr>
          <p:nvPr>
            <p:ph type="sldNum" sz="quarter" idx="12"/>
          </p:nvPr>
        </p:nvSpPr>
        <p:spPr/>
        <p:txBody>
          <a:bodyPr/>
          <a:lstStyle/>
          <a:p>
            <a:fld id="{45884060-D014-42E8-A2F6-81DCCB385D16}" type="slidenum">
              <a:rPr lang="zh-CN" altLang="en-US" smtClean="0"/>
              <a:t>‹#›</a:t>
            </a:fld>
            <a:endParaRPr lang="zh-CN" altLang="en-US"/>
          </a:p>
        </p:txBody>
      </p:sp>
    </p:spTree>
    <p:extLst>
      <p:ext uri="{BB962C8B-B14F-4D97-AF65-F5344CB8AC3E}">
        <p14:creationId xmlns:p14="http://schemas.microsoft.com/office/powerpoint/2010/main" val="4166272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AC523E-B3AD-FEEA-19B7-D49212C2975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3256BAF-511E-A2F1-F939-F78736757F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FCCE150-5505-F270-ADE5-D6E5BFA69F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AD06CCE-67A6-63A9-01E8-C32419008E0F}"/>
              </a:ext>
            </a:extLst>
          </p:cNvPr>
          <p:cNvSpPr>
            <a:spLocks noGrp="1"/>
          </p:cNvSpPr>
          <p:nvPr>
            <p:ph type="dt" sz="half" idx="10"/>
          </p:nvPr>
        </p:nvSpPr>
        <p:spPr/>
        <p:txBody>
          <a:bodyPr/>
          <a:lstStyle/>
          <a:p>
            <a:fld id="{4B7B9662-FD35-42D7-8919-5C562D09001C}" type="datetimeFigureOut">
              <a:rPr lang="zh-CN" altLang="en-US" smtClean="0"/>
              <a:t>2025/6/13</a:t>
            </a:fld>
            <a:endParaRPr lang="zh-CN" altLang="en-US"/>
          </a:p>
        </p:txBody>
      </p:sp>
      <p:sp>
        <p:nvSpPr>
          <p:cNvPr id="6" name="页脚占位符 5">
            <a:extLst>
              <a:ext uri="{FF2B5EF4-FFF2-40B4-BE49-F238E27FC236}">
                <a16:creationId xmlns:a16="http://schemas.microsoft.com/office/drawing/2014/main" id="{BAAB3EE0-49D1-72E5-1D5D-4CDA6E44450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D6326B9-BE4E-1553-4EB8-48074DE18C7E}"/>
              </a:ext>
            </a:extLst>
          </p:cNvPr>
          <p:cNvSpPr>
            <a:spLocks noGrp="1"/>
          </p:cNvSpPr>
          <p:nvPr>
            <p:ph type="sldNum" sz="quarter" idx="12"/>
          </p:nvPr>
        </p:nvSpPr>
        <p:spPr/>
        <p:txBody>
          <a:bodyPr/>
          <a:lstStyle/>
          <a:p>
            <a:fld id="{45884060-D014-42E8-A2F6-81DCCB385D16}" type="slidenum">
              <a:rPr lang="zh-CN" altLang="en-US" smtClean="0"/>
              <a:t>‹#›</a:t>
            </a:fld>
            <a:endParaRPr lang="zh-CN" altLang="en-US"/>
          </a:p>
        </p:txBody>
      </p:sp>
    </p:spTree>
    <p:extLst>
      <p:ext uri="{BB962C8B-B14F-4D97-AF65-F5344CB8AC3E}">
        <p14:creationId xmlns:p14="http://schemas.microsoft.com/office/powerpoint/2010/main" val="834691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3EAE46-AF74-5EDE-12A0-BBEE0586815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56D7C83-A5EA-1A3E-1EF0-D40EC4293B2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A177050-68FA-9529-9C74-B536D8D1FB68}"/>
              </a:ext>
            </a:extLst>
          </p:cNvPr>
          <p:cNvSpPr>
            <a:spLocks noGrp="1"/>
          </p:cNvSpPr>
          <p:nvPr>
            <p:ph type="dt" sz="half" idx="10"/>
          </p:nvPr>
        </p:nvSpPr>
        <p:spPr/>
        <p:txBody>
          <a:bodyPr/>
          <a:lstStyle/>
          <a:p>
            <a:fld id="{4B7B9662-FD35-42D7-8919-5C562D09001C}" type="datetimeFigureOut">
              <a:rPr lang="zh-CN" altLang="en-US" smtClean="0"/>
              <a:t>2025/6/13</a:t>
            </a:fld>
            <a:endParaRPr lang="zh-CN" altLang="en-US"/>
          </a:p>
        </p:txBody>
      </p:sp>
      <p:sp>
        <p:nvSpPr>
          <p:cNvPr id="5" name="页脚占位符 4">
            <a:extLst>
              <a:ext uri="{FF2B5EF4-FFF2-40B4-BE49-F238E27FC236}">
                <a16:creationId xmlns:a16="http://schemas.microsoft.com/office/drawing/2014/main" id="{9EBA23B7-7A32-496F-24DF-51BB7370A42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29A1D7A-CF89-DF8B-7AAA-D4EAD0BAA9AD}"/>
              </a:ext>
            </a:extLst>
          </p:cNvPr>
          <p:cNvSpPr>
            <a:spLocks noGrp="1"/>
          </p:cNvSpPr>
          <p:nvPr>
            <p:ph type="sldNum" sz="quarter" idx="12"/>
          </p:nvPr>
        </p:nvSpPr>
        <p:spPr/>
        <p:txBody>
          <a:bodyPr/>
          <a:lstStyle/>
          <a:p>
            <a:fld id="{45884060-D014-42E8-A2F6-81DCCB385D16}" type="slidenum">
              <a:rPr lang="zh-CN" altLang="en-US" smtClean="0"/>
              <a:t>‹#›</a:t>
            </a:fld>
            <a:endParaRPr lang="zh-CN" altLang="en-US"/>
          </a:p>
        </p:txBody>
      </p:sp>
    </p:spTree>
    <p:extLst>
      <p:ext uri="{BB962C8B-B14F-4D97-AF65-F5344CB8AC3E}">
        <p14:creationId xmlns:p14="http://schemas.microsoft.com/office/powerpoint/2010/main" val="3361056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0F47C27-09C2-52E0-C134-597F71659D9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3DAE0FC-4166-C1AB-1DAA-6CCA02D1FCD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3B35A7D-0146-2EA7-75DC-74E054638161}"/>
              </a:ext>
            </a:extLst>
          </p:cNvPr>
          <p:cNvSpPr>
            <a:spLocks noGrp="1"/>
          </p:cNvSpPr>
          <p:nvPr>
            <p:ph type="dt" sz="half" idx="10"/>
          </p:nvPr>
        </p:nvSpPr>
        <p:spPr/>
        <p:txBody>
          <a:bodyPr/>
          <a:lstStyle/>
          <a:p>
            <a:fld id="{4B7B9662-FD35-42D7-8919-5C562D09001C}" type="datetimeFigureOut">
              <a:rPr lang="zh-CN" altLang="en-US" smtClean="0"/>
              <a:t>2025/6/13</a:t>
            </a:fld>
            <a:endParaRPr lang="zh-CN" altLang="en-US"/>
          </a:p>
        </p:txBody>
      </p:sp>
      <p:sp>
        <p:nvSpPr>
          <p:cNvPr id="5" name="页脚占位符 4">
            <a:extLst>
              <a:ext uri="{FF2B5EF4-FFF2-40B4-BE49-F238E27FC236}">
                <a16:creationId xmlns:a16="http://schemas.microsoft.com/office/drawing/2014/main" id="{760B0098-5547-52E8-94EA-7FE022E58BB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66CF6D9-CCF9-6595-2003-78345B3AD736}"/>
              </a:ext>
            </a:extLst>
          </p:cNvPr>
          <p:cNvSpPr>
            <a:spLocks noGrp="1"/>
          </p:cNvSpPr>
          <p:nvPr>
            <p:ph type="sldNum" sz="quarter" idx="12"/>
          </p:nvPr>
        </p:nvSpPr>
        <p:spPr/>
        <p:txBody>
          <a:bodyPr/>
          <a:lstStyle/>
          <a:p>
            <a:fld id="{45884060-D014-42E8-A2F6-81DCCB385D16}" type="slidenum">
              <a:rPr lang="zh-CN" altLang="en-US" smtClean="0"/>
              <a:t>‹#›</a:t>
            </a:fld>
            <a:endParaRPr lang="zh-CN" altLang="en-US"/>
          </a:p>
        </p:txBody>
      </p:sp>
    </p:spTree>
    <p:extLst>
      <p:ext uri="{BB962C8B-B14F-4D97-AF65-F5344CB8AC3E}">
        <p14:creationId xmlns:p14="http://schemas.microsoft.com/office/powerpoint/2010/main" val="493769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D1A7C32-42E2-6A39-DE44-7D15E741F8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31473DD-D14B-5570-C7DE-800B8C2CBD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9B301E8-9114-FD29-9783-F9BA7F6E5A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7B9662-FD35-42D7-8919-5C562D09001C}" type="datetimeFigureOut">
              <a:rPr lang="zh-CN" altLang="en-US" smtClean="0"/>
              <a:t>2025/6/13</a:t>
            </a:fld>
            <a:endParaRPr lang="zh-CN" altLang="en-US"/>
          </a:p>
        </p:txBody>
      </p:sp>
      <p:sp>
        <p:nvSpPr>
          <p:cNvPr id="5" name="页脚占位符 4">
            <a:extLst>
              <a:ext uri="{FF2B5EF4-FFF2-40B4-BE49-F238E27FC236}">
                <a16:creationId xmlns:a16="http://schemas.microsoft.com/office/drawing/2014/main" id="{C7520C5E-D533-79C4-157C-C472348478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2437419-03CE-0190-5AB6-FC102C00CD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884060-D014-42E8-A2F6-81DCCB385D16}" type="slidenum">
              <a:rPr lang="zh-CN" altLang="en-US" smtClean="0"/>
              <a:t>‹#›</a:t>
            </a:fld>
            <a:endParaRPr lang="zh-CN" altLang="en-US"/>
          </a:p>
        </p:txBody>
      </p:sp>
    </p:spTree>
    <p:extLst>
      <p:ext uri="{BB962C8B-B14F-4D97-AF65-F5344CB8AC3E}">
        <p14:creationId xmlns:p14="http://schemas.microsoft.com/office/powerpoint/2010/main" val="4247077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1.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5.jp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0.jp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jpe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90.png"/><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45.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47.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53.png"/><Relationship Id="rId4" Type="http://schemas.openxmlformats.org/officeDocument/2006/relationships/image" Target="../media/image52.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55.png"/><Relationship Id="rId4" Type="http://schemas.openxmlformats.org/officeDocument/2006/relationships/image" Target="../media/image54.png"/></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image" Target="../media/image58.pn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61.png"/><Relationship Id="rId4" Type="http://schemas.openxmlformats.org/officeDocument/2006/relationships/image" Target="../media/image60.png"/></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4.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63.emf"/><Relationship Id="rId5" Type="http://schemas.openxmlformats.org/officeDocument/2006/relationships/image" Target="../media/image62.png"/><Relationship Id="rId4" Type="http://schemas.openxmlformats.org/officeDocument/2006/relationships/image" Target="../media/image60.png"/></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65.png"/></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66.png"/></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67.png"/></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68.png"/></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6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7BC00-2D7D-C26B-FF6F-9ACF6D5B1355}"/>
            </a:ext>
          </a:extLst>
        </p:cNvPr>
        <p:cNvGrpSpPr/>
        <p:nvPr/>
      </p:nvGrpSpPr>
      <p:grpSpPr>
        <a:xfrm>
          <a:off x="0" y="0"/>
          <a:ext cx="0" cy="0"/>
          <a:chOff x="0" y="0"/>
          <a:chExt cx="0" cy="0"/>
        </a:xfrm>
      </p:grpSpPr>
      <p:pic>
        <p:nvPicPr>
          <p:cNvPr id="5711" name="图片 5710" descr="1">
            <a:extLst>
              <a:ext uri="{FF2B5EF4-FFF2-40B4-BE49-F238E27FC236}">
                <a16:creationId xmlns:a16="http://schemas.microsoft.com/office/drawing/2014/main" id="{207DD0AB-0A8F-56D5-49F4-8B40314D3E35}"/>
              </a:ext>
            </a:extLst>
          </p:cNvPr>
          <p:cNvPicPr>
            <a:picLocks noChangeAspect="1"/>
          </p:cNvPicPr>
          <p:nvPr/>
        </p:nvPicPr>
        <p:blipFill>
          <a:blip r:embed="rId3"/>
          <a:srcRect l="20833" r="17500" b="18790"/>
          <a:stretch>
            <a:fillRect/>
          </a:stretch>
        </p:blipFill>
        <p:spPr>
          <a:xfrm>
            <a:off x="12767" y="0"/>
            <a:ext cx="12192000" cy="4653915"/>
          </a:xfrm>
          <a:prstGeom prst="rect">
            <a:avLst/>
          </a:prstGeom>
          <a:noFill/>
          <a:ln w="9525">
            <a:noFill/>
          </a:ln>
        </p:spPr>
      </p:pic>
      <p:pic>
        <p:nvPicPr>
          <p:cNvPr id="5712" name="图片 5711" descr="2">
            <a:extLst>
              <a:ext uri="{FF2B5EF4-FFF2-40B4-BE49-F238E27FC236}">
                <a16:creationId xmlns:a16="http://schemas.microsoft.com/office/drawing/2014/main" id="{38BB7FE2-DBE0-DA6F-12DD-86212217B950}"/>
              </a:ext>
            </a:extLst>
          </p:cNvPr>
          <p:cNvPicPr>
            <a:picLocks noChangeAspect="1"/>
          </p:cNvPicPr>
          <p:nvPr/>
        </p:nvPicPr>
        <p:blipFill>
          <a:blip r:embed="rId4"/>
          <a:srcRect t="41180" b="26228"/>
          <a:stretch>
            <a:fillRect/>
          </a:stretch>
        </p:blipFill>
        <p:spPr>
          <a:xfrm>
            <a:off x="0" y="2218372"/>
            <a:ext cx="12192000" cy="2421255"/>
          </a:xfrm>
          <a:prstGeom prst="rect">
            <a:avLst/>
          </a:prstGeom>
          <a:noFill/>
          <a:ln w="9525">
            <a:noFill/>
          </a:ln>
        </p:spPr>
      </p:pic>
      <p:sp>
        <p:nvSpPr>
          <p:cNvPr id="5716" name="文本框 5715">
            <a:extLst>
              <a:ext uri="{FF2B5EF4-FFF2-40B4-BE49-F238E27FC236}">
                <a16:creationId xmlns:a16="http://schemas.microsoft.com/office/drawing/2014/main" id="{7D4A3133-8824-5E61-513F-32DDF40C15E5}"/>
              </a:ext>
            </a:extLst>
          </p:cNvPr>
          <p:cNvSpPr txBox="1"/>
          <p:nvPr/>
        </p:nvSpPr>
        <p:spPr>
          <a:xfrm>
            <a:off x="308201" y="1633956"/>
            <a:ext cx="12566135" cy="2980077"/>
          </a:xfrm>
          <a:prstGeom prst="rect">
            <a:avLst/>
          </a:prstGeom>
          <a:noFill/>
          <a:ln w="9525">
            <a:noFill/>
          </a:ln>
        </p:spPr>
        <p:txBody>
          <a:bodyPr wrap="square" anchor="ctr" anchorCtr="0">
            <a:noAutofit/>
          </a:bodyPr>
          <a:lstStyle/>
          <a:p>
            <a:pPr eaLnBrk="0" hangingPunct="0">
              <a:spcBef>
                <a:spcPct val="50000"/>
              </a:spcBef>
              <a:tabLst>
                <a:tab pos="3321050" algn="l"/>
              </a:tabLst>
            </a:pPr>
            <a:r>
              <a:rPr lang="zh-CN" altLang="en-US" sz="5400" b="1" u="sng">
                <a:solidFill>
                  <a:srgbClr val="0052A4"/>
                </a:solidFill>
                <a:latin typeface="微软雅黑" panose="020B0503020204020204" pitchFamily="34" charset="-122"/>
                <a:ea typeface="微软雅黑" panose="020B0503020204020204" pitchFamily="34" charset="-122"/>
              </a:rPr>
              <a:t>作品名称：</a:t>
            </a:r>
            <a:endParaRPr lang="en-US" altLang="zh-CN" sz="5400" b="1" u="sng">
              <a:solidFill>
                <a:srgbClr val="0052A4"/>
              </a:solidFill>
              <a:latin typeface="微软雅黑" panose="020B0503020204020204" pitchFamily="34" charset="-122"/>
              <a:ea typeface="微软雅黑" panose="020B0503020204020204" pitchFamily="34" charset="-122"/>
            </a:endParaRPr>
          </a:p>
          <a:p>
            <a:pPr eaLnBrk="0" hangingPunct="0">
              <a:spcBef>
                <a:spcPct val="50000"/>
              </a:spcBef>
              <a:tabLst>
                <a:tab pos="3321050" algn="l"/>
              </a:tabLst>
            </a:pPr>
            <a:r>
              <a:rPr lang="zh-CN" altLang="en-US" sz="5400" b="1" u="sng">
                <a:solidFill>
                  <a:srgbClr val="0052A4"/>
                </a:solidFill>
                <a:latin typeface="微软雅黑" panose="020B0503020204020204" pitchFamily="34" charset="-122"/>
                <a:ea typeface="微软雅黑" panose="020B0503020204020204" pitchFamily="34" charset="-122"/>
              </a:rPr>
              <a:t>矿井直流提升机调速系统设计</a:t>
            </a:r>
            <a:endParaRPr lang="zh-CN" altLang="zh-CN" sz="5400" b="1" u="sng">
              <a:solidFill>
                <a:srgbClr val="0052A4"/>
              </a:solidFill>
              <a:latin typeface="微软雅黑" panose="020B0503020204020204" pitchFamily="34" charset="-122"/>
              <a:ea typeface="微软雅黑" panose="020B0503020204020204" pitchFamily="34" charset="-122"/>
            </a:endParaRPr>
          </a:p>
          <a:p>
            <a:pPr indent="0" algn="ctr" eaLnBrk="0" hangingPunct="0">
              <a:spcBef>
                <a:spcPct val="50000"/>
              </a:spcBef>
              <a:tabLst>
                <a:tab pos="3321050" algn="l"/>
              </a:tabLst>
            </a:pPr>
            <a:endParaRPr lang="zh-CN" altLang="en-US" sz="5400" b="1" u="sng">
              <a:solidFill>
                <a:srgbClr val="0052A4"/>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BD1FAEE4-6C36-2895-6384-F105A4A20D4F}"/>
              </a:ext>
            </a:extLst>
          </p:cNvPr>
          <p:cNvSpPr txBox="1"/>
          <p:nvPr/>
        </p:nvSpPr>
        <p:spPr>
          <a:xfrm>
            <a:off x="1193582" y="382403"/>
            <a:ext cx="9906285" cy="523220"/>
          </a:xfrm>
          <a:prstGeom prst="rect">
            <a:avLst/>
          </a:prstGeom>
          <a:noFill/>
        </p:spPr>
        <p:txBody>
          <a:bodyPr wrap="square" rtlCol="0">
            <a:spAutoFit/>
          </a:bodyPr>
          <a:lstStyle/>
          <a:p>
            <a:r>
              <a:rPr lang="en-US" altLang="zh-CN" sz="2800" b="1">
                <a:latin typeface="微软雅黑" panose="020B0503020204020204" pitchFamily="34" charset="-122"/>
                <a:ea typeface="微软雅黑" panose="020B0503020204020204" pitchFamily="34" charset="-122"/>
              </a:rPr>
              <a:t>《</a:t>
            </a:r>
            <a:r>
              <a:rPr lang="zh-CN" altLang="en-US" sz="2800" b="1">
                <a:latin typeface="微软雅黑" panose="020B0503020204020204" pitchFamily="34" charset="-122"/>
                <a:ea typeface="微软雅黑" panose="020B0503020204020204" pitchFamily="34" charset="-122"/>
              </a:rPr>
              <a:t>运动控制系统课程设计</a:t>
            </a:r>
            <a:r>
              <a:rPr lang="en-US" altLang="zh-CN" sz="2800" b="1">
                <a:latin typeface="微软雅黑" panose="020B0503020204020204" pitchFamily="34" charset="-122"/>
                <a:ea typeface="微软雅黑" panose="020B0503020204020204" pitchFamily="34" charset="-122"/>
              </a:rPr>
              <a:t>》</a:t>
            </a:r>
            <a:r>
              <a:rPr lang="zh-CN" altLang="en-US" sz="2800" b="1">
                <a:latin typeface="微软雅黑" panose="020B0503020204020204" pitchFamily="34" charset="-122"/>
                <a:ea typeface="微软雅黑" panose="020B0503020204020204" pitchFamily="34" charset="-122"/>
              </a:rPr>
              <a:t>课程答辩</a:t>
            </a:r>
          </a:p>
        </p:txBody>
      </p:sp>
      <p:sp>
        <p:nvSpPr>
          <p:cNvPr id="7" name="文本框 6">
            <a:extLst>
              <a:ext uri="{FF2B5EF4-FFF2-40B4-BE49-F238E27FC236}">
                <a16:creationId xmlns:a16="http://schemas.microsoft.com/office/drawing/2014/main" id="{FDACEC99-A24E-1B01-771B-7ADBE244C13B}"/>
              </a:ext>
            </a:extLst>
          </p:cNvPr>
          <p:cNvSpPr txBox="1"/>
          <p:nvPr/>
        </p:nvSpPr>
        <p:spPr>
          <a:xfrm>
            <a:off x="398318" y="4995489"/>
            <a:ext cx="9836727" cy="1955215"/>
          </a:xfrm>
          <a:prstGeom prst="rect">
            <a:avLst/>
          </a:prstGeom>
          <a:noFill/>
        </p:spPr>
        <p:txBody>
          <a:bodyPr wrap="square">
            <a:spAutoFit/>
          </a:bodyPr>
          <a:lstStyle/>
          <a:p>
            <a:pPr indent="127000" algn="l">
              <a:lnSpc>
                <a:spcPct val="150000"/>
              </a:lnSpc>
            </a:pPr>
            <a:r>
              <a:rPr lang="zh-CN" altLang="en-US" sz="2800" b="1">
                <a:latin typeface="微软雅黑" panose="020B0503020204020204" pitchFamily="34" charset="-122"/>
                <a:ea typeface="微软雅黑" panose="020B0503020204020204" pitchFamily="34" charset="-122"/>
              </a:rPr>
              <a:t>成员：陈浩然、殷璇、罗永、孙崇博、赵浩</a:t>
            </a:r>
            <a:r>
              <a:rPr lang="en-US" altLang="zh-CN" sz="2800" b="1">
                <a:latin typeface="微软雅黑" panose="020B0503020204020204" pitchFamily="34" charset="-122"/>
                <a:ea typeface="微软雅黑" panose="020B0503020204020204" pitchFamily="34" charset="-122"/>
              </a:rPr>
              <a:t> </a:t>
            </a:r>
            <a:r>
              <a:rPr lang="zh-CN" altLang="en-US" sz="2800" b="1">
                <a:latin typeface="微软雅黑" panose="020B0503020204020204" pitchFamily="34" charset="-122"/>
                <a:ea typeface="微软雅黑" panose="020B0503020204020204" pitchFamily="34" charset="-122"/>
              </a:rPr>
              <a:t>    </a:t>
            </a:r>
            <a:endParaRPr lang="en-US" altLang="zh-CN" sz="2800" b="1">
              <a:latin typeface="微软雅黑" panose="020B0503020204020204" pitchFamily="34" charset="-122"/>
              <a:ea typeface="微软雅黑" panose="020B0503020204020204" pitchFamily="34" charset="-122"/>
            </a:endParaRPr>
          </a:p>
          <a:p>
            <a:pPr>
              <a:lnSpc>
                <a:spcPct val="150000"/>
              </a:lnSpc>
              <a:spcBef>
                <a:spcPct val="0"/>
              </a:spcBef>
            </a:pPr>
            <a:r>
              <a:rPr lang="zh-CN" altLang="en-US" sz="2800" b="1">
                <a:latin typeface="微软雅黑" panose="020B0503020204020204" pitchFamily="34" charset="-122"/>
                <a:ea typeface="微软雅黑" panose="020B0503020204020204" pitchFamily="34" charset="-122"/>
              </a:rPr>
              <a:t> 专业班级：电气工程及其自动化</a:t>
            </a:r>
            <a:r>
              <a:rPr lang="en-US" altLang="zh-CN" sz="2800" b="1">
                <a:latin typeface="微软雅黑" panose="020B0503020204020204" pitchFamily="34" charset="-122"/>
                <a:ea typeface="微软雅黑" panose="020B0503020204020204" pitchFamily="34" charset="-122"/>
              </a:rPr>
              <a:t>2022-11</a:t>
            </a:r>
            <a:r>
              <a:rPr lang="zh-CN" altLang="en-US" sz="2800" b="1">
                <a:latin typeface="微软雅黑" panose="020B0503020204020204" pitchFamily="34" charset="-122"/>
                <a:ea typeface="微软雅黑" panose="020B0503020204020204" pitchFamily="34" charset="-122"/>
              </a:rPr>
              <a:t>班</a:t>
            </a:r>
            <a:endParaRPr lang="en-US" altLang="zh-CN" sz="2800" b="1">
              <a:latin typeface="微软雅黑" panose="020B0503020204020204" pitchFamily="34" charset="-122"/>
              <a:ea typeface="微软雅黑" panose="020B0503020204020204" pitchFamily="34" charset="-122"/>
            </a:endParaRPr>
          </a:p>
          <a:p>
            <a:pPr eaLnBrk="1" hangingPunct="1">
              <a:lnSpc>
                <a:spcPct val="150000"/>
              </a:lnSpc>
              <a:spcBef>
                <a:spcPct val="0"/>
              </a:spcBef>
              <a:buFont typeface="Arial" panose="020B0604020202020204" pitchFamily="34" charset="0"/>
              <a:buNone/>
            </a:pPr>
            <a:endParaRPr lang="en-US" altLang="zh-CN" sz="2800" b="1">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8F4D2B4B-CC8F-A1AD-0557-8D0585525B98}"/>
              </a:ext>
            </a:extLst>
          </p:cNvPr>
          <p:cNvSpPr txBox="1"/>
          <p:nvPr/>
        </p:nvSpPr>
        <p:spPr>
          <a:xfrm>
            <a:off x="8780226" y="5973097"/>
            <a:ext cx="3424541" cy="874407"/>
          </a:xfrm>
          <a:prstGeom prst="rect">
            <a:avLst/>
          </a:prstGeom>
          <a:noFill/>
        </p:spPr>
        <p:txBody>
          <a:bodyPr wrap="square">
            <a:spAutoFit/>
          </a:bodyPr>
          <a:lstStyle/>
          <a:p>
            <a:pPr algn="r">
              <a:lnSpc>
                <a:spcPct val="150000"/>
              </a:lnSpc>
              <a:spcBef>
                <a:spcPct val="0"/>
              </a:spcBef>
            </a:pPr>
            <a:r>
              <a:rPr lang="zh-CN" altLang="en-US" b="1">
                <a:latin typeface="黑体 (正文)"/>
                <a:ea typeface="微软雅黑" panose="020B0503020204020204" pitchFamily="34" charset="-122"/>
              </a:rPr>
              <a:t>中国矿业大学</a:t>
            </a:r>
            <a:r>
              <a:rPr lang="zh-CN" altLang="ko-KR" b="1">
                <a:latin typeface="微软雅黑" panose="020B0503020204020204" pitchFamily="34" charset="-122"/>
                <a:ea typeface="微软雅黑" panose="020B0503020204020204" pitchFamily="34" charset="-122"/>
              </a:rPr>
              <a:t>电气工程</a:t>
            </a:r>
            <a:r>
              <a:rPr lang="zh-CN" altLang="en-US" b="1">
                <a:latin typeface="微软雅黑" panose="020B0503020204020204" pitchFamily="34" charset="-122"/>
                <a:ea typeface="微软雅黑" panose="020B0503020204020204" pitchFamily="34" charset="-122"/>
              </a:rPr>
              <a:t>学院</a:t>
            </a:r>
            <a:endParaRPr lang="ko-KR" altLang="en-US" b="1">
              <a:latin typeface="微软雅黑" panose="020B0503020204020204" pitchFamily="34" charset="-122"/>
            </a:endParaRPr>
          </a:p>
          <a:p>
            <a:pPr algn="r" eaLnBrk="1" hangingPunct="1">
              <a:lnSpc>
                <a:spcPct val="150000"/>
              </a:lnSpc>
              <a:spcBef>
                <a:spcPct val="0"/>
              </a:spcBef>
              <a:buFont typeface="Arial" panose="020B0604020202020204" pitchFamily="34" charset="0"/>
              <a:buNone/>
            </a:pPr>
            <a:r>
              <a:rPr lang="en-US" altLang="zh-CN" sz="1800" b="1">
                <a:latin typeface="微软雅黑" panose="020B0503020204020204" pitchFamily="34" charset="-122"/>
                <a:ea typeface="微软雅黑" panose="020B0503020204020204" pitchFamily="34" charset="-122"/>
              </a:rPr>
              <a:t>2025 </a:t>
            </a:r>
            <a:r>
              <a:rPr lang="zh-CN" altLang="en-US" sz="1800" b="1">
                <a:latin typeface="微软雅黑" panose="020B0503020204020204" pitchFamily="34" charset="-122"/>
                <a:ea typeface="微软雅黑" panose="020B0503020204020204" pitchFamily="34" charset="-122"/>
              </a:rPr>
              <a:t>年 </a:t>
            </a:r>
            <a:r>
              <a:rPr lang="en-US" altLang="zh-CN" b="1">
                <a:latin typeface="微软雅黑" panose="020B0503020204020204" pitchFamily="34" charset="-122"/>
                <a:ea typeface="微软雅黑" panose="020B0503020204020204" pitchFamily="34" charset="-122"/>
              </a:rPr>
              <a:t>6</a:t>
            </a:r>
            <a:r>
              <a:rPr lang="en-US" altLang="zh-CN" sz="1800" b="1">
                <a:latin typeface="微软雅黑" panose="020B0503020204020204" pitchFamily="34" charset="-122"/>
                <a:ea typeface="微软雅黑" panose="020B0503020204020204" pitchFamily="34" charset="-122"/>
              </a:rPr>
              <a:t> </a:t>
            </a:r>
            <a:r>
              <a:rPr lang="zh-CN" altLang="en-US" sz="1800" b="1">
                <a:latin typeface="微软雅黑" panose="020B0503020204020204" pitchFamily="34" charset="-122"/>
                <a:ea typeface="微软雅黑" panose="020B0503020204020204" pitchFamily="34" charset="-122"/>
              </a:rPr>
              <a:t>月 </a:t>
            </a:r>
            <a:r>
              <a:rPr lang="en-US" altLang="zh-CN" b="1">
                <a:latin typeface="微软雅黑" panose="020B0503020204020204" pitchFamily="34" charset="-122"/>
                <a:ea typeface="微软雅黑" panose="020B0503020204020204" pitchFamily="34" charset="-122"/>
              </a:rPr>
              <a:t>13 </a:t>
            </a:r>
            <a:r>
              <a:rPr lang="zh-CN" altLang="en-US" sz="1800" b="1">
                <a:latin typeface="微软雅黑" panose="020B0503020204020204" pitchFamily="34" charset="-122"/>
                <a:ea typeface="微软雅黑" panose="020B0503020204020204" pitchFamily="34" charset="-122"/>
              </a:rPr>
              <a:t>日</a:t>
            </a:r>
            <a:endParaRPr lang="en-US" altLang="zh-CN" sz="1800" b="1">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7D7B5434-CAF9-E7D5-1DA0-32F18EC840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682" y="63140"/>
            <a:ext cx="1230225" cy="1237215"/>
          </a:xfrm>
          <a:prstGeom prst="rect">
            <a:avLst/>
          </a:prstGeom>
        </p:spPr>
      </p:pic>
    </p:spTree>
    <p:extLst>
      <p:ext uri="{BB962C8B-B14F-4D97-AF65-F5344CB8AC3E}">
        <p14:creationId xmlns:p14="http://schemas.microsoft.com/office/powerpoint/2010/main" val="807134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C75B5F7-8A33-86BC-C410-0A7B84C31F77}"/>
              </a:ext>
            </a:extLst>
          </p:cNvPr>
          <p:cNvSpPr txBox="1"/>
          <p:nvPr/>
        </p:nvSpPr>
        <p:spPr>
          <a:xfrm>
            <a:off x="1193582" y="382403"/>
            <a:ext cx="9906285" cy="523220"/>
          </a:xfrm>
          <a:prstGeom prst="rect">
            <a:avLst/>
          </a:prstGeom>
          <a:noFill/>
        </p:spPr>
        <p:txBody>
          <a:bodyPr wrap="square" rtlCol="0">
            <a:spAutoFit/>
          </a:bodyPr>
          <a:lstStyle/>
          <a:p>
            <a:r>
              <a:rPr lang="en-US" altLang="zh-CN" sz="2800" b="1">
                <a:latin typeface="微软雅黑" panose="020B0503020204020204" pitchFamily="34" charset="-122"/>
                <a:ea typeface="微软雅黑" panose="020B0503020204020204" pitchFamily="34" charset="-122"/>
              </a:rPr>
              <a:t>《</a:t>
            </a:r>
            <a:r>
              <a:rPr lang="zh-CN" altLang="en-US" sz="2800" b="1">
                <a:latin typeface="微软雅黑" panose="020B0503020204020204" pitchFamily="34" charset="-122"/>
                <a:ea typeface="微软雅黑" panose="020B0503020204020204" pitchFamily="34" charset="-122"/>
              </a:rPr>
              <a:t>运动控制系统课程设计</a:t>
            </a:r>
            <a:r>
              <a:rPr lang="en-US" altLang="zh-CN" sz="2800" b="1">
                <a:latin typeface="微软雅黑" panose="020B0503020204020204" pitchFamily="34" charset="-122"/>
                <a:ea typeface="微软雅黑" panose="020B0503020204020204" pitchFamily="34" charset="-122"/>
              </a:rPr>
              <a:t>》</a:t>
            </a:r>
            <a:r>
              <a:rPr lang="zh-CN" altLang="en-US" sz="2800" b="1">
                <a:latin typeface="微软雅黑" panose="020B0503020204020204" pitchFamily="34" charset="-122"/>
                <a:ea typeface="微软雅黑" panose="020B0503020204020204" pitchFamily="34" charset="-122"/>
              </a:rPr>
              <a:t>任务分工</a:t>
            </a:r>
          </a:p>
        </p:txBody>
      </p:sp>
      <p:pic>
        <p:nvPicPr>
          <p:cNvPr id="8" name="图片 7">
            <a:extLst>
              <a:ext uri="{FF2B5EF4-FFF2-40B4-BE49-F238E27FC236}">
                <a16:creationId xmlns:a16="http://schemas.microsoft.com/office/drawing/2014/main" id="{B4C1A738-FA06-C47E-6E51-2E7C89BDAB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1230225" cy="1237215"/>
          </a:xfrm>
          <a:prstGeom prst="rect">
            <a:avLst/>
          </a:prstGeom>
        </p:spPr>
      </p:pic>
      <p:graphicFrame>
        <p:nvGraphicFramePr>
          <p:cNvPr id="5" name="表格 4">
            <a:extLst>
              <a:ext uri="{FF2B5EF4-FFF2-40B4-BE49-F238E27FC236}">
                <a16:creationId xmlns:a16="http://schemas.microsoft.com/office/drawing/2014/main" id="{1E133126-FCAF-8549-F8E4-6C0C07B997BA}"/>
              </a:ext>
            </a:extLst>
          </p:cNvPr>
          <p:cNvGraphicFramePr>
            <a:graphicFrameLocks noGrp="1"/>
          </p:cNvGraphicFramePr>
          <p:nvPr>
            <p:extLst>
              <p:ext uri="{D42A27DB-BD31-4B8C-83A1-F6EECF244321}">
                <p14:modId xmlns:p14="http://schemas.microsoft.com/office/powerpoint/2010/main" val="492884404"/>
              </p:ext>
            </p:extLst>
          </p:nvPr>
        </p:nvGraphicFramePr>
        <p:xfrm>
          <a:off x="1459922" y="1635845"/>
          <a:ext cx="9512877" cy="4203846"/>
        </p:xfrm>
        <a:graphic>
          <a:graphicData uri="http://schemas.openxmlformats.org/drawingml/2006/table">
            <a:tbl>
              <a:tblPr>
                <a:tableStyleId>{2A488322-F2BA-4B5B-9748-0D474271808F}</a:tableStyleId>
              </a:tblPr>
              <a:tblGrid>
                <a:gridCol w="1422486">
                  <a:extLst>
                    <a:ext uri="{9D8B030D-6E8A-4147-A177-3AD203B41FA5}">
                      <a16:colId xmlns:a16="http://schemas.microsoft.com/office/drawing/2014/main" val="210654519"/>
                    </a:ext>
                  </a:extLst>
                </a:gridCol>
                <a:gridCol w="1422486">
                  <a:extLst>
                    <a:ext uri="{9D8B030D-6E8A-4147-A177-3AD203B41FA5}">
                      <a16:colId xmlns:a16="http://schemas.microsoft.com/office/drawing/2014/main" val="2338950785"/>
                    </a:ext>
                  </a:extLst>
                </a:gridCol>
                <a:gridCol w="6667905">
                  <a:extLst>
                    <a:ext uri="{9D8B030D-6E8A-4147-A177-3AD203B41FA5}">
                      <a16:colId xmlns:a16="http://schemas.microsoft.com/office/drawing/2014/main" val="3319713018"/>
                    </a:ext>
                  </a:extLst>
                </a:gridCol>
              </a:tblGrid>
              <a:tr h="700641">
                <a:tc>
                  <a:txBody>
                    <a:bodyPr/>
                    <a:lstStyle/>
                    <a:p>
                      <a:pPr algn="ctr" fontAlgn="ctr"/>
                      <a:r>
                        <a:rPr lang="zh-CN" altLang="en-US" sz="2000" u="none" strike="noStrike">
                          <a:effectLst/>
                        </a:rPr>
                        <a:t>成员</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zh-CN" altLang="en-US" sz="2000" u="none" strike="noStrike">
                          <a:effectLst/>
                        </a:rPr>
                        <a:t>工作量</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zh-CN" altLang="en-US" sz="2000" u="none" strike="noStrike">
                          <a:effectLst/>
                        </a:rPr>
                        <a:t>内容</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extLst>
                  <a:ext uri="{0D108BD9-81ED-4DB2-BD59-A6C34878D82A}">
                    <a16:rowId xmlns:a16="http://schemas.microsoft.com/office/drawing/2014/main" val="1435526110"/>
                  </a:ext>
                </a:extLst>
              </a:tr>
              <a:tr h="700641">
                <a:tc>
                  <a:txBody>
                    <a:bodyPr/>
                    <a:lstStyle/>
                    <a:p>
                      <a:pPr algn="ctr" fontAlgn="ctr"/>
                      <a:r>
                        <a:rPr lang="zh-CN" altLang="en-US" sz="2000" u="none" strike="noStrike">
                          <a:effectLst/>
                        </a:rPr>
                        <a:t>陈浩然</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en-US" altLang="zh-CN" sz="2000" u="none" strike="noStrike">
                          <a:effectLst/>
                        </a:rPr>
                        <a:t>20%</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zh-CN" altLang="en-US" sz="2000" u="none" strike="noStrike">
                          <a:effectLst/>
                        </a:rPr>
                        <a:t>主电路、电枢回路设计</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extLst>
                  <a:ext uri="{0D108BD9-81ED-4DB2-BD59-A6C34878D82A}">
                    <a16:rowId xmlns:a16="http://schemas.microsoft.com/office/drawing/2014/main" val="28183668"/>
                  </a:ext>
                </a:extLst>
              </a:tr>
              <a:tr h="700641">
                <a:tc>
                  <a:txBody>
                    <a:bodyPr/>
                    <a:lstStyle/>
                    <a:p>
                      <a:pPr algn="ctr" fontAlgn="ctr"/>
                      <a:r>
                        <a:rPr lang="zh-CN" altLang="en-US" sz="2000" u="none" strike="noStrike">
                          <a:effectLst/>
                        </a:rPr>
                        <a:t>殷璇</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en-US" altLang="zh-CN" sz="2000" u="none" strike="noStrike">
                          <a:effectLst/>
                        </a:rPr>
                        <a:t>20%</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zh-CN" altLang="en-US" sz="2000" u="none" strike="noStrike">
                          <a:effectLst/>
                        </a:rPr>
                        <a:t>保护电路、双闭环设计</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extLst>
                  <a:ext uri="{0D108BD9-81ED-4DB2-BD59-A6C34878D82A}">
                    <a16:rowId xmlns:a16="http://schemas.microsoft.com/office/drawing/2014/main" val="4209722300"/>
                  </a:ext>
                </a:extLst>
              </a:tr>
              <a:tr h="700641">
                <a:tc>
                  <a:txBody>
                    <a:bodyPr/>
                    <a:lstStyle/>
                    <a:p>
                      <a:pPr algn="ctr" fontAlgn="ctr"/>
                      <a:r>
                        <a:rPr lang="zh-CN" altLang="en-US" sz="2000" u="none" strike="noStrike">
                          <a:effectLst/>
                        </a:rPr>
                        <a:t>罗永</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en-US" altLang="zh-CN" sz="2000" u="none" strike="noStrike">
                          <a:effectLst/>
                        </a:rPr>
                        <a:t>20%</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en-US" sz="2000" u="none" strike="noStrike">
                          <a:effectLst/>
                        </a:rPr>
                        <a:t>PowerSystem</a:t>
                      </a:r>
                      <a:r>
                        <a:rPr lang="zh-CN" altLang="en-US" sz="2000" u="none" strike="noStrike">
                          <a:effectLst/>
                        </a:rPr>
                        <a:t>仿真、保护电路设计</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extLst>
                  <a:ext uri="{0D108BD9-81ED-4DB2-BD59-A6C34878D82A}">
                    <a16:rowId xmlns:a16="http://schemas.microsoft.com/office/drawing/2014/main" val="3260173966"/>
                  </a:ext>
                </a:extLst>
              </a:tr>
              <a:tr h="700641">
                <a:tc>
                  <a:txBody>
                    <a:bodyPr/>
                    <a:lstStyle/>
                    <a:p>
                      <a:pPr algn="ctr" fontAlgn="ctr"/>
                      <a:r>
                        <a:rPr lang="zh-CN" altLang="en-US" sz="2000" u="none" strike="noStrike">
                          <a:effectLst/>
                        </a:rPr>
                        <a:t>孙崇博</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en-US" altLang="zh-CN" sz="2000" u="none" strike="noStrike">
                          <a:effectLst/>
                        </a:rPr>
                        <a:t>20%</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zh-CN" altLang="en-US" sz="2000" u="none" strike="noStrike">
                          <a:effectLst/>
                        </a:rPr>
                        <a:t>驱动电路及转速、电流反馈通道设计</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extLst>
                  <a:ext uri="{0D108BD9-81ED-4DB2-BD59-A6C34878D82A}">
                    <a16:rowId xmlns:a16="http://schemas.microsoft.com/office/drawing/2014/main" val="2201270254"/>
                  </a:ext>
                </a:extLst>
              </a:tr>
              <a:tr h="700641">
                <a:tc>
                  <a:txBody>
                    <a:bodyPr/>
                    <a:lstStyle/>
                    <a:p>
                      <a:pPr algn="ctr" fontAlgn="ctr"/>
                      <a:r>
                        <a:rPr lang="zh-CN" altLang="en-US" sz="2000" u="none" strike="noStrike">
                          <a:effectLst/>
                        </a:rPr>
                        <a:t>赵浩</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en-US" altLang="zh-CN" sz="2000" u="none" strike="noStrike">
                          <a:effectLst/>
                        </a:rPr>
                        <a:t>20%</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en-US" altLang="zh-CN" sz="2000" u="none" strike="noStrike">
                          <a:effectLst/>
                        </a:rPr>
                        <a:t>Simulink</a:t>
                      </a:r>
                      <a:r>
                        <a:rPr lang="zh-CN" altLang="en-US" sz="2000" u="none" strike="noStrike">
                          <a:effectLst/>
                        </a:rPr>
                        <a:t>仿真、双闭环设计</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extLst>
                  <a:ext uri="{0D108BD9-81ED-4DB2-BD59-A6C34878D82A}">
                    <a16:rowId xmlns:a16="http://schemas.microsoft.com/office/drawing/2014/main" val="4103520378"/>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947290" y="225896"/>
            <a:ext cx="1808143" cy="923330"/>
          </a:xfrm>
          <a:prstGeom prst="rect">
            <a:avLst/>
          </a:prstGeom>
          <a:noFill/>
        </p:spPr>
        <p:txBody>
          <a:bodyPr wrap="square" rtlCol="0">
            <a:spAutoFit/>
          </a:bodyPr>
          <a:lstStyle/>
          <a:p>
            <a:pPr algn="dist"/>
            <a:r>
              <a:rPr lang="zh-CN" altLang="en-US" sz="5400" b="1">
                <a:solidFill>
                  <a:srgbClr val="0070C0"/>
                </a:solidFill>
                <a:latin typeface="微软雅黑" panose="020B0503020204020204" pitchFamily="34" charset="-122"/>
                <a:ea typeface="微软雅黑" panose="020B0503020204020204" pitchFamily="34" charset="-122"/>
              </a:rPr>
              <a:t>目录</a:t>
            </a:r>
          </a:p>
        </p:txBody>
      </p:sp>
      <p:cxnSp>
        <p:nvCxnSpPr>
          <p:cNvPr id="2" name="直接连接符 1">
            <a:extLst>
              <a:ext uri="{FF2B5EF4-FFF2-40B4-BE49-F238E27FC236}">
                <a16:creationId xmlns:a16="http://schemas.microsoft.com/office/drawing/2014/main" id="{49A71F3D-4C4E-50D4-8B28-ACA0344BCEFA}"/>
              </a:ext>
            </a:extLst>
          </p:cNvPr>
          <p:cNvCxnSpPr>
            <a:cxnSpLocks/>
          </p:cNvCxnSpPr>
          <p:nvPr/>
        </p:nvCxnSpPr>
        <p:spPr>
          <a:xfrm flipV="1">
            <a:off x="0" y="1095749"/>
            <a:ext cx="12192000" cy="70720"/>
          </a:xfrm>
          <a:prstGeom prst="line">
            <a:avLst/>
          </a:prstGeom>
          <a:ln w="635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5" name="组合 4">
            <a:extLst>
              <a:ext uri="{FF2B5EF4-FFF2-40B4-BE49-F238E27FC236}">
                <a16:creationId xmlns:a16="http://schemas.microsoft.com/office/drawing/2014/main" id="{19365200-A2C5-AA98-2BA9-201A2E962E65}"/>
              </a:ext>
            </a:extLst>
          </p:cNvPr>
          <p:cNvGrpSpPr/>
          <p:nvPr/>
        </p:nvGrpSpPr>
        <p:grpSpPr>
          <a:xfrm>
            <a:off x="2650945" y="2545874"/>
            <a:ext cx="894259" cy="489631"/>
            <a:chOff x="2215144" y="927951"/>
            <a:chExt cx="1244730" cy="897673"/>
          </a:xfrm>
        </p:grpSpPr>
        <p:sp>
          <p:nvSpPr>
            <p:cNvPr id="6" name="平行四边形 5">
              <a:extLst>
                <a:ext uri="{FF2B5EF4-FFF2-40B4-BE49-F238E27FC236}">
                  <a16:creationId xmlns:a16="http://schemas.microsoft.com/office/drawing/2014/main" id="{5CD0DFE8-B009-9E4C-D613-9133FB10363F}"/>
                </a:ext>
              </a:extLst>
            </p:cNvPr>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7" name="文本框 9">
              <a:extLst>
                <a:ext uri="{FF2B5EF4-FFF2-40B4-BE49-F238E27FC236}">
                  <a16:creationId xmlns:a16="http://schemas.microsoft.com/office/drawing/2014/main" id="{58124E71-EA8F-6416-A1C0-4A7B13D770BE}"/>
                </a:ext>
              </a:extLst>
            </p:cNvPr>
            <p:cNvSpPr txBox="1"/>
            <p:nvPr/>
          </p:nvSpPr>
          <p:spPr>
            <a:xfrm>
              <a:off x="2393075" y="927951"/>
              <a:ext cx="1066799" cy="816504"/>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01</a:t>
              </a:r>
              <a:endParaRPr lang="zh-CN" altLang="en-US" sz="2800">
                <a:solidFill>
                  <a:schemeClr val="bg1"/>
                </a:solidFill>
                <a:latin typeface="Impact" panose="020B0806030902050204" pitchFamily="34" charset="0"/>
              </a:endParaRPr>
            </a:p>
          </p:txBody>
        </p:sp>
      </p:grpSp>
      <p:grpSp>
        <p:nvGrpSpPr>
          <p:cNvPr id="8" name="组合 7">
            <a:extLst>
              <a:ext uri="{FF2B5EF4-FFF2-40B4-BE49-F238E27FC236}">
                <a16:creationId xmlns:a16="http://schemas.microsoft.com/office/drawing/2014/main" id="{6EA129FA-1669-B8F0-33F5-3D23D1E8B216}"/>
              </a:ext>
            </a:extLst>
          </p:cNvPr>
          <p:cNvGrpSpPr/>
          <p:nvPr/>
        </p:nvGrpSpPr>
        <p:grpSpPr>
          <a:xfrm>
            <a:off x="4579570" y="3121702"/>
            <a:ext cx="894259" cy="504163"/>
            <a:chOff x="2215144" y="1952311"/>
            <a:chExt cx="1244730" cy="924318"/>
          </a:xfrm>
        </p:grpSpPr>
        <p:sp>
          <p:nvSpPr>
            <p:cNvPr id="9" name="平行四边形 8">
              <a:extLst>
                <a:ext uri="{FF2B5EF4-FFF2-40B4-BE49-F238E27FC236}">
                  <a16:creationId xmlns:a16="http://schemas.microsoft.com/office/drawing/2014/main" id="{625C1A98-4B45-2EB5-FC9A-0D799A1ABCFF}"/>
                </a:ext>
              </a:extLst>
            </p:cNvPr>
            <p:cNvSpPr/>
            <p:nvPr/>
          </p:nvSpPr>
          <p:spPr>
            <a:xfrm>
              <a:off x="2215144" y="2033848"/>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0" name="文本框 10">
              <a:extLst>
                <a:ext uri="{FF2B5EF4-FFF2-40B4-BE49-F238E27FC236}">
                  <a16:creationId xmlns:a16="http://schemas.microsoft.com/office/drawing/2014/main" id="{36DF3812-A7FA-BA12-D65B-F48BC46B28B2}"/>
                </a:ext>
              </a:extLst>
            </p:cNvPr>
            <p:cNvSpPr txBox="1"/>
            <p:nvPr/>
          </p:nvSpPr>
          <p:spPr>
            <a:xfrm>
              <a:off x="2393075" y="1952311"/>
              <a:ext cx="1066799" cy="816508"/>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02</a:t>
              </a:r>
              <a:endParaRPr lang="zh-CN" altLang="en-US" sz="2800">
                <a:solidFill>
                  <a:schemeClr val="bg1"/>
                </a:solidFill>
                <a:latin typeface="Impact" panose="020B0806030902050204" pitchFamily="34" charset="0"/>
              </a:endParaRPr>
            </a:p>
          </p:txBody>
        </p:sp>
      </p:grpSp>
      <p:grpSp>
        <p:nvGrpSpPr>
          <p:cNvPr id="11" name="组合 10">
            <a:extLst>
              <a:ext uri="{FF2B5EF4-FFF2-40B4-BE49-F238E27FC236}">
                <a16:creationId xmlns:a16="http://schemas.microsoft.com/office/drawing/2014/main" id="{A5E5EA77-04B9-B676-C387-CAB7667A5349}"/>
              </a:ext>
            </a:extLst>
          </p:cNvPr>
          <p:cNvGrpSpPr/>
          <p:nvPr/>
        </p:nvGrpSpPr>
        <p:grpSpPr>
          <a:xfrm>
            <a:off x="2650945" y="3715911"/>
            <a:ext cx="894259" cy="496081"/>
            <a:chOff x="2215144" y="3018134"/>
            <a:chExt cx="1244730" cy="909499"/>
          </a:xfrm>
        </p:grpSpPr>
        <p:sp>
          <p:nvSpPr>
            <p:cNvPr id="12" name="平行四边形 11">
              <a:extLst>
                <a:ext uri="{FF2B5EF4-FFF2-40B4-BE49-F238E27FC236}">
                  <a16:creationId xmlns:a16="http://schemas.microsoft.com/office/drawing/2014/main" id="{500D72A4-E54A-389F-738F-2D10C984CD35}"/>
                </a:ext>
              </a:extLst>
            </p:cNvPr>
            <p:cNvSpPr/>
            <p:nvPr/>
          </p:nvSpPr>
          <p:spPr>
            <a:xfrm>
              <a:off x="2215144" y="3084852"/>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3" name="文本框 11">
              <a:extLst>
                <a:ext uri="{FF2B5EF4-FFF2-40B4-BE49-F238E27FC236}">
                  <a16:creationId xmlns:a16="http://schemas.microsoft.com/office/drawing/2014/main" id="{D9BDEC7F-6FB1-3977-8A86-8ACAE44A8D10}"/>
                </a:ext>
              </a:extLst>
            </p:cNvPr>
            <p:cNvSpPr txBox="1"/>
            <p:nvPr/>
          </p:nvSpPr>
          <p:spPr>
            <a:xfrm>
              <a:off x="2393075" y="3018134"/>
              <a:ext cx="1066799" cy="816505"/>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03</a:t>
              </a:r>
              <a:endParaRPr lang="zh-CN" altLang="en-US" sz="2800">
                <a:solidFill>
                  <a:schemeClr val="bg1"/>
                </a:solidFill>
                <a:latin typeface="Impact" panose="020B0806030902050204" pitchFamily="34" charset="0"/>
              </a:endParaRPr>
            </a:p>
          </p:txBody>
        </p:sp>
      </p:grpSp>
      <p:grpSp>
        <p:nvGrpSpPr>
          <p:cNvPr id="14" name="组合 13">
            <a:extLst>
              <a:ext uri="{FF2B5EF4-FFF2-40B4-BE49-F238E27FC236}">
                <a16:creationId xmlns:a16="http://schemas.microsoft.com/office/drawing/2014/main" id="{FBE70B36-5436-0675-2529-61D0A6397EA9}"/>
              </a:ext>
            </a:extLst>
          </p:cNvPr>
          <p:cNvGrpSpPr/>
          <p:nvPr/>
        </p:nvGrpSpPr>
        <p:grpSpPr>
          <a:xfrm>
            <a:off x="4579570" y="4270750"/>
            <a:ext cx="894259" cy="508134"/>
            <a:chOff x="2215144" y="4047039"/>
            <a:chExt cx="1244730" cy="931598"/>
          </a:xfrm>
        </p:grpSpPr>
        <p:sp>
          <p:nvSpPr>
            <p:cNvPr id="15" name="平行四边形 14">
              <a:extLst>
                <a:ext uri="{FF2B5EF4-FFF2-40B4-BE49-F238E27FC236}">
                  <a16:creationId xmlns:a16="http://schemas.microsoft.com/office/drawing/2014/main" id="{AF6BFF58-FC2E-380A-C135-71216D4273D8}"/>
                </a:ext>
              </a:extLst>
            </p:cNvPr>
            <p:cNvSpPr/>
            <p:nvPr/>
          </p:nvSpPr>
          <p:spPr>
            <a:xfrm>
              <a:off x="2215144" y="4135856"/>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6" name="文本框 12">
              <a:extLst>
                <a:ext uri="{FF2B5EF4-FFF2-40B4-BE49-F238E27FC236}">
                  <a16:creationId xmlns:a16="http://schemas.microsoft.com/office/drawing/2014/main" id="{5149DAEB-9AF9-D9D2-41E7-97EDE701D1C8}"/>
                </a:ext>
              </a:extLst>
            </p:cNvPr>
            <p:cNvSpPr txBox="1"/>
            <p:nvPr/>
          </p:nvSpPr>
          <p:spPr>
            <a:xfrm>
              <a:off x="2393075" y="4047039"/>
              <a:ext cx="1066799" cy="816506"/>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04</a:t>
              </a:r>
              <a:endParaRPr lang="zh-CN" altLang="en-US" sz="2800">
                <a:solidFill>
                  <a:schemeClr val="bg1"/>
                </a:solidFill>
                <a:latin typeface="Impact" panose="020B0806030902050204" pitchFamily="34" charset="0"/>
              </a:endParaRPr>
            </a:p>
          </p:txBody>
        </p:sp>
      </p:grpSp>
      <p:grpSp>
        <p:nvGrpSpPr>
          <p:cNvPr id="20" name="组合 19">
            <a:extLst>
              <a:ext uri="{FF2B5EF4-FFF2-40B4-BE49-F238E27FC236}">
                <a16:creationId xmlns:a16="http://schemas.microsoft.com/office/drawing/2014/main" id="{07633DF9-E28A-CDF3-3FFA-D99C92993A38}"/>
              </a:ext>
            </a:extLst>
          </p:cNvPr>
          <p:cNvGrpSpPr/>
          <p:nvPr/>
        </p:nvGrpSpPr>
        <p:grpSpPr>
          <a:xfrm>
            <a:off x="3330198" y="2559185"/>
            <a:ext cx="3857250" cy="459690"/>
            <a:chOff x="4315150" y="953426"/>
            <a:chExt cx="3857250" cy="540057"/>
          </a:xfrm>
        </p:grpSpPr>
        <p:sp>
          <p:nvSpPr>
            <p:cNvPr id="21" name="矩形 20">
              <a:extLst>
                <a:ext uri="{FF2B5EF4-FFF2-40B4-BE49-F238E27FC236}">
                  <a16:creationId xmlns:a16="http://schemas.microsoft.com/office/drawing/2014/main" id="{55E95AC4-16A3-C990-1DC1-C2D321ECAF6E}"/>
                </a:ext>
              </a:extLst>
            </p:cNvPr>
            <p:cNvSpPr/>
            <p:nvPr/>
          </p:nvSpPr>
          <p:spPr>
            <a:xfrm>
              <a:off x="4841196" y="1036090"/>
              <a:ext cx="2827147" cy="406783"/>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设计任务</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2" name="平行四边形 21">
              <a:extLst>
                <a:ext uri="{FF2B5EF4-FFF2-40B4-BE49-F238E27FC236}">
                  <a16:creationId xmlns:a16="http://schemas.microsoft.com/office/drawing/2014/main" id="{00D99815-5FC2-81B8-39B6-7E097FC3408C}"/>
                </a:ext>
              </a:extLst>
            </p:cNvPr>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23" name="组合 22">
            <a:extLst>
              <a:ext uri="{FF2B5EF4-FFF2-40B4-BE49-F238E27FC236}">
                <a16:creationId xmlns:a16="http://schemas.microsoft.com/office/drawing/2014/main" id="{044FD5C3-B3B2-0129-FE8A-044726E52F00}"/>
              </a:ext>
            </a:extLst>
          </p:cNvPr>
          <p:cNvGrpSpPr/>
          <p:nvPr/>
        </p:nvGrpSpPr>
        <p:grpSpPr>
          <a:xfrm>
            <a:off x="5258823" y="3149552"/>
            <a:ext cx="3857250" cy="459690"/>
            <a:chOff x="4315150" y="1647579"/>
            <a:chExt cx="3857250" cy="540057"/>
          </a:xfrm>
        </p:grpSpPr>
        <p:sp>
          <p:nvSpPr>
            <p:cNvPr id="24" name="矩形 23">
              <a:extLst>
                <a:ext uri="{FF2B5EF4-FFF2-40B4-BE49-F238E27FC236}">
                  <a16:creationId xmlns:a16="http://schemas.microsoft.com/office/drawing/2014/main" id="{66CCDDAE-48B4-59EE-8B62-15B0A2FC226F}"/>
                </a:ext>
              </a:extLst>
            </p:cNvPr>
            <p:cNvSpPr/>
            <p:nvPr/>
          </p:nvSpPr>
          <p:spPr>
            <a:xfrm>
              <a:off x="4841196" y="1730243"/>
              <a:ext cx="2827147" cy="406783"/>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方案选择</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5" name="平行四边形 24">
              <a:extLst>
                <a:ext uri="{FF2B5EF4-FFF2-40B4-BE49-F238E27FC236}">
                  <a16:creationId xmlns:a16="http://schemas.microsoft.com/office/drawing/2014/main" id="{87AD8118-4512-BBCB-DF47-5AE061193744}"/>
                </a:ext>
              </a:extLst>
            </p:cNvPr>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26" name="组合 25">
            <a:extLst>
              <a:ext uri="{FF2B5EF4-FFF2-40B4-BE49-F238E27FC236}">
                <a16:creationId xmlns:a16="http://schemas.microsoft.com/office/drawing/2014/main" id="{609D5C76-C9AA-30B1-CBB8-3CA80CE72DBC}"/>
              </a:ext>
            </a:extLst>
          </p:cNvPr>
          <p:cNvGrpSpPr/>
          <p:nvPr/>
        </p:nvGrpSpPr>
        <p:grpSpPr>
          <a:xfrm>
            <a:off x="3330198" y="3736065"/>
            <a:ext cx="3857250" cy="459690"/>
            <a:chOff x="4315150" y="2341731"/>
            <a:chExt cx="3857250" cy="540057"/>
          </a:xfrm>
        </p:grpSpPr>
        <p:sp>
          <p:nvSpPr>
            <p:cNvPr id="27" name="矩形 26">
              <a:extLst>
                <a:ext uri="{FF2B5EF4-FFF2-40B4-BE49-F238E27FC236}">
                  <a16:creationId xmlns:a16="http://schemas.microsoft.com/office/drawing/2014/main" id="{AF420618-7726-A63F-68FC-87FBD280FF97}"/>
                </a:ext>
              </a:extLst>
            </p:cNvPr>
            <p:cNvSpPr/>
            <p:nvPr/>
          </p:nvSpPr>
          <p:spPr>
            <a:xfrm>
              <a:off x="4841197" y="2424395"/>
              <a:ext cx="2827146" cy="406783"/>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电路设计</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8" name="平行四边形 27">
              <a:extLst>
                <a:ext uri="{FF2B5EF4-FFF2-40B4-BE49-F238E27FC236}">
                  <a16:creationId xmlns:a16="http://schemas.microsoft.com/office/drawing/2014/main" id="{1F9614A6-6C11-AB02-6D25-3DB079414A6A}"/>
                </a:ext>
              </a:extLst>
            </p:cNvPr>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29" name="组合 28">
            <a:extLst>
              <a:ext uri="{FF2B5EF4-FFF2-40B4-BE49-F238E27FC236}">
                <a16:creationId xmlns:a16="http://schemas.microsoft.com/office/drawing/2014/main" id="{8D8B6930-79E4-6B94-ECB8-AE6BEB494C61}"/>
              </a:ext>
            </a:extLst>
          </p:cNvPr>
          <p:cNvGrpSpPr/>
          <p:nvPr/>
        </p:nvGrpSpPr>
        <p:grpSpPr>
          <a:xfrm>
            <a:off x="5258823" y="4302567"/>
            <a:ext cx="3857250" cy="693611"/>
            <a:chOff x="4315150" y="3035884"/>
            <a:chExt cx="3857250" cy="814874"/>
          </a:xfrm>
        </p:grpSpPr>
        <p:sp>
          <p:nvSpPr>
            <p:cNvPr id="30" name="矩形 29">
              <a:extLst>
                <a:ext uri="{FF2B5EF4-FFF2-40B4-BE49-F238E27FC236}">
                  <a16:creationId xmlns:a16="http://schemas.microsoft.com/office/drawing/2014/main" id="{AF998888-0567-40F4-0532-827F21F328FE}"/>
                </a:ext>
              </a:extLst>
            </p:cNvPr>
            <p:cNvSpPr/>
            <p:nvPr/>
          </p:nvSpPr>
          <p:spPr>
            <a:xfrm>
              <a:off x="4841196" y="3118548"/>
              <a:ext cx="2827147" cy="732210"/>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转速、电流测量方案选择</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a:p>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1" name="平行四边形 30">
              <a:extLst>
                <a:ext uri="{FF2B5EF4-FFF2-40B4-BE49-F238E27FC236}">
                  <a16:creationId xmlns:a16="http://schemas.microsoft.com/office/drawing/2014/main" id="{388BE1A6-02E8-E37D-2088-CD591E764CE4}"/>
                </a:ext>
              </a:extLst>
            </p:cNvPr>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59" name="组合 58">
            <a:extLst>
              <a:ext uri="{FF2B5EF4-FFF2-40B4-BE49-F238E27FC236}">
                <a16:creationId xmlns:a16="http://schemas.microsoft.com/office/drawing/2014/main" id="{9CC09302-C08B-5B1A-7F3C-494D9F804616}"/>
              </a:ext>
            </a:extLst>
          </p:cNvPr>
          <p:cNvGrpSpPr/>
          <p:nvPr/>
        </p:nvGrpSpPr>
        <p:grpSpPr>
          <a:xfrm>
            <a:off x="2650945" y="4906216"/>
            <a:ext cx="884486" cy="523220"/>
            <a:chOff x="2215144" y="5107938"/>
            <a:chExt cx="1231128" cy="959259"/>
          </a:xfrm>
        </p:grpSpPr>
        <p:sp>
          <p:nvSpPr>
            <p:cNvPr id="60" name="平行四边形 59">
              <a:extLst>
                <a:ext uri="{FF2B5EF4-FFF2-40B4-BE49-F238E27FC236}">
                  <a16:creationId xmlns:a16="http://schemas.microsoft.com/office/drawing/2014/main" id="{8D9AA94B-FF93-EF70-4098-69BF107ABE73}"/>
                </a:ext>
              </a:extLst>
            </p:cNvPr>
            <p:cNvSpPr/>
            <p:nvPr/>
          </p:nvSpPr>
          <p:spPr>
            <a:xfrm>
              <a:off x="2215144" y="5186859"/>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61" name="文本框 13">
              <a:extLst>
                <a:ext uri="{FF2B5EF4-FFF2-40B4-BE49-F238E27FC236}">
                  <a16:creationId xmlns:a16="http://schemas.microsoft.com/office/drawing/2014/main" id="{2BE55088-969A-1A29-F1E4-7EA12F90AD22}"/>
                </a:ext>
              </a:extLst>
            </p:cNvPr>
            <p:cNvSpPr txBox="1"/>
            <p:nvPr/>
          </p:nvSpPr>
          <p:spPr>
            <a:xfrm>
              <a:off x="2379473" y="5107938"/>
              <a:ext cx="1066799" cy="959259"/>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05</a:t>
              </a:r>
              <a:endParaRPr lang="zh-CN" altLang="en-US" sz="2800">
                <a:solidFill>
                  <a:schemeClr val="bg1"/>
                </a:solidFill>
                <a:latin typeface="Impact" panose="020B0806030902050204" pitchFamily="34" charset="0"/>
              </a:endParaRPr>
            </a:p>
          </p:txBody>
        </p:sp>
      </p:grpSp>
      <p:grpSp>
        <p:nvGrpSpPr>
          <p:cNvPr id="62" name="组合 61">
            <a:extLst>
              <a:ext uri="{FF2B5EF4-FFF2-40B4-BE49-F238E27FC236}">
                <a16:creationId xmlns:a16="http://schemas.microsoft.com/office/drawing/2014/main" id="{6D6026B3-6B96-95C4-F672-DCD262D72EE0}"/>
              </a:ext>
            </a:extLst>
          </p:cNvPr>
          <p:cNvGrpSpPr/>
          <p:nvPr/>
        </p:nvGrpSpPr>
        <p:grpSpPr>
          <a:xfrm>
            <a:off x="3330199" y="4932647"/>
            <a:ext cx="3857250" cy="459690"/>
            <a:chOff x="4315150" y="3730038"/>
            <a:chExt cx="3857250" cy="540057"/>
          </a:xfrm>
        </p:grpSpPr>
        <p:sp>
          <p:nvSpPr>
            <p:cNvPr id="63" name="矩形 62">
              <a:extLst>
                <a:ext uri="{FF2B5EF4-FFF2-40B4-BE49-F238E27FC236}">
                  <a16:creationId xmlns:a16="http://schemas.microsoft.com/office/drawing/2014/main" id="{94C2E6A0-5ADD-5D6F-1BD1-69CB9F72EAD3}"/>
                </a:ext>
              </a:extLst>
            </p:cNvPr>
            <p:cNvSpPr/>
            <p:nvPr/>
          </p:nvSpPr>
          <p:spPr>
            <a:xfrm>
              <a:off x="4841197" y="3812702"/>
              <a:ext cx="2827146" cy="406783"/>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仿真验证</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4" name="平行四边形 63">
              <a:extLst>
                <a:ext uri="{FF2B5EF4-FFF2-40B4-BE49-F238E27FC236}">
                  <a16:creationId xmlns:a16="http://schemas.microsoft.com/office/drawing/2014/main" id="{83739989-6991-4493-9CCF-5F2CC7B3CF26}"/>
                </a:ext>
              </a:extLst>
            </p:cNvPr>
            <p:cNvSpPr/>
            <p:nvPr/>
          </p:nvSpPr>
          <p:spPr>
            <a:xfrm>
              <a:off x="4315150" y="3730038"/>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4" name="组合 3">
            <a:extLst>
              <a:ext uri="{FF2B5EF4-FFF2-40B4-BE49-F238E27FC236}">
                <a16:creationId xmlns:a16="http://schemas.microsoft.com/office/drawing/2014/main" id="{23639DD2-1973-5251-733A-F5D8A1C88DE8}"/>
              </a:ext>
            </a:extLst>
          </p:cNvPr>
          <p:cNvGrpSpPr/>
          <p:nvPr/>
        </p:nvGrpSpPr>
        <p:grpSpPr>
          <a:xfrm>
            <a:off x="4500160" y="5515777"/>
            <a:ext cx="894259" cy="523220"/>
            <a:chOff x="2215144" y="4047039"/>
            <a:chExt cx="1244730" cy="959256"/>
          </a:xfrm>
        </p:grpSpPr>
        <p:sp>
          <p:nvSpPr>
            <p:cNvPr id="17" name="平行四边形 16">
              <a:extLst>
                <a:ext uri="{FF2B5EF4-FFF2-40B4-BE49-F238E27FC236}">
                  <a16:creationId xmlns:a16="http://schemas.microsoft.com/office/drawing/2014/main" id="{6EE4C6CE-09E0-1BA8-BEB2-820DD41B63DF}"/>
                </a:ext>
              </a:extLst>
            </p:cNvPr>
            <p:cNvSpPr/>
            <p:nvPr/>
          </p:nvSpPr>
          <p:spPr>
            <a:xfrm>
              <a:off x="2215144" y="4135856"/>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8" name="文本框 12">
              <a:extLst>
                <a:ext uri="{FF2B5EF4-FFF2-40B4-BE49-F238E27FC236}">
                  <a16:creationId xmlns:a16="http://schemas.microsoft.com/office/drawing/2014/main" id="{CF33001E-6254-CC9B-3203-3847D58AE665}"/>
                </a:ext>
              </a:extLst>
            </p:cNvPr>
            <p:cNvSpPr txBox="1"/>
            <p:nvPr/>
          </p:nvSpPr>
          <p:spPr>
            <a:xfrm>
              <a:off x="2393075" y="4047039"/>
              <a:ext cx="1066799" cy="959256"/>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06</a:t>
              </a:r>
              <a:endParaRPr lang="zh-CN" altLang="en-US" sz="2800">
                <a:solidFill>
                  <a:schemeClr val="bg1"/>
                </a:solidFill>
                <a:latin typeface="Impact" panose="020B0806030902050204" pitchFamily="34" charset="0"/>
              </a:endParaRPr>
            </a:p>
          </p:txBody>
        </p:sp>
      </p:grpSp>
      <p:grpSp>
        <p:nvGrpSpPr>
          <p:cNvPr id="19" name="组合 18">
            <a:extLst>
              <a:ext uri="{FF2B5EF4-FFF2-40B4-BE49-F238E27FC236}">
                <a16:creationId xmlns:a16="http://schemas.microsoft.com/office/drawing/2014/main" id="{FBEF872C-6DD7-BBDC-601A-120947C33B97}"/>
              </a:ext>
            </a:extLst>
          </p:cNvPr>
          <p:cNvGrpSpPr/>
          <p:nvPr/>
        </p:nvGrpSpPr>
        <p:grpSpPr>
          <a:xfrm>
            <a:off x="5179413" y="5547593"/>
            <a:ext cx="3857250" cy="693611"/>
            <a:chOff x="4315150" y="3035884"/>
            <a:chExt cx="3857250" cy="814874"/>
          </a:xfrm>
        </p:grpSpPr>
        <p:sp>
          <p:nvSpPr>
            <p:cNvPr id="32" name="矩形 31">
              <a:extLst>
                <a:ext uri="{FF2B5EF4-FFF2-40B4-BE49-F238E27FC236}">
                  <a16:creationId xmlns:a16="http://schemas.microsoft.com/office/drawing/2014/main" id="{ECD25FD1-7A36-88F3-37CD-4E8627CA316C}"/>
                </a:ext>
              </a:extLst>
            </p:cNvPr>
            <p:cNvSpPr/>
            <p:nvPr/>
          </p:nvSpPr>
          <p:spPr>
            <a:xfrm>
              <a:off x="4841196" y="3118548"/>
              <a:ext cx="2827147" cy="732210"/>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收获总结</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a:p>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3" name="平行四边形 32">
              <a:extLst>
                <a:ext uri="{FF2B5EF4-FFF2-40B4-BE49-F238E27FC236}">
                  <a16:creationId xmlns:a16="http://schemas.microsoft.com/office/drawing/2014/main" id="{E53559F4-5105-4634-11E6-84625EC95DDE}"/>
                </a:ext>
              </a:extLst>
            </p:cNvPr>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spTree>
    <p:extLst>
      <p:ext uri="{BB962C8B-B14F-4D97-AF65-F5344CB8AC3E}">
        <p14:creationId xmlns:p14="http://schemas.microsoft.com/office/powerpoint/2010/main" val="1904627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7A238-69DF-0685-A533-E0CFA2AA13AC}"/>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02308EA0-888C-0127-6A9D-A15EB2A7854E}"/>
              </a:ext>
            </a:extLst>
          </p:cNvPr>
          <p:cNvSpPr txBox="1"/>
          <p:nvPr/>
        </p:nvSpPr>
        <p:spPr>
          <a:xfrm>
            <a:off x="4947290" y="225896"/>
            <a:ext cx="1808143" cy="923330"/>
          </a:xfrm>
          <a:prstGeom prst="rect">
            <a:avLst/>
          </a:prstGeom>
          <a:noFill/>
        </p:spPr>
        <p:txBody>
          <a:bodyPr wrap="square" rtlCol="0">
            <a:spAutoFit/>
          </a:bodyPr>
          <a:lstStyle/>
          <a:p>
            <a:pPr algn="dist"/>
            <a:r>
              <a:rPr lang="zh-CN" altLang="en-US" sz="5400" b="1">
                <a:solidFill>
                  <a:srgbClr val="0070C0"/>
                </a:solidFill>
                <a:latin typeface="微软雅黑" panose="020B0503020204020204" pitchFamily="34" charset="-122"/>
                <a:ea typeface="微软雅黑" panose="020B0503020204020204" pitchFamily="34" charset="-122"/>
              </a:rPr>
              <a:t>目录</a:t>
            </a:r>
          </a:p>
        </p:txBody>
      </p:sp>
      <p:cxnSp>
        <p:nvCxnSpPr>
          <p:cNvPr id="2" name="直接连接符 1">
            <a:extLst>
              <a:ext uri="{FF2B5EF4-FFF2-40B4-BE49-F238E27FC236}">
                <a16:creationId xmlns:a16="http://schemas.microsoft.com/office/drawing/2014/main" id="{015E53A4-E261-B5E7-B352-746C4CE910A1}"/>
              </a:ext>
            </a:extLst>
          </p:cNvPr>
          <p:cNvCxnSpPr>
            <a:cxnSpLocks/>
          </p:cNvCxnSpPr>
          <p:nvPr/>
        </p:nvCxnSpPr>
        <p:spPr>
          <a:xfrm flipV="1">
            <a:off x="0" y="1095749"/>
            <a:ext cx="12192000" cy="70720"/>
          </a:xfrm>
          <a:prstGeom prst="line">
            <a:avLst/>
          </a:prstGeom>
          <a:ln w="635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5" name="组合 4">
            <a:extLst>
              <a:ext uri="{FF2B5EF4-FFF2-40B4-BE49-F238E27FC236}">
                <a16:creationId xmlns:a16="http://schemas.microsoft.com/office/drawing/2014/main" id="{C02D261D-6698-E12C-D7A7-4E3A63FDC960}"/>
              </a:ext>
            </a:extLst>
          </p:cNvPr>
          <p:cNvGrpSpPr/>
          <p:nvPr/>
        </p:nvGrpSpPr>
        <p:grpSpPr>
          <a:xfrm>
            <a:off x="2650945" y="2545874"/>
            <a:ext cx="894259" cy="523220"/>
            <a:chOff x="2215144" y="927951"/>
            <a:chExt cx="1244730" cy="959254"/>
          </a:xfrm>
        </p:grpSpPr>
        <p:sp>
          <p:nvSpPr>
            <p:cNvPr id="6" name="平行四边形 5">
              <a:extLst>
                <a:ext uri="{FF2B5EF4-FFF2-40B4-BE49-F238E27FC236}">
                  <a16:creationId xmlns:a16="http://schemas.microsoft.com/office/drawing/2014/main" id="{6CE929F0-511D-53FC-E4F0-D529D04BD226}"/>
                </a:ext>
              </a:extLst>
            </p:cNvPr>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7" name="文本框 9">
              <a:extLst>
                <a:ext uri="{FF2B5EF4-FFF2-40B4-BE49-F238E27FC236}">
                  <a16:creationId xmlns:a16="http://schemas.microsoft.com/office/drawing/2014/main" id="{AE86F752-9D2C-62E8-73FA-7C896788E526}"/>
                </a:ext>
              </a:extLst>
            </p:cNvPr>
            <p:cNvSpPr txBox="1"/>
            <p:nvPr/>
          </p:nvSpPr>
          <p:spPr>
            <a:xfrm>
              <a:off x="2393075" y="927951"/>
              <a:ext cx="1066799" cy="959254"/>
            </a:xfrm>
            <a:prstGeom prst="rect">
              <a:avLst/>
            </a:prstGeom>
            <a:noFill/>
          </p:spPr>
          <p:txBody>
            <a:bodyPr wrap="square" rtlCol="0">
              <a:spAutoFit/>
            </a:bodyPr>
            <a:lstStyle/>
            <a:p>
              <a:r>
                <a:rPr lang="en-US" altLang="zh-CN" sz="2800">
                  <a:solidFill>
                    <a:srgbClr val="FF0000"/>
                  </a:solidFill>
                  <a:latin typeface="Impact" panose="020B0806030902050204" pitchFamily="34" charset="0"/>
                </a:rPr>
                <a:t>01</a:t>
              </a:r>
              <a:endParaRPr lang="zh-CN" altLang="en-US" sz="2800">
                <a:solidFill>
                  <a:srgbClr val="FF0000"/>
                </a:solidFill>
                <a:latin typeface="Impact" panose="020B0806030902050204" pitchFamily="34" charset="0"/>
              </a:endParaRPr>
            </a:p>
          </p:txBody>
        </p:sp>
      </p:grpSp>
      <p:grpSp>
        <p:nvGrpSpPr>
          <p:cNvPr id="8" name="组合 7">
            <a:extLst>
              <a:ext uri="{FF2B5EF4-FFF2-40B4-BE49-F238E27FC236}">
                <a16:creationId xmlns:a16="http://schemas.microsoft.com/office/drawing/2014/main" id="{980DA090-564B-C3BD-3888-82B040382401}"/>
              </a:ext>
            </a:extLst>
          </p:cNvPr>
          <p:cNvGrpSpPr/>
          <p:nvPr/>
        </p:nvGrpSpPr>
        <p:grpSpPr>
          <a:xfrm>
            <a:off x="4579570" y="3121702"/>
            <a:ext cx="894259" cy="504163"/>
            <a:chOff x="2215144" y="1952311"/>
            <a:chExt cx="1244730" cy="924318"/>
          </a:xfrm>
        </p:grpSpPr>
        <p:sp>
          <p:nvSpPr>
            <p:cNvPr id="9" name="平行四边形 8">
              <a:extLst>
                <a:ext uri="{FF2B5EF4-FFF2-40B4-BE49-F238E27FC236}">
                  <a16:creationId xmlns:a16="http://schemas.microsoft.com/office/drawing/2014/main" id="{47031950-69B3-E483-DC4D-EE5DF54473A5}"/>
                </a:ext>
              </a:extLst>
            </p:cNvPr>
            <p:cNvSpPr/>
            <p:nvPr/>
          </p:nvSpPr>
          <p:spPr>
            <a:xfrm>
              <a:off x="2215144" y="2033848"/>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0" name="文本框 10">
              <a:extLst>
                <a:ext uri="{FF2B5EF4-FFF2-40B4-BE49-F238E27FC236}">
                  <a16:creationId xmlns:a16="http://schemas.microsoft.com/office/drawing/2014/main" id="{0FA0E00C-DDA5-D6E3-A95E-F1F55683E45A}"/>
                </a:ext>
              </a:extLst>
            </p:cNvPr>
            <p:cNvSpPr txBox="1"/>
            <p:nvPr/>
          </p:nvSpPr>
          <p:spPr>
            <a:xfrm>
              <a:off x="2393075" y="1952311"/>
              <a:ext cx="1066799" cy="816508"/>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02</a:t>
              </a:r>
              <a:endParaRPr lang="zh-CN" altLang="en-US" sz="2800">
                <a:solidFill>
                  <a:schemeClr val="bg1"/>
                </a:solidFill>
                <a:latin typeface="Impact" panose="020B0806030902050204" pitchFamily="34" charset="0"/>
              </a:endParaRPr>
            </a:p>
          </p:txBody>
        </p:sp>
      </p:grpSp>
      <p:grpSp>
        <p:nvGrpSpPr>
          <p:cNvPr id="11" name="组合 10">
            <a:extLst>
              <a:ext uri="{FF2B5EF4-FFF2-40B4-BE49-F238E27FC236}">
                <a16:creationId xmlns:a16="http://schemas.microsoft.com/office/drawing/2014/main" id="{25734407-FFCB-CC54-4B09-C106C0C52A42}"/>
              </a:ext>
            </a:extLst>
          </p:cNvPr>
          <p:cNvGrpSpPr/>
          <p:nvPr/>
        </p:nvGrpSpPr>
        <p:grpSpPr>
          <a:xfrm>
            <a:off x="2650945" y="3715911"/>
            <a:ext cx="894259" cy="496081"/>
            <a:chOff x="2215144" y="3018134"/>
            <a:chExt cx="1244730" cy="909499"/>
          </a:xfrm>
        </p:grpSpPr>
        <p:sp>
          <p:nvSpPr>
            <p:cNvPr id="12" name="平行四边形 11">
              <a:extLst>
                <a:ext uri="{FF2B5EF4-FFF2-40B4-BE49-F238E27FC236}">
                  <a16:creationId xmlns:a16="http://schemas.microsoft.com/office/drawing/2014/main" id="{3B43BC06-A13D-4C21-2A64-04E67ECC98ED}"/>
                </a:ext>
              </a:extLst>
            </p:cNvPr>
            <p:cNvSpPr/>
            <p:nvPr/>
          </p:nvSpPr>
          <p:spPr>
            <a:xfrm>
              <a:off x="2215144" y="3084852"/>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3" name="文本框 11">
              <a:extLst>
                <a:ext uri="{FF2B5EF4-FFF2-40B4-BE49-F238E27FC236}">
                  <a16:creationId xmlns:a16="http://schemas.microsoft.com/office/drawing/2014/main" id="{523E0BAF-961C-BF3B-9816-4719D8864D12}"/>
                </a:ext>
              </a:extLst>
            </p:cNvPr>
            <p:cNvSpPr txBox="1"/>
            <p:nvPr/>
          </p:nvSpPr>
          <p:spPr>
            <a:xfrm>
              <a:off x="2393075" y="3018134"/>
              <a:ext cx="1066799" cy="816505"/>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03</a:t>
              </a:r>
              <a:endParaRPr lang="zh-CN" altLang="en-US" sz="2800">
                <a:solidFill>
                  <a:schemeClr val="bg1"/>
                </a:solidFill>
                <a:latin typeface="Impact" panose="020B0806030902050204" pitchFamily="34" charset="0"/>
              </a:endParaRPr>
            </a:p>
          </p:txBody>
        </p:sp>
      </p:grpSp>
      <p:grpSp>
        <p:nvGrpSpPr>
          <p:cNvPr id="14" name="组合 13">
            <a:extLst>
              <a:ext uri="{FF2B5EF4-FFF2-40B4-BE49-F238E27FC236}">
                <a16:creationId xmlns:a16="http://schemas.microsoft.com/office/drawing/2014/main" id="{86BC0A2A-41E5-FBC0-C692-5D657E568DFF}"/>
              </a:ext>
            </a:extLst>
          </p:cNvPr>
          <p:cNvGrpSpPr/>
          <p:nvPr/>
        </p:nvGrpSpPr>
        <p:grpSpPr>
          <a:xfrm>
            <a:off x="4579570" y="4270750"/>
            <a:ext cx="894259" cy="508134"/>
            <a:chOff x="2215144" y="4047039"/>
            <a:chExt cx="1244730" cy="931598"/>
          </a:xfrm>
        </p:grpSpPr>
        <p:sp>
          <p:nvSpPr>
            <p:cNvPr id="15" name="平行四边形 14">
              <a:extLst>
                <a:ext uri="{FF2B5EF4-FFF2-40B4-BE49-F238E27FC236}">
                  <a16:creationId xmlns:a16="http://schemas.microsoft.com/office/drawing/2014/main" id="{8A90B80A-9AAB-A09B-C427-5E9C118FC936}"/>
                </a:ext>
              </a:extLst>
            </p:cNvPr>
            <p:cNvSpPr/>
            <p:nvPr/>
          </p:nvSpPr>
          <p:spPr>
            <a:xfrm>
              <a:off x="2215144" y="4135856"/>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6" name="文本框 12">
              <a:extLst>
                <a:ext uri="{FF2B5EF4-FFF2-40B4-BE49-F238E27FC236}">
                  <a16:creationId xmlns:a16="http://schemas.microsoft.com/office/drawing/2014/main" id="{3AC8FC9F-703E-3E9A-BE77-157E4D421878}"/>
                </a:ext>
              </a:extLst>
            </p:cNvPr>
            <p:cNvSpPr txBox="1"/>
            <p:nvPr/>
          </p:nvSpPr>
          <p:spPr>
            <a:xfrm>
              <a:off x="2393075" y="4047039"/>
              <a:ext cx="1066799" cy="816506"/>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04</a:t>
              </a:r>
              <a:endParaRPr lang="zh-CN" altLang="en-US" sz="2800">
                <a:solidFill>
                  <a:schemeClr val="bg1"/>
                </a:solidFill>
                <a:latin typeface="Impact" panose="020B0806030902050204" pitchFamily="34" charset="0"/>
              </a:endParaRPr>
            </a:p>
          </p:txBody>
        </p:sp>
      </p:grpSp>
      <p:grpSp>
        <p:nvGrpSpPr>
          <p:cNvPr id="20" name="组合 19">
            <a:extLst>
              <a:ext uri="{FF2B5EF4-FFF2-40B4-BE49-F238E27FC236}">
                <a16:creationId xmlns:a16="http://schemas.microsoft.com/office/drawing/2014/main" id="{03E76C5F-083C-821A-DB68-6538925D344E}"/>
              </a:ext>
            </a:extLst>
          </p:cNvPr>
          <p:cNvGrpSpPr/>
          <p:nvPr/>
        </p:nvGrpSpPr>
        <p:grpSpPr>
          <a:xfrm>
            <a:off x="3330198" y="2559185"/>
            <a:ext cx="3857250" cy="459690"/>
            <a:chOff x="4315150" y="953426"/>
            <a:chExt cx="3857250" cy="540057"/>
          </a:xfrm>
        </p:grpSpPr>
        <p:sp>
          <p:nvSpPr>
            <p:cNvPr id="21" name="矩形 20">
              <a:extLst>
                <a:ext uri="{FF2B5EF4-FFF2-40B4-BE49-F238E27FC236}">
                  <a16:creationId xmlns:a16="http://schemas.microsoft.com/office/drawing/2014/main" id="{F20C831A-588A-EF3A-BF9A-FCB095F1061B}"/>
                </a:ext>
              </a:extLst>
            </p:cNvPr>
            <p:cNvSpPr/>
            <p:nvPr/>
          </p:nvSpPr>
          <p:spPr>
            <a:xfrm>
              <a:off x="4841196" y="1036090"/>
              <a:ext cx="2827147" cy="406783"/>
            </a:xfrm>
            <a:prstGeom prst="rect">
              <a:avLst/>
            </a:prstGeom>
            <a:ln w="15875">
              <a:noFill/>
            </a:ln>
          </p:spPr>
          <p:txBody>
            <a:bodyPr wrap="square" lIns="68580" tIns="34290" rIns="68580" bIns="34290">
              <a:spAutoFit/>
            </a:bodyPr>
            <a:lstStyle/>
            <a:p>
              <a:r>
                <a:rPr lang="zh-CN" altLang="en-US" b="1">
                  <a:solidFill>
                    <a:srgbClr val="FF0000"/>
                  </a:solidFill>
                  <a:latin typeface="微软雅黑" panose="020B0503020204020204" pitchFamily="34" charset="-122"/>
                  <a:ea typeface="微软雅黑" panose="020B0503020204020204" pitchFamily="34" charset="-122"/>
                </a:rPr>
                <a:t>设计任务</a:t>
              </a:r>
              <a:endParaRPr lang="en-GB" altLang="zh-CN" b="1">
                <a:solidFill>
                  <a:srgbClr val="FF0000"/>
                </a:solidFill>
                <a:latin typeface="微软雅黑" panose="020B0503020204020204" pitchFamily="34" charset="-122"/>
                <a:ea typeface="微软雅黑" panose="020B0503020204020204" pitchFamily="34" charset="-122"/>
              </a:endParaRPr>
            </a:p>
          </p:txBody>
        </p:sp>
        <p:sp>
          <p:nvSpPr>
            <p:cNvPr id="22" name="平行四边形 21">
              <a:extLst>
                <a:ext uri="{FF2B5EF4-FFF2-40B4-BE49-F238E27FC236}">
                  <a16:creationId xmlns:a16="http://schemas.microsoft.com/office/drawing/2014/main" id="{47B6BBEB-CEB7-0D41-531C-85C7605CC569}"/>
                </a:ext>
              </a:extLst>
            </p:cNvPr>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23" name="组合 22">
            <a:extLst>
              <a:ext uri="{FF2B5EF4-FFF2-40B4-BE49-F238E27FC236}">
                <a16:creationId xmlns:a16="http://schemas.microsoft.com/office/drawing/2014/main" id="{907CD74D-B4D9-FB67-4744-06B119EB2F8F}"/>
              </a:ext>
            </a:extLst>
          </p:cNvPr>
          <p:cNvGrpSpPr/>
          <p:nvPr/>
        </p:nvGrpSpPr>
        <p:grpSpPr>
          <a:xfrm>
            <a:off x="5258823" y="3149552"/>
            <a:ext cx="3857250" cy="459690"/>
            <a:chOff x="4315150" y="1647579"/>
            <a:chExt cx="3857250" cy="540057"/>
          </a:xfrm>
        </p:grpSpPr>
        <p:sp>
          <p:nvSpPr>
            <p:cNvPr id="24" name="矩形 23">
              <a:extLst>
                <a:ext uri="{FF2B5EF4-FFF2-40B4-BE49-F238E27FC236}">
                  <a16:creationId xmlns:a16="http://schemas.microsoft.com/office/drawing/2014/main" id="{7F4E32F0-DF0B-58A4-72AE-AD91B2EE2D01}"/>
                </a:ext>
              </a:extLst>
            </p:cNvPr>
            <p:cNvSpPr/>
            <p:nvPr/>
          </p:nvSpPr>
          <p:spPr>
            <a:xfrm>
              <a:off x="4841196" y="1730243"/>
              <a:ext cx="2827147" cy="406783"/>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方案选择</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5" name="平行四边形 24">
              <a:extLst>
                <a:ext uri="{FF2B5EF4-FFF2-40B4-BE49-F238E27FC236}">
                  <a16:creationId xmlns:a16="http://schemas.microsoft.com/office/drawing/2014/main" id="{65F6D79A-0BDE-13F2-1BC0-4C0A3476CA87}"/>
                </a:ext>
              </a:extLst>
            </p:cNvPr>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26" name="组合 25">
            <a:extLst>
              <a:ext uri="{FF2B5EF4-FFF2-40B4-BE49-F238E27FC236}">
                <a16:creationId xmlns:a16="http://schemas.microsoft.com/office/drawing/2014/main" id="{336EAA3C-08A5-B3C1-1969-C4F367867BF7}"/>
              </a:ext>
            </a:extLst>
          </p:cNvPr>
          <p:cNvGrpSpPr/>
          <p:nvPr/>
        </p:nvGrpSpPr>
        <p:grpSpPr>
          <a:xfrm>
            <a:off x="3330198" y="3736065"/>
            <a:ext cx="3857250" cy="459690"/>
            <a:chOff x="4315150" y="2341731"/>
            <a:chExt cx="3857250" cy="540057"/>
          </a:xfrm>
        </p:grpSpPr>
        <p:sp>
          <p:nvSpPr>
            <p:cNvPr id="27" name="矩形 26">
              <a:extLst>
                <a:ext uri="{FF2B5EF4-FFF2-40B4-BE49-F238E27FC236}">
                  <a16:creationId xmlns:a16="http://schemas.microsoft.com/office/drawing/2014/main" id="{1EA3F971-4D40-72BA-E021-DC6BE85A3725}"/>
                </a:ext>
              </a:extLst>
            </p:cNvPr>
            <p:cNvSpPr/>
            <p:nvPr/>
          </p:nvSpPr>
          <p:spPr>
            <a:xfrm>
              <a:off x="4841197" y="2424395"/>
              <a:ext cx="2827146" cy="406783"/>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电路设计</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8" name="平行四边形 27">
              <a:extLst>
                <a:ext uri="{FF2B5EF4-FFF2-40B4-BE49-F238E27FC236}">
                  <a16:creationId xmlns:a16="http://schemas.microsoft.com/office/drawing/2014/main" id="{15271B39-6ACA-4FB7-B30A-3AD92208E4C3}"/>
                </a:ext>
              </a:extLst>
            </p:cNvPr>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29" name="组合 28">
            <a:extLst>
              <a:ext uri="{FF2B5EF4-FFF2-40B4-BE49-F238E27FC236}">
                <a16:creationId xmlns:a16="http://schemas.microsoft.com/office/drawing/2014/main" id="{0C4953EA-940C-CE0C-B714-24B66B5CBB5A}"/>
              </a:ext>
            </a:extLst>
          </p:cNvPr>
          <p:cNvGrpSpPr/>
          <p:nvPr/>
        </p:nvGrpSpPr>
        <p:grpSpPr>
          <a:xfrm>
            <a:off x="5258823" y="4302567"/>
            <a:ext cx="3857250" cy="693611"/>
            <a:chOff x="4315150" y="3035884"/>
            <a:chExt cx="3857250" cy="814874"/>
          </a:xfrm>
        </p:grpSpPr>
        <p:sp>
          <p:nvSpPr>
            <p:cNvPr id="30" name="矩形 29">
              <a:extLst>
                <a:ext uri="{FF2B5EF4-FFF2-40B4-BE49-F238E27FC236}">
                  <a16:creationId xmlns:a16="http://schemas.microsoft.com/office/drawing/2014/main" id="{2E57C4F5-E41A-5EB9-D778-958779DE4CBF}"/>
                </a:ext>
              </a:extLst>
            </p:cNvPr>
            <p:cNvSpPr/>
            <p:nvPr/>
          </p:nvSpPr>
          <p:spPr>
            <a:xfrm>
              <a:off x="4841196" y="3118548"/>
              <a:ext cx="2827147" cy="732210"/>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转速、电流测量方案选择</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a:p>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1" name="平行四边形 30">
              <a:extLst>
                <a:ext uri="{FF2B5EF4-FFF2-40B4-BE49-F238E27FC236}">
                  <a16:creationId xmlns:a16="http://schemas.microsoft.com/office/drawing/2014/main" id="{62D20EB4-8C10-23E8-E925-0563E27DB7BB}"/>
                </a:ext>
              </a:extLst>
            </p:cNvPr>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59" name="组合 58">
            <a:extLst>
              <a:ext uri="{FF2B5EF4-FFF2-40B4-BE49-F238E27FC236}">
                <a16:creationId xmlns:a16="http://schemas.microsoft.com/office/drawing/2014/main" id="{5E531FA3-3F34-F50C-F331-00E0826F152F}"/>
              </a:ext>
            </a:extLst>
          </p:cNvPr>
          <p:cNvGrpSpPr/>
          <p:nvPr/>
        </p:nvGrpSpPr>
        <p:grpSpPr>
          <a:xfrm>
            <a:off x="2650945" y="4906216"/>
            <a:ext cx="884486" cy="523220"/>
            <a:chOff x="2215144" y="5107938"/>
            <a:chExt cx="1231128" cy="959259"/>
          </a:xfrm>
        </p:grpSpPr>
        <p:sp>
          <p:nvSpPr>
            <p:cNvPr id="60" name="平行四边形 59">
              <a:extLst>
                <a:ext uri="{FF2B5EF4-FFF2-40B4-BE49-F238E27FC236}">
                  <a16:creationId xmlns:a16="http://schemas.microsoft.com/office/drawing/2014/main" id="{FB88CD67-CB69-D9BA-94A0-F798861054FB}"/>
                </a:ext>
              </a:extLst>
            </p:cNvPr>
            <p:cNvSpPr/>
            <p:nvPr/>
          </p:nvSpPr>
          <p:spPr>
            <a:xfrm>
              <a:off x="2215144" y="5186859"/>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61" name="文本框 13">
              <a:extLst>
                <a:ext uri="{FF2B5EF4-FFF2-40B4-BE49-F238E27FC236}">
                  <a16:creationId xmlns:a16="http://schemas.microsoft.com/office/drawing/2014/main" id="{9D40865A-41AA-3C0C-9245-C2089EB4B7A8}"/>
                </a:ext>
              </a:extLst>
            </p:cNvPr>
            <p:cNvSpPr txBox="1"/>
            <p:nvPr/>
          </p:nvSpPr>
          <p:spPr>
            <a:xfrm>
              <a:off x="2379473" y="5107938"/>
              <a:ext cx="1066799" cy="959259"/>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05</a:t>
              </a:r>
              <a:endParaRPr lang="zh-CN" altLang="en-US" sz="2800">
                <a:solidFill>
                  <a:schemeClr val="bg1"/>
                </a:solidFill>
                <a:latin typeface="Impact" panose="020B0806030902050204" pitchFamily="34" charset="0"/>
              </a:endParaRPr>
            </a:p>
          </p:txBody>
        </p:sp>
      </p:grpSp>
      <p:grpSp>
        <p:nvGrpSpPr>
          <p:cNvPr id="62" name="组合 61">
            <a:extLst>
              <a:ext uri="{FF2B5EF4-FFF2-40B4-BE49-F238E27FC236}">
                <a16:creationId xmlns:a16="http://schemas.microsoft.com/office/drawing/2014/main" id="{E268F63E-FFF9-0A75-C830-46AAC821FBF6}"/>
              </a:ext>
            </a:extLst>
          </p:cNvPr>
          <p:cNvGrpSpPr/>
          <p:nvPr/>
        </p:nvGrpSpPr>
        <p:grpSpPr>
          <a:xfrm>
            <a:off x="3330199" y="4932647"/>
            <a:ext cx="3857250" cy="459690"/>
            <a:chOff x="4315150" y="3730038"/>
            <a:chExt cx="3857250" cy="540057"/>
          </a:xfrm>
        </p:grpSpPr>
        <p:sp>
          <p:nvSpPr>
            <p:cNvPr id="63" name="矩形 62">
              <a:extLst>
                <a:ext uri="{FF2B5EF4-FFF2-40B4-BE49-F238E27FC236}">
                  <a16:creationId xmlns:a16="http://schemas.microsoft.com/office/drawing/2014/main" id="{7B2ECF3D-087B-F3E4-4FC8-07282826D88D}"/>
                </a:ext>
              </a:extLst>
            </p:cNvPr>
            <p:cNvSpPr/>
            <p:nvPr/>
          </p:nvSpPr>
          <p:spPr>
            <a:xfrm>
              <a:off x="4841197" y="3812702"/>
              <a:ext cx="2827146" cy="406783"/>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仿真验证</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4" name="平行四边形 63">
              <a:extLst>
                <a:ext uri="{FF2B5EF4-FFF2-40B4-BE49-F238E27FC236}">
                  <a16:creationId xmlns:a16="http://schemas.microsoft.com/office/drawing/2014/main" id="{BAF7F124-E338-CDD2-EAB0-60B653A48D6B}"/>
                </a:ext>
              </a:extLst>
            </p:cNvPr>
            <p:cNvSpPr/>
            <p:nvPr/>
          </p:nvSpPr>
          <p:spPr>
            <a:xfrm>
              <a:off x="4315150" y="3730038"/>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4" name="组合 3">
            <a:extLst>
              <a:ext uri="{FF2B5EF4-FFF2-40B4-BE49-F238E27FC236}">
                <a16:creationId xmlns:a16="http://schemas.microsoft.com/office/drawing/2014/main" id="{362F55C3-3C42-8BC6-D83C-C45F183FE314}"/>
              </a:ext>
            </a:extLst>
          </p:cNvPr>
          <p:cNvGrpSpPr/>
          <p:nvPr/>
        </p:nvGrpSpPr>
        <p:grpSpPr>
          <a:xfrm>
            <a:off x="4500160" y="5515777"/>
            <a:ext cx="894259" cy="523220"/>
            <a:chOff x="2215144" y="4047039"/>
            <a:chExt cx="1244730" cy="959256"/>
          </a:xfrm>
        </p:grpSpPr>
        <p:sp>
          <p:nvSpPr>
            <p:cNvPr id="17" name="平行四边形 16">
              <a:extLst>
                <a:ext uri="{FF2B5EF4-FFF2-40B4-BE49-F238E27FC236}">
                  <a16:creationId xmlns:a16="http://schemas.microsoft.com/office/drawing/2014/main" id="{BC43D63F-8B0D-6EEF-C0DC-A12E5761DD78}"/>
                </a:ext>
              </a:extLst>
            </p:cNvPr>
            <p:cNvSpPr/>
            <p:nvPr/>
          </p:nvSpPr>
          <p:spPr>
            <a:xfrm>
              <a:off x="2215144" y="4135856"/>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8" name="文本框 12">
              <a:extLst>
                <a:ext uri="{FF2B5EF4-FFF2-40B4-BE49-F238E27FC236}">
                  <a16:creationId xmlns:a16="http://schemas.microsoft.com/office/drawing/2014/main" id="{22D954EF-DF92-B75D-7D38-C8BCB2EC5B0F}"/>
                </a:ext>
              </a:extLst>
            </p:cNvPr>
            <p:cNvSpPr txBox="1"/>
            <p:nvPr/>
          </p:nvSpPr>
          <p:spPr>
            <a:xfrm>
              <a:off x="2393075" y="4047039"/>
              <a:ext cx="1066799" cy="959256"/>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06</a:t>
              </a:r>
              <a:endParaRPr lang="zh-CN" altLang="en-US" sz="2800">
                <a:solidFill>
                  <a:schemeClr val="bg1"/>
                </a:solidFill>
                <a:latin typeface="Impact" panose="020B0806030902050204" pitchFamily="34" charset="0"/>
              </a:endParaRPr>
            </a:p>
          </p:txBody>
        </p:sp>
      </p:grpSp>
      <p:grpSp>
        <p:nvGrpSpPr>
          <p:cNvPr id="19" name="组合 18">
            <a:extLst>
              <a:ext uri="{FF2B5EF4-FFF2-40B4-BE49-F238E27FC236}">
                <a16:creationId xmlns:a16="http://schemas.microsoft.com/office/drawing/2014/main" id="{3A6B59C4-B5A6-96C1-C120-5F9CB2C13D47}"/>
              </a:ext>
            </a:extLst>
          </p:cNvPr>
          <p:cNvGrpSpPr/>
          <p:nvPr/>
        </p:nvGrpSpPr>
        <p:grpSpPr>
          <a:xfrm>
            <a:off x="5179413" y="5547593"/>
            <a:ext cx="3857250" cy="693611"/>
            <a:chOff x="4315150" y="3035884"/>
            <a:chExt cx="3857250" cy="814874"/>
          </a:xfrm>
        </p:grpSpPr>
        <p:sp>
          <p:nvSpPr>
            <p:cNvPr id="32" name="矩形 31">
              <a:extLst>
                <a:ext uri="{FF2B5EF4-FFF2-40B4-BE49-F238E27FC236}">
                  <a16:creationId xmlns:a16="http://schemas.microsoft.com/office/drawing/2014/main" id="{518E6446-5B35-780F-2A0A-1914E7204E54}"/>
                </a:ext>
              </a:extLst>
            </p:cNvPr>
            <p:cNvSpPr/>
            <p:nvPr/>
          </p:nvSpPr>
          <p:spPr>
            <a:xfrm>
              <a:off x="4841196" y="3118548"/>
              <a:ext cx="2827147" cy="732210"/>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收获总结</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a:p>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3" name="平行四边形 32">
              <a:extLst>
                <a:ext uri="{FF2B5EF4-FFF2-40B4-BE49-F238E27FC236}">
                  <a16:creationId xmlns:a16="http://schemas.microsoft.com/office/drawing/2014/main" id="{EB8F2CB8-2B42-3FC7-3F2D-BFD3882E51E0}"/>
                </a:ext>
              </a:extLst>
            </p:cNvPr>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spTree>
    <p:extLst>
      <p:ext uri="{BB962C8B-B14F-4D97-AF65-F5344CB8AC3E}">
        <p14:creationId xmlns:p14="http://schemas.microsoft.com/office/powerpoint/2010/main" val="155209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FFE99-87F4-CCC7-1C4C-AD1297F4DA3E}"/>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751B0DA1-A76B-BAE0-F2AA-79B412A5C4F4}"/>
              </a:ext>
            </a:extLst>
          </p:cNvPr>
          <p:cNvCxnSpPr>
            <a:cxnSpLocks/>
          </p:cNvCxnSpPr>
          <p:nvPr/>
        </p:nvCxnSpPr>
        <p:spPr>
          <a:xfrm flipV="1">
            <a:off x="1014737" y="631512"/>
            <a:ext cx="7246036" cy="1620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667E6AC-66E7-0BE4-7D8F-F5B2A64BB6D2}"/>
              </a:ext>
            </a:extLst>
          </p:cNvPr>
          <p:cNvSpPr/>
          <p:nvPr/>
        </p:nvSpPr>
        <p:spPr>
          <a:xfrm>
            <a:off x="962591" y="154458"/>
            <a:ext cx="9840017"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一、设计任务</a:t>
            </a:r>
            <a:endParaRPr kumimoji="0" lang="zh-CN" altLang="zh-CN" sz="2400" b="1" i="0" u="none" strike="noStrike" kern="0" cap="none" spc="0" normalizeH="0" baseline="0" noProof="0">
              <a:ln>
                <a:noFill/>
              </a:ln>
              <a:solidFill>
                <a:prstClr val="black"/>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DCE63EE9-21DA-1F62-6959-F799CF9AD3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4" name="文本框 3">
            <a:extLst>
              <a:ext uri="{FF2B5EF4-FFF2-40B4-BE49-F238E27FC236}">
                <a16:creationId xmlns:a16="http://schemas.microsoft.com/office/drawing/2014/main" id="{A0FF3084-2FF5-172D-3316-4A3FA3C0FEA1}"/>
              </a:ext>
            </a:extLst>
          </p:cNvPr>
          <p:cNvSpPr txBox="1"/>
          <p:nvPr/>
        </p:nvSpPr>
        <p:spPr>
          <a:xfrm>
            <a:off x="1474344" y="1832465"/>
            <a:ext cx="8597045" cy="2948243"/>
          </a:xfrm>
          <a:prstGeom prst="rect">
            <a:avLst/>
          </a:prstGeom>
          <a:noFill/>
        </p:spPr>
        <p:txBody>
          <a:bodyPr wrap="square">
            <a:spAutoFit/>
          </a:bodyPr>
          <a:lstStyle/>
          <a:p>
            <a:pPr marL="400050" indent="-400050" algn="just">
              <a:lnSpc>
                <a:spcPct val="150000"/>
              </a:lnSpc>
              <a:buFont typeface="+mj-ea"/>
              <a:buAutoNum type="ea1JpnChsDbPeriod"/>
            </a:pPr>
            <a:r>
              <a:rPr lang="zh-CN" altLang="en-US">
                <a:latin typeface="Times New Roman" panose="02020603050405020304" pitchFamily="18" charset="0"/>
                <a:ea typeface="宋体" panose="02010600030101010101" pitchFamily="2" charset="-122"/>
              </a:rPr>
              <a:t>以矿井直流提升机调速系统为对象，设计</a:t>
            </a:r>
            <a:r>
              <a:rPr lang="zh-CN" altLang="en-US" b="1">
                <a:latin typeface="Times New Roman" panose="02020603050405020304" pitchFamily="18" charset="0"/>
                <a:ea typeface="宋体" panose="02010600030101010101" pitchFamily="2" charset="-122"/>
              </a:rPr>
              <a:t>磁场换向</a:t>
            </a:r>
            <a:r>
              <a:rPr lang="zh-CN" altLang="en-US">
                <a:latin typeface="Times New Roman" panose="02020603050405020304" pitchFamily="18" charset="0"/>
                <a:ea typeface="宋体" panose="02010600030101010101" pitchFamily="2" charset="-122"/>
              </a:rPr>
              <a:t>矿井直流提升机的调速系统电枢回路主电路、部分控制电路和控制参数； </a:t>
            </a:r>
            <a:endParaRPr lang="en-US" altLang="zh-CN">
              <a:latin typeface="Times New Roman" panose="02020603050405020304" pitchFamily="18" charset="0"/>
              <a:ea typeface="宋体" panose="02010600030101010101" pitchFamily="2" charset="-122"/>
            </a:endParaRPr>
          </a:p>
          <a:p>
            <a:pPr marL="400050" indent="-400050" algn="just">
              <a:lnSpc>
                <a:spcPct val="150000"/>
              </a:lnSpc>
              <a:buFont typeface="+mj-ea"/>
              <a:buAutoNum type="ea1JpnChsDbPeriod"/>
            </a:pPr>
            <a:r>
              <a:rPr lang="zh-CN" altLang="en-US">
                <a:latin typeface="Times New Roman" panose="02020603050405020304" pitchFamily="18" charset="0"/>
                <a:ea typeface="宋体" panose="02010600030101010101" pitchFamily="2" charset="-122"/>
              </a:rPr>
              <a:t>根据矿井直流提升机调速系统控制对象确定转速、电流测量范围和允许测量误差，选择适宜的测量元件或传感器；选择合适的控制器参数，使系统符合工程背景；</a:t>
            </a:r>
            <a:endParaRPr lang="en-US" altLang="zh-CN">
              <a:latin typeface="Times New Roman" panose="02020603050405020304" pitchFamily="18" charset="0"/>
              <a:ea typeface="宋体" panose="02010600030101010101" pitchFamily="2" charset="-122"/>
            </a:endParaRPr>
          </a:p>
          <a:p>
            <a:pPr marL="400050" indent="-400050" algn="just">
              <a:lnSpc>
                <a:spcPct val="150000"/>
              </a:lnSpc>
              <a:buFont typeface="+mj-ea"/>
              <a:buAutoNum type="ea1JpnChsDbPeriod"/>
            </a:pPr>
            <a:r>
              <a:rPr lang="zh-CN" altLang="en-US">
                <a:latin typeface="Times New Roman" panose="02020603050405020304" pitchFamily="18" charset="0"/>
                <a:ea typeface="宋体" panose="02010600030101010101" pitchFamily="2" charset="-122"/>
              </a:rPr>
              <a:t>注意考虑矿井直流提升机调速系统的安全性、经济性、标准等因素，同时需要对电机使用中的谐波、噪声等污染对社会和环境的影响给出相应分析。 </a:t>
            </a:r>
            <a:endParaRPr lang="zh-CN" altLang="zh-CN">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588274612"/>
      </p:ext>
    </p:extLst>
  </p:cSld>
  <p:clrMapOvr>
    <a:masterClrMapping/>
  </p:clrMapOvr>
  <p:transition spd="slow" advTm="9487"/>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65B06-C020-C866-5B8B-E52D94738B7A}"/>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83C81C7B-28CA-F23F-3B5C-6B7EAA96C01D}"/>
              </a:ext>
            </a:extLst>
          </p:cNvPr>
          <p:cNvSpPr txBox="1"/>
          <p:nvPr/>
        </p:nvSpPr>
        <p:spPr>
          <a:xfrm>
            <a:off x="4947290" y="225896"/>
            <a:ext cx="1808143" cy="923330"/>
          </a:xfrm>
          <a:prstGeom prst="rect">
            <a:avLst/>
          </a:prstGeom>
          <a:noFill/>
        </p:spPr>
        <p:txBody>
          <a:bodyPr wrap="square" rtlCol="0">
            <a:spAutoFit/>
          </a:bodyPr>
          <a:lstStyle/>
          <a:p>
            <a:pPr algn="dist"/>
            <a:r>
              <a:rPr lang="zh-CN" altLang="en-US" sz="5400" b="1">
                <a:solidFill>
                  <a:srgbClr val="0070C0"/>
                </a:solidFill>
                <a:latin typeface="微软雅黑" panose="020B0503020204020204" pitchFamily="34" charset="-122"/>
                <a:ea typeface="微软雅黑" panose="020B0503020204020204" pitchFamily="34" charset="-122"/>
              </a:rPr>
              <a:t>目录</a:t>
            </a:r>
          </a:p>
        </p:txBody>
      </p:sp>
      <p:cxnSp>
        <p:nvCxnSpPr>
          <p:cNvPr id="2" name="直接连接符 1">
            <a:extLst>
              <a:ext uri="{FF2B5EF4-FFF2-40B4-BE49-F238E27FC236}">
                <a16:creationId xmlns:a16="http://schemas.microsoft.com/office/drawing/2014/main" id="{43533229-E84D-6FB2-B98D-7536424E90BA}"/>
              </a:ext>
            </a:extLst>
          </p:cNvPr>
          <p:cNvCxnSpPr>
            <a:cxnSpLocks/>
          </p:cNvCxnSpPr>
          <p:nvPr/>
        </p:nvCxnSpPr>
        <p:spPr>
          <a:xfrm flipV="1">
            <a:off x="0" y="1095749"/>
            <a:ext cx="12192000" cy="70720"/>
          </a:xfrm>
          <a:prstGeom prst="line">
            <a:avLst/>
          </a:prstGeom>
          <a:ln w="635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5" name="组合 4">
            <a:extLst>
              <a:ext uri="{FF2B5EF4-FFF2-40B4-BE49-F238E27FC236}">
                <a16:creationId xmlns:a16="http://schemas.microsoft.com/office/drawing/2014/main" id="{B5C4AE2E-363E-640B-8323-95C8A255B65C}"/>
              </a:ext>
            </a:extLst>
          </p:cNvPr>
          <p:cNvGrpSpPr/>
          <p:nvPr/>
        </p:nvGrpSpPr>
        <p:grpSpPr>
          <a:xfrm>
            <a:off x="2650945" y="2545874"/>
            <a:ext cx="894259" cy="489631"/>
            <a:chOff x="2215144" y="927951"/>
            <a:chExt cx="1244730" cy="897673"/>
          </a:xfrm>
        </p:grpSpPr>
        <p:sp>
          <p:nvSpPr>
            <p:cNvPr id="6" name="平行四边形 5">
              <a:extLst>
                <a:ext uri="{FF2B5EF4-FFF2-40B4-BE49-F238E27FC236}">
                  <a16:creationId xmlns:a16="http://schemas.microsoft.com/office/drawing/2014/main" id="{3D3B8F5A-974E-96AC-944F-9AAD77D825BC}"/>
                </a:ext>
              </a:extLst>
            </p:cNvPr>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7" name="文本框 9">
              <a:extLst>
                <a:ext uri="{FF2B5EF4-FFF2-40B4-BE49-F238E27FC236}">
                  <a16:creationId xmlns:a16="http://schemas.microsoft.com/office/drawing/2014/main" id="{244E3ED6-80AB-87C8-3201-E8FE7BC1AA3A}"/>
                </a:ext>
              </a:extLst>
            </p:cNvPr>
            <p:cNvSpPr txBox="1"/>
            <p:nvPr/>
          </p:nvSpPr>
          <p:spPr>
            <a:xfrm>
              <a:off x="2393075" y="927951"/>
              <a:ext cx="1066799" cy="816504"/>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01</a:t>
              </a:r>
              <a:endParaRPr lang="zh-CN" altLang="en-US" sz="2800">
                <a:solidFill>
                  <a:schemeClr val="bg1"/>
                </a:solidFill>
                <a:latin typeface="Impact" panose="020B0806030902050204" pitchFamily="34" charset="0"/>
              </a:endParaRPr>
            </a:p>
          </p:txBody>
        </p:sp>
      </p:grpSp>
      <p:grpSp>
        <p:nvGrpSpPr>
          <p:cNvPr id="8" name="组合 7">
            <a:extLst>
              <a:ext uri="{FF2B5EF4-FFF2-40B4-BE49-F238E27FC236}">
                <a16:creationId xmlns:a16="http://schemas.microsoft.com/office/drawing/2014/main" id="{46A06EA4-A201-0CE4-C69C-6C7E0048A069}"/>
              </a:ext>
            </a:extLst>
          </p:cNvPr>
          <p:cNvGrpSpPr/>
          <p:nvPr/>
        </p:nvGrpSpPr>
        <p:grpSpPr>
          <a:xfrm>
            <a:off x="4579570" y="3121702"/>
            <a:ext cx="894259" cy="523220"/>
            <a:chOff x="2215144" y="1952311"/>
            <a:chExt cx="1244730" cy="959257"/>
          </a:xfrm>
        </p:grpSpPr>
        <p:sp>
          <p:nvSpPr>
            <p:cNvPr id="9" name="平行四边形 8">
              <a:extLst>
                <a:ext uri="{FF2B5EF4-FFF2-40B4-BE49-F238E27FC236}">
                  <a16:creationId xmlns:a16="http://schemas.microsoft.com/office/drawing/2014/main" id="{087A2D40-D88A-6A15-941C-26A97EFE3FFD}"/>
                </a:ext>
              </a:extLst>
            </p:cNvPr>
            <p:cNvSpPr/>
            <p:nvPr/>
          </p:nvSpPr>
          <p:spPr>
            <a:xfrm>
              <a:off x="2215144" y="2033848"/>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0" name="文本框 10">
              <a:extLst>
                <a:ext uri="{FF2B5EF4-FFF2-40B4-BE49-F238E27FC236}">
                  <a16:creationId xmlns:a16="http://schemas.microsoft.com/office/drawing/2014/main" id="{7B589F41-6C3B-2C83-3DBF-FF468FEF52DB}"/>
                </a:ext>
              </a:extLst>
            </p:cNvPr>
            <p:cNvSpPr txBox="1"/>
            <p:nvPr/>
          </p:nvSpPr>
          <p:spPr>
            <a:xfrm>
              <a:off x="2393075" y="1952311"/>
              <a:ext cx="1066799" cy="959257"/>
            </a:xfrm>
            <a:prstGeom prst="rect">
              <a:avLst/>
            </a:prstGeom>
            <a:noFill/>
          </p:spPr>
          <p:txBody>
            <a:bodyPr wrap="square" rtlCol="0">
              <a:spAutoFit/>
            </a:bodyPr>
            <a:lstStyle/>
            <a:p>
              <a:r>
                <a:rPr lang="en-US" altLang="zh-CN" sz="2800">
                  <a:solidFill>
                    <a:srgbClr val="FF0000"/>
                  </a:solidFill>
                  <a:latin typeface="Impact" panose="020B0806030902050204" pitchFamily="34" charset="0"/>
                </a:rPr>
                <a:t>02</a:t>
              </a:r>
              <a:endParaRPr lang="zh-CN" altLang="en-US" sz="2800">
                <a:solidFill>
                  <a:srgbClr val="FF0000"/>
                </a:solidFill>
                <a:latin typeface="Impact" panose="020B0806030902050204" pitchFamily="34" charset="0"/>
              </a:endParaRPr>
            </a:p>
          </p:txBody>
        </p:sp>
      </p:grpSp>
      <p:grpSp>
        <p:nvGrpSpPr>
          <p:cNvPr id="11" name="组合 10">
            <a:extLst>
              <a:ext uri="{FF2B5EF4-FFF2-40B4-BE49-F238E27FC236}">
                <a16:creationId xmlns:a16="http://schemas.microsoft.com/office/drawing/2014/main" id="{D5579B73-3EC9-52E4-D461-0A5E3877D514}"/>
              </a:ext>
            </a:extLst>
          </p:cNvPr>
          <p:cNvGrpSpPr/>
          <p:nvPr/>
        </p:nvGrpSpPr>
        <p:grpSpPr>
          <a:xfrm>
            <a:off x="2650945" y="3715911"/>
            <a:ext cx="894259" cy="496081"/>
            <a:chOff x="2215144" y="3018134"/>
            <a:chExt cx="1244730" cy="909499"/>
          </a:xfrm>
        </p:grpSpPr>
        <p:sp>
          <p:nvSpPr>
            <p:cNvPr id="12" name="平行四边形 11">
              <a:extLst>
                <a:ext uri="{FF2B5EF4-FFF2-40B4-BE49-F238E27FC236}">
                  <a16:creationId xmlns:a16="http://schemas.microsoft.com/office/drawing/2014/main" id="{8E25A36A-3E3A-C09E-8147-B82BFAF27656}"/>
                </a:ext>
              </a:extLst>
            </p:cNvPr>
            <p:cNvSpPr/>
            <p:nvPr/>
          </p:nvSpPr>
          <p:spPr>
            <a:xfrm>
              <a:off x="2215144" y="3084852"/>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3" name="文本框 11">
              <a:extLst>
                <a:ext uri="{FF2B5EF4-FFF2-40B4-BE49-F238E27FC236}">
                  <a16:creationId xmlns:a16="http://schemas.microsoft.com/office/drawing/2014/main" id="{DE5BA462-AD59-B805-ACD0-C55AB0A18E4D}"/>
                </a:ext>
              </a:extLst>
            </p:cNvPr>
            <p:cNvSpPr txBox="1"/>
            <p:nvPr/>
          </p:nvSpPr>
          <p:spPr>
            <a:xfrm>
              <a:off x="2393075" y="3018134"/>
              <a:ext cx="1066799" cy="816505"/>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03</a:t>
              </a:r>
              <a:endParaRPr lang="zh-CN" altLang="en-US" sz="2800">
                <a:solidFill>
                  <a:schemeClr val="bg1"/>
                </a:solidFill>
                <a:latin typeface="Impact" panose="020B0806030902050204" pitchFamily="34" charset="0"/>
              </a:endParaRPr>
            </a:p>
          </p:txBody>
        </p:sp>
      </p:grpSp>
      <p:grpSp>
        <p:nvGrpSpPr>
          <p:cNvPr id="14" name="组合 13">
            <a:extLst>
              <a:ext uri="{FF2B5EF4-FFF2-40B4-BE49-F238E27FC236}">
                <a16:creationId xmlns:a16="http://schemas.microsoft.com/office/drawing/2014/main" id="{52E6A7CC-B6B4-759C-2496-282DB3464244}"/>
              </a:ext>
            </a:extLst>
          </p:cNvPr>
          <p:cNvGrpSpPr/>
          <p:nvPr/>
        </p:nvGrpSpPr>
        <p:grpSpPr>
          <a:xfrm>
            <a:off x="4579570" y="4270750"/>
            <a:ext cx="894259" cy="508134"/>
            <a:chOff x="2215144" y="4047039"/>
            <a:chExt cx="1244730" cy="931598"/>
          </a:xfrm>
        </p:grpSpPr>
        <p:sp>
          <p:nvSpPr>
            <p:cNvPr id="15" name="平行四边形 14">
              <a:extLst>
                <a:ext uri="{FF2B5EF4-FFF2-40B4-BE49-F238E27FC236}">
                  <a16:creationId xmlns:a16="http://schemas.microsoft.com/office/drawing/2014/main" id="{5F0A0FF9-97DA-B742-11EF-A99DFD54A75F}"/>
                </a:ext>
              </a:extLst>
            </p:cNvPr>
            <p:cNvSpPr/>
            <p:nvPr/>
          </p:nvSpPr>
          <p:spPr>
            <a:xfrm>
              <a:off x="2215144" y="4135856"/>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6" name="文本框 12">
              <a:extLst>
                <a:ext uri="{FF2B5EF4-FFF2-40B4-BE49-F238E27FC236}">
                  <a16:creationId xmlns:a16="http://schemas.microsoft.com/office/drawing/2014/main" id="{F62BC4F5-3364-844A-15B2-B181597AD8C8}"/>
                </a:ext>
              </a:extLst>
            </p:cNvPr>
            <p:cNvSpPr txBox="1"/>
            <p:nvPr/>
          </p:nvSpPr>
          <p:spPr>
            <a:xfrm>
              <a:off x="2393075" y="4047039"/>
              <a:ext cx="1066799" cy="816506"/>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04</a:t>
              </a:r>
              <a:endParaRPr lang="zh-CN" altLang="en-US" sz="2800">
                <a:solidFill>
                  <a:schemeClr val="bg1"/>
                </a:solidFill>
                <a:latin typeface="Impact" panose="020B0806030902050204" pitchFamily="34" charset="0"/>
              </a:endParaRPr>
            </a:p>
          </p:txBody>
        </p:sp>
      </p:grpSp>
      <p:grpSp>
        <p:nvGrpSpPr>
          <p:cNvPr id="20" name="组合 19">
            <a:extLst>
              <a:ext uri="{FF2B5EF4-FFF2-40B4-BE49-F238E27FC236}">
                <a16:creationId xmlns:a16="http://schemas.microsoft.com/office/drawing/2014/main" id="{F4E95086-36FE-06F0-0755-91D1CE48E33B}"/>
              </a:ext>
            </a:extLst>
          </p:cNvPr>
          <p:cNvGrpSpPr/>
          <p:nvPr/>
        </p:nvGrpSpPr>
        <p:grpSpPr>
          <a:xfrm>
            <a:off x="3330198" y="2559185"/>
            <a:ext cx="3857250" cy="459690"/>
            <a:chOff x="4315150" y="953426"/>
            <a:chExt cx="3857250" cy="540057"/>
          </a:xfrm>
        </p:grpSpPr>
        <p:sp>
          <p:nvSpPr>
            <p:cNvPr id="21" name="矩形 20">
              <a:extLst>
                <a:ext uri="{FF2B5EF4-FFF2-40B4-BE49-F238E27FC236}">
                  <a16:creationId xmlns:a16="http://schemas.microsoft.com/office/drawing/2014/main" id="{AC639234-E350-37CA-7D3B-E33BC1C38836}"/>
                </a:ext>
              </a:extLst>
            </p:cNvPr>
            <p:cNvSpPr/>
            <p:nvPr/>
          </p:nvSpPr>
          <p:spPr>
            <a:xfrm>
              <a:off x="4841196" y="1036090"/>
              <a:ext cx="2827147" cy="406783"/>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设计任务</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2" name="平行四边形 21">
              <a:extLst>
                <a:ext uri="{FF2B5EF4-FFF2-40B4-BE49-F238E27FC236}">
                  <a16:creationId xmlns:a16="http://schemas.microsoft.com/office/drawing/2014/main" id="{F3E1DB1B-49C5-E977-2258-95CB677B604C}"/>
                </a:ext>
              </a:extLst>
            </p:cNvPr>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23" name="组合 22">
            <a:extLst>
              <a:ext uri="{FF2B5EF4-FFF2-40B4-BE49-F238E27FC236}">
                <a16:creationId xmlns:a16="http://schemas.microsoft.com/office/drawing/2014/main" id="{A24FF1F4-FCDA-F1E0-9B9E-3BB23667EBAA}"/>
              </a:ext>
            </a:extLst>
          </p:cNvPr>
          <p:cNvGrpSpPr/>
          <p:nvPr/>
        </p:nvGrpSpPr>
        <p:grpSpPr>
          <a:xfrm>
            <a:off x="5258823" y="3149552"/>
            <a:ext cx="3857250" cy="459690"/>
            <a:chOff x="4315150" y="1647579"/>
            <a:chExt cx="3857250" cy="540057"/>
          </a:xfrm>
        </p:grpSpPr>
        <p:sp>
          <p:nvSpPr>
            <p:cNvPr id="24" name="矩形 23">
              <a:extLst>
                <a:ext uri="{FF2B5EF4-FFF2-40B4-BE49-F238E27FC236}">
                  <a16:creationId xmlns:a16="http://schemas.microsoft.com/office/drawing/2014/main" id="{539B41FB-3680-2E1A-D122-A41732D3A981}"/>
                </a:ext>
              </a:extLst>
            </p:cNvPr>
            <p:cNvSpPr/>
            <p:nvPr/>
          </p:nvSpPr>
          <p:spPr>
            <a:xfrm>
              <a:off x="4841196" y="1730243"/>
              <a:ext cx="2827147" cy="406783"/>
            </a:xfrm>
            <a:prstGeom prst="rect">
              <a:avLst/>
            </a:prstGeom>
            <a:ln w="15875">
              <a:noFill/>
            </a:ln>
          </p:spPr>
          <p:txBody>
            <a:bodyPr wrap="square" lIns="68580" tIns="34290" rIns="68580" bIns="34290">
              <a:spAutoFit/>
            </a:bodyPr>
            <a:lstStyle/>
            <a:p>
              <a:r>
                <a:rPr lang="zh-CN" altLang="en-US" b="1">
                  <a:solidFill>
                    <a:srgbClr val="FF0000"/>
                  </a:solidFill>
                  <a:latin typeface="微软雅黑" panose="020B0503020204020204" pitchFamily="34" charset="-122"/>
                  <a:ea typeface="微软雅黑" panose="020B0503020204020204" pitchFamily="34" charset="-122"/>
                </a:rPr>
                <a:t>方案选择</a:t>
              </a:r>
              <a:endParaRPr lang="en-GB" altLang="zh-CN" b="1">
                <a:solidFill>
                  <a:srgbClr val="FF0000"/>
                </a:solidFill>
                <a:latin typeface="微软雅黑" panose="020B0503020204020204" pitchFamily="34" charset="-122"/>
                <a:ea typeface="微软雅黑" panose="020B0503020204020204" pitchFamily="34" charset="-122"/>
              </a:endParaRPr>
            </a:p>
          </p:txBody>
        </p:sp>
        <p:sp>
          <p:nvSpPr>
            <p:cNvPr id="25" name="平行四边形 24">
              <a:extLst>
                <a:ext uri="{FF2B5EF4-FFF2-40B4-BE49-F238E27FC236}">
                  <a16:creationId xmlns:a16="http://schemas.microsoft.com/office/drawing/2014/main" id="{9D9773BC-85F9-325F-B3F3-CA8C446F43E5}"/>
                </a:ext>
              </a:extLst>
            </p:cNvPr>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26" name="组合 25">
            <a:extLst>
              <a:ext uri="{FF2B5EF4-FFF2-40B4-BE49-F238E27FC236}">
                <a16:creationId xmlns:a16="http://schemas.microsoft.com/office/drawing/2014/main" id="{84AACE10-97C5-125C-CF22-E367BE906E2E}"/>
              </a:ext>
            </a:extLst>
          </p:cNvPr>
          <p:cNvGrpSpPr/>
          <p:nvPr/>
        </p:nvGrpSpPr>
        <p:grpSpPr>
          <a:xfrm>
            <a:off x="3330198" y="3736065"/>
            <a:ext cx="3857250" cy="459690"/>
            <a:chOff x="4315150" y="2341731"/>
            <a:chExt cx="3857250" cy="540057"/>
          </a:xfrm>
        </p:grpSpPr>
        <p:sp>
          <p:nvSpPr>
            <p:cNvPr id="27" name="矩形 26">
              <a:extLst>
                <a:ext uri="{FF2B5EF4-FFF2-40B4-BE49-F238E27FC236}">
                  <a16:creationId xmlns:a16="http://schemas.microsoft.com/office/drawing/2014/main" id="{488E9B83-949A-3360-0CE8-D10C46F56656}"/>
                </a:ext>
              </a:extLst>
            </p:cNvPr>
            <p:cNvSpPr/>
            <p:nvPr/>
          </p:nvSpPr>
          <p:spPr>
            <a:xfrm>
              <a:off x="4841197" y="2424395"/>
              <a:ext cx="2827146" cy="406783"/>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电路设计</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8" name="平行四边形 27">
              <a:extLst>
                <a:ext uri="{FF2B5EF4-FFF2-40B4-BE49-F238E27FC236}">
                  <a16:creationId xmlns:a16="http://schemas.microsoft.com/office/drawing/2014/main" id="{90AE8FE2-0945-13EE-E930-01038756C240}"/>
                </a:ext>
              </a:extLst>
            </p:cNvPr>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29" name="组合 28">
            <a:extLst>
              <a:ext uri="{FF2B5EF4-FFF2-40B4-BE49-F238E27FC236}">
                <a16:creationId xmlns:a16="http://schemas.microsoft.com/office/drawing/2014/main" id="{BE046FD3-81D5-CDC9-18B1-7ECC6DD6B880}"/>
              </a:ext>
            </a:extLst>
          </p:cNvPr>
          <p:cNvGrpSpPr/>
          <p:nvPr/>
        </p:nvGrpSpPr>
        <p:grpSpPr>
          <a:xfrm>
            <a:off x="5258823" y="4302567"/>
            <a:ext cx="3857250" cy="693611"/>
            <a:chOff x="4315150" y="3035884"/>
            <a:chExt cx="3857250" cy="814874"/>
          </a:xfrm>
        </p:grpSpPr>
        <p:sp>
          <p:nvSpPr>
            <p:cNvPr id="30" name="矩形 29">
              <a:extLst>
                <a:ext uri="{FF2B5EF4-FFF2-40B4-BE49-F238E27FC236}">
                  <a16:creationId xmlns:a16="http://schemas.microsoft.com/office/drawing/2014/main" id="{E357E03B-0C74-66AE-4250-9EBFB9DDC50F}"/>
                </a:ext>
              </a:extLst>
            </p:cNvPr>
            <p:cNvSpPr/>
            <p:nvPr/>
          </p:nvSpPr>
          <p:spPr>
            <a:xfrm>
              <a:off x="4841196" y="3118548"/>
              <a:ext cx="2827147" cy="732210"/>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转速、电流测量方案选择</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a:p>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1" name="平行四边形 30">
              <a:extLst>
                <a:ext uri="{FF2B5EF4-FFF2-40B4-BE49-F238E27FC236}">
                  <a16:creationId xmlns:a16="http://schemas.microsoft.com/office/drawing/2014/main" id="{14E3991C-9A0B-3FD5-BA14-B9D0881A9E46}"/>
                </a:ext>
              </a:extLst>
            </p:cNvPr>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59" name="组合 58">
            <a:extLst>
              <a:ext uri="{FF2B5EF4-FFF2-40B4-BE49-F238E27FC236}">
                <a16:creationId xmlns:a16="http://schemas.microsoft.com/office/drawing/2014/main" id="{6E687105-B10C-CB00-E82E-99CDD5CF8A8F}"/>
              </a:ext>
            </a:extLst>
          </p:cNvPr>
          <p:cNvGrpSpPr/>
          <p:nvPr/>
        </p:nvGrpSpPr>
        <p:grpSpPr>
          <a:xfrm>
            <a:off x="2650945" y="4906216"/>
            <a:ext cx="884486" cy="523220"/>
            <a:chOff x="2215144" y="5107938"/>
            <a:chExt cx="1231128" cy="959259"/>
          </a:xfrm>
        </p:grpSpPr>
        <p:sp>
          <p:nvSpPr>
            <p:cNvPr id="60" name="平行四边形 59">
              <a:extLst>
                <a:ext uri="{FF2B5EF4-FFF2-40B4-BE49-F238E27FC236}">
                  <a16:creationId xmlns:a16="http://schemas.microsoft.com/office/drawing/2014/main" id="{30D5000E-B2F4-B2C3-2447-B3EF3983526E}"/>
                </a:ext>
              </a:extLst>
            </p:cNvPr>
            <p:cNvSpPr/>
            <p:nvPr/>
          </p:nvSpPr>
          <p:spPr>
            <a:xfrm>
              <a:off x="2215144" y="5186859"/>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61" name="文本框 13">
              <a:extLst>
                <a:ext uri="{FF2B5EF4-FFF2-40B4-BE49-F238E27FC236}">
                  <a16:creationId xmlns:a16="http://schemas.microsoft.com/office/drawing/2014/main" id="{393828C6-7394-375E-59A5-1F08CFA9A963}"/>
                </a:ext>
              </a:extLst>
            </p:cNvPr>
            <p:cNvSpPr txBox="1"/>
            <p:nvPr/>
          </p:nvSpPr>
          <p:spPr>
            <a:xfrm>
              <a:off x="2379473" y="5107938"/>
              <a:ext cx="1066799" cy="959259"/>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05</a:t>
              </a:r>
              <a:endParaRPr lang="zh-CN" altLang="en-US" sz="2800">
                <a:solidFill>
                  <a:schemeClr val="bg1"/>
                </a:solidFill>
                <a:latin typeface="Impact" panose="020B0806030902050204" pitchFamily="34" charset="0"/>
              </a:endParaRPr>
            </a:p>
          </p:txBody>
        </p:sp>
      </p:grpSp>
      <p:grpSp>
        <p:nvGrpSpPr>
          <p:cNvPr id="62" name="组合 61">
            <a:extLst>
              <a:ext uri="{FF2B5EF4-FFF2-40B4-BE49-F238E27FC236}">
                <a16:creationId xmlns:a16="http://schemas.microsoft.com/office/drawing/2014/main" id="{866B09BF-D72E-0E62-9CAC-BF4EC2027559}"/>
              </a:ext>
            </a:extLst>
          </p:cNvPr>
          <p:cNvGrpSpPr/>
          <p:nvPr/>
        </p:nvGrpSpPr>
        <p:grpSpPr>
          <a:xfrm>
            <a:off x="3330199" y="4932647"/>
            <a:ext cx="3857250" cy="459690"/>
            <a:chOff x="4315150" y="3730038"/>
            <a:chExt cx="3857250" cy="540057"/>
          </a:xfrm>
        </p:grpSpPr>
        <p:sp>
          <p:nvSpPr>
            <p:cNvPr id="63" name="矩形 62">
              <a:extLst>
                <a:ext uri="{FF2B5EF4-FFF2-40B4-BE49-F238E27FC236}">
                  <a16:creationId xmlns:a16="http://schemas.microsoft.com/office/drawing/2014/main" id="{6C2A5BA4-8B8E-47D1-3A0B-1E0E982C3E80}"/>
                </a:ext>
              </a:extLst>
            </p:cNvPr>
            <p:cNvSpPr/>
            <p:nvPr/>
          </p:nvSpPr>
          <p:spPr>
            <a:xfrm>
              <a:off x="4841197" y="3812702"/>
              <a:ext cx="2827146" cy="406783"/>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仿真验证</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4" name="平行四边形 63">
              <a:extLst>
                <a:ext uri="{FF2B5EF4-FFF2-40B4-BE49-F238E27FC236}">
                  <a16:creationId xmlns:a16="http://schemas.microsoft.com/office/drawing/2014/main" id="{1D5965A2-78BA-A3DB-B9FC-2817E85EDB85}"/>
                </a:ext>
              </a:extLst>
            </p:cNvPr>
            <p:cNvSpPr/>
            <p:nvPr/>
          </p:nvSpPr>
          <p:spPr>
            <a:xfrm>
              <a:off x="4315150" y="3730038"/>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4" name="组合 3">
            <a:extLst>
              <a:ext uri="{FF2B5EF4-FFF2-40B4-BE49-F238E27FC236}">
                <a16:creationId xmlns:a16="http://schemas.microsoft.com/office/drawing/2014/main" id="{86820A3B-620B-3B74-67A9-AF2BD095E116}"/>
              </a:ext>
            </a:extLst>
          </p:cNvPr>
          <p:cNvGrpSpPr/>
          <p:nvPr/>
        </p:nvGrpSpPr>
        <p:grpSpPr>
          <a:xfrm>
            <a:off x="4500160" y="5515777"/>
            <a:ext cx="894259" cy="523220"/>
            <a:chOff x="2215144" y="4047039"/>
            <a:chExt cx="1244730" cy="959256"/>
          </a:xfrm>
        </p:grpSpPr>
        <p:sp>
          <p:nvSpPr>
            <p:cNvPr id="17" name="平行四边形 16">
              <a:extLst>
                <a:ext uri="{FF2B5EF4-FFF2-40B4-BE49-F238E27FC236}">
                  <a16:creationId xmlns:a16="http://schemas.microsoft.com/office/drawing/2014/main" id="{9F0D8B2B-1A99-7817-2616-F8095E7CEE83}"/>
                </a:ext>
              </a:extLst>
            </p:cNvPr>
            <p:cNvSpPr/>
            <p:nvPr/>
          </p:nvSpPr>
          <p:spPr>
            <a:xfrm>
              <a:off x="2215144" y="4135856"/>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8" name="文本框 12">
              <a:extLst>
                <a:ext uri="{FF2B5EF4-FFF2-40B4-BE49-F238E27FC236}">
                  <a16:creationId xmlns:a16="http://schemas.microsoft.com/office/drawing/2014/main" id="{0DD7179D-53CC-9ABB-B067-9DAD0B25CC91}"/>
                </a:ext>
              </a:extLst>
            </p:cNvPr>
            <p:cNvSpPr txBox="1"/>
            <p:nvPr/>
          </p:nvSpPr>
          <p:spPr>
            <a:xfrm>
              <a:off x="2393075" y="4047039"/>
              <a:ext cx="1066799" cy="959256"/>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06</a:t>
              </a:r>
              <a:endParaRPr lang="zh-CN" altLang="en-US" sz="2800">
                <a:solidFill>
                  <a:schemeClr val="bg1"/>
                </a:solidFill>
                <a:latin typeface="Impact" panose="020B0806030902050204" pitchFamily="34" charset="0"/>
              </a:endParaRPr>
            </a:p>
          </p:txBody>
        </p:sp>
      </p:grpSp>
      <p:grpSp>
        <p:nvGrpSpPr>
          <p:cNvPr id="19" name="组合 18">
            <a:extLst>
              <a:ext uri="{FF2B5EF4-FFF2-40B4-BE49-F238E27FC236}">
                <a16:creationId xmlns:a16="http://schemas.microsoft.com/office/drawing/2014/main" id="{F8DEE224-DE4F-B987-146B-36047ED776AA}"/>
              </a:ext>
            </a:extLst>
          </p:cNvPr>
          <p:cNvGrpSpPr/>
          <p:nvPr/>
        </p:nvGrpSpPr>
        <p:grpSpPr>
          <a:xfrm>
            <a:off x="5179413" y="5547593"/>
            <a:ext cx="3857250" cy="693611"/>
            <a:chOff x="4315150" y="3035884"/>
            <a:chExt cx="3857250" cy="814874"/>
          </a:xfrm>
        </p:grpSpPr>
        <p:sp>
          <p:nvSpPr>
            <p:cNvPr id="32" name="矩形 31">
              <a:extLst>
                <a:ext uri="{FF2B5EF4-FFF2-40B4-BE49-F238E27FC236}">
                  <a16:creationId xmlns:a16="http://schemas.microsoft.com/office/drawing/2014/main" id="{8C9A870B-0125-E588-8978-F2071001DB1F}"/>
                </a:ext>
              </a:extLst>
            </p:cNvPr>
            <p:cNvSpPr/>
            <p:nvPr/>
          </p:nvSpPr>
          <p:spPr>
            <a:xfrm>
              <a:off x="4841196" y="3118548"/>
              <a:ext cx="2827147" cy="732210"/>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收获总结</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a:p>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3" name="平行四边形 32">
              <a:extLst>
                <a:ext uri="{FF2B5EF4-FFF2-40B4-BE49-F238E27FC236}">
                  <a16:creationId xmlns:a16="http://schemas.microsoft.com/office/drawing/2014/main" id="{B2172B6D-0C60-2378-4095-454323A5E909}"/>
                </a:ext>
              </a:extLst>
            </p:cNvPr>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spTree>
    <p:extLst>
      <p:ext uri="{BB962C8B-B14F-4D97-AF65-F5344CB8AC3E}">
        <p14:creationId xmlns:p14="http://schemas.microsoft.com/office/powerpoint/2010/main" val="2742120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3B7A5-3F96-7A4E-B967-87ACAA097DC0}"/>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3956A23E-1E1C-A18A-E607-1930BB2698DF}"/>
              </a:ext>
            </a:extLst>
          </p:cNvPr>
          <p:cNvCxnSpPr>
            <a:cxnSpLocks/>
          </p:cNvCxnSpPr>
          <p:nvPr/>
        </p:nvCxnSpPr>
        <p:spPr>
          <a:xfrm flipV="1">
            <a:off x="1014737" y="631512"/>
            <a:ext cx="7246036" cy="1620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830249B4-5601-F45B-B9B6-8E5577057D1D}"/>
              </a:ext>
            </a:extLst>
          </p:cNvPr>
          <p:cNvSpPr/>
          <p:nvPr/>
        </p:nvSpPr>
        <p:spPr>
          <a:xfrm>
            <a:off x="962591" y="154458"/>
            <a:ext cx="9840017"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二、方案选择</a:t>
            </a:r>
            <a:endParaRPr kumimoji="0" lang="zh-CN" altLang="zh-CN" sz="2400" b="1" i="0" u="none" strike="noStrike" kern="0" cap="none" spc="0" normalizeH="0" baseline="0" noProof="0">
              <a:ln>
                <a:noFill/>
              </a:ln>
              <a:solidFill>
                <a:prstClr val="black"/>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5754D7BB-8737-4022-F62D-82957B22F4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CE752A95-6CB9-F501-2417-E0999F85316E}"/>
                  </a:ext>
                </a:extLst>
              </p:cNvPr>
              <p:cNvSpPr txBox="1"/>
              <p:nvPr/>
            </p:nvSpPr>
            <p:spPr>
              <a:xfrm>
                <a:off x="1400741" y="1501023"/>
                <a:ext cx="8590984" cy="4197559"/>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zh-CN">
                    <a:latin typeface="Times New Roman" panose="02020603050405020304" pitchFamily="18" charset="0"/>
                    <a:ea typeface="宋体" panose="02010600030101010101" pitchFamily="2" charset="-122"/>
                  </a:rPr>
                  <a:t>对于直流提升机调速控制系统的方案设计，结合课程知识可选择使用转速，电流双闭环的调速系统来设计主电路，对于控制方法我们可以</a:t>
                </a:r>
                <a:r>
                  <a:rPr lang="zh-CN" altLang="en-US">
                    <a:latin typeface="Times New Roman" panose="02020603050405020304" pitchFamily="18" charset="0"/>
                    <a:ea typeface="宋体" panose="02010600030101010101" pitchFamily="2" charset="-122"/>
                  </a:rPr>
                  <a:t>选择</a:t>
                </a:r>
                <a:r>
                  <a:rPr lang="zh-CN" altLang="zh-CN">
                    <a:latin typeface="Times New Roman" panose="02020603050405020304" pitchFamily="18" charset="0"/>
                    <a:ea typeface="宋体" panose="02010600030101010101" pitchFamily="2" charset="-122"/>
                  </a:rPr>
                  <a:t>经典PI控制</a:t>
                </a:r>
                <a:r>
                  <a:rPr lang="zh-CN" altLang="en-US">
                    <a:latin typeface="Times New Roman" panose="02020603050405020304" pitchFamily="18" charset="0"/>
                    <a:ea typeface="宋体" panose="02010600030101010101" pitchFamily="2" charset="-122"/>
                  </a:rPr>
                  <a:t>和</a:t>
                </a:r>
                <a:r>
                  <a:rPr lang="zh-CN" altLang="zh-CN">
                    <a:latin typeface="Times New Roman" panose="02020603050405020304" pitchFamily="18" charset="0"/>
                    <a:ea typeface="宋体" panose="02010600030101010101" pitchFamily="2" charset="-122"/>
                  </a:rPr>
                  <a:t>PID控制。</a:t>
                </a:r>
                <a:endParaRPr lang="en-US" altLang="zh-CN">
                  <a:latin typeface="Times New Roman" panose="02020603050405020304" pitchFamily="18" charset="0"/>
                  <a:ea typeface="宋体" panose="02010600030101010101" pitchFamily="2" charset="-122"/>
                </a:endParaRPr>
              </a:p>
              <a:p>
                <a:pPr indent="266700" algn="just">
                  <a:lnSpc>
                    <a:spcPct val="150000"/>
                  </a:lnSpc>
                </a:pPr>
                <a:endParaRPr lang="zh-CN" altLang="zh-CN">
                  <a:latin typeface="Times New Roman" panose="02020603050405020304" pitchFamily="18" charset="0"/>
                  <a:ea typeface="宋体" panose="02010600030101010101" pitchFamily="2" charset="-122"/>
                </a:endParaRPr>
              </a:p>
              <a:p>
                <a:pPr marL="285750" indent="-285750" algn="just">
                  <a:lnSpc>
                    <a:spcPct val="150000"/>
                  </a:lnSpc>
                  <a:buFont typeface="Wingdings" panose="05000000000000000000" pitchFamily="2" charset="2"/>
                  <a:buChar char="Ø"/>
                </a:pPr>
                <a:r>
                  <a:rPr lang="zh-CN" altLang="zh-CN">
                    <a:latin typeface="Times New Roman" panose="02020603050405020304" pitchFamily="18" charset="0"/>
                    <a:ea typeface="宋体" panose="02010600030101010101" pitchFamily="2" charset="-122"/>
                  </a:rPr>
                  <a:t>动态指标：电流超调量</a:t>
                </a:r>
                <a14:m>
                  <m:oMath xmlns:m="http://schemas.openxmlformats.org/officeDocument/2006/math">
                    <m:sSub>
                      <m:sSubPr>
                        <m:ctrlPr>
                          <a:rPr lang="zh-CN" altLang="zh-CN" i="1">
                            <a:latin typeface="Cambria Math" panose="02040503050406030204" pitchFamily="18" charset="0"/>
                          </a:rPr>
                        </m:ctrlPr>
                      </m:sSubPr>
                      <m:e>
                        <m:r>
                          <m:rPr>
                            <m:sty m:val="p"/>
                          </m:rPr>
                          <a:rPr lang="en-US" altLang="zh-CN" b="0" i="1" smtClean="0">
                            <a:latin typeface="Cambria Math" panose="02040503050406030204" pitchFamily="18" charset="0"/>
                          </a:rPr>
                          <m:t>σ</m:t>
                        </m:r>
                      </m:e>
                      <m:sub>
                        <m:r>
                          <m:rPr>
                            <m:sty m:val="p"/>
                          </m:rPr>
                          <a:rPr lang="en-US" altLang="zh-CN" b="0" i="1" smtClean="0">
                            <a:latin typeface="Cambria Math" panose="02040503050406030204" pitchFamily="18" charset="0"/>
                          </a:rPr>
                          <m:t>i</m:t>
                        </m:r>
                      </m:sub>
                    </m:sSub>
                    <m:r>
                      <a:rPr lang="zh-CN" altLang="zh-CN" b="0" smtClean="0">
                        <a:latin typeface="Cambria Math" panose="02040503050406030204" pitchFamily="18" charset="0"/>
                      </a:rPr>
                      <m:t>≤</m:t>
                    </m:r>
                    <m:r>
                      <a:rPr lang="en-US" altLang="zh-CN" b="0" smtClean="0">
                        <a:latin typeface="Cambria Math" panose="02040503050406030204" pitchFamily="18" charset="0"/>
                      </a:rPr>
                      <m:t>5%</m:t>
                    </m:r>
                  </m:oMath>
                </a14:m>
                <a:r>
                  <a:rPr lang="zh-CN" altLang="zh-CN">
                    <a:latin typeface="Times New Roman" panose="02020603050405020304" pitchFamily="18" charset="0"/>
                    <a:ea typeface="宋体" panose="02010600030101010101" pitchFamily="2" charset="-122"/>
                  </a:rPr>
                  <a:t>，启动到额定转速时的转速超调量</a:t>
                </a:r>
                <a14:m>
                  <m:oMath xmlns:m="http://schemas.openxmlformats.org/officeDocument/2006/math">
                    <m:sSub>
                      <m:sSubPr>
                        <m:ctrlPr>
                          <a:rPr lang="zh-CN" altLang="zh-CN" i="1">
                            <a:latin typeface="Cambria Math" panose="02040503050406030204" pitchFamily="18" charset="0"/>
                          </a:rPr>
                        </m:ctrlPr>
                      </m:sSubPr>
                      <m:e>
                        <m:r>
                          <m:rPr>
                            <m:sty m:val="p"/>
                          </m:rPr>
                          <a:rPr lang="en-US" altLang="zh-CN" b="0" i="1" smtClean="0">
                            <a:latin typeface="Cambria Math" panose="02040503050406030204" pitchFamily="18" charset="0"/>
                          </a:rPr>
                          <m:t>σ</m:t>
                        </m:r>
                      </m:e>
                      <m:sub>
                        <m:r>
                          <m:rPr>
                            <m:sty m:val="p"/>
                          </m:rPr>
                          <a:rPr lang="en-US" altLang="zh-CN" b="0" i="1" smtClean="0">
                            <a:latin typeface="Cambria Math" panose="02040503050406030204" pitchFamily="18" charset="0"/>
                          </a:rPr>
                          <m:t>n</m:t>
                        </m:r>
                      </m:sub>
                    </m:sSub>
                    <m:r>
                      <a:rPr lang="zh-CN" altLang="zh-CN" b="0" smtClean="0">
                        <a:latin typeface="Cambria Math" panose="02040503050406030204" pitchFamily="18" charset="0"/>
                      </a:rPr>
                      <m:t>≤</m:t>
                    </m:r>
                    <m:r>
                      <a:rPr lang="en-US" altLang="zh-CN" b="0" smtClean="0">
                        <a:latin typeface="Cambria Math" panose="02040503050406030204" pitchFamily="18" charset="0"/>
                      </a:rPr>
                      <m:t>10%</m:t>
                    </m:r>
                  </m:oMath>
                </a14:m>
                <a:r>
                  <a:rPr lang="zh-CN"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两个调节器均采用带有限幅作用的</a:t>
                </a:r>
                <a:r>
                  <a:rPr lang="en-US" altLang="zh-CN">
                    <a:latin typeface="Times New Roman" panose="02020603050405020304" pitchFamily="18" charset="0"/>
                    <a:ea typeface="宋体" panose="02010600030101010101" pitchFamily="2" charset="-122"/>
                  </a:rPr>
                  <a:t>PI</a:t>
                </a:r>
                <a:r>
                  <a:rPr lang="zh-CN" altLang="en-US">
                    <a:latin typeface="Times New Roman" panose="02020603050405020304" pitchFamily="18" charset="0"/>
                    <a:ea typeface="宋体" panose="02010600030101010101" pitchFamily="2" charset="-122"/>
                  </a:rPr>
                  <a:t>调节器，转速调节器</a:t>
                </a:r>
                <a:r>
                  <a:rPr lang="en-US" altLang="zh-CN">
                    <a:latin typeface="Times New Roman" panose="02020603050405020304" pitchFamily="18" charset="0"/>
                    <a:ea typeface="宋体" panose="02010600030101010101" pitchFamily="2" charset="-122"/>
                  </a:rPr>
                  <a:t>ASR</a:t>
                </a:r>
                <a:r>
                  <a:rPr lang="zh-CN" altLang="en-US">
                    <a:latin typeface="Times New Roman" panose="02020603050405020304" pitchFamily="18" charset="0"/>
                    <a:ea typeface="宋体" panose="02010600030101010101" pitchFamily="2" charset="-122"/>
                  </a:rPr>
                  <a:t>的输出限幅值</a:t>
                </a:r>
                <a14:m>
                  <m:oMath xmlns:m="http://schemas.openxmlformats.org/officeDocument/2006/math">
                    <m:sSubSup>
                      <m:sSubSupPr>
                        <m:ctrlPr>
                          <a:rPr lang="en-US" altLang="zh-CN" i="1">
                            <a:latin typeface="Cambria Math" panose="02040503050406030204" pitchFamily="18" charset="0"/>
                          </a:rPr>
                        </m:ctrlPr>
                      </m:sSubSupPr>
                      <m:e>
                        <m:r>
                          <m:rPr>
                            <m:sty m:val="p"/>
                          </m:rPr>
                          <a:rPr lang="en-US" altLang="zh-CN" b="0" i="1" smtClean="0">
                            <a:latin typeface="Cambria Math" panose="02040503050406030204" pitchFamily="18" charset="0"/>
                          </a:rPr>
                          <m:t>U</m:t>
                        </m:r>
                      </m:e>
                      <m:sub>
                        <m:r>
                          <m:rPr>
                            <m:sty m:val="p"/>
                          </m:rPr>
                          <a:rPr lang="en-US" altLang="zh-CN" b="0" smtClean="0">
                            <a:latin typeface="Cambria Math" panose="02040503050406030204" pitchFamily="18" charset="0"/>
                          </a:rPr>
                          <m:t>im</m:t>
                        </m:r>
                      </m:sub>
                      <m:sup>
                        <m:r>
                          <a:rPr lang="zh-CN" altLang="en-US" b="0" smtClean="0">
                            <a:latin typeface="Cambria Math" panose="02040503050406030204" pitchFamily="18" charset="0"/>
                          </a:rPr>
                          <m:t>∗</m:t>
                        </m:r>
                      </m:sup>
                    </m:sSubSup>
                  </m:oMath>
                </a14:m>
                <a:r>
                  <a:rPr lang="zh-CN" altLang="en-US">
                    <a:latin typeface="Times New Roman" panose="02020603050405020304" pitchFamily="18" charset="0"/>
                    <a:ea typeface="宋体" panose="02010600030101010101" pitchFamily="2" charset="-122"/>
                  </a:rPr>
                  <a:t>决定电流给定的最大值，电流调节器</a:t>
                </a:r>
                <a:r>
                  <a:rPr lang="en-US" altLang="zh-CN">
                    <a:latin typeface="Times New Roman" panose="02020603050405020304" pitchFamily="18" charset="0"/>
                    <a:ea typeface="宋体" panose="02010600030101010101" pitchFamily="2" charset="-122"/>
                  </a:rPr>
                  <a:t>ACR</a:t>
                </a:r>
                <a:r>
                  <a:rPr lang="zh-CN" altLang="en-US">
                    <a:latin typeface="Times New Roman" panose="02020603050405020304" pitchFamily="18" charset="0"/>
                    <a:ea typeface="宋体" panose="02010600030101010101" pitchFamily="2" charset="-122"/>
                  </a:rPr>
                  <a:t>的输出限幅值</a:t>
                </a:r>
                <a14:m>
                  <m:oMath xmlns:m="http://schemas.openxmlformats.org/officeDocument/2006/math">
                    <m:sSub>
                      <m:sSubPr>
                        <m:ctrlPr>
                          <a:rPr lang="en-US" altLang="zh-CN" i="1">
                            <a:latin typeface="Cambria Math" panose="02040503050406030204" pitchFamily="18" charset="0"/>
                          </a:rPr>
                        </m:ctrlPr>
                      </m:sSubPr>
                      <m:e>
                        <m:r>
                          <m:rPr>
                            <m:sty m:val="p"/>
                          </m:rPr>
                          <a:rPr lang="en-US" altLang="zh-CN" b="0" i="1" smtClean="0">
                            <a:latin typeface="Cambria Math" panose="02040503050406030204" pitchFamily="18" charset="0"/>
                          </a:rPr>
                          <m:t>U</m:t>
                        </m:r>
                      </m:e>
                      <m:sub>
                        <m:r>
                          <m:rPr>
                            <m:sty m:val="p"/>
                          </m:rPr>
                          <a:rPr lang="en-US" altLang="zh-CN" b="0" smtClean="0">
                            <a:latin typeface="Cambria Math" panose="02040503050406030204" pitchFamily="18" charset="0"/>
                          </a:rPr>
                          <m:t>cm</m:t>
                        </m:r>
                      </m:sub>
                    </m:sSub>
                  </m:oMath>
                </a14:m>
                <a:r>
                  <a:rPr lang="zh-CN" altLang="en-US">
                    <a:latin typeface="Times New Roman" panose="02020603050405020304" pitchFamily="18" charset="0"/>
                    <a:ea typeface="宋体" panose="02010600030101010101" pitchFamily="2" charset="-122"/>
                  </a:rPr>
                  <a:t>限制电力电子变换装置的最大输出电</a:t>
                </a:r>
                <a14:m>
                  <m:oMath xmlns:m="http://schemas.openxmlformats.org/officeDocument/2006/math">
                    <m:sSub>
                      <m:sSubPr>
                        <m:ctrlPr>
                          <a:rPr lang="en-US" altLang="zh-CN" i="1">
                            <a:latin typeface="Cambria Math" panose="02040503050406030204" pitchFamily="18" charset="0"/>
                          </a:rPr>
                        </m:ctrlPr>
                      </m:sSubPr>
                      <m:e>
                        <m:r>
                          <m:rPr>
                            <m:sty m:val="p"/>
                          </m:rPr>
                          <a:rPr lang="en-US" altLang="zh-CN" b="0" i="1" smtClean="0">
                            <a:latin typeface="Cambria Math" panose="02040503050406030204" pitchFamily="18" charset="0"/>
                          </a:rPr>
                          <m:t>U</m:t>
                        </m:r>
                      </m:e>
                      <m:sub>
                        <m:r>
                          <m:rPr>
                            <m:sty m:val="p"/>
                          </m:rPr>
                          <a:rPr lang="en-US" altLang="zh-CN" b="0" smtClean="0">
                            <a:latin typeface="Cambria Math" panose="02040503050406030204" pitchFamily="18" charset="0"/>
                          </a:rPr>
                          <m:t>dm</m:t>
                        </m:r>
                      </m:sub>
                    </m:sSub>
                    <m:r>
                      <a:rPr lang="en-US" altLang="zh-CN" b="0" smtClean="0">
                        <a:latin typeface="Cambria Math" panose="02040503050406030204" pitchFamily="18" charset="0"/>
                      </a:rPr>
                      <m:t> </m:t>
                    </m:r>
                  </m:oMath>
                </a14:m>
                <a:r>
                  <a:rPr lang="zh-CN" altLang="zh-CN">
                    <a:latin typeface="Times New Roman" panose="02020603050405020304" pitchFamily="18" charset="0"/>
                    <a:ea typeface="宋体" panose="02010600030101010101" pitchFamily="2" charset="-122"/>
                  </a:rPr>
                  <a:t>。</a:t>
                </a:r>
                <a:endParaRPr lang="zh-CN" altLang="en-US">
                  <a:latin typeface="Times New Roman" panose="02020603050405020304" pitchFamily="18" charset="0"/>
                  <a:ea typeface="宋体" panose="02010600030101010101" pitchFamily="2" charset="-122"/>
                </a:endParaRPr>
              </a:p>
              <a:p>
                <a:pPr indent="127000" algn="just">
                  <a:lnSpc>
                    <a:spcPct val="150000"/>
                  </a:lnSpc>
                </a:pPr>
                <a:endParaRPr lang="zh-CN" altLang="zh-CN" sz="1800">
                  <a:effectLst/>
                  <a:latin typeface="Times New Roman" panose="02020603050405020304" pitchFamily="18" charset="0"/>
                  <a:ea typeface="宋体" panose="02010600030101010101" pitchFamily="2" charset="-122"/>
                </a:endParaRPr>
              </a:p>
              <a:p>
                <a:pPr indent="304800" algn="just">
                  <a:lnSpc>
                    <a:spcPct val="150000"/>
                  </a:lnSpc>
                </a:pPr>
                <a:endParaRPr lang="en-US" altLang="zh-CN">
                  <a:latin typeface="Times New Roman" panose="02020603050405020304" pitchFamily="18" charset="0"/>
                  <a:ea typeface="宋体" panose="02010600030101010101" pitchFamily="2" charset="-122"/>
                </a:endParaRPr>
              </a:p>
            </p:txBody>
          </p:sp>
        </mc:Choice>
        <mc:Fallback xmlns="">
          <p:sp>
            <p:nvSpPr>
              <p:cNvPr id="4" name="文本框 3">
                <a:extLst>
                  <a:ext uri="{FF2B5EF4-FFF2-40B4-BE49-F238E27FC236}">
                    <a16:creationId xmlns:a16="http://schemas.microsoft.com/office/drawing/2014/main" id="{CE752A95-6CB9-F501-2417-E0999F85316E}"/>
                  </a:ext>
                </a:extLst>
              </p:cNvPr>
              <p:cNvSpPr txBox="1">
                <a:spLocks noRot="1" noChangeAspect="1" noMove="1" noResize="1" noEditPoints="1" noAdjustHandles="1" noChangeArrowheads="1" noChangeShapeType="1" noTextEdit="1"/>
              </p:cNvSpPr>
              <p:nvPr/>
            </p:nvSpPr>
            <p:spPr>
              <a:xfrm>
                <a:off x="1400741" y="1501023"/>
                <a:ext cx="8590984" cy="4197559"/>
              </a:xfrm>
              <a:prstGeom prst="rect">
                <a:avLst/>
              </a:prstGeom>
              <a:blipFill>
                <a:blip r:embed="rId4"/>
                <a:stretch>
                  <a:fillRect l="-497" r="-56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01914811"/>
      </p:ext>
    </p:extLst>
  </p:cSld>
  <p:clrMapOvr>
    <a:masterClrMapping/>
  </p:clrMapOvr>
  <p:transition spd="slow" advTm="9487"/>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2958E-D481-0950-3840-C14E34355731}"/>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044654C6-1364-DF90-702D-E0874406551B}"/>
              </a:ext>
            </a:extLst>
          </p:cNvPr>
          <p:cNvSpPr txBox="1"/>
          <p:nvPr/>
        </p:nvSpPr>
        <p:spPr>
          <a:xfrm>
            <a:off x="4947290" y="225896"/>
            <a:ext cx="1808143" cy="923330"/>
          </a:xfrm>
          <a:prstGeom prst="rect">
            <a:avLst/>
          </a:prstGeom>
          <a:noFill/>
        </p:spPr>
        <p:txBody>
          <a:bodyPr wrap="square" rtlCol="0">
            <a:spAutoFit/>
          </a:bodyPr>
          <a:lstStyle/>
          <a:p>
            <a:pPr algn="dist"/>
            <a:r>
              <a:rPr lang="zh-CN" altLang="en-US" sz="5400" b="1">
                <a:solidFill>
                  <a:srgbClr val="0070C0"/>
                </a:solidFill>
                <a:latin typeface="微软雅黑" panose="020B0503020204020204" pitchFamily="34" charset="-122"/>
                <a:ea typeface="微软雅黑" panose="020B0503020204020204" pitchFamily="34" charset="-122"/>
              </a:rPr>
              <a:t>目录</a:t>
            </a:r>
          </a:p>
        </p:txBody>
      </p:sp>
      <p:cxnSp>
        <p:nvCxnSpPr>
          <p:cNvPr id="2" name="直接连接符 1">
            <a:extLst>
              <a:ext uri="{FF2B5EF4-FFF2-40B4-BE49-F238E27FC236}">
                <a16:creationId xmlns:a16="http://schemas.microsoft.com/office/drawing/2014/main" id="{3B045D54-F49E-468B-712F-172EA8029DE5}"/>
              </a:ext>
            </a:extLst>
          </p:cNvPr>
          <p:cNvCxnSpPr>
            <a:cxnSpLocks/>
          </p:cNvCxnSpPr>
          <p:nvPr/>
        </p:nvCxnSpPr>
        <p:spPr>
          <a:xfrm flipV="1">
            <a:off x="0" y="1095749"/>
            <a:ext cx="12192000" cy="70720"/>
          </a:xfrm>
          <a:prstGeom prst="line">
            <a:avLst/>
          </a:prstGeom>
          <a:ln w="635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5" name="组合 4">
            <a:extLst>
              <a:ext uri="{FF2B5EF4-FFF2-40B4-BE49-F238E27FC236}">
                <a16:creationId xmlns:a16="http://schemas.microsoft.com/office/drawing/2014/main" id="{A5049A1B-FD69-3E62-B14F-2EC5D433EC81}"/>
              </a:ext>
            </a:extLst>
          </p:cNvPr>
          <p:cNvGrpSpPr/>
          <p:nvPr/>
        </p:nvGrpSpPr>
        <p:grpSpPr>
          <a:xfrm>
            <a:off x="2650945" y="2545874"/>
            <a:ext cx="894259" cy="489631"/>
            <a:chOff x="2215144" y="927951"/>
            <a:chExt cx="1244730" cy="897673"/>
          </a:xfrm>
        </p:grpSpPr>
        <p:sp>
          <p:nvSpPr>
            <p:cNvPr id="6" name="平行四边形 5">
              <a:extLst>
                <a:ext uri="{FF2B5EF4-FFF2-40B4-BE49-F238E27FC236}">
                  <a16:creationId xmlns:a16="http://schemas.microsoft.com/office/drawing/2014/main" id="{B2A90791-1068-B54C-F911-E299053FD102}"/>
                </a:ext>
              </a:extLst>
            </p:cNvPr>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7" name="文本框 9">
              <a:extLst>
                <a:ext uri="{FF2B5EF4-FFF2-40B4-BE49-F238E27FC236}">
                  <a16:creationId xmlns:a16="http://schemas.microsoft.com/office/drawing/2014/main" id="{DB941BF8-8B7C-FFE7-C6B3-14C819247382}"/>
                </a:ext>
              </a:extLst>
            </p:cNvPr>
            <p:cNvSpPr txBox="1"/>
            <p:nvPr/>
          </p:nvSpPr>
          <p:spPr>
            <a:xfrm>
              <a:off x="2393075" y="927951"/>
              <a:ext cx="1066799" cy="816504"/>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01</a:t>
              </a:r>
              <a:endParaRPr lang="zh-CN" altLang="en-US" sz="2800">
                <a:solidFill>
                  <a:schemeClr val="bg1"/>
                </a:solidFill>
                <a:latin typeface="Impact" panose="020B0806030902050204" pitchFamily="34" charset="0"/>
              </a:endParaRPr>
            </a:p>
          </p:txBody>
        </p:sp>
      </p:grpSp>
      <p:grpSp>
        <p:nvGrpSpPr>
          <p:cNvPr id="8" name="组合 7">
            <a:extLst>
              <a:ext uri="{FF2B5EF4-FFF2-40B4-BE49-F238E27FC236}">
                <a16:creationId xmlns:a16="http://schemas.microsoft.com/office/drawing/2014/main" id="{C4C8E597-F397-361F-7063-7FA2D5A69AEB}"/>
              </a:ext>
            </a:extLst>
          </p:cNvPr>
          <p:cNvGrpSpPr/>
          <p:nvPr/>
        </p:nvGrpSpPr>
        <p:grpSpPr>
          <a:xfrm>
            <a:off x="4579570" y="3121702"/>
            <a:ext cx="894259" cy="504163"/>
            <a:chOff x="2215144" y="1952311"/>
            <a:chExt cx="1244730" cy="924318"/>
          </a:xfrm>
        </p:grpSpPr>
        <p:sp>
          <p:nvSpPr>
            <p:cNvPr id="9" name="平行四边形 8">
              <a:extLst>
                <a:ext uri="{FF2B5EF4-FFF2-40B4-BE49-F238E27FC236}">
                  <a16:creationId xmlns:a16="http://schemas.microsoft.com/office/drawing/2014/main" id="{0160B615-8723-33C6-9E5E-DF2C12C68EBD}"/>
                </a:ext>
              </a:extLst>
            </p:cNvPr>
            <p:cNvSpPr/>
            <p:nvPr/>
          </p:nvSpPr>
          <p:spPr>
            <a:xfrm>
              <a:off x="2215144" y="2033848"/>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0" name="文本框 10">
              <a:extLst>
                <a:ext uri="{FF2B5EF4-FFF2-40B4-BE49-F238E27FC236}">
                  <a16:creationId xmlns:a16="http://schemas.microsoft.com/office/drawing/2014/main" id="{0E11DD8A-B6CB-1BE6-3013-599EFC8C0981}"/>
                </a:ext>
              </a:extLst>
            </p:cNvPr>
            <p:cNvSpPr txBox="1"/>
            <p:nvPr/>
          </p:nvSpPr>
          <p:spPr>
            <a:xfrm>
              <a:off x="2393075" y="1952311"/>
              <a:ext cx="1066799" cy="816508"/>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02</a:t>
              </a:r>
              <a:endParaRPr lang="zh-CN" altLang="en-US" sz="2800">
                <a:solidFill>
                  <a:schemeClr val="bg1"/>
                </a:solidFill>
                <a:latin typeface="Impact" panose="020B0806030902050204" pitchFamily="34" charset="0"/>
              </a:endParaRPr>
            </a:p>
          </p:txBody>
        </p:sp>
      </p:grpSp>
      <p:grpSp>
        <p:nvGrpSpPr>
          <p:cNvPr id="11" name="组合 10">
            <a:extLst>
              <a:ext uri="{FF2B5EF4-FFF2-40B4-BE49-F238E27FC236}">
                <a16:creationId xmlns:a16="http://schemas.microsoft.com/office/drawing/2014/main" id="{C832AC41-C3BB-BF67-6E3D-25277FBB44EB}"/>
              </a:ext>
            </a:extLst>
          </p:cNvPr>
          <p:cNvGrpSpPr/>
          <p:nvPr/>
        </p:nvGrpSpPr>
        <p:grpSpPr>
          <a:xfrm>
            <a:off x="2650945" y="3715911"/>
            <a:ext cx="894259" cy="523220"/>
            <a:chOff x="2215144" y="3018134"/>
            <a:chExt cx="1244730" cy="959255"/>
          </a:xfrm>
        </p:grpSpPr>
        <p:sp>
          <p:nvSpPr>
            <p:cNvPr id="12" name="平行四边形 11">
              <a:extLst>
                <a:ext uri="{FF2B5EF4-FFF2-40B4-BE49-F238E27FC236}">
                  <a16:creationId xmlns:a16="http://schemas.microsoft.com/office/drawing/2014/main" id="{180EBC51-2B73-060D-663A-E9E57F2E6E90}"/>
                </a:ext>
              </a:extLst>
            </p:cNvPr>
            <p:cNvSpPr/>
            <p:nvPr/>
          </p:nvSpPr>
          <p:spPr>
            <a:xfrm>
              <a:off x="2215144" y="3084852"/>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3" name="文本框 11">
              <a:extLst>
                <a:ext uri="{FF2B5EF4-FFF2-40B4-BE49-F238E27FC236}">
                  <a16:creationId xmlns:a16="http://schemas.microsoft.com/office/drawing/2014/main" id="{38C0DB54-B4D6-123A-0774-257FEA531BF7}"/>
                </a:ext>
              </a:extLst>
            </p:cNvPr>
            <p:cNvSpPr txBox="1"/>
            <p:nvPr/>
          </p:nvSpPr>
          <p:spPr>
            <a:xfrm>
              <a:off x="2393075" y="3018134"/>
              <a:ext cx="1066799" cy="959255"/>
            </a:xfrm>
            <a:prstGeom prst="rect">
              <a:avLst/>
            </a:prstGeom>
            <a:noFill/>
          </p:spPr>
          <p:txBody>
            <a:bodyPr wrap="square" rtlCol="0">
              <a:spAutoFit/>
            </a:bodyPr>
            <a:lstStyle/>
            <a:p>
              <a:r>
                <a:rPr lang="en-US" altLang="zh-CN" sz="2800">
                  <a:solidFill>
                    <a:srgbClr val="FF0000"/>
                  </a:solidFill>
                  <a:latin typeface="Impact" panose="020B0806030902050204" pitchFamily="34" charset="0"/>
                </a:rPr>
                <a:t>03</a:t>
              </a:r>
              <a:endParaRPr lang="zh-CN" altLang="en-US" sz="2800">
                <a:solidFill>
                  <a:srgbClr val="FF0000"/>
                </a:solidFill>
                <a:latin typeface="Impact" panose="020B0806030902050204" pitchFamily="34" charset="0"/>
              </a:endParaRPr>
            </a:p>
          </p:txBody>
        </p:sp>
      </p:grpSp>
      <p:grpSp>
        <p:nvGrpSpPr>
          <p:cNvPr id="14" name="组合 13">
            <a:extLst>
              <a:ext uri="{FF2B5EF4-FFF2-40B4-BE49-F238E27FC236}">
                <a16:creationId xmlns:a16="http://schemas.microsoft.com/office/drawing/2014/main" id="{833FBAAC-7485-5DA2-F231-814701AF702B}"/>
              </a:ext>
            </a:extLst>
          </p:cNvPr>
          <p:cNvGrpSpPr/>
          <p:nvPr/>
        </p:nvGrpSpPr>
        <p:grpSpPr>
          <a:xfrm>
            <a:off x="4579570" y="4270750"/>
            <a:ext cx="894259" cy="508134"/>
            <a:chOff x="2215144" y="4047039"/>
            <a:chExt cx="1244730" cy="931598"/>
          </a:xfrm>
        </p:grpSpPr>
        <p:sp>
          <p:nvSpPr>
            <p:cNvPr id="15" name="平行四边形 14">
              <a:extLst>
                <a:ext uri="{FF2B5EF4-FFF2-40B4-BE49-F238E27FC236}">
                  <a16:creationId xmlns:a16="http://schemas.microsoft.com/office/drawing/2014/main" id="{C5B52FB1-7C6C-8E77-4D34-8E6524ED6E2E}"/>
                </a:ext>
              </a:extLst>
            </p:cNvPr>
            <p:cNvSpPr/>
            <p:nvPr/>
          </p:nvSpPr>
          <p:spPr>
            <a:xfrm>
              <a:off x="2215144" y="4135856"/>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6" name="文本框 12">
              <a:extLst>
                <a:ext uri="{FF2B5EF4-FFF2-40B4-BE49-F238E27FC236}">
                  <a16:creationId xmlns:a16="http://schemas.microsoft.com/office/drawing/2014/main" id="{BDCCA625-C5DD-563E-F832-AAEBC67A572E}"/>
                </a:ext>
              </a:extLst>
            </p:cNvPr>
            <p:cNvSpPr txBox="1"/>
            <p:nvPr/>
          </p:nvSpPr>
          <p:spPr>
            <a:xfrm>
              <a:off x="2393075" y="4047039"/>
              <a:ext cx="1066799" cy="816506"/>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04</a:t>
              </a:r>
              <a:endParaRPr lang="zh-CN" altLang="en-US" sz="2800">
                <a:solidFill>
                  <a:schemeClr val="bg1"/>
                </a:solidFill>
                <a:latin typeface="Impact" panose="020B0806030902050204" pitchFamily="34" charset="0"/>
              </a:endParaRPr>
            </a:p>
          </p:txBody>
        </p:sp>
      </p:grpSp>
      <p:grpSp>
        <p:nvGrpSpPr>
          <p:cNvPr id="20" name="组合 19">
            <a:extLst>
              <a:ext uri="{FF2B5EF4-FFF2-40B4-BE49-F238E27FC236}">
                <a16:creationId xmlns:a16="http://schemas.microsoft.com/office/drawing/2014/main" id="{B7B984F6-A54A-ED37-6006-5EC78F3D5DB2}"/>
              </a:ext>
            </a:extLst>
          </p:cNvPr>
          <p:cNvGrpSpPr/>
          <p:nvPr/>
        </p:nvGrpSpPr>
        <p:grpSpPr>
          <a:xfrm>
            <a:off x="3330198" y="2559185"/>
            <a:ext cx="3857250" cy="459690"/>
            <a:chOff x="4315150" y="953426"/>
            <a:chExt cx="3857250" cy="540057"/>
          </a:xfrm>
        </p:grpSpPr>
        <p:sp>
          <p:nvSpPr>
            <p:cNvPr id="21" name="矩形 20">
              <a:extLst>
                <a:ext uri="{FF2B5EF4-FFF2-40B4-BE49-F238E27FC236}">
                  <a16:creationId xmlns:a16="http://schemas.microsoft.com/office/drawing/2014/main" id="{1F924599-0CDE-8342-AF25-45154F5CEF30}"/>
                </a:ext>
              </a:extLst>
            </p:cNvPr>
            <p:cNvSpPr/>
            <p:nvPr/>
          </p:nvSpPr>
          <p:spPr>
            <a:xfrm>
              <a:off x="4841196" y="1036090"/>
              <a:ext cx="2827147" cy="406783"/>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设计任务</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2" name="平行四边形 21">
              <a:extLst>
                <a:ext uri="{FF2B5EF4-FFF2-40B4-BE49-F238E27FC236}">
                  <a16:creationId xmlns:a16="http://schemas.microsoft.com/office/drawing/2014/main" id="{A637F0C4-CED8-AAF2-5AE4-906E770D23C0}"/>
                </a:ext>
              </a:extLst>
            </p:cNvPr>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23" name="组合 22">
            <a:extLst>
              <a:ext uri="{FF2B5EF4-FFF2-40B4-BE49-F238E27FC236}">
                <a16:creationId xmlns:a16="http://schemas.microsoft.com/office/drawing/2014/main" id="{6C4B00BB-62A5-DFAC-3331-E06FDA3B2F32}"/>
              </a:ext>
            </a:extLst>
          </p:cNvPr>
          <p:cNvGrpSpPr/>
          <p:nvPr/>
        </p:nvGrpSpPr>
        <p:grpSpPr>
          <a:xfrm>
            <a:off x="5258823" y="3149552"/>
            <a:ext cx="3857250" cy="459690"/>
            <a:chOff x="4315150" y="1647579"/>
            <a:chExt cx="3857250" cy="540057"/>
          </a:xfrm>
        </p:grpSpPr>
        <p:sp>
          <p:nvSpPr>
            <p:cNvPr id="24" name="矩形 23">
              <a:extLst>
                <a:ext uri="{FF2B5EF4-FFF2-40B4-BE49-F238E27FC236}">
                  <a16:creationId xmlns:a16="http://schemas.microsoft.com/office/drawing/2014/main" id="{FD4091E1-C543-3B13-384F-8875FC5F45FD}"/>
                </a:ext>
              </a:extLst>
            </p:cNvPr>
            <p:cNvSpPr/>
            <p:nvPr/>
          </p:nvSpPr>
          <p:spPr>
            <a:xfrm>
              <a:off x="4841196" y="1730243"/>
              <a:ext cx="2827147" cy="406783"/>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方案选择</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5" name="平行四边形 24">
              <a:extLst>
                <a:ext uri="{FF2B5EF4-FFF2-40B4-BE49-F238E27FC236}">
                  <a16:creationId xmlns:a16="http://schemas.microsoft.com/office/drawing/2014/main" id="{1A642B76-8A30-A9FE-3450-76CC6A05D663}"/>
                </a:ext>
              </a:extLst>
            </p:cNvPr>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26" name="组合 25">
            <a:extLst>
              <a:ext uri="{FF2B5EF4-FFF2-40B4-BE49-F238E27FC236}">
                <a16:creationId xmlns:a16="http://schemas.microsoft.com/office/drawing/2014/main" id="{4B8E876C-234F-1D24-FF36-CEB04D45B945}"/>
              </a:ext>
            </a:extLst>
          </p:cNvPr>
          <p:cNvGrpSpPr/>
          <p:nvPr/>
        </p:nvGrpSpPr>
        <p:grpSpPr>
          <a:xfrm>
            <a:off x="3330198" y="3736065"/>
            <a:ext cx="3857250" cy="459690"/>
            <a:chOff x="4315150" y="2341731"/>
            <a:chExt cx="3857250" cy="540057"/>
          </a:xfrm>
        </p:grpSpPr>
        <p:sp>
          <p:nvSpPr>
            <p:cNvPr id="27" name="矩形 26">
              <a:extLst>
                <a:ext uri="{FF2B5EF4-FFF2-40B4-BE49-F238E27FC236}">
                  <a16:creationId xmlns:a16="http://schemas.microsoft.com/office/drawing/2014/main" id="{2B65DDEE-94E8-FC13-8C16-343B7FDEC065}"/>
                </a:ext>
              </a:extLst>
            </p:cNvPr>
            <p:cNvSpPr/>
            <p:nvPr/>
          </p:nvSpPr>
          <p:spPr>
            <a:xfrm>
              <a:off x="4841197" y="2424395"/>
              <a:ext cx="2827146" cy="406783"/>
            </a:xfrm>
            <a:prstGeom prst="rect">
              <a:avLst/>
            </a:prstGeom>
            <a:ln w="15875">
              <a:noFill/>
            </a:ln>
          </p:spPr>
          <p:txBody>
            <a:bodyPr wrap="square" lIns="68580" tIns="34290" rIns="68580" bIns="34290">
              <a:spAutoFit/>
            </a:bodyPr>
            <a:lstStyle/>
            <a:p>
              <a:r>
                <a:rPr lang="zh-CN" altLang="en-US" b="1">
                  <a:solidFill>
                    <a:srgbClr val="FF0000"/>
                  </a:solidFill>
                  <a:latin typeface="微软雅黑" panose="020B0503020204020204" pitchFamily="34" charset="-122"/>
                  <a:ea typeface="微软雅黑" panose="020B0503020204020204" pitchFamily="34" charset="-122"/>
                </a:rPr>
                <a:t>电路设计</a:t>
              </a:r>
              <a:endParaRPr lang="en-GB" altLang="zh-CN" b="1">
                <a:solidFill>
                  <a:srgbClr val="FF0000"/>
                </a:solidFill>
                <a:latin typeface="微软雅黑" panose="020B0503020204020204" pitchFamily="34" charset="-122"/>
                <a:ea typeface="微软雅黑" panose="020B0503020204020204" pitchFamily="34" charset="-122"/>
              </a:endParaRPr>
            </a:p>
          </p:txBody>
        </p:sp>
        <p:sp>
          <p:nvSpPr>
            <p:cNvPr id="28" name="平行四边形 27">
              <a:extLst>
                <a:ext uri="{FF2B5EF4-FFF2-40B4-BE49-F238E27FC236}">
                  <a16:creationId xmlns:a16="http://schemas.microsoft.com/office/drawing/2014/main" id="{BE30F2FD-23E2-F519-9A9D-6F8B7224208C}"/>
                </a:ext>
              </a:extLst>
            </p:cNvPr>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29" name="组合 28">
            <a:extLst>
              <a:ext uri="{FF2B5EF4-FFF2-40B4-BE49-F238E27FC236}">
                <a16:creationId xmlns:a16="http://schemas.microsoft.com/office/drawing/2014/main" id="{5B78DCDD-D648-65E9-863C-60D0DA328D28}"/>
              </a:ext>
            </a:extLst>
          </p:cNvPr>
          <p:cNvGrpSpPr/>
          <p:nvPr/>
        </p:nvGrpSpPr>
        <p:grpSpPr>
          <a:xfrm>
            <a:off x="5258823" y="4302567"/>
            <a:ext cx="3857250" cy="693611"/>
            <a:chOff x="4315150" y="3035884"/>
            <a:chExt cx="3857250" cy="814874"/>
          </a:xfrm>
        </p:grpSpPr>
        <p:sp>
          <p:nvSpPr>
            <p:cNvPr id="30" name="矩形 29">
              <a:extLst>
                <a:ext uri="{FF2B5EF4-FFF2-40B4-BE49-F238E27FC236}">
                  <a16:creationId xmlns:a16="http://schemas.microsoft.com/office/drawing/2014/main" id="{B977C688-E220-586B-9246-C79E7C3FFCC1}"/>
                </a:ext>
              </a:extLst>
            </p:cNvPr>
            <p:cNvSpPr/>
            <p:nvPr/>
          </p:nvSpPr>
          <p:spPr>
            <a:xfrm>
              <a:off x="4841196" y="3118548"/>
              <a:ext cx="2827147" cy="732210"/>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转速、电流测量方案选择</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a:p>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1" name="平行四边形 30">
              <a:extLst>
                <a:ext uri="{FF2B5EF4-FFF2-40B4-BE49-F238E27FC236}">
                  <a16:creationId xmlns:a16="http://schemas.microsoft.com/office/drawing/2014/main" id="{BB93DAAE-82E8-0F26-B1AD-2A89BC73EBFB}"/>
                </a:ext>
              </a:extLst>
            </p:cNvPr>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59" name="组合 58">
            <a:extLst>
              <a:ext uri="{FF2B5EF4-FFF2-40B4-BE49-F238E27FC236}">
                <a16:creationId xmlns:a16="http://schemas.microsoft.com/office/drawing/2014/main" id="{356D1062-0270-3369-A307-08B1B36A5928}"/>
              </a:ext>
            </a:extLst>
          </p:cNvPr>
          <p:cNvGrpSpPr/>
          <p:nvPr/>
        </p:nvGrpSpPr>
        <p:grpSpPr>
          <a:xfrm>
            <a:off x="2650945" y="4906216"/>
            <a:ext cx="884486" cy="523220"/>
            <a:chOff x="2215144" y="5107938"/>
            <a:chExt cx="1231128" cy="959259"/>
          </a:xfrm>
        </p:grpSpPr>
        <p:sp>
          <p:nvSpPr>
            <p:cNvPr id="60" name="平行四边形 59">
              <a:extLst>
                <a:ext uri="{FF2B5EF4-FFF2-40B4-BE49-F238E27FC236}">
                  <a16:creationId xmlns:a16="http://schemas.microsoft.com/office/drawing/2014/main" id="{57063F10-F577-BBA5-6CC7-D4E51C64DB6B}"/>
                </a:ext>
              </a:extLst>
            </p:cNvPr>
            <p:cNvSpPr/>
            <p:nvPr/>
          </p:nvSpPr>
          <p:spPr>
            <a:xfrm>
              <a:off x="2215144" y="5186859"/>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61" name="文本框 13">
              <a:extLst>
                <a:ext uri="{FF2B5EF4-FFF2-40B4-BE49-F238E27FC236}">
                  <a16:creationId xmlns:a16="http://schemas.microsoft.com/office/drawing/2014/main" id="{50F3BF8D-196D-BC95-4BDB-6B4294E4EE36}"/>
                </a:ext>
              </a:extLst>
            </p:cNvPr>
            <p:cNvSpPr txBox="1"/>
            <p:nvPr/>
          </p:nvSpPr>
          <p:spPr>
            <a:xfrm>
              <a:off x="2379473" y="5107938"/>
              <a:ext cx="1066799" cy="959259"/>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05</a:t>
              </a:r>
              <a:endParaRPr lang="zh-CN" altLang="en-US" sz="2800">
                <a:solidFill>
                  <a:schemeClr val="bg1"/>
                </a:solidFill>
                <a:latin typeface="Impact" panose="020B0806030902050204" pitchFamily="34" charset="0"/>
              </a:endParaRPr>
            </a:p>
          </p:txBody>
        </p:sp>
      </p:grpSp>
      <p:grpSp>
        <p:nvGrpSpPr>
          <p:cNvPr id="62" name="组合 61">
            <a:extLst>
              <a:ext uri="{FF2B5EF4-FFF2-40B4-BE49-F238E27FC236}">
                <a16:creationId xmlns:a16="http://schemas.microsoft.com/office/drawing/2014/main" id="{48ED46C6-F0D3-085E-CF18-905D315CA507}"/>
              </a:ext>
            </a:extLst>
          </p:cNvPr>
          <p:cNvGrpSpPr/>
          <p:nvPr/>
        </p:nvGrpSpPr>
        <p:grpSpPr>
          <a:xfrm>
            <a:off x="3330199" y="4932647"/>
            <a:ext cx="3857250" cy="459690"/>
            <a:chOff x="4315150" y="3730038"/>
            <a:chExt cx="3857250" cy="540057"/>
          </a:xfrm>
        </p:grpSpPr>
        <p:sp>
          <p:nvSpPr>
            <p:cNvPr id="63" name="矩形 62">
              <a:extLst>
                <a:ext uri="{FF2B5EF4-FFF2-40B4-BE49-F238E27FC236}">
                  <a16:creationId xmlns:a16="http://schemas.microsoft.com/office/drawing/2014/main" id="{FD8DE820-45EE-D3F6-09DE-6F1DB5475D50}"/>
                </a:ext>
              </a:extLst>
            </p:cNvPr>
            <p:cNvSpPr/>
            <p:nvPr/>
          </p:nvSpPr>
          <p:spPr>
            <a:xfrm>
              <a:off x="4841197" y="3812702"/>
              <a:ext cx="2827146" cy="406783"/>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仿真验证</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4" name="平行四边形 63">
              <a:extLst>
                <a:ext uri="{FF2B5EF4-FFF2-40B4-BE49-F238E27FC236}">
                  <a16:creationId xmlns:a16="http://schemas.microsoft.com/office/drawing/2014/main" id="{08B0616B-A10A-CF33-B4A0-7C6017B99031}"/>
                </a:ext>
              </a:extLst>
            </p:cNvPr>
            <p:cNvSpPr/>
            <p:nvPr/>
          </p:nvSpPr>
          <p:spPr>
            <a:xfrm>
              <a:off x="4315150" y="3730038"/>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4" name="组合 3">
            <a:extLst>
              <a:ext uri="{FF2B5EF4-FFF2-40B4-BE49-F238E27FC236}">
                <a16:creationId xmlns:a16="http://schemas.microsoft.com/office/drawing/2014/main" id="{78C08BE4-901E-6ED9-F3E9-6E058ED3F24C}"/>
              </a:ext>
            </a:extLst>
          </p:cNvPr>
          <p:cNvGrpSpPr/>
          <p:nvPr/>
        </p:nvGrpSpPr>
        <p:grpSpPr>
          <a:xfrm>
            <a:off x="4500160" y="5515777"/>
            <a:ext cx="894259" cy="523220"/>
            <a:chOff x="2215144" y="4047039"/>
            <a:chExt cx="1244730" cy="959256"/>
          </a:xfrm>
        </p:grpSpPr>
        <p:sp>
          <p:nvSpPr>
            <p:cNvPr id="17" name="平行四边形 16">
              <a:extLst>
                <a:ext uri="{FF2B5EF4-FFF2-40B4-BE49-F238E27FC236}">
                  <a16:creationId xmlns:a16="http://schemas.microsoft.com/office/drawing/2014/main" id="{3FEF5466-CF9E-74E9-0AE5-D59B8C1912ED}"/>
                </a:ext>
              </a:extLst>
            </p:cNvPr>
            <p:cNvSpPr/>
            <p:nvPr/>
          </p:nvSpPr>
          <p:spPr>
            <a:xfrm>
              <a:off x="2215144" y="4135856"/>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8" name="文本框 12">
              <a:extLst>
                <a:ext uri="{FF2B5EF4-FFF2-40B4-BE49-F238E27FC236}">
                  <a16:creationId xmlns:a16="http://schemas.microsoft.com/office/drawing/2014/main" id="{EB42BBA2-F70E-7D7E-24D1-6C27D3FCB32E}"/>
                </a:ext>
              </a:extLst>
            </p:cNvPr>
            <p:cNvSpPr txBox="1"/>
            <p:nvPr/>
          </p:nvSpPr>
          <p:spPr>
            <a:xfrm>
              <a:off x="2393075" y="4047039"/>
              <a:ext cx="1066799" cy="959256"/>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06</a:t>
              </a:r>
              <a:endParaRPr lang="zh-CN" altLang="en-US" sz="2800">
                <a:solidFill>
                  <a:schemeClr val="bg1"/>
                </a:solidFill>
                <a:latin typeface="Impact" panose="020B0806030902050204" pitchFamily="34" charset="0"/>
              </a:endParaRPr>
            </a:p>
          </p:txBody>
        </p:sp>
      </p:grpSp>
      <p:grpSp>
        <p:nvGrpSpPr>
          <p:cNvPr id="19" name="组合 18">
            <a:extLst>
              <a:ext uri="{FF2B5EF4-FFF2-40B4-BE49-F238E27FC236}">
                <a16:creationId xmlns:a16="http://schemas.microsoft.com/office/drawing/2014/main" id="{D81433F2-0B73-F097-6472-A225B518E994}"/>
              </a:ext>
            </a:extLst>
          </p:cNvPr>
          <p:cNvGrpSpPr/>
          <p:nvPr/>
        </p:nvGrpSpPr>
        <p:grpSpPr>
          <a:xfrm>
            <a:off x="5179413" y="5547593"/>
            <a:ext cx="3857250" cy="693611"/>
            <a:chOff x="4315150" y="3035884"/>
            <a:chExt cx="3857250" cy="814874"/>
          </a:xfrm>
        </p:grpSpPr>
        <p:sp>
          <p:nvSpPr>
            <p:cNvPr id="32" name="矩形 31">
              <a:extLst>
                <a:ext uri="{FF2B5EF4-FFF2-40B4-BE49-F238E27FC236}">
                  <a16:creationId xmlns:a16="http://schemas.microsoft.com/office/drawing/2014/main" id="{96CF1E5B-CA6D-4961-9952-F13FD899CE5A}"/>
                </a:ext>
              </a:extLst>
            </p:cNvPr>
            <p:cNvSpPr/>
            <p:nvPr/>
          </p:nvSpPr>
          <p:spPr>
            <a:xfrm>
              <a:off x="4841196" y="3118548"/>
              <a:ext cx="2827147" cy="732210"/>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收获总结</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a:p>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3" name="平行四边形 32">
              <a:extLst>
                <a:ext uri="{FF2B5EF4-FFF2-40B4-BE49-F238E27FC236}">
                  <a16:creationId xmlns:a16="http://schemas.microsoft.com/office/drawing/2014/main" id="{A87CABE9-1630-E921-5780-20BB8F3E72D3}"/>
                </a:ext>
              </a:extLst>
            </p:cNvPr>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spTree>
    <p:extLst>
      <p:ext uri="{BB962C8B-B14F-4D97-AF65-F5344CB8AC3E}">
        <p14:creationId xmlns:p14="http://schemas.microsoft.com/office/powerpoint/2010/main" val="3967367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8E4C0-D320-2879-FB0B-DF5BABBB82C4}"/>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7339A5AE-D28F-0633-6B80-A1D7F1B087F7}"/>
              </a:ext>
            </a:extLst>
          </p:cNvPr>
          <p:cNvCxnSpPr>
            <a:cxnSpLocks/>
          </p:cNvCxnSpPr>
          <p:nvPr/>
        </p:nvCxnSpPr>
        <p:spPr>
          <a:xfrm flipV="1">
            <a:off x="1014737" y="631512"/>
            <a:ext cx="7246036" cy="1620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8DFA8798-8C20-196B-1C20-07D33A405340}"/>
              </a:ext>
            </a:extLst>
          </p:cNvPr>
          <p:cNvSpPr/>
          <p:nvPr/>
        </p:nvSpPr>
        <p:spPr>
          <a:xfrm>
            <a:off x="962591" y="154458"/>
            <a:ext cx="9840017"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三、电路设计</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主电路设计</a:t>
            </a:r>
            <a:endParaRPr kumimoji="0" lang="zh-CN" altLang="zh-CN" sz="2400" b="1" i="0" u="none" strike="noStrike" kern="0" cap="none" spc="0" normalizeH="0" baseline="0" noProof="0">
              <a:ln>
                <a:noFill/>
              </a:ln>
              <a:solidFill>
                <a:prstClr val="black"/>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86A86129-0EA2-51A3-8B18-FDE8ECB4BC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9" name="文本框 8">
            <a:extLst>
              <a:ext uri="{FF2B5EF4-FFF2-40B4-BE49-F238E27FC236}">
                <a16:creationId xmlns:a16="http://schemas.microsoft.com/office/drawing/2014/main" id="{DDA8F5F5-FAEE-E7C6-0006-240A135EACFE}"/>
              </a:ext>
            </a:extLst>
          </p:cNvPr>
          <p:cNvSpPr txBox="1"/>
          <p:nvPr/>
        </p:nvSpPr>
        <p:spPr>
          <a:xfrm>
            <a:off x="3516816" y="5487992"/>
            <a:ext cx="6665409" cy="455253"/>
          </a:xfrm>
          <a:prstGeom prst="rect">
            <a:avLst/>
          </a:prstGeom>
          <a:noFill/>
        </p:spPr>
        <p:txBody>
          <a:bodyPr wrap="square">
            <a:spAutoFit/>
          </a:bodyPr>
          <a:lstStyle>
            <a:defPPr>
              <a:defRPr lang="zh-CN"/>
            </a:defPPr>
            <a:lvl1pPr indent="304800" algn="just">
              <a:lnSpc>
                <a:spcPct val="150000"/>
              </a:lnSpc>
              <a:defRPr>
                <a:effectLst/>
                <a:latin typeface="Times New Roman" panose="02020603050405020304" pitchFamily="18" charset="0"/>
                <a:ea typeface="宋体" panose="02010600030101010101" pitchFamily="2" charset="-122"/>
              </a:defRPr>
            </a:lvl1pPr>
          </a:lstStyle>
          <a:p>
            <a:r>
              <a:rPr lang="zh-CN" altLang="zh-CN"/>
              <a:t>双闭环直流调速系统的电路原理图</a:t>
            </a:r>
          </a:p>
        </p:txBody>
      </p:sp>
      <p:sp>
        <p:nvSpPr>
          <p:cNvPr id="14" name="矩形 13">
            <a:extLst>
              <a:ext uri="{FF2B5EF4-FFF2-40B4-BE49-F238E27FC236}">
                <a16:creationId xmlns:a16="http://schemas.microsoft.com/office/drawing/2014/main" id="{3E13EB8A-FCFE-909D-0CC2-C0B2CE62AC05}"/>
              </a:ext>
            </a:extLst>
          </p:cNvPr>
          <p:cNvSpPr/>
          <p:nvPr/>
        </p:nvSpPr>
        <p:spPr bwMode="auto">
          <a:xfrm>
            <a:off x="1162615" y="1222598"/>
            <a:ext cx="8829110" cy="4882927"/>
          </a:xfrm>
          <a:prstGeom prst="rect">
            <a:avLst/>
          </a:prstGeom>
          <a:noFill/>
          <a:ln w="28575">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pic>
        <p:nvPicPr>
          <p:cNvPr id="3" name="图片 10">
            <a:extLst>
              <a:ext uri="{FF2B5EF4-FFF2-40B4-BE49-F238E27FC236}">
                <a16:creationId xmlns:a16="http://schemas.microsoft.com/office/drawing/2014/main" id="{860612F4-C7DE-1ABF-7A3C-ACF4938A3746}"/>
              </a:ext>
            </a:extLst>
          </p:cNvPr>
          <p:cNvPicPr>
            <a:picLocks noChangeAspect="1"/>
          </p:cNvPicPr>
          <p:nvPr>
            <p:custDataLst>
              <p:tags r:id="rId1"/>
            </p:custDataLst>
          </p:nvPr>
        </p:nvPicPr>
        <p:blipFill>
          <a:blip r:embed="rId5"/>
          <a:stretch>
            <a:fillRect/>
          </a:stretch>
        </p:blipFill>
        <p:spPr>
          <a:xfrm>
            <a:off x="1614812" y="1506964"/>
            <a:ext cx="8157838" cy="3846231"/>
          </a:xfrm>
          <a:prstGeom prst="rect">
            <a:avLst/>
          </a:prstGeom>
        </p:spPr>
      </p:pic>
    </p:spTree>
    <p:extLst>
      <p:ext uri="{BB962C8B-B14F-4D97-AF65-F5344CB8AC3E}">
        <p14:creationId xmlns:p14="http://schemas.microsoft.com/office/powerpoint/2010/main" val="531560887"/>
      </p:ext>
    </p:extLst>
  </p:cSld>
  <p:clrMapOvr>
    <a:masterClrMapping/>
  </p:clrMapOvr>
  <p:transition spd="slow" advTm="9487"/>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400A0-BCA1-9376-A5B8-A44234705D05}"/>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2214B855-4355-C3E0-2C17-A4B9F665ADD8}"/>
              </a:ext>
            </a:extLst>
          </p:cNvPr>
          <p:cNvCxnSpPr>
            <a:cxnSpLocks/>
          </p:cNvCxnSpPr>
          <p:nvPr/>
        </p:nvCxnSpPr>
        <p:spPr>
          <a:xfrm flipV="1">
            <a:off x="1014737" y="631512"/>
            <a:ext cx="7246036" cy="1620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7562210A-D5D0-6619-AA1E-98A23001868F}"/>
              </a:ext>
            </a:extLst>
          </p:cNvPr>
          <p:cNvSpPr/>
          <p:nvPr/>
        </p:nvSpPr>
        <p:spPr>
          <a:xfrm>
            <a:off x="962591" y="154458"/>
            <a:ext cx="9840017"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三、电路设计</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主回路设计</a:t>
            </a:r>
            <a:endParaRPr kumimoji="0" lang="zh-CN" altLang="zh-CN" sz="2400" b="1" i="0" u="none" strike="noStrike" kern="0" cap="none" spc="0" normalizeH="0" baseline="0" noProof="0">
              <a:ln>
                <a:noFill/>
              </a:ln>
              <a:solidFill>
                <a:prstClr val="black"/>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741ABD8A-83E3-F3A8-8DE9-E3EA7B32F1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9" name="文本框 8">
            <a:extLst>
              <a:ext uri="{FF2B5EF4-FFF2-40B4-BE49-F238E27FC236}">
                <a16:creationId xmlns:a16="http://schemas.microsoft.com/office/drawing/2014/main" id="{11587231-B8E1-7D96-A028-D678D38BB53C}"/>
              </a:ext>
            </a:extLst>
          </p:cNvPr>
          <p:cNvSpPr txBox="1"/>
          <p:nvPr/>
        </p:nvSpPr>
        <p:spPr>
          <a:xfrm>
            <a:off x="6703974" y="5532571"/>
            <a:ext cx="2369634" cy="455253"/>
          </a:xfrm>
          <a:prstGeom prst="rect">
            <a:avLst/>
          </a:prstGeom>
          <a:noFill/>
        </p:spPr>
        <p:txBody>
          <a:bodyPr wrap="square">
            <a:spAutoFit/>
          </a:bodyPr>
          <a:lstStyle>
            <a:defPPr>
              <a:defRPr lang="zh-CN"/>
            </a:defPPr>
            <a:lvl1pPr indent="304800" algn="just">
              <a:lnSpc>
                <a:spcPct val="150000"/>
              </a:lnSpc>
              <a:defRPr>
                <a:effectLst/>
                <a:latin typeface="Times New Roman" panose="02020603050405020304" pitchFamily="18" charset="0"/>
                <a:ea typeface="宋体" panose="02010600030101010101" pitchFamily="2" charset="-122"/>
              </a:defRPr>
            </a:lvl1pPr>
          </a:lstStyle>
          <a:p>
            <a:r>
              <a:rPr lang="zh-CN" altLang="zh-CN"/>
              <a:t>系统主回路结构图</a:t>
            </a:r>
          </a:p>
        </p:txBody>
      </p:sp>
      <p:sp>
        <p:nvSpPr>
          <p:cNvPr id="14" name="矩形 13">
            <a:extLst>
              <a:ext uri="{FF2B5EF4-FFF2-40B4-BE49-F238E27FC236}">
                <a16:creationId xmlns:a16="http://schemas.microsoft.com/office/drawing/2014/main" id="{24DE0860-461D-5F69-8149-382348CB79A2}"/>
              </a:ext>
            </a:extLst>
          </p:cNvPr>
          <p:cNvSpPr/>
          <p:nvPr/>
        </p:nvSpPr>
        <p:spPr bwMode="auto">
          <a:xfrm>
            <a:off x="4514850" y="1342759"/>
            <a:ext cx="7029449" cy="4715142"/>
          </a:xfrm>
          <a:prstGeom prst="rect">
            <a:avLst/>
          </a:prstGeom>
          <a:noFill/>
          <a:ln w="28575">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pic>
        <p:nvPicPr>
          <p:cNvPr id="4" name="图片 998408">
            <a:extLst>
              <a:ext uri="{FF2B5EF4-FFF2-40B4-BE49-F238E27FC236}">
                <a16:creationId xmlns:a16="http://schemas.microsoft.com/office/drawing/2014/main" id="{56448C56-CFC8-6CDC-7B06-0DC132950824}"/>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rcRect/>
          <a:stretch/>
        </p:blipFill>
        <p:spPr>
          <a:xfrm>
            <a:off x="4696691" y="1542991"/>
            <a:ext cx="6480572" cy="3919503"/>
          </a:xfrm>
          <a:prstGeom prst="rect">
            <a:avLst/>
          </a:prstGeom>
          <a:noFill/>
          <a:ln w="9525">
            <a:noFill/>
          </a:ln>
        </p:spPr>
      </p:pic>
      <p:sp>
        <p:nvSpPr>
          <p:cNvPr id="6" name="文本框 5">
            <a:extLst>
              <a:ext uri="{FF2B5EF4-FFF2-40B4-BE49-F238E27FC236}">
                <a16:creationId xmlns:a16="http://schemas.microsoft.com/office/drawing/2014/main" id="{EE677D62-2604-E167-AFFA-ACDFF3755BC7}"/>
              </a:ext>
            </a:extLst>
          </p:cNvPr>
          <p:cNvSpPr txBox="1"/>
          <p:nvPr/>
        </p:nvSpPr>
        <p:spPr>
          <a:xfrm>
            <a:off x="1014737" y="1585619"/>
            <a:ext cx="2990850" cy="3779240"/>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zh-CN">
                <a:latin typeface="Times New Roman" panose="02020603050405020304" pitchFamily="18" charset="0"/>
                <a:ea typeface="宋体" panose="02010600030101010101" pitchFamily="2" charset="-122"/>
              </a:rPr>
              <a:t>本设计配合控制的V-M可逆直流调速系统，其主回路结构图如图所示，通过两组三相桥式整流器反并联给直流电机</a:t>
            </a:r>
            <a:r>
              <a:rPr lang="zh-CN" altLang="en-US">
                <a:latin typeface="Times New Roman" panose="02020603050405020304" pitchFamily="18" charset="0"/>
                <a:ea typeface="宋体" panose="02010600030101010101" pitchFamily="2" charset="-122"/>
              </a:rPr>
              <a:t>励磁</a:t>
            </a:r>
            <a:r>
              <a:rPr lang="zh-CN" altLang="zh-CN">
                <a:latin typeface="Times New Roman" panose="02020603050405020304" pitchFamily="18" charset="0"/>
                <a:ea typeface="宋体" panose="02010600030101010101" pitchFamily="2" charset="-122"/>
              </a:rPr>
              <a:t>电流提供正向和</a:t>
            </a:r>
            <a:r>
              <a:rPr lang="zh-CN" altLang="en-US">
                <a:latin typeface="Times New Roman" panose="02020603050405020304" pitchFamily="18" charset="0"/>
                <a:ea typeface="宋体" panose="02010600030101010101" pitchFamily="2" charset="-122"/>
              </a:rPr>
              <a:t>反</a:t>
            </a:r>
            <a:r>
              <a:rPr lang="zh-CN" altLang="zh-CN">
                <a:latin typeface="Times New Roman" panose="02020603050405020304" pitchFamily="18" charset="0"/>
                <a:ea typeface="宋体" panose="02010600030101010101" pitchFamily="2" charset="-122"/>
              </a:rPr>
              <a:t>向通路，两组晶闸管分别由两套触发装置控制，实现矿井直流的电机的四象限运行。</a:t>
            </a:r>
            <a:endParaRPr lang="zh-CN" altLang="en-US">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424548731"/>
      </p:ext>
    </p:extLst>
  </p:cSld>
  <p:clrMapOvr>
    <a:masterClrMapping/>
  </p:clrMapOvr>
  <p:transition spd="slow" advTm="9487"/>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8CDCB-88DC-84FB-8AB9-7B5BA255FA1C}"/>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5DCD8A84-F3EB-4A50-36E8-27C5404ECE58}"/>
              </a:ext>
            </a:extLst>
          </p:cNvPr>
          <p:cNvCxnSpPr>
            <a:cxnSpLocks/>
          </p:cNvCxnSpPr>
          <p:nvPr/>
        </p:nvCxnSpPr>
        <p:spPr>
          <a:xfrm flipV="1">
            <a:off x="1014737" y="631512"/>
            <a:ext cx="7246036" cy="1620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650C23BE-4183-D20B-81D2-0AB0EA727863}"/>
              </a:ext>
            </a:extLst>
          </p:cNvPr>
          <p:cNvSpPr/>
          <p:nvPr/>
        </p:nvSpPr>
        <p:spPr>
          <a:xfrm>
            <a:off x="962591" y="154458"/>
            <a:ext cx="9840017"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三、电路设计</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电枢回路设计</a:t>
            </a:r>
            <a:endParaRPr kumimoji="0" lang="zh-CN" altLang="zh-CN" sz="2400" b="1" i="0" u="none" strike="noStrike" kern="0" cap="none" spc="0" normalizeH="0" baseline="0" noProof="0">
              <a:ln>
                <a:noFill/>
              </a:ln>
              <a:solidFill>
                <a:prstClr val="black"/>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123D24E8-AA9E-DB83-EEBE-A52F14B699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pic>
        <p:nvPicPr>
          <p:cNvPr id="7" name="图片 6">
            <a:extLst>
              <a:ext uri="{FF2B5EF4-FFF2-40B4-BE49-F238E27FC236}">
                <a16:creationId xmlns:a16="http://schemas.microsoft.com/office/drawing/2014/main" id="{BDA73948-CD92-FE31-89BB-72D3FE53D4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39286" y="1367934"/>
            <a:ext cx="8782796" cy="4948899"/>
          </a:xfrm>
          <a:prstGeom prst="rect">
            <a:avLst/>
          </a:prstGeom>
        </p:spPr>
      </p:pic>
    </p:spTree>
    <p:extLst>
      <p:ext uri="{BB962C8B-B14F-4D97-AF65-F5344CB8AC3E}">
        <p14:creationId xmlns:p14="http://schemas.microsoft.com/office/powerpoint/2010/main" val="448050948"/>
      </p:ext>
    </p:extLst>
  </p:cSld>
  <p:clrMapOvr>
    <a:masterClrMapping/>
  </p:clrMapOvr>
  <p:transition spd="slow" advTm="9487"/>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F019B-2594-426C-88B0-FBE6B1DAB149}"/>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6296E596-5974-D97F-CF20-4F43B2B762E9}"/>
              </a:ext>
            </a:extLst>
          </p:cNvPr>
          <p:cNvCxnSpPr>
            <a:cxnSpLocks/>
          </p:cNvCxnSpPr>
          <p:nvPr/>
        </p:nvCxnSpPr>
        <p:spPr>
          <a:xfrm flipV="1">
            <a:off x="1014737" y="631512"/>
            <a:ext cx="7246036" cy="1620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83DBB00A-8318-CF0A-D304-49381A7C0CA5}"/>
              </a:ext>
            </a:extLst>
          </p:cNvPr>
          <p:cNvSpPr/>
          <p:nvPr/>
        </p:nvSpPr>
        <p:spPr>
          <a:xfrm>
            <a:off x="962591" y="154458"/>
            <a:ext cx="9840017"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三、电路设计</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电枢回路设计</a:t>
            </a:r>
            <a:endParaRPr kumimoji="0" lang="zh-CN" altLang="zh-CN" sz="2400" b="1" i="0" u="none" strike="noStrike" kern="0" cap="none" spc="0" normalizeH="0" baseline="0" noProof="0">
              <a:ln>
                <a:noFill/>
              </a:ln>
              <a:solidFill>
                <a:prstClr val="black"/>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D8D02E93-B1D3-DC85-5587-CB1D90F664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9" name="文本框 8">
            <a:extLst>
              <a:ext uri="{FF2B5EF4-FFF2-40B4-BE49-F238E27FC236}">
                <a16:creationId xmlns:a16="http://schemas.microsoft.com/office/drawing/2014/main" id="{D975E031-03DC-F7F3-176B-D78B7646056F}"/>
              </a:ext>
            </a:extLst>
          </p:cNvPr>
          <p:cNvSpPr txBox="1"/>
          <p:nvPr/>
        </p:nvSpPr>
        <p:spPr>
          <a:xfrm>
            <a:off x="7788333" y="4525172"/>
            <a:ext cx="3237298" cy="455253"/>
          </a:xfrm>
          <a:prstGeom prst="rect">
            <a:avLst/>
          </a:prstGeom>
          <a:noFill/>
        </p:spPr>
        <p:txBody>
          <a:bodyPr wrap="square">
            <a:spAutoFit/>
          </a:bodyPr>
          <a:lstStyle>
            <a:defPPr>
              <a:defRPr lang="zh-CN"/>
            </a:defPPr>
            <a:lvl1pPr indent="304800" algn="just">
              <a:lnSpc>
                <a:spcPct val="150000"/>
              </a:lnSpc>
              <a:defRPr>
                <a:effectLst/>
                <a:latin typeface="Times New Roman" panose="02020603050405020304" pitchFamily="18" charset="0"/>
                <a:ea typeface="宋体" panose="02010600030101010101" pitchFamily="2" charset="-122"/>
              </a:defRPr>
            </a:lvl1pPr>
          </a:lstStyle>
          <a:p>
            <a:r>
              <a:rPr lang="zh-CN" altLang="en-US"/>
              <a:t>磁场换向的可逆调速系统</a:t>
            </a:r>
            <a:endParaRPr lang="zh-CN" altLang="zh-CN"/>
          </a:p>
        </p:txBody>
      </p:sp>
      <p:sp>
        <p:nvSpPr>
          <p:cNvPr id="14" name="矩形 13">
            <a:extLst>
              <a:ext uri="{FF2B5EF4-FFF2-40B4-BE49-F238E27FC236}">
                <a16:creationId xmlns:a16="http://schemas.microsoft.com/office/drawing/2014/main" id="{993D6258-6E45-B65E-8A80-0EECCFA8DEA1}"/>
              </a:ext>
            </a:extLst>
          </p:cNvPr>
          <p:cNvSpPr/>
          <p:nvPr/>
        </p:nvSpPr>
        <p:spPr bwMode="auto">
          <a:xfrm>
            <a:off x="6962775" y="1866901"/>
            <a:ext cx="4714874" cy="3257550"/>
          </a:xfrm>
          <a:prstGeom prst="rect">
            <a:avLst/>
          </a:prstGeom>
          <a:noFill/>
          <a:ln w="28575">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sp>
        <p:nvSpPr>
          <p:cNvPr id="6" name="文本框 5">
            <a:extLst>
              <a:ext uri="{FF2B5EF4-FFF2-40B4-BE49-F238E27FC236}">
                <a16:creationId xmlns:a16="http://schemas.microsoft.com/office/drawing/2014/main" id="{2B5487BD-33D9-026C-CCA8-A7623077F5DF}"/>
              </a:ext>
            </a:extLst>
          </p:cNvPr>
          <p:cNvSpPr txBox="1"/>
          <p:nvPr/>
        </p:nvSpPr>
        <p:spPr>
          <a:xfrm>
            <a:off x="514351" y="1358492"/>
            <a:ext cx="6138538" cy="1286250"/>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altLang="zh-CN">
                <a:latin typeface="Times New Roman" panose="02020603050405020304" pitchFamily="18" charset="0"/>
                <a:ea typeface="宋体" panose="02010600030101010101" pitchFamily="2" charset="-122"/>
              </a:rPr>
              <a:t>本方案采用</a:t>
            </a:r>
            <a:r>
              <a:rPr lang="zh-CN" altLang="en-US">
                <a:latin typeface="Times New Roman" panose="02020603050405020304" pitchFamily="18" charset="0"/>
                <a:ea typeface="宋体" panose="02010600030101010101" pitchFamily="2" charset="-122"/>
              </a:rPr>
              <a:t>的是磁场换向的可逆调速系统，电枢由一组变流器（</a:t>
            </a:r>
            <a:r>
              <a:rPr lang="en-US" altLang="zh-CN">
                <a:latin typeface="Times New Roman" panose="02020603050405020304" pitchFamily="18" charset="0"/>
                <a:ea typeface="宋体" panose="02010600030101010101" pitchFamily="2" charset="-122"/>
              </a:rPr>
              <a:t>KZ</a:t>
            </a:r>
            <a:r>
              <a:rPr lang="zh-CN" altLang="en-US">
                <a:latin typeface="Times New Roman" panose="02020603050405020304" pitchFamily="18" charset="0"/>
                <a:ea typeface="宋体" panose="02010600030101010101" pitchFamily="2" charset="-122"/>
              </a:rPr>
              <a:t>）供电，励磁绕组由两组反并联的变流器（正组</a:t>
            </a:r>
            <a:r>
              <a:rPr lang="en-US" altLang="zh-CN">
                <a:latin typeface="Times New Roman" panose="02020603050405020304" pitchFamily="18" charset="0"/>
                <a:ea typeface="宋体" panose="02010600030101010101" pitchFamily="2" charset="-122"/>
              </a:rPr>
              <a:t>FKZ</a:t>
            </a:r>
            <a:r>
              <a:rPr lang="zh-CN" altLang="en-US">
                <a:latin typeface="Times New Roman" panose="02020603050405020304" pitchFamily="18" charset="0"/>
                <a:ea typeface="宋体" panose="02010600030101010101" pitchFamily="2" charset="-122"/>
              </a:rPr>
              <a:t>和反组</a:t>
            </a:r>
            <a:r>
              <a:rPr lang="en-US" altLang="zh-CN">
                <a:latin typeface="Times New Roman" panose="02020603050405020304" pitchFamily="18" charset="0"/>
                <a:ea typeface="宋体" panose="02010600030101010101" pitchFamily="2" charset="-122"/>
              </a:rPr>
              <a:t>ZKZ</a:t>
            </a:r>
            <a:r>
              <a:rPr lang="zh-CN" altLang="en-US">
                <a:latin typeface="Times New Roman" panose="02020603050405020304" pitchFamily="18" charset="0"/>
                <a:ea typeface="宋体" panose="02010600030101010101" pitchFamily="2" charset="-122"/>
              </a:rPr>
              <a:t>）供电。</a:t>
            </a:r>
          </a:p>
        </p:txBody>
      </p:sp>
      <p:pic>
        <p:nvPicPr>
          <p:cNvPr id="3" name="图片 2">
            <a:extLst>
              <a:ext uri="{FF2B5EF4-FFF2-40B4-BE49-F238E27FC236}">
                <a16:creationId xmlns:a16="http://schemas.microsoft.com/office/drawing/2014/main" id="{35B1BA61-5EB4-90DE-FCE4-6BF64EA18C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56272" y="2001617"/>
            <a:ext cx="4301419" cy="2568078"/>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FDD8831-CCAB-A483-2903-E6F3EE89A675}"/>
                  </a:ext>
                </a:extLst>
              </p:cNvPr>
              <p:cNvSpPr txBox="1"/>
              <p:nvPr/>
            </p:nvSpPr>
            <p:spPr>
              <a:xfrm>
                <a:off x="717357" y="2776678"/>
                <a:ext cx="5732525" cy="4165051"/>
              </a:xfrm>
              <a:prstGeom prst="rect">
                <a:avLst/>
              </a:prstGeom>
              <a:noFill/>
            </p:spPr>
            <p:txBody>
              <a:bodyPr wrap="square" rtlCol="0">
                <a:spAutoFit/>
              </a:bodyPr>
              <a:lstStyle/>
              <a:p>
                <a:pPr marL="285750" indent="-285750">
                  <a:buFont typeface="Arial" panose="020B0604020202020204" pitchFamily="34" charset="0"/>
                  <a:buChar char="•"/>
                </a:pPr>
                <a:r>
                  <a:rPr lang="zh-CN" altLang="en-US">
                    <a:latin typeface="Times New Roman" panose="02020603050405020304" pitchFamily="18" charset="0"/>
                    <a:ea typeface="宋体" panose="02010600030101010101" pitchFamily="2" charset="-122"/>
                  </a:rPr>
                  <a:t>晶闸管的额定电压</a:t>
                </a:r>
                <a14:m>
                  <m:oMath xmlns:m="http://schemas.openxmlformats.org/officeDocument/2006/math">
                    <m:sSub>
                      <m:sSubPr>
                        <m:ctrlPr>
                          <a:rPr lang="zh-CN" altLang="zh-CN" i="1">
                            <a:latin typeface="Cambria Math" panose="02040503050406030204" pitchFamily="18" charset="0"/>
                            <a:ea typeface="宋体" panose="02010600030101010101" pitchFamily="2" charset="-122"/>
                          </a:rPr>
                        </m:ctrlPr>
                      </m:sSubPr>
                      <m:e>
                        <m:r>
                          <m:rPr>
                            <m:sty m:val="p"/>
                          </m:rPr>
                          <a:rPr lang="en-US" altLang="zh-CN">
                            <a:latin typeface="Cambria Math" panose="02040503050406030204" pitchFamily="18" charset="0"/>
                            <a:ea typeface="宋体" panose="02010600030101010101" pitchFamily="2" charset="-122"/>
                          </a:rPr>
                          <m:t>U</m:t>
                        </m:r>
                      </m:e>
                      <m:sub>
                        <m:r>
                          <m:rPr>
                            <m:sty m:val="p"/>
                          </m:rPr>
                          <a:rPr lang="en-US" altLang="zh-CN">
                            <a:latin typeface="Cambria Math" panose="02040503050406030204" pitchFamily="18" charset="0"/>
                            <a:ea typeface="宋体" panose="02010600030101010101" pitchFamily="2" charset="-122"/>
                          </a:rPr>
                          <m:t>TN</m:t>
                        </m:r>
                      </m:sub>
                    </m:sSub>
                  </m:oMath>
                </a14:m>
                <a:r>
                  <a:rPr lang="zh-CN" altLang="en-US">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a:p>
                <a:endParaRPr lang="en-US" altLang="zh-CN">
                  <a:latin typeface="Times New Roman" panose="02020603050405020304" pitchFamily="18" charset="0"/>
                  <a:ea typeface="宋体" panose="02010600030101010101" pitchFamily="2" charset="-122"/>
                </a:endParaRPr>
              </a:p>
              <a:p>
                <a:r>
                  <a:rPr lang="en-US" altLang="zh-CN">
                    <a:latin typeface="Times New Roman" panose="02020603050405020304" pitchFamily="18" charset="0"/>
                    <a:ea typeface="宋体" panose="02010600030101010101" pitchFamily="2" charset="-122"/>
                  </a:rPr>
                  <a:t> </a:t>
                </a:r>
                <a14:m>
                  <m:oMath xmlns:m="http://schemas.openxmlformats.org/officeDocument/2006/math">
                    <m:sSub>
                      <m:sSubPr>
                        <m:ctrlPr>
                          <a:rPr lang="zh-CN" altLang="zh-CN" i="1">
                            <a:latin typeface="Cambria Math" panose="02040503050406030204" pitchFamily="18" charset="0"/>
                            <a:ea typeface="宋体" panose="02010600030101010101" pitchFamily="2" charset="-122"/>
                          </a:rPr>
                        </m:ctrlPr>
                      </m:sSubPr>
                      <m:e>
                        <m:r>
                          <a:rPr lang="en-US" altLang="zh-CN">
                            <a:latin typeface="Cambria Math" panose="02040503050406030204" pitchFamily="18" charset="0"/>
                            <a:ea typeface="宋体" panose="02010600030101010101" pitchFamily="2" charset="-122"/>
                          </a:rPr>
                          <m:t>𝑈</m:t>
                        </m:r>
                      </m:e>
                      <m:sub>
                        <m:r>
                          <a:rPr lang="en-US" altLang="zh-CN">
                            <a:latin typeface="Cambria Math" panose="02040503050406030204" pitchFamily="18" charset="0"/>
                            <a:ea typeface="宋体" panose="02010600030101010101" pitchFamily="2" charset="-122"/>
                          </a:rPr>
                          <m:t>𝑇𝑁</m:t>
                        </m:r>
                      </m:sub>
                    </m:sSub>
                    <m:r>
                      <a:rPr lang="en-US" altLang="zh-CN">
                        <a:latin typeface="Cambria Math" panose="02040503050406030204" pitchFamily="18" charset="0"/>
                        <a:ea typeface="宋体" panose="02010600030101010101" pitchFamily="2" charset="-122"/>
                      </a:rPr>
                      <m:t>=</m:t>
                    </m:r>
                    <m:d>
                      <m:dPr>
                        <m:ctrlPr>
                          <a:rPr lang="zh-CN" altLang="zh-CN" i="1">
                            <a:latin typeface="Cambria Math" panose="02040503050406030204" pitchFamily="18" charset="0"/>
                            <a:ea typeface="宋体" panose="02010600030101010101" pitchFamily="2" charset="-122"/>
                          </a:rPr>
                        </m:ctrlPr>
                      </m:dPr>
                      <m:e>
                        <m:r>
                          <a:rPr lang="en-US" altLang="zh-CN">
                            <a:latin typeface="Cambria Math" panose="02040503050406030204" pitchFamily="18" charset="0"/>
                            <a:ea typeface="宋体" panose="02010600030101010101" pitchFamily="2" charset="-122"/>
                          </a:rPr>
                          <m:t>2.2~3.8</m:t>
                        </m:r>
                      </m:e>
                    </m:d>
                    <m:f>
                      <m:fPr>
                        <m:ctrlPr>
                          <a:rPr lang="zh-CN" altLang="zh-CN" i="1" smtClean="0">
                            <a:latin typeface="Cambria Math" panose="02040503050406030204" pitchFamily="18" charset="0"/>
                            <a:ea typeface="宋体" panose="02010600030101010101" pitchFamily="2" charset="-122"/>
                          </a:rPr>
                        </m:ctrlPr>
                      </m:fPr>
                      <m:num>
                        <m:sSub>
                          <m:sSubPr>
                            <m:ctrlPr>
                              <a:rPr lang="zh-CN" altLang="zh-CN" i="1">
                                <a:latin typeface="Cambria Math" panose="02040503050406030204" pitchFamily="18" charset="0"/>
                                <a:ea typeface="宋体" panose="02010600030101010101" pitchFamily="2" charset="-122"/>
                              </a:rPr>
                            </m:ctrlPr>
                          </m:sSubPr>
                          <m:e>
                            <m:r>
                              <a:rPr lang="en-US" altLang="zh-CN">
                                <a:latin typeface="Cambria Math" panose="02040503050406030204" pitchFamily="18" charset="0"/>
                                <a:ea typeface="宋体" panose="02010600030101010101" pitchFamily="2" charset="-122"/>
                              </a:rPr>
                              <m:t>𝑈</m:t>
                            </m:r>
                          </m:e>
                          <m:sub>
                            <m:r>
                              <a:rPr lang="en-US" altLang="zh-CN">
                                <a:latin typeface="Cambria Math" panose="02040503050406030204" pitchFamily="18" charset="0"/>
                                <a:ea typeface="宋体" panose="02010600030101010101" pitchFamily="2" charset="-122"/>
                              </a:rPr>
                              <m:t>𝑇𝑁</m:t>
                            </m:r>
                          </m:sub>
                        </m:sSub>
                      </m:num>
                      <m:den>
                        <m:sSub>
                          <m:sSubPr>
                            <m:ctrlPr>
                              <a:rPr lang="zh-CN" altLang="zh-CN" i="1">
                                <a:latin typeface="Cambria Math" panose="02040503050406030204" pitchFamily="18" charset="0"/>
                                <a:ea typeface="宋体" panose="02010600030101010101" pitchFamily="2" charset="-122"/>
                              </a:rPr>
                            </m:ctrlPr>
                          </m:sSubPr>
                          <m:e>
                            <m:r>
                              <a:rPr lang="en-US" altLang="zh-CN">
                                <a:latin typeface="Cambria Math" panose="02040503050406030204" pitchFamily="18" charset="0"/>
                                <a:ea typeface="宋体" panose="02010600030101010101" pitchFamily="2" charset="-122"/>
                              </a:rPr>
                              <m:t>𝑛</m:t>
                            </m:r>
                          </m:e>
                          <m:sub>
                            <m:r>
                              <a:rPr lang="en-US" altLang="zh-CN">
                                <a:latin typeface="Cambria Math" panose="02040503050406030204" pitchFamily="18" charset="0"/>
                                <a:ea typeface="宋体" panose="02010600030101010101" pitchFamily="2" charset="-122"/>
                              </a:rPr>
                              <m:t>𝑠</m:t>
                            </m:r>
                          </m:sub>
                        </m:sSub>
                      </m:den>
                    </m:f>
                    <m:r>
                      <a:rPr lang="en-US" altLang="zh-CN">
                        <a:latin typeface="Cambria Math" panose="02040503050406030204" pitchFamily="18" charset="0"/>
                        <a:ea typeface="宋体" panose="02010600030101010101" pitchFamily="2" charset="-122"/>
                      </a:rPr>
                      <m:t>=</m:t>
                    </m:r>
                    <m:d>
                      <m:dPr>
                        <m:ctrlPr>
                          <a:rPr lang="zh-CN" altLang="zh-CN" i="1">
                            <a:latin typeface="Cambria Math" panose="02040503050406030204" pitchFamily="18" charset="0"/>
                            <a:ea typeface="宋体" panose="02010600030101010101" pitchFamily="2" charset="-122"/>
                          </a:rPr>
                        </m:ctrlPr>
                      </m:dPr>
                      <m:e>
                        <m:r>
                          <a:rPr lang="en-US" altLang="zh-CN">
                            <a:latin typeface="Cambria Math" panose="02040503050406030204" pitchFamily="18" charset="0"/>
                            <a:ea typeface="宋体" panose="02010600030101010101" pitchFamily="2" charset="-122"/>
                          </a:rPr>
                          <m:t>2.2~3.8</m:t>
                        </m:r>
                      </m:e>
                    </m:d>
                    <m:f>
                      <m:fPr>
                        <m:ctrlPr>
                          <a:rPr lang="zh-CN" altLang="zh-CN" i="1">
                            <a:latin typeface="Cambria Math" panose="02040503050406030204" pitchFamily="18" charset="0"/>
                            <a:ea typeface="宋体" panose="02010600030101010101" pitchFamily="2" charset="-122"/>
                          </a:rPr>
                        </m:ctrlPr>
                      </m:fPr>
                      <m:num>
                        <m:rad>
                          <m:radPr>
                            <m:degHide m:val="on"/>
                            <m:ctrlPr>
                              <a:rPr lang="zh-CN" altLang="zh-CN" i="1">
                                <a:latin typeface="Cambria Math" panose="02040503050406030204" pitchFamily="18" charset="0"/>
                                <a:ea typeface="宋体" panose="02010600030101010101" pitchFamily="2" charset="-122"/>
                              </a:rPr>
                            </m:ctrlPr>
                          </m:radPr>
                          <m:deg/>
                          <m:e>
                            <m:r>
                              <a:rPr lang="en-US" altLang="zh-CN">
                                <a:latin typeface="Cambria Math" panose="02040503050406030204" pitchFamily="18" charset="0"/>
                                <a:ea typeface="宋体" panose="02010600030101010101" pitchFamily="2" charset="-122"/>
                              </a:rPr>
                              <m:t>6</m:t>
                            </m:r>
                          </m:e>
                        </m:rad>
                        <m:r>
                          <a:rPr lang="en-US" altLang="zh-CN">
                            <a:latin typeface="Cambria Math" panose="02040503050406030204" pitchFamily="18" charset="0"/>
                            <a:ea typeface="宋体" panose="02010600030101010101" pitchFamily="2" charset="-122"/>
                          </a:rPr>
                          <m:t>×</m:t>
                        </m:r>
                        <m:r>
                          <a:rPr lang="en-US" altLang="zh-CN" b="0" i="0" smtClean="0">
                            <a:latin typeface="Cambria Math" panose="02040503050406030204" pitchFamily="18" charset="0"/>
                            <a:ea typeface="宋体" panose="02010600030101010101" pitchFamily="2" charset="-122"/>
                          </a:rPr>
                          <m:t>404.15</m:t>
                        </m:r>
                      </m:num>
                      <m:den>
                        <m:r>
                          <a:rPr lang="en-US" altLang="zh-CN">
                            <a:latin typeface="Cambria Math" panose="02040503050406030204" pitchFamily="18" charset="0"/>
                            <a:ea typeface="宋体" panose="02010600030101010101" pitchFamily="2" charset="-122"/>
                          </a:rPr>
                          <m:t>2</m:t>
                        </m:r>
                      </m:den>
                    </m:f>
                  </m:oMath>
                </a14:m>
                <a:endParaRPr lang="en-US" altLang="zh-CN">
                  <a:latin typeface="Times New Roman" panose="02020603050405020304" pitchFamily="18" charset="0"/>
                  <a:ea typeface="宋体" panose="02010600030101010101" pitchFamily="2" charset="-122"/>
                </a:endParaRPr>
              </a:p>
              <a:p>
                <a14:m>
                  <m:oMath xmlns:m="http://schemas.openxmlformats.org/officeDocument/2006/math">
                    <m:r>
                      <a:rPr lang="en-US" altLang="zh-CN">
                        <a:latin typeface="Cambria Math" panose="02040503050406030204" pitchFamily="18" charset="0"/>
                        <a:ea typeface="宋体" panose="02010600030101010101" pitchFamily="2" charset="-122"/>
                      </a:rPr>
                      <m:t>                  </m:t>
                    </m:r>
                    <m:r>
                      <a:rPr lang="en-US" altLang="zh-CN" b="0" i="0" smtClean="0">
                        <a:latin typeface="Cambria Math" panose="02040503050406030204" pitchFamily="18" charset="0"/>
                        <a:ea typeface="宋体" panose="02010600030101010101" pitchFamily="2" charset="-122"/>
                      </a:rPr>
                      <m:t>                               </m:t>
                    </m:r>
                    <m:r>
                      <a:rPr lang="en-US" altLang="zh-CN">
                        <a:latin typeface="Cambria Math" panose="02040503050406030204" pitchFamily="18" charset="0"/>
                        <a:ea typeface="宋体" panose="02010600030101010101" pitchFamily="2" charset="-122"/>
                      </a:rPr>
                      <m:t>=1018~1758.7</m:t>
                    </m:r>
                    <m:r>
                      <a:rPr lang="en-US" altLang="zh-CN">
                        <a:latin typeface="Cambria Math" panose="02040503050406030204" pitchFamily="18" charset="0"/>
                        <a:ea typeface="宋体" panose="02010600030101010101" pitchFamily="2" charset="-122"/>
                      </a:rPr>
                      <m:t>𝑉</m:t>
                    </m:r>
                  </m:oMath>
                </a14:m>
                <a:r>
                  <a:rPr lang="en-US" altLang="zh-CN">
                    <a:latin typeface="Times New Roman" panose="02020603050405020304" pitchFamily="18" charset="0"/>
                    <a:ea typeface="宋体" panose="02010600030101010101" pitchFamily="2" charset="-122"/>
                  </a:rPr>
                  <a:t> </a:t>
                </a:r>
              </a:p>
              <a:p>
                <a:pPr marL="285750" indent="-285750">
                  <a:buFont typeface="Arial" panose="020B0604020202020204" pitchFamily="34" charset="0"/>
                  <a:buChar char="•"/>
                </a:pPr>
                <a:r>
                  <a:rPr lang="zh-CN" altLang="en-US">
                    <a:latin typeface="Times New Roman" panose="02020603050405020304" pitchFamily="18" charset="0"/>
                    <a:ea typeface="宋体" panose="02010600030101010101" pitchFamily="2" charset="-122"/>
                  </a:rPr>
                  <a:t>晶闸管的额定电流</a:t>
                </a:r>
                <a14:m>
                  <m:oMath xmlns:m="http://schemas.openxmlformats.org/officeDocument/2006/math">
                    <m:sSub>
                      <m:sSubPr>
                        <m:ctrlPr>
                          <a:rPr lang="zh-CN" altLang="zh-CN" i="1">
                            <a:latin typeface="Cambria Math" panose="02040503050406030204" pitchFamily="18" charset="0"/>
                            <a:ea typeface="宋体" panose="02010600030101010101" pitchFamily="2" charset="-122"/>
                          </a:rPr>
                        </m:ctrlPr>
                      </m:sSubPr>
                      <m:e>
                        <m:r>
                          <m:rPr>
                            <m:sty m:val="p"/>
                          </m:rPr>
                          <a:rPr lang="en-US" altLang="zh-CN">
                            <a:latin typeface="Cambria Math" panose="02040503050406030204" pitchFamily="18" charset="0"/>
                            <a:ea typeface="宋体" panose="02010600030101010101" pitchFamily="2" charset="-122"/>
                          </a:rPr>
                          <m:t>I</m:t>
                        </m:r>
                      </m:e>
                      <m:sub>
                        <m:r>
                          <m:rPr>
                            <m:sty m:val="p"/>
                          </m:rPr>
                          <a:rPr lang="en-US" altLang="zh-CN">
                            <a:latin typeface="Cambria Math" panose="02040503050406030204" pitchFamily="18" charset="0"/>
                            <a:ea typeface="宋体" panose="02010600030101010101" pitchFamily="2" charset="-122"/>
                          </a:rPr>
                          <m:t>TN</m:t>
                        </m:r>
                      </m:sub>
                    </m:sSub>
                  </m:oMath>
                </a14:m>
                <a:r>
                  <a:rPr lang="zh-CN" altLang="en-US">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a:p>
                <a:endParaRPr lang="zh-CN" altLang="en-US">
                  <a:latin typeface="Times New Roman" panose="02020603050405020304" pitchFamily="18" charset="0"/>
                  <a:ea typeface="宋体" panose="02010600030101010101" pitchFamily="2" charset="-122"/>
                </a:endParaRPr>
              </a:p>
              <a:p>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ea typeface="宋体" panose="02010600030101010101" pitchFamily="2" charset="-122"/>
                            </a:rPr>
                          </m:ctrlPr>
                        </m:sSubPr>
                        <m:e>
                          <m:r>
                            <a:rPr lang="en-US" altLang="zh-CN">
                              <a:latin typeface="Cambria Math" panose="02040503050406030204" pitchFamily="18" charset="0"/>
                              <a:ea typeface="宋体" panose="02010600030101010101" pitchFamily="2" charset="-122"/>
                            </a:rPr>
                            <m:t>𝐼</m:t>
                          </m:r>
                        </m:e>
                        <m:sub>
                          <m:r>
                            <a:rPr lang="en-US" altLang="zh-CN">
                              <a:latin typeface="Cambria Math" panose="02040503050406030204" pitchFamily="18" charset="0"/>
                              <a:ea typeface="宋体" panose="02010600030101010101" pitchFamily="2" charset="-122"/>
                            </a:rPr>
                            <m:t>𝑇𝑁</m:t>
                          </m:r>
                        </m:sub>
                      </m:sSub>
                      <m:r>
                        <a:rPr lang="en-US" altLang="zh-CN">
                          <a:latin typeface="Cambria Math" panose="02040503050406030204" pitchFamily="18" charset="0"/>
                          <a:ea typeface="宋体" panose="02010600030101010101" pitchFamily="2" charset="-122"/>
                        </a:rPr>
                        <m:t>=</m:t>
                      </m:r>
                      <m:d>
                        <m:dPr>
                          <m:ctrlPr>
                            <a:rPr lang="zh-CN" altLang="zh-CN" i="1">
                              <a:latin typeface="Cambria Math" panose="02040503050406030204" pitchFamily="18" charset="0"/>
                              <a:ea typeface="宋体" panose="02010600030101010101" pitchFamily="2" charset="-122"/>
                            </a:rPr>
                          </m:ctrlPr>
                        </m:dPr>
                        <m:e>
                          <m:r>
                            <a:rPr lang="en-US" altLang="zh-CN">
                              <a:latin typeface="Cambria Math" panose="02040503050406030204" pitchFamily="18" charset="0"/>
                              <a:ea typeface="宋体" panose="02010600030101010101" pitchFamily="2" charset="-122"/>
                            </a:rPr>
                            <m:t>1.33~1.88</m:t>
                          </m:r>
                        </m:e>
                      </m:d>
                      <m:f>
                        <m:fPr>
                          <m:ctrlPr>
                            <a:rPr lang="zh-CN" altLang="zh-CN" i="1">
                              <a:latin typeface="Cambria Math" panose="02040503050406030204" pitchFamily="18" charset="0"/>
                              <a:ea typeface="宋体" panose="02010600030101010101" pitchFamily="2" charset="-122"/>
                            </a:rPr>
                          </m:ctrlPr>
                        </m:fPr>
                        <m:num>
                          <m:sSub>
                            <m:sSubPr>
                              <m:ctrlPr>
                                <a:rPr lang="zh-CN" altLang="zh-CN" i="1">
                                  <a:latin typeface="Cambria Math" panose="02040503050406030204" pitchFamily="18" charset="0"/>
                                  <a:ea typeface="宋体" panose="02010600030101010101" pitchFamily="2" charset="-122"/>
                                </a:rPr>
                              </m:ctrlPr>
                            </m:sSubPr>
                            <m:e>
                              <m:r>
                                <a:rPr lang="en-US" altLang="zh-CN">
                                  <a:latin typeface="Cambria Math" panose="02040503050406030204" pitchFamily="18" charset="0"/>
                                  <a:ea typeface="宋体" panose="02010600030101010101" pitchFamily="2" charset="-122"/>
                                </a:rPr>
                                <m:t>𝐾</m:t>
                              </m:r>
                            </m:e>
                            <m:sub>
                              <m:r>
                                <a:rPr lang="en-US" altLang="zh-CN">
                                  <a:latin typeface="Cambria Math" panose="02040503050406030204" pitchFamily="18" charset="0"/>
                                  <a:ea typeface="宋体" panose="02010600030101010101" pitchFamily="2" charset="-122"/>
                                </a:rPr>
                                <m:t>𝑓𝑏</m:t>
                              </m:r>
                            </m:sub>
                          </m:sSub>
                          <m:r>
                            <a:rPr lang="en-US" altLang="zh-CN">
                              <a:latin typeface="Cambria Math" panose="02040503050406030204" pitchFamily="18" charset="0"/>
                              <a:ea typeface="宋体" panose="02010600030101010101" pitchFamily="2" charset="-122"/>
                            </a:rPr>
                            <m:t>∙</m:t>
                          </m:r>
                          <m:sSub>
                            <m:sSubPr>
                              <m:ctrlPr>
                                <a:rPr lang="zh-CN" altLang="zh-CN" i="1">
                                  <a:latin typeface="Cambria Math" panose="02040503050406030204" pitchFamily="18" charset="0"/>
                                  <a:ea typeface="宋体" panose="02010600030101010101" pitchFamily="2" charset="-122"/>
                                </a:rPr>
                              </m:ctrlPr>
                            </m:sSubPr>
                            <m:e>
                              <m:r>
                                <a:rPr lang="en-US" altLang="zh-CN">
                                  <a:latin typeface="Cambria Math" panose="02040503050406030204" pitchFamily="18" charset="0"/>
                                  <a:ea typeface="宋体" panose="02010600030101010101" pitchFamily="2" charset="-122"/>
                                </a:rPr>
                                <m:t>𝐼</m:t>
                              </m:r>
                            </m:e>
                            <m:sub>
                              <m:r>
                                <a:rPr lang="en-US" altLang="zh-CN">
                                  <a:latin typeface="Cambria Math" panose="02040503050406030204" pitchFamily="18" charset="0"/>
                                  <a:ea typeface="宋体" panose="02010600030101010101" pitchFamily="2" charset="-122"/>
                                </a:rPr>
                                <m:t>𝑑𝑚</m:t>
                              </m:r>
                            </m:sub>
                          </m:sSub>
                        </m:num>
                        <m:den>
                          <m:sSub>
                            <m:sSubPr>
                              <m:ctrlPr>
                                <a:rPr lang="zh-CN" altLang="zh-CN" i="1">
                                  <a:latin typeface="Cambria Math" panose="02040503050406030204" pitchFamily="18" charset="0"/>
                                  <a:ea typeface="宋体" panose="02010600030101010101" pitchFamily="2" charset="-122"/>
                                </a:rPr>
                              </m:ctrlPr>
                            </m:sSubPr>
                            <m:e>
                              <m:r>
                                <a:rPr lang="en-US" altLang="zh-CN">
                                  <a:latin typeface="Cambria Math" panose="02040503050406030204" pitchFamily="18" charset="0"/>
                                  <a:ea typeface="宋体" panose="02010600030101010101" pitchFamily="2" charset="-122"/>
                                </a:rPr>
                                <m:t>𝑛</m:t>
                              </m:r>
                            </m:e>
                            <m:sub>
                              <m:r>
                                <a:rPr lang="en-US" altLang="zh-CN">
                                  <a:latin typeface="Cambria Math" panose="02040503050406030204" pitchFamily="18" charset="0"/>
                                  <a:ea typeface="宋体" panose="02010600030101010101" pitchFamily="2" charset="-122"/>
                                </a:rPr>
                                <m:t>𝑝</m:t>
                              </m:r>
                            </m:sub>
                          </m:sSub>
                        </m:den>
                      </m:f>
                      <m:r>
                        <a:rPr lang="en-US" altLang="zh-CN">
                          <a:latin typeface="Cambria Math" panose="02040503050406030204" pitchFamily="18" charset="0"/>
                          <a:ea typeface="宋体" panose="02010600030101010101" pitchFamily="2" charset="-122"/>
                        </a:rPr>
                        <m:t> =</m:t>
                      </m:r>
                      <m:d>
                        <m:dPr>
                          <m:ctrlPr>
                            <a:rPr lang="zh-CN" altLang="zh-CN" i="1">
                              <a:latin typeface="Cambria Math" panose="02040503050406030204" pitchFamily="18" charset="0"/>
                              <a:ea typeface="宋体" panose="02010600030101010101" pitchFamily="2" charset="-122"/>
                            </a:rPr>
                          </m:ctrlPr>
                        </m:dPr>
                        <m:e>
                          <m:r>
                            <a:rPr lang="en-US" altLang="zh-CN">
                              <a:latin typeface="Cambria Math" panose="02040503050406030204" pitchFamily="18" charset="0"/>
                              <a:ea typeface="宋体" panose="02010600030101010101" pitchFamily="2" charset="-122"/>
                            </a:rPr>
                            <m:t>1.33~1.88</m:t>
                          </m:r>
                        </m:e>
                      </m:d>
                      <m:f>
                        <m:fPr>
                          <m:ctrlPr>
                            <a:rPr lang="zh-CN" altLang="zh-CN" i="1">
                              <a:latin typeface="Cambria Math" panose="02040503050406030204" pitchFamily="18" charset="0"/>
                              <a:ea typeface="宋体" panose="02010600030101010101" pitchFamily="2" charset="-122"/>
                            </a:rPr>
                          </m:ctrlPr>
                        </m:fPr>
                        <m:num>
                          <m:r>
                            <a:rPr lang="en-US" altLang="zh-CN">
                              <a:latin typeface="Cambria Math" panose="02040503050406030204" pitchFamily="18" charset="0"/>
                              <a:ea typeface="宋体" panose="02010600030101010101" pitchFamily="2" charset="-122"/>
                            </a:rPr>
                            <m:t>0.368∙3030</m:t>
                          </m:r>
                        </m:num>
                        <m:den>
                          <m:r>
                            <a:rPr lang="en-US" altLang="zh-CN">
                              <a:latin typeface="Cambria Math" panose="02040503050406030204" pitchFamily="18" charset="0"/>
                              <a:ea typeface="宋体" panose="02010600030101010101" pitchFamily="2" charset="-122"/>
                            </a:rPr>
                            <m:t>3</m:t>
                          </m:r>
                        </m:den>
                      </m:f>
                    </m:oMath>
                  </m:oMathPara>
                </a14:m>
                <a:endParaRPr lang="en-US" altLang="zh-CN">
                  <a:latin typeface="Times New Roman" panose="02020603050405020304" pitchFamily="18" charset="0"/>
                  <a:ea typeface="宋体" panose="02010600030101010101" pitchFamily="2" charset="-122"/>
                </a:endParaRPr>
              </a:p>
              <a:p>
                <a:pPr marL="457200" indent="304800" algn="just">
                  <a:lnSpc>
                    <a:spcPts val="2000"/>
                  </a:lnSpc>
                </a:pPr>
                <a:r>
                  <a:rPr lang="en-US" altLang="zh-CN">
                    <a:latin typeface="Times New Roman" panose="02020603050405020304" pitchFamily="18" charset="0"/>
                    <a:ea typeface="宋体" panose="02010600030101010101" pitchFamily="2" charset="-122"/>
                  </a:rPr>
                  <a:t>                                    </a:t>
                </a:r>
                <a14:m>
                  <m:oMath xmlns:m="http://schemas.openxmlformats.org/officeDocument/2006/math">
                    <m:r>
                      <a:rPr lang="en-US" altLang="zh-CN">
                        <a:latin typeface="Cambria Math" panose="02040503050406030204" pitchFamily="18" charset="0"/>
                        <a:ea typeface="宋体" panose="02010600030101010101" pitchFamily="2" charset="-122"/>
                      </a:rPr>
                      <m:t>=494.33~698.76</m:t>
                    </m:r>
                    <m:r>
                      <a:rPr lang="en-US" altLang="zh-CN">
                        <a:latin typeface="Cambria Math" panose="02040503050406030204" pitchFamily="18" charset="0"/>
                        <a:ea typeface="宋体" panose="02010600030101010101" pitchFamily="2" charset="-122"/>
                      </a:rPr>
                      <m:t>𝐴</m:t>
                    </m:r>
                  </m:oMath>
                </a14:m>
                <a:r>
                  <a:rPr lang="en-US" altLang="zh-CN">
                    <a:latin typeface="Times New Roman" panose="02020603050405020304" pitchFamily="18" charset="0"/>
                    <a:ea typeface="宋体" panose="02010600030101010101" pitchFamily="2" charset="-122"/>
                  </a:rPr>
                  <a:t> </a:t>
                </a:r>
                <a:endParaRPr lang="zh-CN" altLang="zh-CN">
                  <a:latin typeface="Times New Roman" panose="02020603050405020304" pitchFamily="18" charset="0"/>
                  <a:ea typeface="宋体" panose="02010600030101010101" pitchFamily="2" charset="-122"/>
                </a:endParaRPr>
              </a:p>
              <a:p>
                <a:endParaRPr lang="en-US" altLang="zh-CN">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latin typeface="Times New Roman" panose="02020603050405020304" pitchFamily="18" charset="0"/>
                    <a:ea typeface="宋体" panose="02010600030101010101" pitchFamily="2" charset="-122"/>
                  </a:rPr>
                  <a:t>实际选择</a:t>
                </a:r>
                <a:r>
                  <a:rPr lang="en-US" altLang="zh-CN">
                    <a:latin typeface="Times New Roman" panose="02020603050405020304" pitchFamily="18" charset="0"/>
                    <a:ea typeface="宋体" panose="02010600030101010101" pitchFamily="2" charset="-122"/>
                  </a:rPr>
                  <a:t>1000A/2000V</a:t>
                </a:r>
                <a:r>
                  <a:rPr lang="zh-CN" altLang="en-US">
                    <a:latin typeface="Times New Roman" panose="02020603050405020304" pitchFamily="18" charset="0"/>
                    <a:ea typeface="宋体" panose="02010600030101010101" pitchFamily="2" charset="-122"/>
                  </a:rPr>
                  <a:t>元件两串三并为一桥臂。</a:t>
                </a:r>
              </a:p>
              <a:p>
                <a:endParaRPr lang="zh-CN" altLang="en-US">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7FDD8831-CCAB-A483-2903-E6F3EE89A675}"/>
                  </a:ext>
                </a:extLst>
              </p:cNvPr>
              <p:cNvSpPr txBox="1">
                <a:spLocks noRot="1" noChangeAspect="1" noMove="1" noResize="1" noEditPoints="1" noAdjustHandles="1" noChangeArrowheads="1" noChangeShapeType="1" noTextEdit="1"/>
              </p:cNvSpPr>
              <p:nvPr/>
            </p:nvSpPr>
            <p:spPr>
              <a:xfrm>
                <a:off x="717357" y="2776678"/>
                <a:ext cx="5732525" cy="4165051"/>
              </a:xfrm>
              <a:prstGeom prst="rect">
                <a:avLst/>
              </a:prstGeom>
              <a:blipFill>
                <a:blip r:embed="rId5"/>
                <a:stretch>
                  <a:fillRect l="-957" t="-102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94071246"/>
      </p:ext>
    </p:extLst>
  </p:cSld>
  <p:clrMapOvr>
    <a:masterClrMapping/>
  </p:clrMapOvr>
  <p:transition spd="slow" advTm="9487"/>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BBDA2-FBFF-0926-1C08-18E477934059}"/>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66554344-CC16-6786-A701-447DDDC47CC0}"/>
              </a:ext>
            </a:extLst>
          </p:cNvPr>
          <p:cNvCxnSpPr>
            <a:cxnSpLocks/>
          </p:cNvCxnSpPr>
          <p:nvPr/>
        </p:nvCxnSpPr>
        <p:spPr>
          <a:xfrm flipV="1">
            <a:off x="1014737" y="571962"/>
            <a:ext cx="9840017" cy="7575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52F6893A-4D4B-7442-8795-16A2CD940FF0}"/>
              </a:ext>
            </a:extLst>
          </p:cNvPr>
          <p:cNvSpPr/>
          <p:nvPr/>
        </p:nvSpPr>
        <p:spPr>
          <a:xfrm>
            <a:off x="933457" y="132783"/>
            <a:ext cx="9840017"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三、电路设计</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保护电路设计</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电枢回路保护</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晶闸管过电压保护</a:t>
            </a:r>
            <a:endParaRPr kumimoji="0" lang="zh-CN" altLang="zh-CN" sz="2400" b="1" i="0" u="none" strike="noStrike" kern="0" cap="none" spc="0" normalizeH="0" baseline="0" noProof="0">
              <a:ln>
                <a:noFill/>
              </a:ln>
              <a:solidFill>
                <a:prstClr val="black"/>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6D2319F3-62BF-5020-C4C7-03A57633F4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mc:AlternateContent xmlns:mc="http://schemas.openxmlformats.org/markup-compatibility/2006">
        <mc:Choice xmlns:a14="http://schemas.microsoft.com/office/drawing/2010/main" Requires="a14">
          <p:sp>
            <p:nvSpPr>
              <p:cNvPr id="13" name="文本框 12">
                <a:extLst>
                  <a:ext uri="{FF2B5EF4-FFF2-40B4-BE49-F238E27FC236}">
                    <a16:creationId xmlns:a16="http://schemas.microsoft.com/office/drawing/2014/main" id="{D010541F-6A09-B24D-0941-F7CE9B79F646}"/>
                  </a:ext>
                </a:extLst>
              </p:cNvPr>
              <p:cNvSpPr txBox="1"/>
              <p:nvPr/>
            </p:nvSpPr>
            <p:spPr>
              <a:xfrm>
                <a:off x="119161" y="1526069"/>
                <a:ext cx="6688038" cy="5059205"/>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altLang="zh-CN">
                    <a:latin typeface="Times New Roman" panose="02020603050405020304" pitchFamily="18" charset="0"/>
                    <a:ea typeface="宋体" panose="02010600030101010101" pitchFamily="2" charset="-122"/>
                  </a:rPr>
                  <a:t>晶闸管对</a:t>
                </a:r>
                <a:r>
                  <a:rPr lang="zh-CN" altLang="en-US">
                    <a:latin typeface="Times New Roman" panose="02020603050405020304" pitchFamily="18" charset="0"/>
                    <a:ea typeface="宋体" panose="02010600030101010101" pitchFamily="2" charset="-122"/>
                  </a:rPr>
                  <a:t>瞬时</a:t>
                </a:r>
                <a:r>
                  <a:rPr lang="en-US" altLang="zh-CN">
                    <a:latin typeface="Times New Roman" panose="02020603050405020304" pitchFamily="18" charset="0"/>
                    <a:ea typeface="宋体" panose="02010600030101010101" pitchFamily="2" charset="-122"/>
                  </a:rPr>
                  <a:t>过电压变化很敏感，根据上述的保护电路的设计，对晶闸管采用</a:t>
                </a:r>
                <a:r>
                  <a:rPr lang="zh-CN" altLang="en-US">
                    <a:latin typeface="Times New Roman" panose="02020603050405020304" pitchFamily="18" charset="0"/>
                    <a:ea typeface="宋体" panose="02010600030101010101" pitchFamily="2" charset="-122"/>
                  </a:rPr>
                  <a:t>瞬时</a:t>
                </a:r>
                <a:r>
                  <a:rPr lang="en-US" altLang="zh-CN">
                    <a:latin typeface="Times New Roman" panose="02020603050405020304" pitchFamily="18" charset="0"/>
                    <a:ea typeface="宋体" panose="02010600030101010101" pitchFamily="2" charset="-122"/>
                  </a:rPr>
                  <a:t>过电压保护机制，保护电路如图所示。交流侧保护时，采用并联RC支路的形式</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利用电容两端的电压不能突变的特性，可以有效的抑制变圧器绕组中的</a:t>
                </a:r>
                <a:r>
                  <a:rPr lang="zh-CN" altLang="en-US">
                    <a:latin typeface="Times New Roman" panose="02020603050405020304" pitchFamily="18" charset="0"/>
                    <a:ea typeface="宋体" panose="02010600030101010101" pitchFamily="2" charset="-122"/>
                  </a:rPr>
                  <a:t>瞬时</a:t>
                </a:r>
                <a:r>
                  <a:rPr lang="en-US" altLang="zh-CN">
                    <a:latin typeface="Times New Roman" panose="02020603050405020304" pitchFamily="18" charset="0"/>
                    <a:ea typeface="宋体" panose="02010600030101010101" pitchFamily="2" charset="-122"/>
                  </a:rPr>
                  <a:t>过电压，串联电阻能消耗部分电压的能量，同时抑制LC回路的震荡。</a:t>
                </a:r>
              </a:p>
              <a:p>
                <a:pPr algn="just">
                  <a:lnSpc>
                    <a:spcPct val="150000"/>
                  </a:lnSpc>
                </a:pPr>
                <a14:m>
                  <m:oMathPara xmlns:m="http://schemas.openxmlformats.org/officeDocument/2006/math">
                    <m:oMathParaPr>
                      <m:jc m:val="centerGroup"/>
                    </m:oMathParaPr>
                    <m:oMath xmlns:m="http://schemas.openxmlformats.org/officeDocument/2006/math">
                      <m:r>
                        <a:rPr lang="zh-CN" altLang="en-US" smtClean="0">
                          <a:latin typeface="Cambria Math" panose="02040503050406030204" pitchFamily="18" charset="0"/>
                          <a:ea typeface="微软雅黑" panose="020B0503020204020204" pitchFamily="34" charset="-122"/>
                          <a:cs typeface="微软雅黑" panose="020B0503020204020204" pitchFamily="34" charset="-122"/>
                        </a:rPr>
                        <m:t>𝐶</m:t>
                      </m:r>
                      <m:r>
                        <a:rPr lang="zh-CN" altLang="en-US" smtClean="0">
                          <a:latin typeface="Cambria Math" panose="02040503050406030204" pitchFamily="18" charset="0"/>
                          <a:ea typeface="微软雅黑" panose="020B0503020204020204" pitchFamily="34" charset="-122"/>
                          <a:cs typeface="微软雅黑" panose="020B0503020204020204" pitchFamily="34" charset="-122"/>
                        </a:rPr>
                        <m:t>≥6</m:t>
                      </m:r>
                      <m:sSub>
                        <m:sSubPr>
                          <m:ctrlPr>
                            <a:rPr lang="zh-CN" altLang="en-US" i="1">
                              <a:latin typeface="Cambria Math" panose="02040503050406030204" pitchFamily="18" charset="0"/>
                              <a:ea typeface="微软雅黑" panose="020B0503020204020204" pitchFamily="34" charset="-122"/>
                              <a:cs typeface="微软雅黑" panose="020B0503020204020204" pitchFamily="34" charset="-122"/>
                            </a:rPr>
                          </m:ctrlPr>
                        </m:sSubPr>
                        <m:e>
                          <m:r>
                            <a:rPr lang="zh-CN" altLang="en-US">
                              <a:latin typeface="Cambria Math" panose="02040503050406030204" pitchFamily="18" charset="0"/>
                              <a:ea typeface="微软雅黑" panose="020B0503020204020204" pitchFamily="34" charset="-122"/>
                              <a:cs typeface="微软雅黑" panose="020B0503020204020204" pitchFamily="34" charset="-122"/>
                            </a:rPr>
                            <m:t>𝑖</m:t>
                          </m:r>
                        </m:e>
                        <m:sub>
                          <m:r>
                            <a:rPr lang="zh-CN" altLang="en-US">
                              <a:latin typeface="Cambria Math" panose="02040503050406030204" pitchFamily="18" charset="0"/>
                              <a:ea typeface="微软雅黑" panose="020B0503020204020204" pitchFamily="34" charset="-122"/>
                              <a:cs typeface="微软雅黑" panose="020B0503020204020204" pitchFamily="34" charset="-122"/>
                            </a:rPr>
                            <m:t>0</m:t>
                          </m:r>
                        </m:sub>
                      </m:sSub>
                      <m:r>
                        <a:rPr lang="zh-CN" altLang="en-US">
                          <a:latin typeface="Cambria Math" panose="02040503050406030204" pitchFamily="18" charset="0"/>
                          <a:ea typeface="微软雅黑" panose="020B0503020204020204" pitchFamily="34" charset="-122"/>
                          <a:cs typeface="微软雅黑" panose="020B0503020204020204" pitchFamily="34" charset="-122"/>
                        </a:rPr>
                        <m:t>%</m:t>
                      </m:r>
                      <m:f>
                        <m:fPr>
                          <m:ctrlPr>
                            <a:rPr lang="zh-CN" altLang="en-US" i="1">
                              <a:latin typeface="Cambria Math" panose="02040503050406030204" pitchFamily="18" charset="0"/>
                              <a:ea typeface="微软雅黑" panose="020B0503020204020204" pitchFamily="34" charset="-122"/>
                              <a:cs typeface="微软雅黑" panose="020B0503020204020204" pitchFamily="34" charset="-122"/>
                            </a:rPr>
                          </m:ctrlPr>
                        </m:fPr>
                        <m:num>
                          <m:r>
                            <a:rPr lang="zh-CN" altLang="en-US">
                              <a:latin typeface="Cambria Math" panose="02040503050406030204" pitchFamily="18" charset="0"/>
                              <a:ea typeface="微软雅黑" panose="020B0503020204020204" pitchFamily="34" charset="-122"/>
                              <a:cs typeface="微软雅黑" panose="020B0503020204020204" pitchFamily="34" charset="-122"/>
                            </a:rPr>
                            <m:t>𝑆</m:t>
                          </m:r>
                        </m:num>
                        <m:den>
                          <m:sSubSup>
                            <m:sSubSupPr>
                              <m:ctrlPr>
                                <a:rPr lang="zh-CN" altLang="en-US" i="1">
                                  <a:latin typeface="Cambria Math" panose="02040503050406030204" pitchFamily="18" charset="0"/>
                                  <a:ea typeface="微软雅黑" panose="020B0503020204020204" pitchFamily="34" charset="-122"/>
                                  <a:cs typeface="微软雅黑" panose="020B0503020204020204" pitchFamily="34" charset="-122"/>
                                </a:rPr>
                              </m:ctrlPr>
                            </m:sSubSupPr>
                            <m:e>
                              <m:r>
                                <a:rPr lang="zh-CN" altLang="en-US">
                                  <a:latin typeface="Cambria Math" panose="02040503050406030204" pitchFamily="18" charset="0"/>
                                  <a:ea typeface="微软雅黑" panose="020B0503020204020204" pitchFamily="34" charset="-122"/>
                                  <a:cs typeface="微软雅黑" panose="020B0503020204020204" pitchFamily="34" charset="-122"/>
                                </a:rPr>
                                <m:t>𝑈</m:t>
                              </m:r>
                            </m:e>
                            <m:sub>
                              <m:r>
                                <a:rPr lang="zh-CN" altLang="en-US">
                                  <a:latin typeface="Cambria Math" panose="02040503050406030204" pitchFamily="18" charset="0"/>
                                  <a:ea typeface="微软雅黑" panose="020B0503020204020204" pitchFamily="34" charset="-122"/>
                                  <a:cs typeface="微软雅黑" panose="020B0503020204020204" pitchFamily="34" charset="-122"/>
                                </a:rPr>
                                <m:t>2</m:t>
                              </m:r>
                            </m:sub>
                            <m:sup>
                              <m:r>
                                <a:rPr lang="zh-CN" altLang="en-US">
                                  <a:latin typeface="Cambria Math" panose="02040503050406030204" pitchFamily="18" charset="0"/>
                                  <a:ea typeface="微软雅黑" panose="020B0503020204020204" pitchFamily="34" charset="-122"/>
                                  <a:cs typeface="微软雅黑" panose="020B0503020204020204" pitchFamily="34" charset="-122"/>
                                </a:rPr>
                                <m:t>2</m:t>
                              </m:r>
                            </m:sup>
                          </m:sSubSup>
                        </m:den>
                      </m:f>
                    </m:oMath>
                  </m:oMathPara>
                </a14:m>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𝑅</m:t>
                      </m:r>
                      <m:r>
                        <a:rPr lang="zh-CN" altLang="en-US" i="0">
                          <a:latin typeface="Cambria Math" panose="02040503050406030204" pitchFamily="18" charset="0"/>
                        </a:rPr>
                        <m:t>≥2.3</m:t>
                      </m:r>
                      <m:f>
                        <m:fPr>
                          <m:ctrlPr>
                            <a:rPr lang="zh-CN" altLang="en-US" i="1">
                              <a:solidFill>
                                <a:srgbClr val="836967"/>
                              </a:solidFill>
                              <a:latin typeface="Cambria Math" panose="02040503050406030204" pitchFamily="18" charset="0"/>
                            </a:rPr>
                          </m:ctrlPr>
                        </m:fPr>
                        <m:num>
                          <m:sSubSup>
                            <m:sSubSupPr>
                              <m:ctrlPr>
                                <a:rPr lang="zh-CN" altLang="en-US" i="1">
                                  <a:solidFill>
                                    <a:srgbClr val="836967"/>
                                  </a:solidFill>
                                  <a:latin typeface="Cambria Math" panose="02040503050406030204" pitchFamily="18" charset="0"/>
                                </a:rPr>
                              </m:ctrlPr>
                            </m:sSubSupPr>
                            <m:e>
                              <m:r>
                                <a:rPr lang="zh-CN" altLang="en-US" i="1">
                                  <a:latin typeface="Cambria Math" panose="02040503050406030204" pitchFamily="18" charset="0"/>
                                </a:rPr>
                                <m:t>𝑈</m:t>
                              </m:r>
                            </m:e>
                            <m:sub>
                              <m:r>
                                <a:rPr lang="zh-CN" altLang="en-US" i="0">
                                  <a:latin typeface="Cambria Math" panose="02040503050406030204" pitchFamily="18" charset="0"/>
                                </a:rPr>
                                <m:t>2</m:t>
                              </m:r>
                            </m:sub>
                            <m:sup>
                              <m:r>
                                <a:rPr lang="zh-CN" altLang="en-US" i="0">
                                  <a:latin typeface="Cambria Math" panose="02040503050406030204" pitchFamily="18" charset="0"/>
                                </a:rPr>
                                <m:t>2</m:t>
                              </m:r>
                            </m:sup>
                          </m:sSubSup>
                        </m:num>
                        <m:den>
                          <m:r>
                            <a:rPr lang="zh-CN" altLang="en-US" i="1">
                              <a:latin typeface="Cambria Math" panose="02040503050406030204" pitchFamily="18" charset="0"/>
                            </a:rPr>
                            <m:t>𝑆</m:t>
                          </m:r>
                        </m:den>
                      </m:f>
                      <m:rad>
                        <m:radPr>
                          <m:degHide m:val="on"/>
                          <m:ctrlPr>
                            <a:rPr lang="zh-CN" altLang="en-US" i="1">
                              <a:solidFill>
                                <a:srgbClr val="836967"/>
                              </a:solidFill>
                              <a:latin typeface="Cambria Math" panose="02040503050406030204" pitchFamily="18" charset="0"/>
                            </a:rPr>
                          </m:ctrlPr>
                        </m:radPr>
                        <m:deg/>
                        <m:e>
                          <m:f>
                            <m:fPr>
                              <m:ctrlPr>
                                <a:rPr lang="zh-CN" altLang="en-US" i="1">
                                  <a:solidFill>
                                    <a:srgbClr val="836967"/>
                                  </a:solidFill>
                                  <a:latin typeface="Cambria Math" panose="02040503050406030204" pitchFamily="18" charset="0"/>
                                </a:rPr>
                              </m:ctrlPr>
                            </m:fPr>
                            <m:num>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𝑢</m:t>
                                  </m:r>
                                </m:e>
                                <m:sub>
                                  <m:r>
                                    <a:rPr lang="zh-CN" altLang="en-US" i="1">
                                      <a:latin typeface="Cambria Math" panose="02040503050406030204" pitchFamily="18" charset="0"/>
                                    </a:rPr>
                                    <m:t>𝑘</m:t>
                                  </m:r>
                                </m:sub>
                              </m:sSub>
                              <m:r>
                                <a:rPr lang="zh-CN" altLang="en-US" i="0">
                                  <a:latin typeface="Cambria Math" panose="02040503050406030204" pitchFamily="18" charset="0"/>
                                </a:rPr>
                                <m:t>%</m:t>
                              </m:r>
                            </m:num>
                            <m:den>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𝑖</m:t>
                                  </m:r>
                                </m:e>
                                <m:sub>
                                  <m:r>
                                    <a:rPr lang="zh-CN" altLang="en-US" i="0">
                                      <a:latin typeface="Cambria Math" panose="02040503050406030204" pitchFamily="18" charset="0"/>
                                    </a:rPr>
                                    <m:t>0</m:t>
                                  </m:r>
                                </m:sub>
                              </m:sSub>
                              <m:r>
                                <a:rPr lang="zh-CN" altLang="en-US" i="0">
                                  <a:latin typeface="Cambria Math" panose="02040503050406030204" pitchFamily="18" charset="0"/>
                                </a:rPr>
                                <m:t>%</m:t>
                              </m:r>
                            </m:den>
                          </m:f>
                        </m:e>
                      </m:rad>
                    </m:oMath>
                  </m:oMathPara>
                </a14:m>
                <a:endParaRPr lang="en-US" altLang="zh-CN">
                  <a:latin typeface="Times New Roman" panose="02020603050405020304" pitchFamily="18" charset="0"/>
                  <a:ea typeface="宋体" panose="02010600030101010101" pitchFamily="2" charset="-122"/>
                </a:endParaRPr>
              </a:p>
              <a:p>
                <a:pPr algn="just">
                  <a:lnSpc>
                    <a:spcPct val="150000"/>
                  </a:lnSpc>
                </a:pPr>
                <a:endParaRPr lang="en-US" altLang="zh-CN">
                  <a:latin typeface="Times New Roman" panose="02020603050405020304" pitchFamily="18" charset="0"/>
                  <a:ea typeface="宋体" panose="02010600030101010101" pitchFamily="2" charset="-122"/>
                </a:endParaRPr>
              </a:p>
              <a:p>
                <a:pPr algn="just">
                  <a:lnSpc>
                    <a:spcPct val="150000"/>
                  </a:lnSpc>
                </a:pPr>
                <a:endParaRPr lang="en-US" altLang="zh-CN">
                  <a:latin typeface="Times New Roman" panose="02020603050405020304" pitchFamily="18" charset="0"/>
                  <a:ea typeface="宋体" panose="02010600030101010101" pitchFamily="2" charset="-122"/>
                </a:endParaRPr>
              </a:p>
            </p:txBody>
          </p:sp>
        </mc:Choice>
        <mc:Fallback>
          <p:sp>
            <p:nvSpPr>
              <p:cNvPr id="13" name="文本框 12">
                <a:extLst>
                  <a:ext uri="{FF2B5EF4-FFF2-40B4-BE49-F238E27FC236}">
                    <a16:creationId xmlns:a16="http://schemas.microsoft.com/office/drawing/2014/main" id="{D010541F-6A09-B24D-0941-F7CE9B79F646}"/>
                  </a:ext>
                </a:extLst>
              </p:cNvPr>
              <p:cNvSpPr txBox="1">
                <a:spLocks noRot="1" noChangeAspect="1" noMove="1" noResize="1" noEditPoints="1" noAdjustHandles="1" noChangeArrowheads="1" noChangeShapeType="1" noTextEdit="1"/>
              </p:cNvSpPr>
              <p:nvPr/>
            </p:nvSpPr>
            <p:spPr>
              <a:xfrm>
                <a:off x="119161" y="1526069"/>
                <a:ext cx="6688038" cy="5059205"/>
              </a:xfrm>
              <a:prstGeom prst="rect">
                <a:avLst/>
              </a:prstGeom>
              <a:blipFill>
                <a:blip r:embed="rId4"/>
                <a:stretch>
                  <a:fillRect l="-638" r="-4102"/>
                </a:stretch>
              </a:blipFill>
            </p:spPr>
            <p:txBody>
              <a:bodyPr/>
              <a:lstStyle/>
              <a:p>
                <a:r>
                  <a:rPr lang="zh-CN" altLang="en-US">
                    <a:noFill/>
                  </a:rPr>
                  <a:t> </a:t>
                </a:r>
              </a:p>
            </p:txBody>
          </p:sp>
        </mc:Fallback>
      </mc:AlternateContent>
      <p:sp>
        <p:nvSpPr>
          <p:cNvPr id="17" name="文本框 16">
            <a:extLst>
              <a:ext uri="{FF2B5EF4-FFF2-40B4-BE49-F238E27FC236}">
                <a16:creationId xmlns:a16="http://schemas.microsoft.com/office/drawing/2014/main" id="{5FD40AD3-420E-3B37-E3A9-C8C2E4734EC6}"/>
              </a:ext>
            </a:extLst>
          </p:cNvPr>
          <p:cNvSpPr txBox="1"/>
          <p:nvPr/>
        </p:nvSpPr>
        <p:spPr>
          <a:xfrm>
            <a:off x="7578056" y="4854189"/>
            <a:ext cx="3237298" cy="455253"/>
          </a:xfrm>
          <a:prstGeom prst="rect">
            <a:avLst/>
          </a:prstGeom>
          <a:noFill/>
        </p:spPr>
        <p:txBody>
          <a:bodyPr wrap="square">
            <a:spAutoFit/>
          </a:bodyPr>
          <a:lstStyle>
            <a:defPPr>
              <a:defRPr lang="zh-CN"/>
            </a:defPPr>
            <a:lvl1pPr indent="304800" algn="just">
              <a:lnSpc>
                <a:spcPct val="150000"/>
              </a:lnSpc>
              <a:defRPr>
                <a:effectLst/>
                <a:latin typeface="Times New Roman" panose="02020603050405020304" pitchFamily="18" charset="0"/>
                <a:ea typeface="宋体" panose="02010600030101010101" pitchFamily="2" charset="-122"/>
              </a:defRPr>
            </a:lvl1pPr>
          </a:lstStyle>
          <a:p>
            <a:r>
              <a:rPr lang="zh-CN" altLang="zh-CN"/>
              <a:t>电枢回路中晶闸管保护电路</a:t>
            </a:r>
          </a:p>
        </p:txBody>
      </p:sp>
      <p:sp>
        <p:nvSpPr>
          <p:cNvPr id="18" name="矩形 17">
            <a:extLst>
              <a:ext uri="{FF2B5EF4-FFF2-40B4-BE49-F238E27FC236}">
                <a16:creationId xmlns:a16="http://schemas.microsoft.com/office/drawing/2014/main" id="{DCFE1DCA-7D06-46FB-78A9-EA92FEFF290B}"/>
              </a:ext>
            </a:extLst>
          </p:cNvPr>
          <p:cNvSpPr/>
          <p:nvPr/>
        </p:nvSpPr>
        <p:spPr bwMode="auto">
          <a:xfrm>
            <a:off x="6969760" y="1950490"/>
            <a:ext cx="4815840" cy="3556000"/>
          </a:xfrm>
          <a:prstGeom prst="rect">
            <a:avLst/>
          </a:prstGeom>
          <a:noFill/>
          <a:ln w="28575">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pic>
        <p:nvPicPr>
          <p:cNvPr id="22" name="图片 21">
            <a:extLst>
              <a:ext uri="{FF2B5EF4-FFF2-40B4-BE49-F238E27FC236}">
                <a16:creationId xmlns:a16="http://schemas.microsoft.com/office/drawing/2014/main" id="{CEC16E58-122E-0091-D06A-AC69B970B6F9}"/>
              </a:ext>
            </a:extLst>
          </p:cNvPr>
          <p:cNvPicPr>
            <a:picLocks noChangeAspect="1"/>
          </p:cNvPicPr>
          <p:nvPr/>
        </p:nvPicPr>
        <p:blipFill>
          <a:blip r:embed="rId5"/>
          <a:stretch>
            <a:fillRect/>
          </a:stretch>
        </p:blipFill>
        <p:spPr>
          <a:xfrm>
            <a:off x="7443787" y="2139370"/>
            <a:ext cx="3705225" cy="2714819"/>
          </a:xfrm>
          <a:prstGeom prst="rect">
            <a:avLst/>
          </a:prstGeom>
        </p:spPr>
      </p:pic>
      <p:cxnSp>
        <p:nvCxnSpPr>
          <p:cNvPr id="23" name="直接连接符 22">
            <a:extLst>
              <a:ext uri="{FF2B5EF4-FFF2-40B4-BE49-F238E27FC236}">
                <a16:creationId xmlns:a16="http://schemas.microsoft.com/office/drawing/2014/main" id="{4CD8F6A7-13FF-4AC5-B926-4FDA6DFE3259}"/>
              </a:ext>
            </a:extLst>
          </p:cNvPr>
          <p:cNvCxnSpPr>
            <a:cxnSpLocks/>
          </p:cNvCxnSpPr>
          <p:nvPr/>
        </p:nvCxnSpPr>
        <p:spPr>
          <a:xfrm>
            <a:off x="8385181" y="4655861"/>
            <a:ext cx="2286000"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718266986"/>
      </p:ext>
    </p:extLst>
  </p:cSld>
  <p:clrMapOvr>
    <a:masterClrMapping/>
  </p:clrMapOvr>
  <p:transition spd="slow" advTm="9487"/>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8ACEB-97B6-68E8-84CF-420EE3579510}"/>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A3E0B698-9ED6-CD50-3881-DDB6542FF5A8}"/>
              </a:ext>
            </a:extLst>
          </p:cNvPr>
          <p:cNvCxnSpPr>
            <a:cxnSpLocks/>
          </p:cNvCxnSpPr>
          <p:nvPr/>
        </p:nvCxnSpPr>
        <p:spPr>
          <a:xfrm flipV="1">
            <a:off x="1014737" y="571962"/>
            <a:ext cx="9840017" cy="7575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D4F9C4D7-6CB3-DAE0-B45A-2CE7FF227E41}"/>
              </a:ext>
            </a:extLst>
          </p:cNvPr>
          <p:cNvSpPr/>
          <p:nvPr/>
        </p:nvSpPr>
        <p:spPr>
          <a:xfrm>
            <a:off x="933457" y="132783"/>
            <a:ext cx="9840017"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三、电路设计</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保护电路设计</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电枢回路保护</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晶闸管过电压保护</a:t>
            </a:r>
            <a:endParaRPr kumimoji="0" lang="zh-CN" altLang="zh-CN" sz="2400" b="1" i="0" u="none" strike="noStrike" kern="0" cap="none" spc="0" normalizeH="0" baseline="0" noProof="0">
              <a:ln>
                <a:noFill/>
              </a:ln>
              <a:solidFill>
                <a:prstClr val="black"/>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2AF59A23-C304-1536-198B-50DC40C351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13" name="文本框 12">
            <a:extLst>
              <a:ext uri="{FF2B5EF4-FFF2-40B4-BE49-F238E27FC236}">
                <a16:creationId xmlns:a16="http://schemas.microsoft.com/office/drawing/2014/main" id="{ABA44BDF-A338-2789-3D80-C8E91EE7C7B6}"/>
              </a:ext>
            </a:extLst>
          </p:cNvPr>
          <p:cNvSpPr txBox="1"/>
          <p:nvPr/>
        </p:nvSpPr>
        <p:spPr>
          <a:xfrm>
            <a:off x="88682" y="994457"/>
            <a:ext cx="6688038" cy="873572"/>
          </a:xfrm>
          <a:prstGeom prst="rect">
            <a:avLst/>
          </a:prstGeom>
          <a:noFill/>
        </p:spPr>
        <p:txBody>
          <a:bodyPr wrap="square">
            <a:spAutoFit/>
          </a:bodyPr>
          <a:lstStyle/>
          <a:p>
            <a:pPr algn="just">
              <a:lnSpc>
                <a:spcPct val="150000"/>
              </a:lnSpc>
            </a:pPr>
            <a:endParaRPr lang="en-US" altLang="zh-CN">
              <a:latin typeface="Times New Roman" panose="02020603050405020304" pitchFamily="18" charset="0"/>
              <a:ea typeface="宋体" panose="02010600030101010101" pitchFamily="2" charset="-122"/>
            </a:endParaRPr>
          </a:p>
          <a:p>
            <a:pPr algn="just">
              <a:lnSpc>
                <a:spcPct val="150000"/>
              </a:lnSpc>
            </a:pPr>
            <a:endParaRPr lang="en-US" altLang="zh-CN">
              <a:latin typeface="Times New Roman" panose="02020603050405020304" pitchFamily="18"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A0586B36-8AE3-CC09-0C4E-6B870C091086}"/>
                  </a:ext>
                </a:extLst>
              </p:cNvPr>
              <p:cNvSpPr txBox="1"/>
              <p:nvPr/>
            </p:nvSpPr>
            <p:spPr>
              <a:xfrm>
                <a:off x="389511" y="1122893"/>
                <a:ext cx="11713807" cy="5142177"/>
              </a:xfrm>
              <a:prstGeom prst="rect">
                <a:avLst/>
              </a:prstGeom>
              <a:noFill/>
            </p:spPr>
            <p:txBody>
              <a:bodyPr wrap="square">
                <a:spAutoFit/>
              </a:bodyPr>
              <a:lstStyle/>
              <a:p>
                <a:pPr marL="285750" indent="-285750">
                  <a:buFont typeface="Wingdings" panose="05000000000000000000" pitchFamily="2" charset="2"/>
                  <a:buChar char="Ø"/>
                </a:pPr>
                <a:r>
                  <a:rPr lang="zh-CN" altLang="zh-CN">
                    <a:latin typeface="宋体" panose="02010600030101010101" pitchFamily="2" charset="-122"/>
                    <a:ea typeface="宋体" panose="02010600030101010101" pitchFamily="2" charset="-122"/>
                  </a:rPr>
                  <a:t>电枢回路晶闸管</a:t>
                </a:r>
                <a:r>
                  <a:rPr lang="zh-CN" altLang="en-US">
                    <a:latin typeface="宋体" panose="02010600030101010101" pitchFamily="2" charset="-122"/>
                    <a:ea typeface="宋体" panose="02010600030101010101" pitchFamily="2" charset="-122"/>
                  </a:rPr>
                  <a:t>瞬时</a:t>
                </a:r>
                <a:r>
                  <a:rPr lang="zh-CN" altLang="zh-CN">
                    <a:latin typeface="宋体" panose="02010600030101010101" pitchFamily="2" charset="-122"/>
                    <a:ea typeface="宋体" panose="02010600030101010101" pitchFamily="2" charset="-122"/>
                  </a:rPr>
                  <a:t>过电压保护</a:t>
                </a:r>
                <a:r>
                  <a:rPr lang="zh-CN" altLang="en-US">
                    <a:latin typeface="宋体" panose="02010600030101010101" pitchFamily="2" charset="-122"/>
                    <a:ea typeface="宋体" panose="02010600030101010101" pitchFamily="2" charset="-122"/>
                  </a:rPr>
                  <a:t>的</a:t>
                </a:r>
                <a:r>
                  <a:rPr lang="zh-CN" altLang="zh-CN">
                    <a:latin typeface="宋体" panose="02010600030101010101" pitchFamily="2" charset="-122"/>
                    <a:ea typeface="宋体" panose="02010600030101010101" pitchFamily="2" charset="-122"/>
                  </a:rPr>
                  <a:t>阻容保护计算公式为</a:t>
                </a:r>
                <a:r>
                  <a:rPr lang="zh-CN" altLang="zh-CN"/>
                  <a:t>：</a:t>
                </a:r>
                <a:endParaRPr lang="en-US" altLang="zh-CN"/>
              </a:p>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𝐶</m:t>
                      </m:r>
                      <m:r>
                        <a:rPr lang="en-US" altLang="zh-CN" i="1">
                          <a:latin typeface="Cambria Math" panose="02040503050406030204" pitchFamily="18" charset="0"/>
                        </a:rPr>
                        <m:t>≥6</m:t>
                      </m:r>
                      <m:sSub>
                        <m:sSubPr>
                          <m:ctrlPr>
                            <a:rPr lang="zh-CN" altLang="zh-CN" i="1">
                              <a:latin typeface="Cambria Math" panose="02040503050406030204" pitchFamily="18" charset="0"/>
                            </a:rPr>
                          </m:ctrlPr>
                        </m:sSubPr>
                        <m:e>
                          <m:r>
                            <a:rPr lang="en-US" altLang="zh-CN" i="1">
                              <a:latin typeface="Cambria Math" panose="02040503050406030204" pitchFamily="18" charset="0"/>
                            </a:rPr>
                            <m:t>𝑖</m:t>
                          </m:r>
                        </m:e>
                        <m:sub>
                          <m:r>
                            <a:rPr lang="en-US" altLang="zh-CN" i="1">
                              <a:latin typeface="Cambria Math" panose="02040503050406030204" pitchFamily="18" charset="0"/>
                            </a:rPr>
                            <m:t>0</m:t>
                          </m:r>
                        </m:sub>
                      </m:sSub>
                      <m:r>
                        <a:rPr lang="en-US" altLang="zh-CN" i="1">
                          <a:latin typeface="Cambria Math" panose="02040503050406030204" pitchFamily="18" charset="0"/>
                        </a:rPr>
                        <m:t>%</m:t>
                      </m:r>
                      <m:f>
                        <m:fPr>
                          <m:ctrlPr>
                            <a:rPr lang="zh-CN" altLang="zh-CN" i="1">
                              <a:latin typeface="Cambria Math" panose="02040503050406030204" pitchFamily="18" charset="0"/>
                            </a:rPr>
                          </m:ctrlPr>
                        </m:fPr>
                        <m:num>
                          <m:r>
                            <a:rPr lang="en-US" altLang="zh-CN" i="1">
                              <a:latin typeface="Cambria Math" panose="02040503050406030204" pitchFamily="18" charset="0"/>
                            </a:rPr>
                            <m:t>𝑆</m:t>
                          </m:r>
                        </m:num>
                        <m:den>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𝑈</m:t>
                              </m:r>
                            </m:e>
                            <m:sub>
                              <m:r>
                                <a:rPr lang="en-US" altLang="zh-CN" i="1">
                                  <a:latin typeface="Cambria Math" panose="02040503050406030204" pitchFamily="18" charset="0"/>
                                </a:rPr>
                                <m:t>2</m:t>
                              </m:r>
                            </m:sub>
                            <m:sup>
                              <m:r>
                                <a:rPr lang="en-US" altLang="zh-CN" i="1">
                                  <a:latin typeface="Cambria Math" panose="02040503050406030204" pitchFamily="18" charset="0"/>
                                </a:rPr>
                                <m:t>2</m:t>
                              </m:r>
                            </m:sup>
                          </m:sSubSup>
                        </m:den>
                      </m:f>
                    </m:oMath>
                  </m:oMathPara>
                </a14:m>
                <a:endParaRPr lang="zh-CN" altLang="zh-CN"/>
              </a:p>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𝑅</m:t>
                      </m:r>
                      <m:r>
                        <a:rPr lang="en-US" altLang="zh-CN" i="1">
                          <a:latin typeface="Cambria Math" panose="02040503050406030204" pitchFamily="18" charset="0"/>
                        </a:rPr>
                        <m:t>≥2.3</m:t>
                      </m:r>
                      <m:f>
                        <m:fPr>
                          <m:ctrlPr>
                            <a:rPr lang="zh-CN" altLang="zh-CN" i="1">
                              <a:latin typeface="Cambria Math" panose="02040503050406030204" pitchFamily="18" charset="0"/>
                            </a:rPr>
                          </m:ctrlPr>
                        </m:fPr>
                        <m:num>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𝑈</m:t>
                              </m:r>
                            </m:e>
                            <m:sub>
                              <m:r>
                                <a:rPr lang="en-US" altLang="zh-CN" i="1">
                                  <a:latin typeface="Cambria Math" panose="02040503050406030204" pitchFamily="18" charset="0"/>
                                </a:rPr>
                                <m:t>2</m:t>
                              </m:r>
                            </m:sub>
                            <m:sup>
                              <m:r>
                                <a:rPr lang="en-US" altLang="zh-CN" i="1">
                                  <a:latin typeface="Cambria Math" panose="02040503050406030204" pitchFamily="18" charset="0"/>
                                </a:rPr>
                                <m:t>2</m:t>
                              </m:r>
                            </m:sup>
                          </m:sSubSup>
                        </m:num>
                        <m:den>
                          <m:r>
                            <a:rPr lang="en-US" altLang="zh-CN" i="1">
                              <a:latin typeface="Cambria Math" panose="02040503050406030204" pitchFamily="18" charset="0"/>
                            </a:rPr>
                            <m:t>𝑆</m:t>
                          </m:r>
                        </m:den>
                      </m:f>
                      <m:rad>
                        <m:radPr>
                          <m:degHide m:val="on"/>
                          <m:ctrlPr>
                            <a:rPr lang="zh-CN" altLang="zh-CN" i="1">
                              <a:latin typeface="Cambria Math" panose="02040503050406030204" pitchFamily="18" charset="0"/>
                            </a:rPr>
                          </m:ctrlPr>
                        </m:radPr>
                        <m:deg/>
                        <m:e>
                          <m:f>
                            <m:fPr>
                              <m:ctrlPr>
                                <a:rPr lang="zh-CN" altLang="zh-CN" i="1">
                                  <a:latin typeface="Cambria Math" panose="02040503050406030204" pitchFamily="18" charset="0"/>
                                </a:rPr>
                              </m:ctrlPr>
                            </m:fPr>
                            <m:num>
                              <m:sSub>
                                <m:sSubPr>
                                  <m:ctrlPr>
                                    <a:rPr lang="zh-CN" altLang="zh-CN" i="1">
                                      <a:latin typeface="Cambria Math" panose="02040503050406030204" pitchFamily="18" charset="0"/>
                                    </a:rPr>
                                  </m:ctrlPr>
                                </m:sSubPr>
                                <m:e>
                                  <m:r>
                                    <a:rPr lang="en-US" altLang="zh-CN" i="1">
                                      <a:latin typeface="Cambria Math" panose="02040503050406030204" pitchFamily="18" charset="0"/>
                                    </a:rPr>
                                    <m:t>𝑢</m:t>
                                  </m:r>
                                </m:e>
                                <m:sub>
                                  <m:r>
                                    <a:rPr lang="en-US" altLang="zh-CN" i="1">
                                      <a:latin typeface="Cambria Math" panose="02040503050406030204" pitchFamily="18" charset="0"/>
                                    </a:rPr>
                                    <m:t>𝑘</m:t>
                                  </m:r>
                                </m:sub>
                              </m:sSub>
                              <m:r>
                                <a:rPr lang="en-US" altLang="zh-CN" i="1">
                                  <a:latin typeface="Cambria Math" panose="02040503050406030204" pitchFamily="18" charset="0"/>
                                </a:rPr>
                                <m:t>%</m:t>
                              </m:r>
                            </m:num>
                            <m:den>
                              <m:sSub>
                                <m:sSubPr>
                                  <m:ctrlPr>
                                    <a:rPr lang="zh-CN" altLang="zh-CN" i="1">
                                      <a:latin typeface="Cambria Math" panose="02040503050406030204" pitchFamily="18" charset="0"/>
                                    </a:rPr>
                                  </m:ctrlPr>
                                </m:sSubPr>
                                <m:e>
                                  <m:r>
                                    <a:rPr lang="en-US" altLang="zh-CN" i="1">
                                      <a:latin typeface="Cambria Math" panose="02040503050406030204" pitchFamily="18" charset="0"/>
                                    </a:rPr>
                                    <m:t>𝑖</m:t>
                                  </m:r>
                                </m:e>
                                <m:sub>
                                  <m:r>
                                    <a:rPr lang="en-US" altLang="zh-CN" i="1">
                                      <a:latin typeface="Cambria Math" panose="02040503050406030204" pitchFamily="18" charset="0"/>
                                    </a:rPr>
                                    <m:t>0</m:t>
                                  </m:r>
                                </m:sub>
                              </m:sSub>
                              <m:r>
                                <a:rPr lang="en-US" altLang="zh-CN" i="1">
                                  <a:latin typeface="Cambria Math" panose="02040503050406030204" pitchFamily="18" charset="0"/>
                                </a:rPr>
                                <m:t>%</m:t>
                              </m:r>
                            </m:den>
                          </m:f>
                        </m:e>
                      </m:rad>
                    </m:oMath>
                  </m:oMathPara>
                </a14:m>
                <a:endParaRPr lang="en-US" altLang="zh-CN"/>
              </a:p>
              <a:p>
                <a:r>
                  <a:rPr lang="en-US" altLang="zh-CN">
                    <a:latin typeface="宋体" panose="02010600030101010101" pitchFamily="2" charset="-122"/>
                    <a:ea typeface="宋体" panose="02010600030101010101" pitchFamily="2" charset="-122"/>
                  </a:rPr>
                  <a:t>	</a:t>
                </a:r>
                <a:r>
                  <a:rPr lang="zh-CN" altLang="zh-CN">
                    <a:latin typeface="宋体" panose="02010600030101010101" pitchFamily="2" charset="-122"/>
                    <a:ea typeface="宋体" panose="02010600030101010101" pitchFamily="2" charset="-122"/>
                  </a:rPr>
                  <a:t>式中，</a:t>
                </a:r>
                <a:r>
                  <a:rPr lang="en-US" altLang="zh-CN">
                    <a:latin typeface="宋体" panose="02010600030101010101" pitchFamily="2" charset="-122"/>
                    <a:ea typeface="宋体" panose="02010600030101010101" pitchFamily="2" charset="-122"/>
                  </a:rPr>
                  <a:t>S</a:t>
                </a:r>
                <a:r>
                  <a:rPr lang="zh-CN" altLang="zh-CN">
                    <a:latin typeface="宋体" panose="02010600030101010101" pitchFamily="2" charset="-122"/>
                    <a:ea typeface="宋体" panose="02010600030101010101" pitchFamily="2" charset="-122"/>
                  </a:rPr>
                  <a:t>为变压器每相平均容量；</a:t>
                </a:r>
                <a14:m>
                  <m:oMath xmlns:m="http://schemas.openxmlformats.org/officeDocument/2006/math">
                    <m:sSub>
                      <m:sSubPr>
                        <m:ctrlPr>
                          <a:rPr lang="zh-CN" altLang="zh-CN" i="1">
                            <a:latin typeface="Cambria Math" panose="02040503050406030204" pitchFamily="18" charset="0"/>
                            <a:ea typeface="宋体" panose="02010600030101010101" pitchFamily="2" charset="-122"/>
                          </a:rPr>
                        </m:ctrlPr>
                      </m:sSubPr>
                      <m:e>
                        <m:r>
                          <a:rPr lang="en-US" altLang="zh-CN">
                            <a:latin typeface="Cambria Math" panose="02040503050406030204" pitchFamily="18" charset="0"/>
                            <a:ea typeface="宋体" panose="02010600030101010101" pitchFamily="2" charset="-122"/>
                          </a:rPr>
                          <m:t>𝑈</m:t>
                        </m:r>
                      </m:e>
                      <m:sub>
                        <m:r>
                          <a:rPr lang="en-US" altLang="zh-CN">
                            <a:latin typeface="Cambria Math" panose="02040503050406030204" pitchFamily="18" charset="0"/>
                            <a:ea typeface="宋体" panose="02010600030101010101" pitchFamily="2" charset="-122"/>
                          </a:rPr>
                          <m:t>2</m:t>
                        </m:r>
                      </m:sub>
                    </m:sSub>
                  </m:oMath>
                </a14:m>
                <a:r>
                  <a:rPr lang="zh-CN" altLang="zh-CN">
                    <a:latin typeface="宋体" panose="02010600030101010101" pitchFamily="2" charset="-122"/>
                    <a:ea typeface="宋体" panose="02010600030101010101" pitchFamily="2" charset="-122"/>
                  </a:rPr>
                  <a:t>为变压器副边相电压有效值；</a:t>
                </a:r>
                <a14:m>
                  <m:oMath xmlns:m="http://schemas.openxmlformats.org/officeDocument/2006/math">
                    <m:sSub>
                      <m:sSubPr>
                        <m:ctrlPr>
                          <a:rPr lang="zh-CN" altLang="zh-CN" i="1">
                            <a:latin typeface="Cambria Math" panose="02040503050406030204" pitchFamily="18" charset="0"/>
                            <a:ea typeface="宋体" panose="02010600030101010101" pitchFamily="2" charset="-122"/>
                          </a:rPr>
                        </m:ctrlPr>
                      </m:sSubPr>
                      <m:e>
                        <m:r>
                          <a:rPr lang="en-US" altLang="zh-CN">
                            <a:latin typeface="Cambria Math" panose="02040503050406030204" pitchFamily="18" charset="0"/>
                            <a:ea typeface="宋体" panose="02010600030101010101" pitchFamily="2" charset="-122"/>
                          </a:rPr>
                          <m:t>𝑖</m:t>
                        </m:r>
                      </m:e>
                      <m:sub>
                        <m:r>
                          <a:rPr lang="en-US" altLang="zh-CN">
                            <a:latin typeface="Cambria Math" panose="02040503050406030204" pitchFamily="18" charset="0"/>
                            <a:ea typeface="宋体" panose="02010600030101010101" pitchFamily="2" charset="-122"/>
                          </a:rPr>
                          <m:t>0</m:t>
                        </m:r>
                      </m:sub>
                    </m:sSub>
                    <m:r>
                      <a:rPr lang="en-US" altLang="zh-CN">
                        <a:latin typeface="Cambria Math" panose="02040503050406030204" pitchFamily="18" charset="0"/>
                        <a:ea typeface="宋体" panose="02010600030101010101" pitchFamily="2" charset="-122"/>
                      </a:rPr>
                      <m:t>%</m:t>
                    </m:r>
                  </m:oMath>
                </a14:m>
                <a:r>
                  <a:rPr lang="zh-CN" altLang="zh-CN">
                    <a:latin typeface="宋体" panose="02010600030101010101" pitchFamily="2" charset="-122"/>
                    <a:ea typeface="宋体" panose="02010600030101010101" pitchFamily="2" charset="-122"/>
                  </a:rPr>
                  <a:t>为变压器激磁电流百分值（</a:t>
                </a:r>
                <a:r>
                  <a:rPr lang="en-US" altLang="zh-CN">
                    <a:latin typeface="宋体" panose="02010600030101010101" pitchFamily="2" charset="-122"/>
                    <a:ea typeface="宋体" panose="02010600030101010101" pitchFamily="2" charset="-122"/>
                  </a:rPr>
                  <a:t>10~1000</a:t>
                </a:r>
                <a:r>
                  <a:rPr lang="zh-CN" altLang="zh-CN">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kVA</a:t>
                </a:r>
                <a:r>
                  <a:rPr lang="zh-CN" altLang="zh-CN">
                    <a:latin typeface="宋体" panose="02010600030101010101" pitchFamily="2" charset="-122"/>
                    <a:ea typeface="宋体" panose="02010600030101010101" pitchFamily="2" charset="-122"/>
                  </a:rPr>
                  <a:t>的变压器的激磁电流百分值为</a:t>
                </a:r>
                <a:r>
                  <a:rPr lang="en-US" altLang="zh-CN">
                    <a:latin typeface="宋体" panose="02010600030101010101" pitchFamily="2" charset="-122"/>
                    <a:ea typeface="宋体" panose="02010600030101010101" pitchFamily="2" charset="-122"/>
                  </a:rPr>
                  <a:t>4~10</a:t>
                </a:r>
                <a:r>
                  <a:rPr lang="zh-CN" altLang="zh-CN">
                    <a:latin typeface="宋体" panose="02010600030101010101" pitchFamily="2" charset="-122"/>
                    <a:ea typeface="宋体" panose="02010600030101010101" pitchFamily="2" charset="-122"/>
                  </a:rPr>
                  <a:t>；</a:t>
                </a:r>
                <a14:m>
                  <m:oMath xmlns:m="http://schemas.openxmlformats.org/officeDocument/2006/math">
                    <m:sSub>
                      <m:sSubPr>
                        <m:ctrlPr>
                          <a:rPr lang="zh-CN" altLang="zh-CN" i="1">
                            <a:latin typeface="Cambria Math" panose="02040503050406030204" pitchFamily="18" charset="0"/>
                            <a:ea typeface="宋体" panose="02010600030101010101" pitchFamily="2" charset="-122"/>
                          </a:rPr>
                        </m:ctrlPr>
                      </m:sSubPr>
                      <m:e>
                        <m:r>
                          <a:rPr lang="en-US" altLang="zh-CN">
                            <a:latin typeface="Cambria Math" panose="02040503050406030204" pitchFamily="18" charset="0"/>
                            <a:ea typeface="宋体" panose="02010600030101010101" pitchFamily="2" charset="-122"/>
                          </a:rPr>
                          <m:t>𝑢</m:t>
                        </m:r>
                      </m:e>
                      <m:sub>
                        <m:r>
                          <a:rPr lang="en-US" altLang="zh-CN">
                            <a:latin typeface="Cambria Math" panose="02040503050406030204" pitchFamily="18" charset="0"/>
                            <a:ea typeface="宋体" panose="02010600030101010101" pitchFamily="2" charset="-122"/>
                          </a:rPr>
                          <m:t>𝑘</m:t>
                        </m:r>
                      </m:sub>
                    </m:sSub>
                    <m:r>
                      <a:rPr lang="en-US" altLang="zh-CN">
                        <a:latin typeface="Cambria Math" panose="02040503050406030204" pitchFamily="18" charset="0"/>
                        <a:ea typeface="宋体" panose="02010600030101010101" pitchFamily="2" charset="-122"/>
                      </a:rPr>
                      <m:t>%</m:t>
                    </m:r>
                  </m:oMath>
                </a14:m>
                <a:r>
                  <a:rPr lang="zh-CN" altLang="zh-CN">
                    <a:latin typeface="宋体" panose="02010600030101010101" pitchFamily="2" charset="-122"/>
                    <a:ea typeface="宋体" panose="02010600030101010101" pitchFamily="2" charset="-122"/>
                  </a:rPr>
                  <a:t>为变压器的短路电压百分值，（</a:t>
                </a:r>
                <a:r>
                  <a:rPr lang="en-US" altLang="zh-CN">
                    <a:latin typeface="宋体" panose="02010600030101010101" pitchFamily="2" charset="-122"/>
                    <a:ea typeface="宋体" panose="02010600030101010101" pitchFamily="2" charset="-122"/>
                  </a:rPr>
                  <a:t>10~1000</a:t>
                </a:r>
                <a:r>
                  <a:rPr lang="zh-CN" altLang="zh-CN">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kVA</a:t>
                </a:r>
                <a:r>
                  <a:rPr lang="zh-CN" altLang="zh-CN">
                    <a:latin typeface="宋体" panose="02010600030101010101" pitchFamily="2" charset="-122"/>
                    <a:ea typeface="宋体" panose="02010600030101010101" pitchFamily="2" charset="-122"/>
                  </a:rPr>
                  <a:t>的变压器的短路电压百分值为</a:t>
                </a:r>
                <a:r>
                  <a:rPr lang="en-US" altLang="zh-CN">
                    <a:latin typeface="宋体" panose="02010600030101010101" pitchFamily="2" charset="-122"/>
                    <a:ea typeface="宋体" panose="02010600030101010101" pitchFamily="2" charset="-122"/>
                  </a:rPr>
                  <a:t>5~10</a:t>
                </a:r>
                <a:r>
                  <a:rPr lang="zh-CN" altLang="zh-CN">
                    <a:latin typeface="宋体" panose="02010600030101010101" pitchFamily="2" charset="-122"/>
                    <a:ea typeface="宋体" panose="02010600030101010101" pitchFamily="2" charset="-122"/>
                  </a:rPr>
                  <a:t>。</a:t>
                </a:r>
              </a:p>
              <a:p>
                <a:endParaRPr lang="zh-CN" altLang="zh-CN"/>
              </a:p>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𝐶</m:t>
                      </m:r>
                      <m:r>
                        <a:rPr lang="en-US" altLang="zh-CN" i="1">
                          <a:latin typeface="Cambria Math" panose="02040503050406030204" pitchFamily="18" charset="0"/>
                        </a:rPr>
                        <m:t>≥6</m:t>
                      </m:r>
                      <m:sSub>
                        <m:sSubPr>
                          <m:ctrlPr>
                            <a:rPr lang="zh-CN" altLang="zh-CN" i="1">
                              <a:latin typeface="Cambria Math" panose="02040503050406030204" pitchFamily="18" charset="0"/>
                            </a:rPr>
                          </m:ctrlPr>
                        </m:sSubPr>
                        <m:e>
                          <m:r>
                            <a:rPr lang="en-US" altLang="zh-CN" i="1">
                              <a:latin typeface="Cambria Math" panose="02040503050406030204" pitchFamily="18" charset="0"/>
                            </a:rPr>
                            <m:t>𝑖</m:t>
                          </m:r>
                        </m:e>
                        <m:sub>
                          <m:r>
                            <a:rPr lang="en-US" altLang="zh-CN" i="1">
                              <a:latin typeface="Cambria Math" panose="02040503050406030204" pitchFamily="18" charset="0"/>
                            </a:rPr>
                            <m:t>0</m:t>
                          </m:r>
                        </m:sub>
                      </m:sSub>
                      <m:r>
                        <a:rPr lang="en-US" altLang="zh-CN" i="1">
                          <a:latin typeface="Cambria Math" panose="02040503050406030204" pitchFamily="18" charset="0"/>
                        </a:rPr>
                        <m:t>%</m:t>
                      </m:r>
                      <m:f>
                        <m:fPr>
                          <m:ctrlPr>
                            <a:rPr lang="zh-CN" altLang="zh-CN" i="1">
                              <a:latin typeface="Cambria Math" panose="02040503050406030204" pitchFamily="18" charset="0"/>
                            </a:rPr>
                          </m:ctrlPr>
                        </m:fPr>
                        <m:num>
                          <m:r>
                            <a:rPr lang="en-US" altLang="zh-CN" i="1">
                              <a:latin typeface="Cambria Math" panose="02040503050406030204" pitchFamily="18" charset="0"/>
                            </a:rPr>
                            <m:t>𝑆</m:t>
                          </m:r>
                        </m:num>
                        <m:den>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𝑈</m:t>
                              </m:r>
                            </m:e>
                            <m:sub>
                              <m:r>
                                <a:rPr lang="en-US" altLang="zh-CN" i="1">
                                  <a:latin typeface="Cambria Math" panose="02040503050406030204" pitchFamily="18" charset="0"/>
                                </a:rPr>
                                <m:t>2</m:t>
                              </m:r>
                            </m:sub>
                            <m:sup>
                              <m:r>
                                <a:rPr lang="en-US" altLang="zh-CN" i="1">
                                  <a:latin typeface="Cambria Math" panose="02040503050406030204" pitchFamily="18" charset="0"/>
                                </a:rPr>
                                <m:t>2</m:t>
                              </m:r>
                            </m:sup>
                          </m:sSubSup>
                        </m:den>
                      </m:f>
                      <m:r>
                        <a:rPr lang="en-US" altLang="zh-CN" i="1">
                          <a:latin typeface="Cambria Math" panose="02040503050406030204" pitchFamily="18" charset="0"/>
                        </a:rPr>
                        <m:t>=6×</m:t>
                      </m:r>
                      <m:r>
                        <a:rPr lang="en-US" altLang="zh-CN" b="0" i="1" smtClean="0">
                          <a:latin typeface="Cambria Math" panose="02040503050406030204" pitchFamily="18" charset="0"/>
                        </a:rPr>
                        <m:t>0.0</m:t>
                      </m:r>
                      <m:r>
                        <a:rPr lang="en-US" altLang="zh-CN" i="1">
                          <a:latin typeface="Cambria Math" panose="02040503050406030204" pitchFamily="18" charset="0"/>
                        </a:rPr>
                        <m:t>7×</m:t>
                      </m:r>
                      <m:f>
                        <m:fPr>
                          <m:ctrlPr>
                            <a:rPr lang="zh-CN" altLang="zh-CN" i="1">
                              <a:latin typeface="Cambria Math" panose="02040503050406030204" pitchFamily="18" charset="0"/>
                            </a:rPr>
                          </m:ctrlPr>
                        </m:fPr>
                        <m:num>
                          <m:r>
                            <a:rPr lang="en-US" altLang="zh-CN" b="0" i="1" smtClean="0">
                              <a:latin typeface="Cambria Math" panose="02040503050406030204" pitchFamily="18" charset="0"/>
                            </a:rPr>
                            <m:t>2000</m:t>
                          </m:r>
                        </m:num>
                        <m:den>
                          <m:sSup>
                            <m:sSupPr>
                              <m:ctrlPr>
                                <a:rPr lang="zh-CN" altLang="zh-CN" i="1">
                                  <a:latin typeface="Cambria Math" panose="02040503050406030204" pitchFamily="18" charset="0"/>
                                </a:rPr>
                              </m:ctrlPr>
                            </m:sSupPr>
                            <m:e>
                              <m:r>
                                <a:rPr lang="en-US" altLang="zh-CN" b="0" i="1" smtClean="0">
                                  <a:latin typeface="Cambria Math" panose="02040503050406030204" pitchFamily="18" charset="0"/>
                                </a:rPr>
                                <m:t>660</m:t>
                              </m:r>
                            </m:e>
                            <m:sup>
                              <m:r>
                                <a:rPr lang="en-US" altLang="zh-CN" i="1">
                                  <a:latin typeface="Cambria Math" panose="02040503050406030204" pitchFamily="18" charset="0"/>
                                </a:rPr>
                                <m:t>2</m:t>
                              </m:r>
                            </m:sup>
                          </m:sSup>
                        </m:den>
                      </m:f>
                      <m:r>
                        <a:rPr lang="en-US" altLang="zh-CN" i="1">
                          <a:latin typeface="Cambria Math" panose="02040503050406030204" pitchFamily="18" charset="0"/>
                        </a:rPr>
                        <m:t>=</m:t>
                      </m:r>
                      <m:r>
                        <a:rPr lang="en-US" altLang="zh-CN" b="0" i="0" smtClean="0">
                          <a:latin typeface="Cambria Math" panose="02040503050406030204" pitchFamily="18" charset="0"/>
                        </a:rPr>
                        <m:t>1.928</m:t>
                      </m:r>
                      <m:r>
                        <m:rPr>
                          <m:sty m:val="p"/>
                        </m:rPr>
                        <a:rPr lang="en-US" altLang="zh-CN">
                          <a:latin typeface="Cambria Math" panose="02040503050406030204" pitchFamily="18" charset="0"/>
                        </a:rPr>
                        <m:t>μF</m:t>
                      </m:r>
                    </m:oMath>
                  </m:oMathPara>
                </a14:m>
                <a:endParaRPr lang="zh-CN" altLang="zh-CN"/>
              </a:p>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𝑅</m:t>
                      </m:r>
                      <m:r>
                        <a:rPr lang="en-US" altLang="zh-CN" i="1">
                          <a:latin typeface="Cambria Math" panose="02040503050406030204" pitchFamily="18" charset="0"/>
                        </a:rPr>
                        <m:t>≥2.3</m:t>
                      </m:r>
                      <m:f>
                        <m:fPr>
                          <m:ctrlPr>
                            <a:rPr lang="zh-CN" altLang="zh-CN" i="1">
                              <a:latin typeface="Cambria Math" panose="02040503050406030204" pitchFamily="18" charset="0"/>
                            </a:rPr>
                          </m:ctrlPr>
                        </m:fPr>
                        <m:num>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𝑈</m:t>
                              </m:r>
                            </m:e>
                            <m:sub>
                              <m:r>
                                <a:rPr lang="en-US" altLang="zh-CN" i="1">
                                  <a:latin typeface="Cambria Math" panose="02040503050406030204" pitchFamily="18" charset="0"/>
                                </a:rPr>
                                <m:t>2</m:t>
                              </m:r>
                            </m:sub>
                            <m:sup>
                              <m:r>
                                <a:rPr lang="en-US" altLang="zh-CN" i="1">
                                  <a:latin typeface="Cambria Math" panose="02040503050406030204" pitchFamily="18" charset="0"/>
                                </a:rPr>
                                <m:t>2</m:t>
                              </m:r>
                            </m:sup>
                          </m:sSubSup>
                        </m:num>
                        <m:den>
                          <m:r>
                            <a:rPr lang="en-US" altLang="zh-CN" i="1">
                              <a:latin typeface="Cambria Math" panose="02040503050406030204" pitchFamily="18" charset="0"/>
                            </a:rPr>
                            <m:t>𝑠</m:t>
                          </m:r>
                        </m:den>
                      </m:f>
                      <m:rad>
                        <m:radPr>
                          <m:degHide m:val="on"/>
                          <m:ctrlPr>
                            <a:rPr lang="zh-CN" altLang="zh-CN" i="1">
                              <a:latin typeface="Cambria Math" panose="02040503050406030204" pitchFamily="18" charset="0"/>
                            </a:rPr>
                          </m:ctrlPr>
                        </m:radPr>
                        <m:deg/>
                        <m:e>
                          <m:f>
                            <m:fPr>
                              <m:ctrlPr>
                                <a:rPr lang="zh-CN" altLang="zh-CN" i="1">
                                  <a:latin typeface="Cambria Math" panose="02040503050406030204" pitchFamily="18" charset="0"/>
                                </a:rPr>
                              </m:ctrlPr>
                            </m:fPr>
                            <m:num>
                              <m:sSub>
                                <m:sSubPr>
                                  <m:ctrlPr>
                                    <a:rPr lang="zh-CN" altLang="zh-CN" i="1">
                                      <a:latin typeface="Cambria Math" panose="02040503050406030204" pitchFamily="18" charset="0"/>
                                    </a:rPr>
                                  </m:ctrlPr>
                                </m:sSubPr>
                                <m:e>
                                  <m:r>
                                    <a:rPr lang="en-US" altLang="zh-CN" i="1">
                                      <a:latin typeface="Cambria Math" panose="02040503050406030204" pitchFamily="18" charset="0"/>
                                    </a:rPr>
                                    <m:t>𝑢</m:t>
                                  </m:r>
                                </m:e>
                                <m:sub>
                                  <m:r>
                                    <a:rPr lang="en-US" altLang="zh-CN" i="1">
                                      <a:latin typeface="Cambria Math" panose="02040503050406030204" pitchFamily="18" charset="0"/>
                                    </a:rPr>
                                    <m:t>𝑘</m:t>
                                  </m:r>
                                </m:sub>
                              </m:sSub>
                              <m:r>
                                <a:rPr lang="en-US" altLang="zh-CN" i="1">
                                  <a:latin typeface="Cambria Math" panose="02040503050406030204" pitchFamily="18" charset="0"/>
                                </a:rPr>
                                <m:t>%</m:t>
                              </m:r>
                            </m:num>
                            <m:den>
                              <m:sSub>
                                <m:sSubPr>
                                  <m:ctrlPr>
                                    <a:rPr lang="zh-CN" altLang="zh-CN" i="1">
                                      <a:latin typeface="Cambria Math" panose="02040503050406030204" pitchFamily="18" charset="0"/>
                                    </a:rPr>
                                  </m:ctrlPr>
                                </m:sSubPr>
                                <m:e>
                                  <m:r>
                                    <a:rPr lang="en-US" altLang="zh-CN" i="1">
                                      <a:latin typeface="Cambria Math" panose="02040503050406030204" pitchFamily="18" charset="0"/>
                                    </a:rPr>
                                    <m:t>𝑖</m:t>
                                  </m:r>
                                </m:e>
                                <m:sub>
                                  <m:r>
                                    <a:rPr lang="en-US" altLang="zh-CN" i="1">
                                      <a:latin typeface="Cambria Math" panose="02040503050406030204" pitchFamily="18" charset="0"/>
                                    </a:rPr>
                                    <m:t>0</m:t>
                                  </m:r>
                                </m:sub>
                              </m:sSub>
                              <m:r>
                                <a:rPr lang="en-US" altLang="zh-CN" i="1">
                                  <a:latin typeface="Cambria Math" panose="02040503050406030204" pitchFamily="18" charset="0"/>
                                </a:rPr>
                                <m:t>%</m:t>
                              </m:r>
                            </m:den>
                          </m:f>
                        </m:e>
                      </m:rad>
                      <m:r>
                        <a:rPr lang="en-US" altLang="zh-CN" i="1">
                          <a:latin typeface="Cambria Math" panose="02040503050406030204" pitchFamily="18" charset="0"/>
                        </a:rPr>
                        <m:t>=2.3×</m:t>
                      </m:r>
                      <m:f>
                        <m:fPr>
                          <m:ctrlPr>
                            <a:rPr lang="zh-CN" altLang="zh-CN" i="1">
                              <a:latin typeface="Cambria Math" panose="02040503050406030204" pitchFamily="18" charset="0"/>
                            </a:rPr>
                          </m:ctrlPr>
                        </m:fPr>
                        <m:num>
                          <m:sSup>
                            <m:sSupPr>
                              <m:ctrlPr>
                                <a:rPr lang="zh-CN" altLang="zh-CN" i="1">
                                  <a:latin typeface="Cambria Math" panose="02040503050406030204" pitchFamily="18" charset="0"/>
                                </a:rPr>
                              </m:ctrlPr>
                            </m:sSupPr>
                            <m:e>
                              <m:r>
                                <a:rPr lang="en-US" altLang="zh-CN" b="0" i="1" smtClean="0">
                                  <a:latin typeface="Cambria Math" panose="02040503050406030204" pitchFamily="18" charset="0"/>
                                </a:rPr>
                                <m:t>660</m:t>
                              </m:r>
                            </m:e>
                            <m:sup>
                              <m:r>
                                <a:rPr lang="en-US" altLang="zh-CN" i="1">
                                  <a:latin typeface="Cambria Math" panose="02040503050406030204" pitchFamily="18" charset="0"/>
                                </a:rPr>
                                <m:t>2</m:t>
                              </m:r>
                            </m:sup>
                          </m:sSup>
                        </m:num>
                        <m:den>
                          <m:r>
                            <a:rPr lang="en-US" altLang="zh-CN" b="0" i="1" smtClean="0">
                              <a:latin typeface="Cambria Math" panose="02040503050406030204" pitchFamily="18" charset="0"/>
                            </a:rPr>
                            <m:t>2000</m:t>
                          </m:r>
                        </m:den>
                      </m:f>
                      <m:rad>
                        <m:radPr>
                          <m:degHide m:val="on"/>
                          <m:ctrlPr>
                            <a:rPr lang="zh-CN" altLang="zh-CN" i="1">
                              <a:latin typeface="Cambria Math" panose="02040503050406030204" pitchFamily="18" charset="0"/>
                            </a:rPr>
                          </m:ctrlPr>
                        </m:radPr>
                        <m:deg/>
                        <m:e>
                          <m:f>
                            <m:fPr>
                              <m:ctrlPr>
                                <a:rPr lang="zh-CN" altLang="zh-CN" i="1">
                                  <a:latin typeface="Cambria Math" panose="02040503050406030204" pitchFamily="18" charset="0"/>
                                </a:rPr>
                              </m:ctrlPr>
                            </m:fPr>
                            <m:num>
                              <m:r>
                                <a:rPr lang="en-US" altLang="zh-CN" i="1">
                                  <a:latin typeface="Cambria Math" panose="02040503050406030204" pitchFamily="18" charset="0"/>
                                </a:rPr>
                                <m:t>7</m:t>
                              </m:r>
                            </m:num>
                            <m:den>
                              <m:r>
                                <a:rPr lang="en-US" altLang="zh-CN" i="1">
                                  <a:latin typeface="Cambria Math" panose="02040503050406030204" pitchFamily="18" charset="0"/>
                                </a:rPr>
                                <m:t>7</m:t>
                              </m:r>
                            </m:den>
                          </m:f>
                        </m:e>
                      </m:rad>
                      <m:r>
                        <a:rPr lang="en-US" altLang="zh-CN" i="1">
                          <a:latin typeface="Cambria Math" panose="02040503050406030204" pitchFamily="18" charset="0"/>
                        </a:rPr>
                        <m:t>=1</m:t>
                      </m:r>
                      <m:r>
                        <a:rPr lang="en-US" altLang="zh-CN" b="0" i="0" smtClean="0">
                          <a:latin typeface="Cambria Math" panose="02040503050406030204" pitchFamily="18" charset="0"/>
                        </a:rPr>
                        <m:t>02.1</m:t>
                      </m:r>
                      <m:r>
                        <m:rPr>
                          <m:sty m:val="p"/>
                        </m:rPr>
                        <a:rPr lang="zh-CN" altLang="zh-CN">
                          <a:latin typeface="Cambria Math" panose="02040503050406030204" pitchFamily="18" charset="0"/>
                        </a:rPr>
                        <m:t>Ω</m:t>
                      </m:r>
                    </m:oMath>
                  </m:oMathPara>
                </a14:m>
                <a:endParaRPr lang="en-US" altLang="zh-CN"/>
              </a:p>
              <a:p>
                <a:endParaRPr lang="zh-CN" altLang="zh-CN"/>
              </a:p>
              <a:p>
                <a:r>
                  <a:rPr lang="en-US" altLang="zh-CN">
                    <a:latin typeface="Times New Roman" panose="02020603050405020304" pitchFamily="18" charset="0"/>
                    <a:ea typeface="宋体" panose="02010600030101010101" pitchFamily="2" charset="-122"/>
                  </a:rPr>
                  <a:t>	</a:t>
                </a:r>
                <a:r>
                  <a:rPr lang="zh-CN" altLang="zh-CN">
                    <a:latin typeface="Times New Roman" panose="02020603050405020304" pitchFamily="18" charset="0"/>
                    <a:ea typeface="宋体" panose="02010600030101010101" pitchFamily="2" charset="-122"/>
                  </a:rPr>
                  <a:t>故而，电枢回路中晶闸管保护电路中的</a:t>
                </a:r>
                <a:r>
                  <a:rPr lang="zh-CN" altLang="en-US">
                    <a:latin typeface="Times New Roman" panose="02020603050405020304" pitchFamily="18" charset="0"/>
                    <a:ea typeface="宋体" panose="02010600030101010101" pitchFamily="2" charset="-122"/>
                  </a:rPr>
                  <a:t>瞬时</a:t>
                </a:r>
                <a:r>
                  <a:rPr lang="zh-CN" altLang="zh-CN">
                    <a:latin typeface="Times New Roman" panose="02020603050405020304" pitchFamily="18" charset="0"/>
                    <a:ea typeface="宋体" panose="02010600030101010101" pitchFamily="2" charset="-122"/>
                  </a:rPr>
                  <a:t>过</a:t>
                </a:r>
                <a:r>
                  <a:rPr lang="zh-CN" altLang="en-US">
                    <a:latin typeface="Times New Roman" panose="02020603050405020304" pitchFamily="18" charset="0"/>
                    <a:ea typeface="宋体" panose="02010600030101010101" pitchFamily="2" charset="-122"/>
                  </a:rPr>
                  <a:t>电压</a:t>
                </a:r>
                <a:r>
                  <a:rPr lang="zh-CN" altLang="zh-CN">
                    <a:latin typeface="Times New Roman" panose="02020603050405020304" pitchFamily="18" charset="0"/>
                    <a:ea typeface="宋体" panose="02010600030101010101" pitchFamily="2" charset="-122"/>
                  </a:rPr>
                  <a:t>保护电容取</a:t>
                </a:r>
                <a:r>
                  <a:rPr lang="en-US" altLang="zh-CN">
                    <a:latin typeface="Times New Roman" panose="02020603050405020304" pitchFamily="18" charset="0"/>
                    <a:ea typeface="宋体" panose="02010600030101010101" pitchFamily="2" charset="-122"/>
                  </a:rPr>
                  <a:t>2.2</a:t>
                </a:r>
                <a14:m>
                  <m:oMath xmlns:m="http://schemas.openxmlformats.org/officeDocument/2006/math">
                    <m:r>
                      <m:rPr>
                        <m:sty m:val="p"/>
                      </m:rPr>
                      <a:rPr lang="en-US" altLang="zh-CN">
                        <a:latin typeface="Cambria Math" panose="02040503050406030204" pitchFamily="18" charset="0"/>
                      </a:rPr>
                      <m:t>μF</m:t>
                    </m:r>
                  </m:oMath>
                </a14:m>
                <a:r>
                  <a:rPr lang="zh-CN" altLang="en-US">
                    <a:latin typeface="Times New Roman" panose="02020603050405020304" pitchFamily="18" charset="0"/>
                    <a:ea typeface="宋体" panose="02010600030101010101" pitchFamily="2" charset="-122"/>
                  </a:rPr>
                  <a:t>，</a:t>
                </a:r>
                <a:r>
                  <a:rPr lang="zh-CN" altLang="zh-CN"/>
                  <a:t>电阻取</a:t>
                </a:r>
                <a:r>
                  <a:rPr lang="en-US" altLang="zh-CN"/>
                  <a:t>100</a:t>
                </a:r>
                <a:r>
                  <a:rPr lang="zh-CN" altLang="zh-CN"/>
                  <a:t>Ω。</a:t>
                </a:r>
                <a:endParaRPr lang="zh-CN" altLang="zh-CN">
                  <a:latin typeface="Times New Roman" panose="02020603050405020304" pitchFamily="18" charset="0"/>
                  <a:ea typeface="宋体" panose="02010600030101010101" pitchFamily="2" charset="-122"/>
                </a:endParaRPr>
              </a:p>
              <a:p>
                <a:pPr marL="285750" indent="-285750">
                  <a:buFont typeface="Wingdings" panose="05000000000000000000" pitchFamily="2" charset="2"/>
                  <a:buChar char="Ø"/>
                </a:pPr>
                <a:endParaRPr lang="zh-CN" altLang="zh-CN"/>
              </a:p>
            </p:txBody>
          </p:sp>
        </mc:Choice>
        <mc:Fallback>
          <p:sp>
            <p:nvSpPr>
              <p:cNvPr id="4" name="文本框 3">
                <a:extLst>
                  <a:ext uri="{FF2B5EF4-FFF2-40B4-BE49-F238E27FC236}">
                    <a16:creationId xmlns:a16="http://schemas.microsoft.com/office/drawing/2014/main" id="{A0586B36-8AE3-CC09-0C4E-6B870C091086}"/>
                  </a:ext>
                </a:extLst>
              </p:cNvPr>
              <p:cNvSpPr txBox="1">
                <a:spLocks noRot="1" noChangeAspect="1" noMove="1" noResize="1" noEditPoints="1" noAdjustHandles="1" noChangeArrowheads="1" noChangeShapeType="1" noTextEdit="1"/>
              </p:cNvSpPr>
              <p:nvPr/>
            </p:nvSpPr>
            <p:spPr>
              <a:xfrm>
                <a:off x="389511" y="1122893"/>
                <a:ext cx="11713807" cy="5142177"/>
              </a:xfrm>
              <a:prstGeom prst="rect">
                <a:avLst/>
              </a:prstGeom>
              <a:blipFill>
                <a:blip r:embed="rId4"/>
                <a:stretch>
                  <a:fillRect l="-469" t="-948" r="-41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51046607"/>
      </p:ext>
    </p:extLst>
  </p:cSld>
  <p:clrMapOvr>
    <a:masterClrMapping/>
  </p:clrMapOvr>
  <p:transition spd="slow" advTm="9487"/>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572FF-8BCF-73D1-54B3-BFEEB46CAF21}"/>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495AE02A-C5BE-3B13-4A77-E9507BC5E9EE}"/>
              </a:ext>
            </a:extLst>
          </p:cNvPr>
          <p:cNvCxnSpPr>
            <a:cxnSpLocks/>
          </p:cNvCxnSpPr>
          <p:nvPr/>
        </p:nvCxnSpPr>
        <p:spPr>
          <a:xfrm flipV="1">
            <a:off x="1014737" y="571962"/>
            <a:ext cx="9840017" cy="7575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CD4A70B5-C300-04F5-16CB-D8A5F79DC14E}"/>
              </a:ext>
            </a:extLst>
          </p:cNvPr>
          <p:cNvSpPr/>
          <p:nvPr/>
        </p:nvSpPr>
        <p:spPr>
          <a:xfrm>
            <a:off x="933457" y="132783"/>
            <a:ext cx="10415263"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三、电路设计</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保护电路设计</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电枢回路保护</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晶闸管过流保护</a:t>
            </a:r>
            <a:endParaRPr kumimoji="0" lang="zh-CN" altLang="zh-CN" sz="2400" b="1" i="0" u="none" strike="noStrike" kern="0" cap="none" spc="0" normalizeH="0" baseline="0" noProof="0">
              <a:ln>
                <a:noFill/>
              </a:ln>
              <a:solidFill>
                <a:prstClr val="black"/>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E1EDF61D-2D39-7C4E-B507-B49EF19640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F926416-1305-B7C4-6DBF-8CC529CCC84D}"/>
                  </a:ext>
                </a:extLst>
              </p:cNvPr>
              <p:cNvSpPr txBox="1"/>
              <p:nvPr/>
            </p:nvSpPr>
            <p:spPr>
              <a:xfrm>
                <a:off x="555694" y="2015200"/>
                <a:ext cx="6346931" cy="3426579"/>
              </a:xfrm>
              <a:prstGeom prst="rect">
                <a:avLst/>
              </a:prstGeom>
              <a:noFill/>
            </p:spPr>
            <p:txBody>
              <a:bodyPr wrap="square">
                <a:spAutoFit/>
              </a:bodyPr>
              <a:lstStyle/>
              <a:p>
                <a:pPr marL="285750" indent="-285750">
                  <a:lnSpc>
                    <a:spcPts val="2000"/>
                  </a:lnSpc>
                  <a:buFont typeface="Wingdings" panose="05000000000000000000" pitchFamily="2" charset="2"/>
                  <a:buChar char="Ø"/>
                </a:pPr>
                <a:r>
                  <a:rPr lang="zh-CN" altLang="zh-CN">
                    <a:latin typeface="Times New Roman" panose="02020603050405020304" pitchFamily="18" charset="0"/>
                    <a:ea typeface="宋体" panose="02010600030101010101" pitchFamily="2" charset="-122"/>
                  </a:rPr>
                  <a:t>采用快速熔断器是电力电子装置中最有效、应用最广泛的一种过电流保护措施。选择时应考虑：</a:t>
                </a:r>
              </a:p>
              <a:p>
                <a:pPr lvl="0" indent="-342900">
                  <a:lnSpc>
                    <a:spcPts val="2000"/>
                  </a:lnSpc>
                  <a:buFont typeface="+mj-lt"/>
                  <a:buAutoNum type="arabicParenR"/>
                </a:pPr>
                <a:r>
                  <a:rPr lang="zh-CN" altLang="zh-CN">
                    <a:latin typeface="Times New Roman" panose="02020603050405020304" pitchFamily="18" charset="0"/>
                    <a:ea typeface="宋体" panose="02010600030101010101" pitchFamily="2" charset="-122"/>
                  </a:rPr>
                  <a:t>电压等级应根据熔断后快熔实际承受的电压来确定。</a:t>
                </a:r>
              </a:p>
              <a:p>
                <a:pPr lvl="0" indent="-342900">
                  <a:lnSpc>
                    <a:spcPts val="2000"/>
                  </a:lnSpc>
                  <a:buFont typeface="+mj-lt"/>
                  <a:buAutoNum type="arabicParenR"/>
                </a:pPr>
                <a:r>
                  <a:rPr lang="zh-CN" altLang="zh-CN">
                    <a:latin typeface="Times New Roman" panose="02020603050405020304" pitchFamily="18" charset="0"/>
                    <a:ea typeface="宋体" panose="02010600030101010101" pitchFamily="2" charset="-122"/>
                  </a:rPr>
                  <a:t>电流容量应按其在主电路中的接入方式和主电路联络形式确定。</a:t>
                </a:r>
              </a:p>
              <a:p>
                <a:pPr lvl="0" indent="-342900">
                  <a:lnSpc>
                    <a:spcPts val="2000"/>
                  </a:lnSpc>
                  <a:buFont typeface="+mj-lt"/>
                  <a:buAutoNum type="arabicParenR"/>
                </a:pPr>
                <a:r>
                  <a:rPr lang="zh-CN" altLang="zh-CN">
                    <a:latin typeface="Times New Roman" panose="02020603050405020304" pitchFamily="18" charset="0"/>
                    <a:ea typeface="宋体" panose="02010600030101010101" pitchFamily="2" charset="-122"/>
                  </a:rPr>
                  <a:t>快熔的</a:t>
                </a:r>
                <a14:m>
                  <m:oMath xmlns:m="http://schemas.openxmlformats.org/officeDocument/2006/math">
                    <m:sSup>
                      <m:sSupPr>
                        <m:ctrlPr>
                          <a:rPr lang="zh-CN" altLang="zh-CN" i="1">
                            <a:latin typeface="Cambria Math" panose="02040503050406030204" pitchFamily="18" charset="0"/>
                          </a:rPr>
                        </m:ctrlPr>
                      </m:sSupPr>
                      <m:e>
                        <m:r>
                          <a:rPr lang="en-US" altLang="zh-CN">
                            <a:latin typeface="Cambria Math" panose="02040503050406030204" pitchFamily="18" charset="0"/>
                          </a:rPr>
                          <m:t>𝐼</m:t>
                        </m:r>
                      </m:e>
                      <m:sup>
                        <m:r>
                          <a:rPr lang="en-US" altLang="zh-CN">
                            <a:latin typeface="Cambria Math" panose="02040503050406030204" pitchFamily="18" charset="0"/>
                          </a:rPr>
                          <m:t>2</m:t>
                        </m:r>
                      </m:sup>
                    </m:sSup>
                    <m:r>
                      <a:rPr lang="en-US" altLang="zh-CN">
                        <a:latin typeface="Cambria Math" panose="02040503050406030204" pitchFamily="18" charset="0"/>
                      </a:rPr>
                      <m:t>𝑡</m:t>
                    </m:r>
                  </m:oMath>
                </a14:m>
                <a:r>
                  <a:rPr lang="zh-CN" altLang="zh-CN">
                    <a:latin typeface="Times New Roman" panose="02020603050405020304" pitchFamily="18" charset="0"/>
                    <a:ea typeface="宋体" panose="02010600030101010101" pitchFamily="2" charset="-122"/>
                  </a:rPr>
                  <a:t>值应小于被保护器件的</a:t>
                </a:r>
                <a14:m>
                  <m:oMath xmlns:m="http://schemas.openxmlformats.org/officeDocument/2006/math">
                    <m:sSup>
                      <m:sSupPr>
                        <m:ctrlPr>
                          <a:rPr lang="zh-CN" altLang="zh-CN" i="1">
                            <a:latin typeface="Cambria Math" panose="02040503050406030204" pitchFamily="18" charset="0"/>
                          </a:rPr>
                        </m:ctrlPr>
                      </m:sSupPr>
                      <m:e>
                        <m:r>
                          <a:rPr lang="en-US" altLang="zh-CN">
                            <a:latin typeface="Cambria Math" panose="02040503050406030204" pitchFamily="18" charset="0"/>
                          </a:rPr>
                          <m:t>𝐼</m:t>
                        </m:r>
                      </m:e>
                      <m:sup>
                        <m:r>
                          <a:rPr lang="en-US" altLang="zh-CN">
                            <a:latin typeface="Cambria Math" panose="02040503050406030204" pitchFamily="18" charset="0"/>
                          </a:rPr>
                          <m:t>2</m:t>
                        </m:r>
                      </m:sup>
                    </m:sSup>
                    <m:r>
                      <a:rPr lang="en-US" altLang="zh-CN">
                        <a:latin typeface="Cambria Math" panose="02040503050406030204" pitchFamily="18" charset="0"/>
                      </a:rPr>
                      <m:t>𝑡</m:t>
                    </m:r>
                  </m:oMath>
                </a14:m>
                <a:r>
                  <a:rPr lang="zh-CN" altLang="zh-CN">
                    <a:latin typeface="Times New Roman" panose="02020603050405020304" pitchFamily="18" charset="0"/>
                    <a:ea typeface="宋体" panose="02010600030101010101" pitchFamily="2" charset="-122"/>
                  </a:rPr>
                  <a:t>允许值。</a:t>
                </a:r>
              </a:p>
              <a:p>
                <a:pPr lvl="0" indent="-342900">
                  <a:lnSpc>
                    <a:spcPts val="2000"/>
                  </a:lnSpc>
                  <a:buFont typeface="+mj-lt"/>
                  <a:buAutoNum type="arabicParenR"/>
                </a:pPr>
                <a:r>
                  <a:rPr lang="zh-CN" altLang="zh-CN">
                    <a:latin typeface="Times New Roman" panose="02020603050405020304" pitchFamily="18" charset="0"/>
                    <a:ea typeface="宋体" panose="02010600030101010101" pitchFamily="2" charset="-122"/>
                  </a:rPr>
                  <a:t>为保证熔体在正常过载的情况下不熔化，应考虑其时间和电流特性。</a:t>
                </a:r>
              </a:p>
              <a:p>
                <a:pPr lvl="0" indent="-342900">
                  <a:lnSpc>
                    <a:spcPts val="2000"/>
                  </a:lnSpc>
                  <a:buFont typeface="+mj-lt"/>
                  <a:buAutoNum type="arabicParenR"/>
                </a:pPr>
                <a:r>
                  <a:rPr lang="zh-CN" altLang="zh-CN">
                    <a:latin typeface="Times New Roman" panose="02020603050405020304" pitchFamily="18" charset="0"/>
                    <a:ea typeface="宋体" panose="02010600030101010101" pitchFamily="2" charset="-122"/>
                  </a:rPr>
                  <a:t>熔体的额定电流</a:t>
                </a:r>
                <a14:m>
                  <m:oMath xmlns:m="http://schemas.openxmlformats.org/officeDocument/2006/math">
                    <m:sSub>
                      <m:sSubPr>
                        <m:ctrlPr>
                          <a:rPr lang="zh-CN" altLang="zh-CN" i="1">
                            <a:latin typeface="Cambria Math" panose="02040503050406030204" pitchFamily="18" charset="0"/>
                          </a:rPr>
                        </m:ctrlPr>
                      </m:sSubPr>
                      <m:e>
                        <m:r>
                          <a:rPr lang="en-US" altLang="zh-CN">
                            <a:latin typeface="Cambria Math" panose="02040503050406030204" pitchFamily="18" charset="0"/>
                          </a:rPr>
                          <m:t>𝐼</m:t>
                        </m:r>
                      </m:e>
                      <m:sub>
                        <m:r>
                          <a:rPr lang="en-US" altLang="zh-CN">
                            <a:latin typeface="Cambria Math" panose="02040503050406030204" pitchFamily="18" charset="0"/>
                          </a:rPr>
                          <m:t>𝐾𝑁</m:t>
                        </m:r>
                      </m:sub>
                    </m:sSub>
                  </m:oMath>
                </a14:m>
                <a:r>
                  <a:rPr lang="zh-CN" altLang="zh-CN">
                    <a:latin typeface="Times New Roman" panose="02020603050405020304" pitchFamily="18" charset="0"/>
                    <a:ea typeface="宋体" panose="02010600030101010101" pitchFamily="2" charset="-122"/>
                  </a:rPr>
                  <a:t>可按下式计算：</a:t>
                </a:r>
              </a:p>
              <a:p>
                <a:pPr indent="304800">
                  <a:lnSpc>
                    <a:spcPts val="2000"/>
                  </a:lnSpc>
                  <a:buNone/>
                </a:pPr>
                <a14:m>
                  <m:oMathPara xmlns:m="http://schemas.openxmlformats.org/officeDocument/2006/math">
                    <m:oMathParaPr>
                      <m:jc m:val="centerGroup"/>
                    </m:oMathParaPr>
                    <m:oMath xmlns:m="http://schemas.openxmlformats.org/officeDocument/2006/math">
                      <m:r>
                        <a:rPr lang="en-US" altLang="zh-CN">
                          <a:latin typeface="Cambria Math" panose="02040503050406030204" pitchFamily="18" charset="0"/>
                        </a:rPr>
                        <m:t>1.57</m:t>
                      </m:r>
                      <m:sSub>
                        <m:sSubPr>
                          <m:ctrlPr>
                            <a:rPr lang="zh-CN" altLang="zh-CN" i="1">
                              <a:latin typeface="Cambria Math" panose="02040503050406030204" pitchFamily="18" charset="0"/>
                            </a:rPr>
                          </m:ctrlPr>
                        </m:sSubPr>
                        <m:e>
                          <m:r>
                            <a:rPr lang="en-US" altLang="zh-CN">
                              <a:latin typeface="Cambria Math" panose="02040503050406030204" pitchFamily="18" charset="0"/>
                            </a:rPr>
                            <m:t>𝐼</m:t>
                          </m:r>
                        </m:e>
                        <m:sub>
                          <m:r>
                            <a:rPr lang="en-US" altLang="zh-CN">
                              <a:latin typeface="Cambria Math" panose="02040503050406030204" pitchFamily="18" charset="0"/>
                            </a:rPr>
                            <m:t>𝑇</m:t>
                          </m:r>
                          <m:r>
                            <a:rPr lang="en-US" altLang="zh-CN">
                              <a:latin typeface="Cambria Math" panose="02040503050406030204" pitchFamily="18" charset="0"/>
                            </a:rPr>
                            <m:t>(</m:t>
                          </m:r>
                          <m:r>
                            <a:rPr lang="en-US" altLang="zh-CN">
                              <a:latin typeface="Cambria Math" panose="02040503050406030204" pitchFamily="18" charset="0"/>
                            </a:rPr>
                            <m:t>𝐴𝑉</m:t>
                          </m:r>
                          <m:r>
                            <a:rPr lang="en-US" altLang="zh-CN">
                              <a:latin typeface="Cambria Math" panose="02040503050406030204" pitchFamily="18" charset="0"/>
                            </a:rPr>
                            <m:t>)</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a:latin typeface="Cambria Math" panose="02040503050406030204" pitchFamily="18" charset="0"/>
                            </a:rPr>
                            <m:t>𝐼</m:t>
                          </m:r>
                        </m:e>
                        <m:sub>
                          <m:r>
                            <a:rPr lang="en-US" altLang="zh-CN">
                              <a:latin typeface="Cambria Math" panose="02040503050406030204" pitchFamily="18" charset="0"/>
                            </a:rPr>
                            <m:t>𝐾𝑁</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a:latin typeface="Cambria Math" panose="02040503050406030204" pitchFamily="18" charset="0"/>
                            </a:rPr>
                            <m:t>𝐼</m:t>
                          </m:r>
                        </m:e>
                        <m:sub>
                          <m:r>
                            <a:rPr lang="en-US" altLang="zh-CN">
                              <a:latin typeface="Cambria Math" panose="02040503050406030204" pitchFamily="18" charset="0"/>
                            </a:rPr>
                            <m:t>𝑇</m:t>
                          </m:r>
                        </m:sub>
                      </m:sSub>
                    </m:oMath>
                  </m:oMathPara>
                </a14:m>
                <a:endParaRPr lang="zh-CN" altLang="zh-CN">
                  <a:latin typeface="Times New Roman" panose="02020603050405020304" pitchFamily="18" charset="0"/>
                  <a:ea typeface="宋体" panose="02010600030101010101" pitchFamily="2" charset="-122"/>
                </a:endParaRPr>
              </a:p>
              <a:p>
                <a:pPr indent="304800">
                  <a:lnSpc>
                    <a:spcPts val="2000"/>
                  </a:lnSpc>
                </a:pPr>
                <a:r>
                  <a:rPr lang="zh-CN" altLang="zh-CN">
                    <a:latin typeface="Times New Roman" panose="02020603050405020304" pitchFamily="18" charset="0"/>
                    <a:ea typeface="宋体" panose="02010600030101010101" pitchFamily="2" charset="-122"/>
                  </a:rPr>
                  <a:t>本设计在两组三相桥式整流电路各支路串入快速熔断器与晶闸管串联以保护晶闸管，电枢回路晶闸管过流保护见图</a:t>
                </a:r>
                <a:r>
                  <a:rPr lang="en-US" altLang="zh-CN">
                    <a:latin typeface="Times New Roman" panose="02020603050405020304" pitchFamily="18" charset="0"/>
                    <a:ea typeface="宋体" panose="02010600030101010101" pitchFamily="2" charset="-122"/>
                  </a:rPr>
                  <a:t>3-4</a:t>
                </a:r>
                <a:r>
                  <a:rPr lang="zh-CN" altLang="zh-CN">
                    <a:latin typeface="Times New Roman" panose="02020603050405020304" pitchFamily="18" charset="0"/>
                    <a:ea typeface="宋体" panose="02010600030101010101" pitchFamily="2" charset="-122"/>
                  </a:rPr>
                  <a:t>所示，取熔体的额定电流</a:t>
                </a:r>
                <a14:m>
                  <m:oMath xmlns:m="http://schemas.openxmlformats.org/officeDocument/2006/math">
                    <m:sSub>
                      <m:sSubPr>
                        <m:ctrlPr>
                          <a:rPr lang="zh-CN" altLang="zh-CN" i="1">
                            <a:latin typeface="Cambria Math" panose="02040503050406030204" pitchFamily="18" charset="0"/>
                          </a:rPr>
                        </m:ctrlPr>
                      </m:sSubPr>
                      <m:e>
                        <m:r>
                          <a:rPr lang="en-US" altLang="zh-CN">
                            <a:latin typeface="Cambria Math" panose="02040503050406030204" pitchFamily="18" charset="0"/>
                          </a:rPr>
                          <m:t>𝐼</m:t>
                        </m:r>
                      </m:e>
                      <m:sub>
                        <m:r>
                          <a:rPr lang="en-US" altLang="zh-CN">
                            <a:latin typeface="Cambria Math" panose="02040503050406030204" pitchFamily="18" charset="0"/>
                          </a:rPr>
                          <m:t>𝐾𝑁</m:t>
                        </m:r>
                      </m:sub>
                    </m:sSub>
                  </m:oMath>
                </a14:m>
                <a:r>
                  <a:rPr lang="zh-CN" altLang="zh-CN">
                    <a:latin typeface="Times New Roman" panose="02020603050405020304" pitchFamily="18" charset="0"/>
                    <a:ea typeface="宋体" panose="02010600030101010101" pitchFamily="2" charset="-122"/>
                  </a:rPr>
                  <a:t>为</a:t>
                </a:r>
                <a:r>
                  <a:rPr lang="en-US" altLang="zh-CN">
                    <a:latin typeface="Times New Roman" panose="02020603050405020304" pitchFamily="18" charset="0"/>
                    <a:ea typeface="宋体" panose="02010600030101010101" pitchFamily="2" charset="-122"/>
                  </a:rPr>
                  <a:t>2100A</a:t>
                </a:r>
                <a:r>
                  <a:rPr lang="zh-CN" altLang="zh-CN">
                    <a:latin typeface="Times New Roman" panose="02020603050405020304" pitchFamily="18" charset="0"/>
                    <a:ea typeface="宋体" panose="02010600030101010101" pitchFamily="2" charset="-122"/>
                  </a:rPr>
                  <a:t>。</a:t>
                </a:r>
              </a:p>
            </p:txBody>
          </p:sp>
        </mc:Choice>
        <mc:Fallback xmlns="">
          <p:sp>
            <p:nvSpPr>
              <p:cNvPr id="5" name="文本框 4">
                <a:extLst>
                  <a:ext uri="{FF2B5EF4-FFF2-40B4-BE49-F238E27FC236}">
                    <a16:creationId xmlns:a16="http://schemas.microsoft.com/office/drawing/2014/main" id="{7F926416-1305-B7C4-6DBF-8CC529CCC84D}"/>
                  </a:ext>
                </a:extLst>
              </p:cNvPr>
              <p:cNvSpPr txBox="1">
                <a:spLocks noRot="1" noChangeAspect="1" noMove="1" noResize="1" noEditPoints="1" noAdjustHandles="1" noChangeArrowheads="1" noChangeShapeType="1" noTextEdit="1"/>
              </p:cNvSpPr>
              <p:nvPr/>
            </p:nvSpPr>
            <p:spPr>
              <a:xfrm>
                <a:off x="555694" y="2015200"/>
                <a:ext cx="6346931" cy="3426579"/>
              </a:xfrm>
              <a:prstGeom prst="rect">
                <a:avLst/>
              </a:prstGeom>
              <a:blipFill>
                <a:blip r:embed="rId4"/>
                <a:stretch>
                  <a:fillRect l="-768" t="-1779" b="-1957"/>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88372BF0-5432-CECB-5E27-3B0CACFF82DB}"/>
              </a:ext>
            </a:extLst>
          </p:cNvPr>
          <p:cNvSpPr txBox="1"/>
          <p:nvPr/>
        </p:nvSpPr>
        <p:spPr>
          <a:xfrm>
            <a:off x="7578056" y="4854189"/>
            <a:ext cx="3237298" cy="455253"/>
          </a:xfrm>
          <a:prstGeom prst="rect">
            <a:avLst/>
          </a:prstGeom>
          <a:noFill/>
        </p:spPr>
        <p:txBody>
          <a:bodyPr wrap="square">
            <a:spAutoFit/>
          </a:bodyPr>
          <a:lstStyle>
            <a:defPPr>
              <a:defRPr lang="zh-CN"/>
            </a:defPPr>
            <a:lvl1pPr indent="304800" algn="just">
              <a:lnSpc>
                <a:spcPct val="150000"/>
              </a:lnSpc>
              <a:defRPr>
                <a:effectLst/>
                <a:latin typeface="Times New Roman" panose="02020603050405020304" pitchFamily="18" charset="0"/>
                <a:ea typeface="宋体" panose="02010600030101010101" pitchFamily="2" charset="-122"/>
              </a:defRPr>
            </a:lvl1pPr>
          </a:lstStyle>
          <a:p>
            <a:r>
              <a:rPr lang="zh-CN" altLang="zh-CN"/>
              <a:t>电枢回路中晶闸管保护电路</a:t>
            </a:r>
          </a:p>
        </p:txBody>
      </p:sp>
      <p:sp>
        <p:nvSpPr>
          <p:cNvPr id="11" name="矩形 10">
            <a:extLst>
              <a:ext uri="{FF2B5EF4-FFF2-40B4-BE49-F238E27FC236}">
                <a16:creationId xmlns:a16="http://schemas.microsoft.com/office/drawing/2014/main" id="{7A0C1685-782B-B88D-51ED-FD13D2200672}"/>
              </a:ext>
            </a:extLst>
          </p:cNvPr>
          <p:cNvSpPr/>
          <p:nvPr/>
        </p:nvSpPr>
        <p:spPr bwMode="auto">
          <a:xfrm>
            <a:off x="6969760" y="1950490"/>
            <a:ext cx="4815840" cy="3556000"/>
          </a:xfrm>
          <a:prstGeom prst="rect">
            <a:avLst/>
          </a:prstGeom>
          <a:noFill/>
          <a:ln w="28575">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pic>
        <p:nvPicPr>
          <p:cNvPr id="12" name="图片 11">
            <a:extLst>
              <a:ext uri="{FF2B5EF4-FFF2-40B4-BE49-F238E27FC236}">
                <a16:creationId xmlns:a16="http://schemas.microsoft.com/office/drawing/2014/main" id="{833838CF-6550-F28F-DF31-825E1D45BE42}"/>
              </a:ext>
            </a:extLst>
          </p:cNvPr>
          <p:cNvPicPr>
            <a:picLocks noChangeAspect="1"/>
          </p:cNvPicPr>
          <p:nvPr/>
        </p:nvPicPr>
        <p:blipFill>
          <a:blip r:embed="rId5"/>
          <a:stretch>
            <a:fillRect/>
          </a:stretch>
        </p:blipFill>
        <p:spPr>
          <a:xfrm>
            <a:off x="7443787" y="2139370"/>
            <a:ext cx="3705225" cy="2714819"/>
          </a:xfrm>
          <a:prstGeom prst="rect">
            <a:avLst/>
          </a:prstGeom>
        </p:spPr>
      </p:pic>
      <p:cxnSp>
        <p:nvCxnSpPr>
          <p:cNvPr id="13" name="直接连接符 12">
            <a:extLst>
              <a:ext uri="{FF2B5EF4-FFF2-40B4-BE49-F238E27FC236}">
                <a16:creationId xmlns:a16="http://schemas.microsoft.com/office/drawing/2014/main" id="{80738A15-DA2D-DE9C-6080-7D401B3AEAF9}"/>
              </a:ext>
            </a:extLst>
          </p:cNvPr>
          <p:cNvCxnSpPr>
            <a:cxnSpLocks/>
          </p:cNvCxnSpPr>
          <p:nvPr/>
        </p:nvCxnSpPr>
        <p:spPr>
          <a:xfrm>
            <a:off x="8416354" y="4676643"/>
            <a:ext cx="2286000"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895545426"/>
      </p:ext>
    </p:extLst>
  </p:cSld>
  <p:clrMapOvr>
    <a:masterClrMapping/>
  </p:clrMapOvr>
  <p:transition spd="slow" advTm="9487"/>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D7711-A265-785D-9F80-28F84F8F4A55}"/>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EEC29F76-C6CF-B63D-CB70-5FD69F414164}"/>
              </a:ext>
            </a:extLst>
          </p:cNvPr>
          <p:cNvCxnSpPr>
            <a:cxnSpLocks/>
          </p:cNvCxnSpPr>
          <p:nvPr/>
        </p:nvCxnSpPr>
        <p:spPr>
          <a:xfrm flipV="1">
            <a:off x="1014737" y="571962"/>
            <a:ext cx="9840017" cy="7575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18821533-C07B-8997-DA86-B21F778DB3A5}"/>
              </a:ext>
            </a:extLst>
          </p:cNvPr>
          <p:cNvSpPr/>
          <p:nvPr/>
        </p:nvSpPr>
        <p:spPr>
          <a:xfrm>
            <a:off x="933457" y="132783"/>
            <a:ext cx="10415263"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三、电路设计</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保护电路设计</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电枢回路保护</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电动机过电压保护</a:t>
            </a:r>
            <a:endParaRPr kumimoji="0" lang="zh-CN" altLang="zh-CN" sz="2400" b="1" i="0" u="none" strike="noStrike" kern="0" cap="none" spc="0" normalizeH="0" baseline="0" noProof="0">
              <a:ln>
                <a:noFill/>
              </a:ln>
              <a:solidFill>
                <a:prstClr val="black"/>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1F67E5DF-E024-BED7-E7A6-33E306E736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B7B779C8-5A77-F52F-3099-6C742729C1DA}"/>
                  </a:ext>
                </a:extLst>
              </p:cNvPr>
              <p:cNvSpPr txBox="1"/>
              <p:nvPr/>
            </p:nvSpPr>
            <p:spPr>
              <a:xfrm>
                <a:off x="514351" y="1358492"/>
                <a:ext cx="5988050" cy="5109347"/>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zh-CN">
                    <a:latin typeface="Times New Roman" panose="02020603050405020304" pitchFamily="18" charset="0"/>
                    <a:ea typeface="宋体" panose="02010600030101010101" pitchFamily="2" charset="-122"/>
                  </a:rPr>
                  <a:t>直流侧的</a:t>
                </a:r>
                <a:r>
                  <a:rPr lang="zh-CN" altLang="en-US">
                    <a:latin typeface="Times New Roman" panose="02020603050405020304" pitchFamily="18" charset="0"/>
                    <a:ea typeface="宋体" panose="02010600030101010101" pitchFamily="2" charset="-122"/>
                  </a:rPr>
                  <a:t>瞬时</a:t>
                </a:r>
                <a:r>
                  <a:rPr lang="zh-CN" altLang="zh-CN">
                    <a:latin typeface="Times New Roman" panose="02020603050405020304" pitchFamily="18" charset="0"/>
                    <a:ea typeface="宋体" panose="02010600030101010101" pitchFamily="2" charset="-122"/>
                  </a:rPr>
                  <a:t>过压保护，在直流侧并联电容</a:t>
                </a:r>
                <a:r>
                  <a:rPr lang="en-US" altLang="zh-CN">
                    <a:latin typeface="Times New Roman" panose="02020603050405020304" pitchFamily="18" charset="0"/>
                    <a:ea typeface="宋体" panose="02010600030101010101" pitchFamily="2" charset="-122"/>
                  </a:rPr>
                  <a:t>C</a:t>
                </a:r>
                <a:r>
                  <a:rPr lang="zh-CN" altLang="zh-CN">
                    <a:latin typeface="Times New Roman" panose="02020603050405020304" pitchFamily="18" charset="0"/>
                    <a:ea typeface="宋体" panose="02010600030101010101" pitchFamily="2" charset="-122"/>
                  </a:rPr>
                  <a:t>，电阻</a:t>
                </a:r>
                <a:r>
                  <a:rPr lang="en-US" altLang="zh-CN">
                    <a:latin typeface="Times New Roman" panose="02020603050405020304" pitchFamily="18" charset="0"/>
                    <a:ea typeface="宋体" panose="02010600030101010101" pitchFamily="2" charset="-122"/>
                  </a:rPr>
                  <a:t>R</a:t>
                </a:r>
                <a:r>
                  <a:rPr lang="zh-CN" altLang="zh-CN">
                    <a:latin typeface="Times New Roman" panose="02020603050405020304" pitchFamily="18" charset="0"/>
                    <a:ea typeface="宋体" panose="02010600030101010101" pitchFamily="2" charset="-122"/>
                  </a:rPr>
                  <a:t>。利用电容两端电压不能突变的特性来抑制变压器绕组的</a:t>
                </a:r>
                <a:r>
                  <a:rPr lang="zh-CN" altLang="en-US">
                    <a:latin typeface="Times New Roman" panose="02020603050405020304" pitchFamily="18" charset="0"/>
                    <a:ea typeface="宋体" panose="02010600030101010101" pitchFamily="2" charset="-122"/>
                  </a:rPr>
                  <a:t>瞬时</a:t>
                </a:r>
                <a:r>
                  <a:rPr lang="zh-CN" altLang="zh-CN">
                    <a:latin typeface="Times New Roman" panose="02020603050405020304" pitchFamily="18" charset="0"/>
                    <a:ea typeface="宋体" panose="02010600030101010101" pitchFamily="2" charset="-122"/>
                  </a:rPr>
                  <a:t>过电压，串联电阻能消耗部分能量，同时抑制</a:t>
                </a:r>
                <a:r>
                  <a:rPr lang="en-US" altLang="zh-CN">
                    <a:latin typeface="Times New Roman" panose="02020603050405020304" pitchFamily="18" charset="0"/>
                    <a:ea typeface="宋体" panose="02010600030101010101" pitchFamily="2" charset="-122"/>
                  </a:rPr>
                  <a:t>LC</a:t>
                </a:r>
                <a:r>
                  <a:rPr lang="zh-CN" altLang="zh-CN">
                    <a:latin typeface="Times New Roman" panose="02020603050405020304" pitchFamily="18" charset="0"/>
                    <a:ea typeface="宋体" panose="02010600030101010101" pitchFamily="2" charset="-122"/>
                  </a:rPr>
                  <a:t>回路的振荡。</a:t>
                </a:r>
              </a:p>
              <a:p>
                <a:pPr algn="just">
                  <a:lnSpc>
                    <a:spcPct val="150000"/>
                  </a:lnSpc>
                </a:pPr>
                <a14:m>
                  <m:oMathPara xmlns:m="http://schemas.openxmlformats.org/officeDocument/2006/math">
                    <m:oMathParaPr>
                      <m:jc m:val="centerGroup"/>
                    </m:oMathParaPr>
                    <m:oMath xmlns:m="http://schemas.openxmlformats.org/officeDocument/2006/math">
                      <m:r>
                        <a:rPr lang="en-US" altLang="zh-CN">
                          <a:latin typeface="Cambria Math" panose="02040503050406030204" pitchFamily="18" charset="0"/>
                        </a:rPr>
                        <m:t>𝐶</m:t>
                      </m:r>
                      <m:r>
                        <a:rPr lang="en-US" altLang="zh-CN">
                          <a:latin typeface="Cambria Math" panose="02040503050406030204" pitchFamily="18" charset="0"/>
                        </a:rPr>
                        <m:t>≥6</m:t>
                      </m:r>
                      <m:sSub>
                        <m:sSubPr>
                          <m:ctrlPr>
                            <a:rPr lang="zh-CN" altLang="zh-CN" i="1">
                              <a:latin typeface="Cambria Math" panose="02040503050406030204" pitchFamily="18" charset="0"/>
                            </a:rPr>
                          </m:ctrlPr>
                        </m:sSubPr>
                        <m:e>
                          <m:r>
                            <a:rPr lang="en-US" altLang="zh-CN">
                              <a:latin typeface="Cambria Math" panose="02040503050406030204" pitchFamily="18" charset="0"/>
                            </a:rPr>
                            <m:t>𝑖</m:t>
                          </m:r>
                        </m:e>
                        <m:sub>
                          <m:r>
                            <a:rPr lang="en-US" altLang="zh-CN">
                              <a:latin typeface="Cambria Math" panose="02040503050406030204" pitchFamily="18" charset="0"/>
                            </a:rPr>
                            <m:t>0</m:t>
                          </m:r>
                        </m:sub>
                      </m:sSub>
                      <m:r>
                        <a:rPr lang="en-US" altLang="zh-CN">
                          <a:latin typeface="Cambria Math" panose="02040503050406030204" pitchFamily="18" charset="0"/>
                        </a:rPr>
                        <m:t>%</m:t>
                      </m:r>
                      <m:f>
                        <m:fPr>
                          <m:ctrlPr>
                            <a:rPr lang="zh-CN" altLang="zh-CN" i="1">
                              <a:latin typeface="Cambria Math" panose="02040503050406030204" pitchFamily="18" charset="0"/>
                            </a:rPr>
                          </m:ctrlPr>
                        </m:fPr>
                        <m:num>
                          <m:r>
                            <a:rPr lang="en-US" altLang="zh-CN">
                              <a:latin typeface="Cambria Math" panose="02040503050406030204" pitchFamily="18" charset="0"/>
                            </a:rPr>
                            <m:t>𝑆</m:t>
                          </m:r>
                        </m:num>
                        <m:den>
                          <m:sSubSup>
                            <m:sSubSupPr>
                              <m:ctrlPr>
                                <a:rPr lang="zh-CN" altLang="zh-CN" i="1">
                                  <a:latin typeface="Cambria Math" panose="02040503050406030204" pitchFamily="18" charset="0"/>
                                </a:rPr>
                              </m:ctrlPr>
                            </m:sSubSupPr>
                            <m:e>
                              <m:r>
                                <a:rPr lang="en-US" altLang="zh-CN">
                                  <a:latin typeface="Cambria Math" panose="02040503050406030204" pitchFamily="18" charset="0"/>
                                </a:rPr>
                                <m:t>𝑈</m:t>
                              </m:r>
                            </m:e>
                            <m:sub>
                              <m:r>
                                <a:rPr lang="en-US" altLang="zh-CN">
                                  <a:latin typeface="Cambria Math" panose="02040503050406030204" pitchFamily="18" charset="0"/>
                                </a:rPr>
                                <m:t>2</m:t>
                              </m:r>
                            </m:sub>
                            <m:sup>
                              <m:r>
                                <a:rPr lang="en-US" altLang="zh-CN">
                                  <a:latin typeface="Cambria Math" panose="02040503050406030204" pitchFamily="18" charset="0"/>
                                </a:rPr>
                                <m:t>2</m:t>
                              </m:r>
                            </m:sup>
                          </m:sSubSup>
                        </m:den>
                      </m:f>
                      <m:r>
                        <a:rPr lang="en-US" altLang="zh-CN">
                          <a:latin typeface="Cambria Math" panose="02040503050406030204" pitchFamily="18" charset="0"/>
                        </a:rPr>
                        <m:t>=6×</m:t>
                      </m:r>
                      <m:r>
                        <a:rPr lang="en-US" altLang="zh-CN" b="0" i="0" smtClean="0">
                          <a:latin typeface="Cambria Math" panose="02040503050406030204" pitchFamily="18" charset="0"/>
                        </a:rPr>
                        <m:t>0.0</m:t>
                      </m:r>
                      <m:r>
                        <a:rPr lang="en-US" altLang="zh-CN">
                          <a:latin typeface="Cambria Math" panose="02040503050406030204" pitchFamily="18" charset="0"/>
                        </a:rPr>
                        <m:t>7×</m:t>
                      </m:r>
                      <m:f>
                        <m:fPr>
                          <m:ctrlPr>
                            <a:rPr lang="zh-CN" altLang="zh-CN" i="1">
                              <a:latin typeface="Cambria Math" panose="02040503050406030204" pitchFamily="18" charset="0"/>
                            </a:rPr>
                          </m:ctrlPr>
                        </m:fPr>
                        <m:num>
                          <m:r>
                            <a:rPr lang="en-US" altLang="zh-CN" b="0" i="0" smtClean="0">
                              <a:latin typeface="Cambria Math" panose="02040503050406030204" pitchFamily="18" charset="0"/>
                            </a:rPr>
                            <m:t>1250</m:t>
                          </m:r>
                        </m:num>
                        <m:den>
                          <m:sSup>
                            <m:sSupPr>
                              <m:ctrlPr>
                                <a:rPr lang="zh-CN" altLang="zh-CN" i="1">
                                  <a:latin typeface="Cambria Math" panose="02040503050406030204" pitchFamily="18" charset="0"/>
                                </a:rPr>
                              </m:ctrlPr>
                            </m:sSupPr>
                            <m:e>
                              <m:r>
                                <a:rPr lang="en-US" altLang="zh-CN" b="0" i="0" smtClean="0">
                                  <a:latin typeface="Cambria Math" panose="02040503050406030204" pitchFamily="18" charset="0"/>
                                </a:rPr>
                                <m:t>660</m:t>
                              </m:r>
                            </m:e>
                            <m:sup>
                              <m:r>
                                <a:rPr lang="en-US" altLang="zh-CN">
                                  <a:latin typeface="Cambria Math" panose="02040503050406030204" pitchFamily="18" charset="0"/>
                                </a:rPr>
                                <m:t>2</m:t>
                              </m:r>
                            </m:sup>
                          </m:sSup>
                        </m:den>
                      </m:f>
                      <m:r>
                        <a:rPr lang="en-US" altLang="zh-CN">
                          <a:latin typeface="Cambria Math" panose="02040503050406030204" pitchFamily="18" charset="0"/>
                        </a:rPr>
                        <m:t>=1</m:t>
                      </m:r>
                      <m:r>
                        <a:rPr lang="en-US" altLang="zh-CN" b="0" i="0" smtClean="0">
                          <a:latin typeface="Cambria Math" panose="02040503050406030204" pitchFamily="18" charset="0"/>
                        </a:rPr>
                        <m:t>.2</m:t>
                      </m:r>
                      <m:r>
                        <a:rPr lang="en-US" altLang="zh-CN">
                          <a:latin typeface="Cambria Math" panose="02040503050406030204" pitchFamily="18" charset="0"/>
                        </a:rPr>
                        <m:t>0</m:t>
                      </m:r>
                      <m:r>
                        <a:rPr lang="en-US" altLang="zh-CN" b="0" i="0" smtClean="0">
                          <a:latin typeface="Cambria Math" panose="02040503050406030204" pitchFamily="18" charset="0"/>
                        </a:rPr>
                        <m:t>5</m:t>
                      </m:r>
                      <m:r>
                        <m:rPr>
                          <m:sty m:val="p"/>
                        </m:rPr>
                        <a:rPr lang="en-US" altLang="zh-CN">
                          <a:latin typeface="Cambria Math" panose="02040503050406030204" pitchFamily="18" charset="0"/>
                        </a:rPr>
                        <m:t>μF</m:t>
                      </m:r>
                    </m:oMath>
                  </m:oMathPara>
                </a14:m>
                <a:endParaRPr lang="zh-CN" altLang="zh-CN">
                  <a:latin typeface="Times New Roman" panose="02020603050405020304" pitchFamily="18" charset="0"/>
                  <a:ea typeface="宋体" panose="02010600030101010101" pitchFamily="2" charset="-122"/>
                </a:endParaRPr>
              </a:p>
              <a:p>
                <a:pPr algn="just">
                  <a:lnSpc>
                    <a:spcPct val="150000"/>
                  </a:lnSpc>
                </a:pPr>
                <a14:m>
                  <m:oMathPara xmlns:m="http://schemas.openxmlformats.org/officeDocument/2006/math">
                    <m:oMathParaPr>
                      <m:jc m:val="centerGroup"/>
                    </m:oMathParaPr>
                    <m:oMath xmlns:m="http://schemas.openxmlformats.org/officeDocument/2006/math">
                      <m:r>
                        <a:rPr lang="en-US" altLang="zh-CN">
                          <a:latin typeface="Cambria Math" panose="02040503050406030204" pitchFamily="18" charset="0"/>
                        </a:rPr>
                        <m:t>𝑅</m:t>
                      </m:r>
                      <m:r>
                        <a:rPr lang="en-US" altLang="zh-CN">
                          <a:latin typeface="Cambria Math" panose="02040503050406030204" pitchFamily="18" charset="0"/>
                        </a:rPr>
                        <m:t>≥2.3</m:t>
                      </m:r>
                      <m:f>
                        <m:fPr>
                          <m:ctrlPr>
                            <a:rPr lang="zh-CN" altLang="zh-CN" i="1">
                              <a:latin typeface="Cambria Math" panose="02040503050406030204" pitchFamily="18" charset="0"/>
                            </a:rPr>
                          </m:ctrlPr>
                        </m:fPr>
                        <m:num>
                          <m:sSubSup>
                            <m:sSubSupPr>
                              <m:ctrlPr>
                                <a:rPr lang="zh-CN" altLang="zh-CN" i="1">
                                  <a:latin typeface="Cambria Math" panose="02040503050406030204" pitchFamily="18" charset="0"/>
                                </a:rPr>
                              </m:ctrlPr>
                            </m:sSubSupPr>
                            <m:e>
                              <m:r>
                                <a:rPr lang="en-US" altLang="zh-CN">
                                  <a:latin typeface="Cambria Math" panose="02040503050406030204" pitchFamily="18" charset="0"/>
                                </a:rPr>
                                <m:t>𝑈</m:t>
                              </m:r>
                            </m:e>
                            <m:sub>
                              <m:r>
                                <a:rPr lang="en-US" altLang="zh-CN">
                                  <a:latin typeface="Cambria Math" panose="02040503050406030204" pitchFamily="18" charset="0"/>
                                </a:rPr>
                                <m:t>2</m:t>
                              </m:r>
                            </m:sub>
                            <m:sup>
                              <m:r>
                                <a:rPr lang="en-US" altLang="zh-CN">
                                  <a:latin typeface="Cambria Math" panose="02040503050406030204" pitchFamily="18" charset="0"/>
                                </a:rPr>
                                <m:t>2</m:t>
                              </m:r>
                            </m:sup>
                          </m:sSubSup>
                        </m:num>
                        <m:den>
                          <m:r>
                            <a:rPr lang="en-US" altLang="zh-CN">
                              <a:latin typeface="Cambria Math" panose="02040503050406030204" pitchFamily="18" charset="0"/>
                            </a:rPr>
                            <m:t>𝑠</m:t>
                          </m:r>
                        </m:den>
                      </m:f>
                      <m:rad>
                        <m:radPr>
                          <m:degHide m:val="on"/>
                          <m:ctrlPr>
                            <a:rPr lang="zh-CN" altLang="zh-CN" i="1">
                              <a:latin typeface="Cambria Math" panose="02040503050406030204" pitchFamily="18" charset="0"/>
                            </a:rPr>
                          </m:ctrlPr>
                        </m:radPr>
                        <m:deg/>
                        <m:e>
                          <m:f>
                            <m:fPr>
                              <m:ctrlPr>
                                <a:rPr lang="zh-CN" altLang="zh-CN" i="1">
                                  <a:latin typeface="Cambria Math" panose="02040503050406030204" pitchFamily="18" charset="0"/>
                                </a:rPr>
                              </m:ctrlPr>
                            </m:fPr>
                            <m:num>
                              <m:sSub>
                                <m:sSubPr>
                                  <m:ctrlPr>
                                    <a:rPr lang="zh-CN" altLang="zh-CN" i="1">
                                      <a:latin typeface="Cambria Math" panose="02040503050406030204" pitchFamily="18" charset="0"/>
                                    </a:rPr>
                                  </m:ctrlPr>
                                </m:sSubPr>
                                <m:e>
                                  <m:r>
                                    <a:rPr lang="en-US" altLang="zh-CN">
                                      <a:latin typeface="Cambria Math" panose="02040503050406030204" pitchFamily="18" charset="0"/>
                                    </a:rPr>
                                    <m:t>𝑢</m:t>
                                  </m:r>
                                </m:e>
                                <m:sub>
                                  <m:r>
                                    <a:rPr lang="en-US" altLang="zh-CN">
                                      <a:latin typeface="Cambria Math" panose="02040503050406030204" pitchFamily="18" charset="0"/>
                                    </a:rPr>
                                    <m:t>𝑘</m:t>
                                  </m:r>
                                </m:sub>
                              </m:sSub>
                              <m:r>
                                <a:rPr lang="en-US" altLang="zh-CN">
                                  <a:latin typeface="Cambria Math" panose="02040503050406030204" pitchFamily="18" charset="0"/>
                                </a:rPr>
                                <m:t>%</m:t>
                              </m:r>
                            </m:num>
                            <m:den>
                              <m:sSub>
                                <m:sSubPr>
                                  <m:ctrlPr>
                                    <a:rPr lang="zh-CN" altLang="zh-CN" i="1">
                                      <a:latin typeface="Cambria Math" panose="02040503050406030204" pitchFamily="18" charset="0"/>
                                    </a:rPr>
                                  </m:ctrlPr>
                                </m:sSubPr>
                                <m:e>
                                  <m:r>
                                    <a:rPr lang="en-US" altLang="zh-CN">
                                      <a:latin typeface="Cambria Math" panose="02040503050406030204" pitchFamily="18" charset="0"/>
                                    </a:rPr>
                                    <m:t>𝑖</m:t>
                                  </m:r>
                                </m:e>
                                <m:sub>
                                  <m:r>
                                    <a:rPr lang="en-US" altLang="zh-CN">
                                      <a:latin typeface="Cambria Math" panose="02040503050406030204" pitchFamily="18" charset="0"/>
                                    </a:rPr>
                                    <m:t>0</m:t>
                                  </m:r>
                                </m:sub>
                              </m:sSub>
                              <m:r>
                                <a:rPr lang="en-US" altLang="zh-CN">
                                  <a:latin typeface="Cambria Math" panose="02040503050406030204" pitchFamily="18" charset="0"/>
                                </a:rPr>
                                <m:t>%</m:t>
                              </m:r>
                            </m:den>
                          </m:f>
                        </m:e>
                      </m:rad>
                      <m:r>
                        <a:rPr lang="en-US" altLang="zh-CN">
                          <a:latin typeface="Cambria Math" panose="02040503050406030204" pitchFamily="18" charset="0"/>
                        </a:rPr>
                        <m:t>=2.3×</m:t>
                      </m:r>
                      <m:f>
                        <m:fPr>
                          <m:ctrlPr>
                            <a:rPr lang="zh-CN" altLang="zh-CN" i="1">
                              <a:latin typeface="Cambria Math" panose="02040503050406030204" pitchFamily="18" charset="0"/>
                            </a:rPr>
                          </m:ctrlPr>
                        </m:fPr>
                        <m:num>
                          <m:sSup>
                            <m:sSupPr>
                              <m:ctrlPr>
                                <a:rPr lang="zh-CN" altLang="zh-CN" i="1">
                                  <a:latin typeface="Cambria Math" panose="02040503050406030204" pitchFamily="18" charset="0"/>
                                </a:rPr>
                              </m:ctrlPr>
                            </m:sSupPr>
                            <m:e>
                              <m:r>
                                <a:rPr lang="en-US" altLang="zh-CN" b="0" i="0" smtClean="0">
                                  <a:latin typeface="Cambria Math" panose="02040503050406030204" pitchFamily="18" charset="0"/>
                                </a:rPr>
                                <m:t>660</m:t>
                              </m:r>
                            </m:e>
                            <m:sup>
                              <m:r>
                                <a:rPr lang="en-US" altLang="zh-CN">
                                  <a:latin typeface="Cambria Math" panose="02040503050406030204" pitchFamily="18" charset="0"/>
                                </a:rPr>
                                <m:t>2</m:t>
                              </m:r>
                            </m:sup>
                          </m:sSup>
                        </m:num>
                        <m:den>
                          <m:r>
                            <a:rPr lang="en-US" altLang="zh-CN" b="0" i="0" smtClean="0">
                              <a:latin typeface="Cambria Math" panose="02040503050406030204" pitchFamily="18" charset="0"/>
                            </a:rPr>
                            <m:t>1250</m:t>
                          </m:r>
                        </m:den>
                      </m:f>
                      <m:rad>
                        <m:radPr>
                          <m:degHide m:val="on"/>
                          <m:ctrlPr>
                            <a:rPr lang="zh-CN" altLang="zh-CN" i="1">
                              <a:latin typeface="Cambria Math" panose="02040503050406030204" pitchFamily="18" charset="0"/>
                            </a:rPr>
                          </m:ctrlPr>
                        </m:radPr>
                        <m:deg/>
                        <m:e>
                          <m:f>
                            <m:fPr>
                              <m:ctrlPr>
                                <a:rPr lang="zh-CN" altLang="zh-CN" i="1">
                                  <a:latin typeface="Cambria Math" panose="02040503050406030204" pitchFamily="18" charset="0"/>
                                </a:rPr>
                              </m:ctrlPr>
                            </m:fPr>
                            <m:num>
                              <m:r>
                                <a:rPr lang="en-US" altLang="zh-CN">
                                  <a:latin typeface="Cambria Math" panose="02040503050406030204" pitchFamily="18" charset="0"/>
                                </a:rPr>
                                <m:t>7</m:t>
                              </m:r>
                            </m:num>
                            <m:den>
                              <m:r>
                                <a:rPr lang="en-US" altLang="zh-CN">
                                  <a:latin typeface="Cambria Math" panose="02040503050406030204" pitchFamily="18" charset="0"/>
                                </a:rPr>
                                <m:t>7</m:t>
                              </m:r>
                            </m:den>
                          </m:f>
                        </m:e>
                      </m:rad>
                      <m:r>
                        <a:rPr lang="en-US" altLang="zh-CN">
                          <a:latin typeface="Cambria Math" panose="02040503050406030204" pitchFamily="18" charset="0"/>
                        </a:rPr>
                        <m:t>=8</m:t>
                      </m:r>
                      <m:r>
                        <a:rPr lang="en-US" altLang="zh-CN" b="0" i="0" smtClean="0">
                          <a:latin typeface="Cambria Math" panose="02040503050406030204" pitchFamily="18" charset="0"/>
                        </a:rPr>
                        <m:t>01</m:t>
                      </m:r>
                      <m:r>
                        <a:rPr lang="en-US" altLang="zh-CN">
                          <a:latin typeface="Cambria Math" panose="02040503050406030204" pitchFamily="18" charset="0"/>
                        </a:rPr>
                        <m:t>.</m:t>
                      </m:r>
                      <m:r>
                        <a:rPr lang="en-US" altLang="zh-CN" b="0" i="0" smtClean="0">
                          <a:latin typeface="Cambria Math" panose="02040503050406030204" pitchFamily="18" charset="0"/>
                        </a:rPr>
                        <m:t>504</m:t>
                      </m:r>
                      <m:r>
                        <m:rPr>
                          <m:sty m:val="p"/>
                        </m:rPr>
                        <a:rPr lang="zh-CN" altLang="zh-CN">
                          <a:latin typeface="Cambria Math" panose="02040503050406030204" pitchFamily="18" charset="0"/>
                        </a:rPr>
                        <m:t>Ω</m:t>
                      </m:r>
                    </m:oMath>
                  </m:oMathPara>
                </a14:m>
                <a:endParaRPr lang="zh-CN" altLang="zh-CN">
                  <a:latin typeface="Times New Roman" panose="02020603050405020304" pitchFamily="18" charset="0"/>
                  <a:ea typeface="宋体" panose="02010600030101010101" pitchFamily="2" charset="-122"/>
                </a:endParaRPr>
              </a:p>
              <a:p>
                <a:pPr algn="just">
                  <a:lnSpc>
                    <a:spcPct val="150000"/>
                  </a:lnSpc>
                </a:pPr>
                <a14:m>
                  <m:oMathPara xmlns:m="http://schemas.openxmlformats.org/officeDocument/2006/math">
                    <m:oMathParaPr>
                      <m:jc m:val="centerGroup"/>
                    </m:oMathParaPr>
                    <m:oMath xmlns:m="http://schemas.openxmlformats.org/officeDocument/2006/math">
                      <m:r>
                        <m:rPr>
                          <m:nor/>
                        </m:rPr>
                        <a:rPr lang="zh-CN" altLang="en-US">
                          <a:latin typeface="Times New Roman" panose="02020603050405020304" pitchFamily="18" charset="0"/>
                          <a:ea typeface="宋体" panose="02010600030101010101" pitchFamily="2" charset="-122"/>
                        </a:rPr>
                        <m:t>故而，电枢回路中电动机过</m:t>
                      </m:r>
                      <m:r>
                        <a:rPr lang="zh-CN" altLang="en-US" i="1">
                          <a:latin typeface="Cambria Math" panose="02040503050406030204" pitchFamily="18" charset="0"/>
                          <a:ea typeface="宋体" panose="02010600030101010101" pitchFamily="2" charset="-122"/>
                        </a:rPr>
                        <m:t>电压</m:t>
                      </m:r>
                      <m:r>
                        <m:rPr>
                          <m:nor/>
                        </m:rPr>
                        <a:rPr lang="zh-CN" altLang="en-US">
                          <a:latin typeface="Times New Roman" panose="02020603050405020304" pitchFamily="18" charset="0"/>
                          <a:ea typeface="宋体" panose="02010600030101010101" pitchFamily="2" charset="-122"/>
                        </a:rPr>
                        <m:t>保护电路中的电容取</m:t>
                      </m:r>
                      <m:r>
                        <m:rPr>
                          <m:nor/>
                        </m:rPr>
                        <a:rPr lang="en-US" altLang="zh-CN" b="0" i="0" smtClean="0">
                          <a:latin typeface="Times New Roman" panose="02020603050405020304" pitchFamily="18" charset="0"/>
                          <a:ea typeface="宋体" panose="02010600030101010101" pitchFamily="2" charset="-122"/>
                        </a:rPr>
                        <m:t>1.2</m:t>
                      </m:r>
                      <m:r>
                        <m:rPr>
                          <m:sty m:val="p"/>
                        </m:rPr>
                        <a:rPr lang="en-US" altLang="zh-CN">
                          <a:latin typeface="Cambria Math" panose="02040503050406030204" pitchFamily="18" charset="0"/>
                        </a:rPr>
                        <m:t>μF</m:t>
                      </m:r>
                      <m:r>
                        <m:rPr>
                          <m:nor/>
                        </m:rPr>
                        <a:rPr lang="zh-CN" altLang="en-US">
                          <a:latin typeface="Times New Roman" panose="02020603050405020304" pitchFamily="18" charset="0"/>
                          <a:ea typeface="宋体" panose="02010600030101010101" pitchFamily="2" charset="-122"/>
                        </a:rPr>
                        <m:t>，电阻取</m:t>
                      </m:r>
                      <m:r>
                        <m:rPr>
                          <m:nor/>
                        </m:rPr>
                        <a:rPr lang="en-US" altLang="zh-CN" b="0" i="0" smtClean="0">
                          <a:latin typeface="Times New Roman" panose="02020603050405020304" pitchFamily="18" charset="0"/>
                          <a:ea typeface="宋体" panose="02010600030101010101" pitchFamily="2" charset="-122"/>
                        </a:rPr>
                        <m:t>8</m:t>
                      </m:r>
                      <m:r>
                        <m:rPr>
                          <m:nor/>
                        </m:rPr>
                        <a:rPr lang="en-US" altLang="zh-CN">
                          <a:latin typeface="Times New Roman" panose="02020603050405020304" pitchFamily="18" charset="0"/>
                          <a:ea typeface="宋体" panose="02010600030101010101" pitchFamily="2" charset="-122"/>
                        </a:rPr>
                        <m:t>00</m:t>
                      </m:r>
                      <m:r>
                        <m:rPr>
                          <m:nor/>
                        </m:rPr>
                        <a:rPr lang="en-US" altLang="zh-CN">
                          <a:latin typeface="Times New Roman" panose="02020603050405020304" pitchFamily="18" charset="0"/>
                          <a:ea typeface="宋体" panose="02010600030101010101" pitchFamily="2" charset="-122"/>
                        </a:rPr>
                        <m:t>Ω</m:t>
                      </m:r>
                      <m:r>
                        <m:rPr>
                          <m:nor/>
                        </m:rPr>
                        <a:rPr lang="zh-CN" altLang="en-US">
                          <a:latin typeface="Times New Roman" panose="02020603050405020304" pitchFamily="18" charset="0"/>
                          <a:ea typeface="宋体" panose="02010600030101010101" pitchFamily="2" charset="-122"/>
                        </a:rPr>
                        <m:t>。</m:t>
                      </m:r>
                    </m:oMath>
                  </m:oMathPara>
                </a14:m>
                <a:endParaRPr lang="zh-CN" altLang="zh-CN">
                  <a:latin typeface="Times New Roman" panose="02020603050405020304" pitchFamily="18" charset="0"/>
                  <a:ea typeface="宋体" panose="02010600030101010101" pitchFamily="2" charset="-122"/>
                </a:endParaRPr>
              </a:p>
              <a:p>
                <a:pPr marL="285750" indent="-285750" algn="just">
                  <a:lnSpc>
                    <a:spcPct val="150000"/>
                  </a:lnSpc>
                  <a:buFont typeface="Wingdings" panose="05000000000000000000" pitchFamily="2" charset="2"/>
                  <a:buChar char="Ø"/>
                </a:pPr>
                <a:endParaRPr lang="en-US" altLang="zh-CN">
                  <a:latin typeface="Times New Roman" panose="02020603050405020304" pitchFamily="18" charset="0"/>
                  <a:ea typeface="宋体" panose="02010600030101010101" pitchFamily="2" charset="-122"/>
                </a:endParaRPr>
              </a:p>
              <a:p>
                <a:pPr algn="just">
                  <a:lnSpc>
                    <a:spcPct val="150000"/>
                  </a:lnSpc>
                </a:pPr>
                <a:endParaRPr lang="en-US" altLang="zh-CN">
                  <a:latin typeface="Times New Roman" panose="02020603050405020304" pitchFamily="18" charset="0"/>
                  <a:ea typeface="宋体" panose="02010600030101010101" pitchFamily="2" charset="-122"/>
                </a:endParaRPr>
              </a:p>
            </p:txBody>
          </p:sp>
        </mc:Choice>
        <mc:Fallback>
          <p:sp>
            <p:nvSpPr>
              <p:cNvPr id="3" name="文本框 2">
                <a:extLst>
                  <a:ext uri="{FF2B5EF4-FFF2-40B4-BE49-F238E27FC236}">
                    <a16:creationId xmlns:a16="http://schemas.microsoft.com/office/drawing/2014/main" id="{B7B779C8-5A77-F52F-3099-6C742729C1DA}"/>
                  </a:ext>
                </a:extLst>
              </p:cNvPr>
              <p:cNvSpPr txBox="1">
                <a:spLocks noRot="1" noChangeAspect="1" noMove="1" noResize="1" noEditPoints="1" noAdjustHandles="1" noChangeArrowheads="1" noChangeShapeType="1" noTextEdit="1"/>
              </p:cNvSpPr>
              <p:nvPr/>
            </p:nvSpPr>
            <p:spPr>
              <a:xfrm>
                <a:off x="514351" y="1358492"/>
                <a:ext cx="5988050" cy="5109347"/>
              </a:xfrm>
              <a:prstGeom prst="rect">
                <a:avLst/>
              </a:prstGeom>
              <a:blipFill>
                <a:blip r:embed="rId4"/>
                <a:stretch>
                  <a:fillRect l="-610" r="-23499"/>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C343691B-47BB-99B5-3252-8AF8C602D0AB}"/>
              </a:ext>
            </a:extLst>
          </p:cNvPr>
          <p:cNvSpPr/>
          <p:nvPr/>
        </p:nvSpPr>
        <p:spPr bwMode="auto">
          <a:xfrm>
            <a:off x="8006079" y="933452"/>
            <a:ext cx="3169921" cy="5352586"/>
          </a:xfrm>
          <a:prstGeom prst="rect">
            <a:avLst/>
          </a:prstGeom>
          <a:noFill/>
          <a:ln w="28575">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pic>
        <p:nvPicPr>
          <p:cNvPr id="5" name="图片 4">
            <a:extLst>
              <a:ext uri="{FF2B5EF4-FFF2-40B4-BE49-F238E27FC236}">
                <a16:creationId xmlns:a16="http://schemas.microsoft.com/office/drawing/2014/main" id="{34352F35-CC1E-69A2-079E-87D9C2CDB88E}"/>
              </a:ext>
            </a:extLst>
          </p:cNvPr>
          <p:cNvPicPr>
            <a:picLocks noChangeAspect="1"/>
          </p:cNvPicPr>
          <p:nvPr/>
        </p:nvPicPr>
        <p:blipFill>
          <a:blip r:embed="rId5"/>
          <a:stretch>
            <a:fillRect/>
          </a:stretch>
        </p:blipFill>
        <p:spPr>
          <a:xfrm>
            <a:off x="8572758" y="1258133"/>
            <a:ext cx="2013962" cy="4627693"/>
          </a:xfrm>
          <a:prstGeom prst="rect">
            <a:avLst/>
          </a:prstGeom>
        </p:spPr>
      </p:pic>
    </p:spTree>
    <p:extLst>
      <p:ext uri="{BB962C8B-B14F-4D97-AF65-F5344CB8AC3E}">
        <p14:creationId xmlns:p14="http://schemas.microsoft.com/office/powerpoint/2010/main" val="882357900"/>
      </p:ext>
    </p:extLst>
  </p:cSld>
  <p:clrMapOvr>
    <a:masterClrMapping/>
  </p:clrMapOvr>
  <p:transition spd="slow" advTm="9487"/>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1035C-ECB2-DEC0-0B9A-07538E27248F}"/>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377040D4-C594-EE1C-9BD8-B77B209866B8}"/>
              </a:ext>
            </a:extLst>
          </p:cNvPr>
          <p:cNvCxnSpPr>
            <a:cxnSpLocks/>
          </p:cNvCxnSpPr>
          <p:nvPr/>
        </p:nvCxnSpPr>
        <p:spPr>
          <a:xfrm flipV="1">
            <a:off x="1014737" y="631512"/>
            <a:ext cx="7246036" cy="1620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0D91B740-8EF6-3538-10FF-9E78E4DC5523}"/>
              </a:ext>
            </a:extLst>
          </p:cNvPr>
          <p:cNvSpPr/>
          <p:nvPr/>
        </p:nvSpPr>
        <p:spPr>
          <a:xfrm>
            <a:off x="962591" y="154458"/>
            <a:ext cx="9840017"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三、电路设计</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保护电路设计</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励磁回路保护</a:t>
            </a:r>
            <a:endParaRPr kumimoji="0" lang="zh-CN" altLang="zh-CN" sz="2400" b="1" i="0" u="none" strike="noStrike" kern="0" cap="none" spc="0" normalizeH="0" baseline="0" noProof="0">
              <a:ln>
                <a:noFill/>
              </a:ln>
              <a:solidFill>
                <a:prstClr val="black"/>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16327537-9EED-08A3-65D1-C516CFF8A8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9" name="文本框 8">
            <a:extLst>
              <a:ext uri="{FF2B5EF4-FFF2-40B4-BE49-F238E27FC236}">
                <a16:creationId xmlns:a16="http://schemas.microsoft.com/office/drawing/2014/main" id="{B72E5A6F-5837-D77A-79A4-190BC93A04E4}"/>
              </a:ext>
            </a:extLst>
          </p:cNvPr>
          <p:cNvSpPr txBox="1"/>
          <p:nvPr/>
        </p:nvSpPr>
        <p:spPr>
          <a:xfrm>
            <a:off x="8372515" y="4362918"/>
            <a:ext cx="4431065" cy="455253"/>
          </a:xfrm>
          <a:prstGeom prst="rect">
            <a:avLst/>
          </a:prstGeom>
          <a:noFill/>
        </p:spPr>
        <p:txBody>
          <a:bodyPr wrap="square">
            <a:spAutoFit/>
          </a:bodyPr>
          <a:lstStyle>
            <a:defPPr>
              <a:defRPr lang="zh-CN"/>
            </a:defPPr>
            <a:lvl1pPr indent="304800" algn="just">
              <a:lnSpc>
                <a:spcPct val="150000"/>
              </a:lnSpc>
              <a:defRPr>
                <a:effectLst/>
                <a:latin typeface="Times New Roman" panose="02020603050405020304" pitchFamily="18" charset="0"/>
                <a:ea typeface="宋体" panose="02010600030101010101" pitchFamily="2" charset="-122"/>
              </a:defRPr>
            </a:lvl1pPr>
          </a:lstStyle>
          <a:p>
            <a:r>
              <a:rPr lang="zh-CN" altLang="en-US"/>
              <a:t>励磁回路保护电路</a:t>
            </a:r>
            <a:endParaRPr lang="zh-CN" altLang="zh-CN"/>
          </a:p>
        </p:txBody>
      </p:sp>
      <p:sp>
        <p:nvSpPr>
          <p:cNvPr id="14" name="矩形 13">
            <a:extLst>
              <a:ext uri="{FF2B5EF4-FFF2-40B4-BE49-F238E27FC236}">
                <a16:creationId xmlns:a16="http://schemas.microsoft.com/office/drawing/2014/main" id="{E30ADFAD-E7E4-DB65-E07F-D032D8FF8945}"/>
              </a:ext>
            </a:extLst>
          </p:cNvPr>
          <p:cNvSpPr/>
          <p:nvPr/>
        </p:nvSpPr>
        <p:spPr bwMode="auto">
          <a:xfrm>
            <a:off x="7409144" y="830431"/>
            <a:ext cx="4431065" cy="4075434"/>
          </a:xfrm>
          <a:prstGeom prst="rect">
            <a:avLst/>
          </a:prstGeom>
          <a:noFill/>
          <a:ln w="28575">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4ACDD3A6-4883-53C8-BB18-F911D9C48507}"/>
                  </a:ext>
                </a:extLst>
              </p:cNvPr>
              <p:cNvSpPr txBox="1"/>
              <p:nvPr/>
            </p:nvSpPr>
            <p:spPr>
              <a:xfrm>
                <a:off x="514351" y="994457"/>
                <a:ext cx="6152460" cy="4693849"/>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a:latin typeface="Times New Roman" panose="02020603050405020304" pitchFamily="18" charset="0"/>
                    <a:ea typeface="宋体" panose="02010600030101010101" pitchFamily="2" charset="-122"/>
                  </a:rPr>
                  <a:t>交流侧保护时，采用并联 </a:t>
                </a:r>
                <a:r>
                  <a:rPr lang="en-US" altLang="zh-CN">
                    <a:latin typeface="Times New Roman" panose="02020603050405020304" pitchFamily="18" charset="0"/>
                    <a:ea typeface="宋体" panose="02010600030101010101" pitchFamily="2" charset="-122"/>
                  </a:rPr>
                  <a:t>RC </a:t>
                </a:r>
                <a:r>
                  <a:rPr lang="zh-CN" altLang="en-US">
                    <a:latin typeface="Times New Roman" panose="02020603050405020304" pitchFamily="18" charset="0"/>
                    <a:ea typeface="宋体" panose="02010600030101010101" pitchFamily="2" charset="-122"/>
                  </a:rPr>
                  <a:t>支路的形式，如图所示。利用电容两端的电压不能突变的特性，可以有效的抑制变圧器绕组中的瞬时过电压，串联电阻能消耗部分过电压的能量，同时抑制 </a:t>
                </a:r>
                <a:r>
                  <a:rPr lang="en-US" altLang="zh-CN">
                    <a:latin typeface="Times New Roman" panose="02020603050405020304" pitchFamily="18" charset="0"/>
                    <a:ea typeface="宋体" panose="02010600030101010101" pitchFamily="2" charset="-122"/>
                  </a:rPr>
                  <a:t>LC </a:t>
                </a:r>
                <a:r>
                  <a:rPr lang="zh-CN" altLang="en-US">
                    <a:latin typeface="Times New Roman" panose="02020603050405020304" pitchFamily="18" charset="0"/>
                    <a:ea typeface="宋体" panose="02010600030101010101" pitchFamily="2" charset="-122"/>
                  </a:rPr>
                  <a:t>回路的震荡</a:t>
                </a:r>
                <a:endParaRPr lang="en-US" altLang="zh-CN">
                  <a:latin typeface="Times New Roman" panose="02020603050405020304" pitchFamily="18" charset="0"/>
                  <a:ea typeface="宋体" panose="02010600030101010101" pitchFamily="2" charset="-122"/>
                </a:endParaRPr>
              </a:p>
              <a:p>
                <a:pPr algn="just">
                  <a:lnSpc>
                    <a:spcPct val="15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𝐶</m:t>
                      </m:r>
                      <m:r>
                        <a:rPr lang="en-US" altLang="zh-CN" i="1">
                          <a:latin typeface="Cambria Math" panose="02040503050406030204" pitchFamily="18" charset="0"/>
                        </a:rPr>
                        <m:t>≥6</m:t>
                      </m:r>
                      <m:sSub>
                        <m:sSubPr>
                          <m:ctrlPr>
                            <a:rPr lang="zh-CN" altLang="zh-CN" i="1">
                              <a:latin typeface="Cambria Math" panose="02040503050406030204" pitchFamily="18" charset="0"/>
                            </a:rPr>
                          </m:ctrlPr>
                        </m:sSubPr>
                        <m:e>
                          <m:r>
                            <a:rPr lang="en-US" altLang="zh-CN" i="1">
                              <a:latin typeface="Cambria Math" panose="02040503050406030204" pitchFamily="18" charset="0"/>
                            </a:rPr>
                            <m:t>𝑖</m:t>
                          </m:r>
                        </m:e>
                        <m:sub>
                          <m:r>
                            <a:rPr lang="en-US" altLang="zh-CN" i="1">
                              <a:latin typeface="Cambria Math" panose="02040503050406030204" pitchFamily="18" charset="0"/>
                            </a:rPr>
                            <m:t>0</m:t>
                          </m:r>
                        </m:sub>
                      </m:sSub>
                      <m:r>
                        <a:rPr lang="en-US" altLang="zh-CN" i="1">
                          <a:latin typeface="Cambria Math" panose="02040503050406030204" pitchFamily="18" charset="0"/>
                        </a:rPr>
                        <m:t>%</m:t>
                      </m:r>
                      <m:f>
                        <m:fPr>
                          <m:ctrlPr>
                            <a:rPr lang="zh-CN" altLang="zh-CN" i="1">
                              <a:latin typeface="Cambria Math" panose="02040503050406030204" pitchFamily="18" charset="0"/>
                            </a:rPr>
                          </m:ctrlPr>
                        </m:fPr>
                        <m:num>
                          <m:r>
                            <a:rPr lang="en-US" altLang="zh-CN" i="1">
                              <a:latin typeface="Cambria Math" panose="02040503050406030204" pitchFamily="18" charset="0"/>
                            </a:rPr>
                            <m:t>𝑆</m:t>
                          </m:r>
                        </m:num>
                        <m:den>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𝑈</m:t>
                              </m:r>
                            </m:e>
                            <m:sub>
                              <m:r>
                                <a:rPr lang="en-US" altLang="zh-CN" i="1">
                                  <a:latin typeface="Cambria Math" panose="02040503050406030204" pitchFamily="18" charset="0"/>
                                </a:rPr>
                                <m:t>2</m:t>
                              </m:r>
                            </m:sub>
                            <m:sup>
                              <m:r>
                                <a:rPr lang="en-US" altLang="zh-CN" i="1">
                                  <a:latin typeface="Cambria Math" panose="02040503050406030204" pitchFamily="18" charset="0"/>
                                </a:rPr>
                                <m:t>2</m:t>
                              </m:r>
                            </m:sup>
                          </m:sSubSup>
                        </m:den>
                      </m:f>
                      <m:r>
                        <a:rPr lang="en-US" altLang="zh-CN" i="1">
                          <a:latin typeface="Cambria Math" panose="02040503050406030204" pitchFamily="18" charset="0"/>
                        </a:rPr>
                        <m:t>=6×</m:t>
                      </m:r>
                      <m:r>
                        <a:rPr lang="en-US" altLang="zh-CN" b="0" i="1" smtClean="0">
                          <a:latin typeface="Cambria Math" panose="02040503050406030204" pitchFamily="18" charset="0"/>
                        </a:rPr>
                        <m:t>0.0</m:t>
                      </m:r>
                      <m:r>
                        <a:rPr lang="en-US" altLang="zh-CN" i="1">
                          <a:latin typeface="Cambria Math" panose="02040503050406030204" pitchFamily="18" charset="0"/>
                        </a:rPr>
                        <m:t>7×</m:t>
                      </m:r>
                      <m:f>
                        <m:fPr>
                          <m:ctrlPr>
                            <a:rPr lang="zh-CN" altLang="zh-CN" i="1">
                              <a:latin typeface="Cambria Math" panose="02040503050406030204" pitchFamily="18" charset="0"/>
                            </a:rPr>
                          </m:ctrlPr>
                        </m:fPr>
                        <m:num>
                          <m:r>
                            <a:rPr lang="en-US" altLang="zh-CN" b="0" i="1" smtClean="0">
                              <a:latin typeface="Cambria Math" panose="02040503050406030204" pitchFamily="18" charset="0"/>
                            </a:rPr>
                            <m:t>2000</m:t>
                          </m:r>
                        </m:num>
                        <m:den>
                          <m:sSup>
                            <m:sSupPr>
                              <m:ctrlPr>
                                <a:rPr lang="zh-CN" altLang="zh-CN" i="1">
                                  <a:latin typeface="Cambria Math" panose="02040503050406030204" pitchFamily="18" charset="0"/>
                                </a:rPr>
                              </m:ctrlPr>
                            </m:sSupPr>
                            <m:e>
                              <m:r>
                                <a:rPr lang="en-US" altLang="zh-CN" i="1">
                                  <a:latin typeface="Cambria Math" panose="02040503050406030204" pitchFamily="18" charset="0"/>
                                </a:rPr>
                                <m:t>110</m:t>
                              </m:r>
                            </m:e>
                            <m:sup>
                              <m:r>
                                <a:rPr lang="en-US" altLang="zh-CN" i="1">
                                  <a:latin typeface="Cambria Math" panose="02040503050406030204" pitchFamily="18" charset="0"/>
                                </a:rPr>
                                <m:t>2</m:t>
                              </m:r>
                            </m:sup>
                          </m:sSup>
                        </m:den>
                      </m:f>
                      <m:r>
                        <a:rPr lang="en-US" altLang="zh-CN" i="1">
                          <a:latin typeface="Cambria Math" panose="02040503050406030204" pitchFamily="18" charset="0"/>
                        </a:rPr>
                        <m:t>=</m:t>
                      </m:r>
                      <m:r>
                        <a:rPr lang="en-US" altLang="zh-CN" b="0" i="0" smtClean="0">
                          <a:latin typeface="Cambria Math" panose="02040503050406030204" pitchFamily="18" charset="0"/>
                        </a:rPr>
                        <m:t>69.42</m:t>
                      </m:r>
                      <m:r>
                        <m:rPr>
                          <m:sty m:val="p"/>
                        </m:rPr>
                        <a:rPr lang="en-US" altLang="zh-CN">
                          <a:latin typeface="Cambria Math" panose="02040503050406030204" pitchFamily="18" charset="0"/>
                        </a:rPr>
                        <m:t>μF</m:t>
                      </m:r>
                    </m:oMath>
                  </m:oMathPara>
                </a14:m>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𝑅</m:t>
                      </m:r>
                      <m:r>
                        <a:rPr lang="en-US" altLang="zh-CN" i="1">
                          <a:latin typeface="Cambria Math" panose="02040503050406030204" pitchFamily="18" charset="0"/>
                        </a:rPr>
                        <m:t>≥2.3</m:t>
                      </m:r>
                      <m:f>
                        <m:fPr>
                          <m:ctrlPr>
                            <a:rPr lang="zh-CN" altLang="zh-CN" i="1">
                              <a:latin typeface="Cambria Math" panose="02040503050406030204" pitchFamily="18" charset="0"/>
                            </a:rPr>
                          </m:ctrlPr>
                        </m:fPr>
                        <m:num>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𝑈</m:t>
                              </m:r>
                            </m:e>
                            <m:sub>
                              <m:r>
                                <a:rPr lang="en-US" altLang="zh-CN" i="1">
                                  <a:latin typeface="Cambria Math" panose="02040503050406030204" pitchFamily="18" charset="0"/>
                                </a:rPr>
                                <m:t>2</m:t>
                              </m:r>
                            </m:sub>
                            <m:sup>
                              <m:r>
                                <a:rPr lang="en-US" altLang="zh-CN" i="1">
                                  <a:latin typeface="Cambria Math" panose="02040503050406030204" pitchFamily="18" charset="0"/>
                                </a:rPr>
                                <m:t>2</m:t>
                              </m:r>
                            </m:sup>
                          </m:sSubSup>
                        </m:num>
                        <m:den>
                          <m:r>
                            <a:rPr lang="en-US" altLang="zh-CN" i="1">
                              <a:latin typeface="Cambria Math" panose="02040503050406030204" pitchFamily="18" charset="0"/>
                            </a:rPr>
                            <m:t>𝑠</m:t>
                          </m:r>
                        </m:den>
                      </m:f>
                      <m:rad>
                        <m:radPr>
                          <m:degHide m:val="on"/>
                          <m:ctrlPr>
                            <a:rPr lang="zh-CN" altLang="zh-CN" i="1">
                              <a:latin typeface="Cambria Math" panose="02040503050406030204" pitchFamily="18" charset="0"/>
                            </a:rPr>
                          </m:ctrlPr>
                        </m:radPr>
                        <m:deg/>
                        <m:e>
                          <m:f>
                            <m:fPr>
                              <m:ctrlPr>
                                <a:rPr lang="zh-CN" altLang="zh-CN" i="1">
                                  <a:latin typeface="Cambria Math" panose="02040503050406030204" pitchFamily="18" charset="0"/>
                                </a:rPr>
                              </m:ctrlPr>
                            </m:fPr>
                            <m:num>
                              <m:sSub>
                                <m:sSubPr>
                                  <m:ctrlPr>
                                    <a:rPr lang="zh-CN" altLang="zh-CN" i="1">
                                      <a:latin typeface="Cambria Math" panose="02040503050406030204" pitchFamily="18" charset="0"/>
                                    </a:rPr>
                                  </m:ctrlPr>
                                </m:sSubPr>
                                <m:e>
                                  <m:r>
                                    <a:rPr lang="en-US" altLang="zh-CN" i="1">
                                      <a:latin typeface="Cambria Math" panose="02040503050406030204" pitchFamily="18" charset="0"/>
                                    </a:rPr>
                                    <m:t>𝑢</m:t>
                                  </m:r>
                                </m:e>
                                <m:sub>
                                  <m:r>
                                    <a:rPr lang="en-US" altLang="zh-CN" i="1">
                                      <a:latin typeface="Cambria Math" panose="02040503050406030204" pitchFamily="18" charset="0"/>
                                    </a:rPr>
                                    <m:t>𝑘</m:t>
                                  </m:r>
                                </m:sub>
                              </m:sSub>
                              <m:r>
                                <a:rPr lang="en-US" altLang="zh-CN" i="1">
                                  <a:latin typeface="Cambria Math" panose="02040503050406030204" pitchFamily="18" charset="0"/>
                                </a:rPr>
                                <m:t>%</m:t>
                              </m:r>
                            </m:num>
                            <m:den>
                              <m:sSub>
                                <m:sSubPr>
                                  <m:ctrlPr>
                                    <a:rPr lang="zh-CN" altLang="zh-CN" i="1">
                                      <a:latin typeface="Cambria Math" panose="02040503050406030204" pitchFamily="18" charset="0"/>
                                    </a:rPr>
                                  </m:ctrlPr>
                                </m:sSubPr>
                                <m:e>
                                  <m:r>
                                    <a:rPr lang="en-US" altLang="zh-CN" i="1">
                                      <a:latin typeface="Cambria Math" panose="02040503050406030204" pitchFamily="18" charset="0"/>
                                    </a:rPr>
                                    <m:t>𝑖</m:t>
                                  </m:r>
                                </m:e>
                                <m:sub>
                                  <m:r>
                                    <a:rPr lang="en-US" altLang="zh-CN" i="1">
                                      <a:latin typeface="Cambria Math" panose="02040503050406030204" pitchFamily="18" charset="0"/>
                                    </a:rPr>
                                    <m:t>0</m:t>
                                  </m:r>
                                </m:sub>
                              </m:sSub>
                              <m:r>
                                <a:rPr lang="en-US" altLang="zh-CN" i="1">
                                  <a:latin typeface="Cambria Math" panose="02040503050406030204" pitchFamily="18" charset="0"/>
                                </a:rPr>
                                <m:t>%</m:t>
                              </m:r>
                            </m:den>
                          </m:f>
                        </m:e>
                      </m:rad>
                      <m:r>
                        <a:rPr lang="en-US" altLang="zh-CN" i="1">
                          <a:latin typeface="Cambria Math" panose="02040503050406030204" pitchFamily="18" charset="0"/>
                        </a:rPr>
                        <m:t>=2.3×</m:t>
                      </m:r>
                      <m:f>
                        <m:fPr>
                          <m:ctrlPr>
                            <a:rPr lang="zh-CN" altLang="zh-CN" i="1">
                              <a:latin typeface="Cambria Math" panose="02040503050406030204" pitchFamily="18" charset="0"/>
                            </a:rPr>
                          </m:ctrlPr>
                        </m:fPr>
                        <m:num>
                          <m:sSup>
                            <m:sSupPr>
                              <m:ctrlPr>
                                <a:rPr lang="zh-CN" altLang="zh-CN" i="1">
                                  <a:latin typeface="Cambria Math" panose="02040503050406030204" pitchFamily="18" charset="0"/>
                                </a:rPr>
                              </m:ctrlPr>
                            </m:sSupPr>
                            <m:e>
                              <m:r>
                                <a:rPr lang="en-US" altLang="zh-CN" i="1">
                                  <a:latin typeface="Cambria Math" panose="02040503050406030204" pitchFamily="18" charset="0"/>
                                </a:rPr>
                                <m:t>110</m:t>
                              </m:r>
                            </m:e>
                            <m:sup>
                              <m:r>
                                <a:rPr lang="en-US" altLang="zh-CN" i="1">
                                  <a:latin typeface="Cambria Math" panose="02040503050406030204" pitchFamily="18" charset="0"/>
                                </a:rPr>
                                <m:t>2</m:t>
                              </m:r>
                            </m:sup>
                          </m:sSup>
                        </m:num>
                        <m:den>
                          <m:r>
                            <a:rPr lang="en-US" altLang="zh-CN" b="0" i="1" smtClean="0">
                              <a:latin typeface="Cambria Math" panose="02040503050406030204" pitchFamily="18" charset="0"/>
                            </a:rPr>
                            <m:t>2000</m:t>
                          </m:r>
                        </m:den>
                      </m:f>
                      <m:rad>
                        <m:radPr>
                          <m:degHide m:val="on"/>
                          <m:ctrlPr>
                            <a:rPr lang="zh-CN" altLang="zh-CN" i="1">
                              <a:latin typeface="Cambria Math" panose="02040503050406030204" pitchFamily="18" charset="0"/>
                            </a:rPr>
                          </m:ctrlPr>
                        </m:radPr>
                        <m:deg/>
                        <m:e>
                          <m:f>
                            <m:fPr>
                              <m:ctrlPr>
                                <a:rPr lang="zh-CN" altLang="zh-CN" i="1">
                                  <a:latin typeface="Cambria Math" panose="02040503050406030204" pitchFamily="18" charset="0"/>
                                </a:rPr>
                              </m:ctrlPr>
                            </m:fPr>
                            <m:num>
                              <m:r>
                                <a:rPr lang="en-US" altLang="zh-CN" i="1">
                                  <a:latin typeface="Cambria Math" panose="02040503050406030204" pitchFamily="18" charset="0"/>
                                </a:rPr>
                                <m:t>7</m:t>
                              </m:r>
                            </m:num>
                            <m:den>
                              <m:r>
                                <a:rPr lang="en-US" altLang="zh-CN" i="1">
                                  <a:latin typeface="Cambria Math" panose="02040503050406030204" pitchFamily="18" charset="0"/>
                                </a:rPr>
                                <m:t>7</m:t>
                              </m:r>
                            </m:den>
                          </m:f>
                        </m:e>
                      </m:rad>
                      <m:r>
                        <a:rPr lang="en-US" altLang="zh-CN" i="1">
                          <a:latin typeface="Cambria Math" panose="02040503050406030204" pitchFamily="18" charset="0"/>
                        </a:rPr>
                        <m:t>=</m:t>
                      </m:r>
                      <m:r>
                        <a:rPr lang="en-US" altLang="zh-CN" b="0" i="0" smtClean="0">
                          <a:latin typeface="Cambria Math" panose="02040503050406030204" pitchFamily="18" charset="0"/>
                        </a:rPr>
                        <m:t>13.915</m:t>
                      </m:r>
                      <m:r>
                        <m:rPr>
                          <m:sty m:val="p"/>
                        </m:rPr>
                        <a:rPr lang="zh-CN" altLang="zh-CN">
                          <a:latin typeface="Cambria Math" panose="02040503050406030204" pitchFamily="18" charset="0"/>
                        </a:rPr>
                        <m:t>Ω</m:t>
                      </m:r>
                    </m:oMath>
                  </m:oMathPara>
                </a14:m>
                <a:endParaRPr lang="zh-CN" altLang="zh-CN"/>
              </a:p>
              <a:p>
                <a:pPr algn="just">
                  <a:lnSpc>
                    <a:spcPct val="150000"/>
                  </a:lnSpc>
                </a:pPr>
                <a:endParaRPr lang="en-US" altLang="zh-CN">
                  <a:latin typeface="Times New Roman" panose="02020603050405020304" pitchFamily="18" charset="0"/>
                  <a:ea typeface="宋体" panose="02010600030101010101" pitchFamily="2" charset="-122"/>
                </a:endParaRPr>
              </a:p>
              <a:p>
                <a:pPr algn="just">
                  <a:lnSpc>
                    <a:spcPct val="150000"/>
                  </a:lnSpc>
                </a:pPr>
                <a:endParaRPr lang="en-US" altLang="zh-CN">
                  <a:latin typeface="Times New Roman" panose="02020603050405020304" pitchFamily="18" charset="0"/>
                  <a:ea typeface="宋体" panose="02010600030101010101" pitchFamily="2" charset="-122"/>
                </a:endParaRPr>
              </a:p>
            </p:txBody>
          </p:sp>
        </mc:Choice>
        <mc:Fallback>
          <p:sp>
            <p:nvSpPr>
              <p:cNvPr id="6" name="文本框 5">
                <a:extLst>
                  <a:ext uri="{FF2B5EF4-FFF2-40B4-BE49-F238E27FC236}">
                    <a16:creationId xmlns:a16="http://schemas.microsoft.com/office/drawing/2014/main" id="{4ACDD3A6-4883-53C8-BB18-F911D9C48507}"/>
                  </a:ext>
                </a:extLst>
              </p:cNvPr>
              <p:cNvSpPr txBox="1">
                <a:spLocks noRot="1" noChangeAspect="1" noMove="1" noResize="1" noEditPoints="1" noAdjustHandles="1" noChangeArrowheads="1" noChangeShapeType="1" noTextEdit="1"/>
              </p:cNvSpPr>
              <p:nvPr/>
            </p:nvSpPr>
            <p:spPr>
              <a:xfrm>
                <a:off x="514351" y="994457"/>
                <a:ext cx="6152460" cy="4693849"/>
              </a:xfrm>
              <a:prstGeom prst="rect">
                <a:avLst/>
              </a:prstGeom>
              <a:blipFill>
                <a:blip r:embed="rId4"/>
                <a:stretch>
                  <a:fillRect l="-594" r="-792"/>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F7FC2A18-66DC-FE5A-C03B-E76AD3430BFC}"/>
              </a:ext>
            </a:extLst>
          </p:cNvPr>
          <p:cNvSpPr txBox="1"/>
          <p:nvPr/>
        </p:nvSpPr>
        <p:spPr>
          <a:xfrm>
            <a:off x="697189" y="4957102"/>
            <a:ext cx="9840017" cy="463973"/>
          </a:xfrm>
          <a:prstGeom prst="rect">
            <a:avLst/>
          </a:prstGeom>
          <a:noFill/>
        </p:spPr>
        <p:txBody>
          <a:bodyPr wrap="square">
            <a:spAutoFit/>
          </a:bodyPr>
          <a:lstStyle/>
          <a:p>
            <a:pPr algn="just">
              <a:lnSpc>
                <a:spcPct val="150000"/>
              </a:lnSpc>
            </a:pPr>
            <a:r>
              <a:rPr lang="zh-CN" altLang="en-US">
                <a:latin typeface="Times New Roman" panose="02020603050405020304" pitchFamily="18" charset="0"/>
                <a:ea typeface="宋体" panose="02010600030101010101" pitchFamily="2" charset="-122"/>
              </a:rPr>
              <a:t>故而，励磁回路中晶闸管保护电路中的过电压保护电容 </a:t>
            </a:r>
            <a:r>
              <a:rPr lang="en-US" altLang="zh-CN">
                <a:latin typeface="Times New Roman" panose="02020603050405020304" pitchFamily="18" charset="0"/>
                <a:ea typeface="宋体" panose="02010600030101010101" pitchFamily="2" charset="-122"/>
              </a:rPr>
              <a:t>70μF</a:t>
            </a:r>
            <a:r>
              <a:rPr lang="zh-CN" altLang="en-US">
                <a:latin typeface="Times New Roman" panose="02020603050405020304" pitchFamily="18" charset="0"/>
                <a:ea typeface="宋体" panose="02010600030101010101" pitchFamily="2" charset="-122"/>
              </a:rPr>
              <a:t>，电阻取 </a:t>
            </a:r>
            <a:r>
              <a:rPr lang="en-US" altLang="zh-CN">
                <a:latin typeface="Times New Roman" panose="02020603050405020304" pitchFamily="18" charset="0"/>
                <a:ea typeface="宋体" panose="02010600030101010101" pitchFamily="2" charset="-122"/>
              </a:rPr>
              <a:t>13Ω</a:t>
            </a:r>
            <a:r>
              <a:rPr lang="zh-CN" altLang="en-US">
                <a:latin typeface="Times New Roman" panose="02020603050405020304" pitchFamily="18" charset="0"/>
                <a:ea typeface="宋体" panose="02010600030101010101" pitchFamily="2" charset="-122"/>
              </a:rPr>
              <a:t>。</a:t>
            </a:r>
          </a:p>
        </p:txBody>
      </p:sp>
      <p:pic>
        <p:nvPicPr>
          <p:cNvPr id="5" name="图片 4">
            <a:extLst>
              <a:ext uri="{FF2B5EF4-FFF2-40B4-BE49-F238E27FC236}">
                <a16:creationId xmlns:a16="http://schemas.microsoft.com/office/drawing/2014/main" id="{2F53521F-9C61-0637-0A9C-E3ED4EF926D8}"/>
              </a:ext>
            </a:extLst>
          </p:cNvPr>
          <p:cNvPicPr>
            <a:picLocks noChangeAspect="1"/>
          </p:cNvPicPr>
          <p:nvPr/>
        </p:nvPicPr>
        <p:blipFill>
          <a:blip r:embed="rId5">
            <a:extLst>
              <a:ext uri="{28A0092B-C50C-407E-A947-70E740481C1C}">
                <a14:useLocalDpi xmlns:a14="http://schemas.microsoft.com/office/drawing/2010/main" val="0"/>
              </a:ext>
            </a:extLst>
          </a:blip>
          <a:srcRect l="13140" r="13140"/>
          <a:stretch/>
        </p:blipFill>
        <p:spPr>
          <a:xfrm>
            <a:off x="7988916" y="1159802"/>
            <a:ext cx="3271520" cy="3248025"/>
          </a:xfrm>
          <a:prstGeom prst="rect">
            <a:avLst/>
          </a:prstGeom>
        </p:spPr>
      </p:pic>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BC9C6EC4-5661-121F-3FB9-63BEE53C2322}"/>
                  </a:ext>
                </a:extLst>
              </p:cNvPr>
              <p:cNvSpPr txBox="1"/>
              <p:nvPr/>
            </p:nvSpPr>
            <p:spPr>
              <a:xfrm>
                <a:off x="697188" y="5578301"/>
                <a:ext cx="8914171" cy="1240340"/>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zh-CN">
                    <a:latin typeface="Times New Roman" panose="02020603050405020304" pitchFamily="18" charset="0"/>
                    <a:ea typeface="宋体" panose="02010600030101010101" pitchFamily="2" charset="-122"/>
                  </a:rPr>
                  <a:t>励磁回路过流保护（阻容保护</a:t>
                </a:r>
                <a:r>
                  <a:rPr lang="zh-CN" altLang="en-US">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a:p>
                <a:pPr algn="just">
                  <a:lnSpc>
                    <a:spcPct val="150000"/>
                  </a:lnSpc>
                </a:pPr>
                <a:r>
                  <a:rPr lang="en-US" altLang="zh-CN">
                    <a:latin typeface="Times New Roman" panose="02020603050405020304" pitchFamily="18" charset="0"/>
                    <a:ea typeface="宋体" panose="02010600030101010101" pitchFamily="2" charset="-122"/>
                  </a:rPr>
                  <a:t>     </a:t>
                </a:r>
                <a:r>
                  <a:rPr lang="zh-CN" altLang="zh-CN">
                    <a:latin typeface="Times New Roman" panose="02020603050405020304" pitchFamily="18" charset="0"/>
                    <a:ea typeface="宋体" panose="02010600030101010101" pitchFamily="2" charset="-122"/>
                  </a:rPr>
                  <a:t>由</a:t>
                </a:r>
                <a14:m>
                  <m:oMath xmlns:m="http://schemas.openxmlformats.org/officeDocument/2006/math">
                    <m:r>
                      <a:rPr lang="en-US" altLang="zh-CN">
                        <a:latin typeface="Cambria Math" panose="02040503050406030204" pitchFamily="18" charset="0"/>
                      </a:rPr>
                      <m:t>1.57</m:t>
                    </m:r>
                    <m:sSub>
                      <m:sSubPr>
                        <m:ctrlPr>
                          <a:rPr lang="zh-CN" altLang="zh-CN" i="1">
                            <a:latin typeface="Cambria Math" panose="02040503050406030204" pitchFamily="18" charset="0"/>
                          </a:rPr>
                        </m:ctrlPr>
                      </m:sSubPr>
                      <m:e>
                        <m:r>
                          <a:rPr lang="en-US" altLang="zh-CN">
                            <a:latin typeface="Cambria Math" panose="02040503050406030204" pitchFamily="18" charset="0"/>
                          </a:rPr>
                          <m:t>𝐼</m:t>
                        </m:r>
                      </m:e>
                      <m:sub>
                        <m:r>
                          <a:rPr lang="en-US" altLang="zh-CN">
                            <a:latin typeface="Cambria Math" panose="02040503050406030204" pitchFamily="18" charset="0"/>
                          </a:rPr>
                          <m:t>𝑇</m:t>
                        </m:r>
                        <m:r>
                          <a:rPr lang="en-US" altLang="zh-CN">
                            <a:latin typeface="Cambria Math" panose="02040503050406030204" pitchFamily="18" charset="0"/>
                          </a:rPr>
                          <m:t>(</m:t>
                        </m:r>
                        <m:r>
                          <a:rPr lang="en-US" altLang="zh-CN">
                            <a:latin typeface="Cambria Math" panose="02040503050406030204" pitchFamily="18" charset="0"/>
                          </a:rPr>
                          <m:t>𝐴𝑉</m:t>
                        </m:r>
                        <m:r>
                          <a:rPr lang="en-US" altLang="zh-CN">
                            <a:latin typeface="Cambria Math" panose="02040503050406030204" pitchFamily="18" charset="0"/>
                          </a:rPr>
                          <m:t>)</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a:latin typeface="Cambria Math" panose="02040503050406030204" pitchFamily="18" charset="0"/>
                          </a:rPr>
                          <m:t>𝐼</m:t>
                        </m:r>
                      </m:e>
                      <m:sub>
                        <m:r>
                          <a:rPr lang="en-US" altLang="zh-CN">
                            <a:latin typeface="Cambria Math" panose="02040503050406030204" pitchFamily="18" charset="0"/>
                          </a:rPr>
                          <m:t>𝐾𝑁</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a:latin typeface="Cambria Math" panose="02040503050406030204" pitchFamily="18" charset="0"/>
                          </a:rPr>
                          <m:t>𝐼</m:t>
                        </m:r>
                      </m:e>
                      <m:sub>
                        <m:r>
                          <a:rPr lang="en-US" altLang="zh-CN">
                            <a:latin typeface="Cambria Math" panose="02040503050406030204" pitchFamily="18" charset="0"/>
                          </a:rPr>
                          <m:t>𝑇</m:t>
                        </m:r>
                      </m:sub>
                    </m:sSub>
                  </m:oMath>
                </a14:m>
                <a:r>
                  <a:rPr lang="zh-CN" altLang="zh-CN">
                    <a:latin typeface="Times New Roman" panose="02020603050405020304" pitchFamily="18" charset="0"/>
                    <a:ea typeface="宋体" panose="02010600030101010101" pitchFamily="2" charset="-122"/>
                  </a:rPr>
                  <a:t>知，取快速熔断器额定电流</a:t>
                </a:r>
                <a14:m>
                  <m:oMath xmlns:m="http://schemas.openxmlformats.org/officeDocument/2006/math">
                    <m:sSub>
                      <m:sSubPr>
                        <m:ctrlPr>
                          <a:rPr lang="zh-CN" altLang="zh-CN" i="1">
                            <a:latin typeface="Cambria Math" panose="02040503050406030204" pitchFamily="18" charset="0"/>
                          </a:rPr>
                        </m:ctrlPr>
                      </m:sSubPr>
                      <m:e>
                        <m:r>
                          <a:rPr lang="en-US" altLang="zh-CN">
                            <a:latin typeface="Cambria Math" panose="02040503050406030204" pitchFamily="18" charset="0"/>
                          </a:rPr>
                          <m:t>𝐼</m:t>
                        </m:r>
                      </m:e>
                      <m:sub>
                        <m:r>
                          <a:rPr lang="en-US" altLang="zh-CN">
                            <a:latin typeface="Cambria Math" panose="02040503050406030204" pitchFamily="18" charset="0"/>
                          </a:rPr>
                          <m:t>𝐾𝑁</m:t>
                        </m:r>
                      </m:sub>
                    </m:sSub>
                  </m:oMath>
                </a14:m>
                <a:r>
                  <a:rPr lang="zh-CN" altLang="zh-CN">
                    <a:latin typeface="Times New Roman" panose="02020603050405020304" pitchFamily="18" charset="0"/>
                    <a:ea typeface="宋体" panose="02010600030101010101" pitchFamily="2" charset="-122"/>
                  </a:rPr>
                  <a:t>为</a:t>
                </a:r>
                <a:r>
                  <a:rPr lang="en-US" altLang="zh-CN">
                    <a:latin typeface="Times New Roman" panose="02020603050405020304" pitchFamily="18" charset="0"/>
                    <a:ea typeface="宋体" panose="02010600030101010101" pitchFamily="2" charset="-122"/>
                  </a:rPr>
                  <a:t>200A</a:t>
                </a:r>
                <a:r>
                  <a:rPr lang="zh-CN" altLang="zh-CN">
                    <a:latin typeface="Times New Roman" panose="02020603050405020304" pitchFamily="18" charset="0"/>
                    <a:ea typeface="宋体" panose="02010600030101010101" pitchFamily="2" charset="-122"/>
                  </a:rPr>
                  <a:t>。</a:t>
                </a:r>
              </a:p>
              <a:p>
                <a:endParaRPr lang="zh-CN" altLang="en-US"/>
              </a:p>
            </p:txBody>
          </p:sp>
        </mc:Choice>
        <mc:Fallback xmlns="">
          <p:sp>
            <p:nvSpPr>
              <p:cNvPr id="11" name="文本框 10">
                <a:extLst>
                  <a:ext uri="{FF2B5EF4-FFF2-40B4-BE49-F238E27FC236}">
                    <a16:creationId xmlns:a16="http://schemas.microsoft.com/office/drawing/2014/main" id="{BC9C6EC4-5661-121F-3FB9-63BEE53C2322}"/>
                  </a:ext>
                </a:extLst>
              </p:cNvPr>
              <p:cNvSpPr txBox="1">
                <a:spLocks noRot="1" noChangeAspect="1" noMove="1" noResize="1" noEditPoints="1" noAdjustHandles="1" noChangeArrowheads="1" noChangeShapeType="1" noTextEdit="1"/>
              </p:cNvSpPr>
              <p:nvPr/>
            </p:nvSpPr>
            <p:spPr>
              <a:xfrm>
                <a:off x="697188" y="5578301"/>
                <a:ext cx="8914171" cy="1240340"/>
              </a:xfrm>
              <a:prstGeom prst="rect">
                <a:avLst/>
              </a:prstGeom>
              <a:blipFill>
                <a:blip r:embed="rId6"/>
                <a:stretch>
                  <a:fillRect l="-410"/>
                </a:stretch>
              </a:blipFill>
            </p:spPr>
            <p:txBody>
              <a:bodyPr/>
              <a:lstStyle/>
              <a:p>
                <a:r>
                  <a:rPr lang="zh-CN" altLang="en-US">
                    <a:noFill/>
                  </a:rPr>
                  <a:t> </a:t>
                </a:r>
              </a:p>
            </p:txBody>
          </p:sp>
        </mc:Fallback>
      </mc:AlternateContent>
      <p:cxnSp>
        <p:nvCxnSpPr>
          <p:cNvPr id="3" name="直接连接符 2">
            <a:extLst>
              <a:ext uri="{FF2B5EF4-FFF2-40B4-BE49-F238E27FC236}">
                <a16:creationId xmlns:a16="http://schemas.microsoft.com/office/drawing/2014/main" id="{A2E841F8-C9BE-D7FA-7FCC-006401288D71}"/>
              </a:ext>
            </a:extLst>
          </p:cNvPr>
          <p:cNvCxnSpPr>
            <a:cxnSpLocks/>
          </p:cNvCxnSpPr>
          <p:nvPr/>
        </p:nvCxnSpPr>
        <p:spPr>
          <a:xfrm>
            <a:off x="8593000" y="4157099"/>
            <a:ext cx="2286000"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200603303"/>
      </p:ext>
    </p:extLst>
  </p:cSld>
  <p:clrMapOvr>
    <a:masterClrMapping/>
  </p:clrMapOvr>
  <p:transition spd="slow" advTm="9487"/>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85EAE-FD60-2FF9-C9F9-F1869D16B63D}"/>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39890A91-E9A9-E91B-31FE-CA735B06DBC4}"/>
              </a:ext>
            </a:extLst>
          </p:cNvPr>
          <p:cNvCxnSpPr>
            <a:cxnSpLocks/>
          </p:cNvCxnSpPr>
          <p:nvPr/>
        </p:nvCxnSpPr>
        <p:spPr>
          <a:xfrm flipV="1">
            <a:off x="1014737" y="631512"/>
            <a:ext cx="7246036" cy="1620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DFB8060F-81F1-5949-19B7-7434E337049C}"/>
              </a:ext>
            </a:extLst>
          </p:cNvPr>
          <p:cNvSpPr/>
          <p:nvPr/>
        </p:nvSpPr>
        <p:spPr>
          <a:xfrm>
            <a:off x="962591" y="154458"/>
            <a:ext cx="9840017"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三、电路设计</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晶闸管吸收电路设计</a:t>
            </a:r>
            <a:endParaRPr kumimoji="0" lang="zh-CN" altLang="zh-CN" sz="2400" b="1" i="0" u="none" strike="noStrike" kern="0" cap="none" spc="0" normalizeH="0" baseline="0" noProof="0">
              <a:ln>
                <a:noFill/>
              </a:ln>
              <a:solidFill>
                <a:prstClr val="black"/>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83844F8B-2747-70AD-76EB-92F5C9E68A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9" name="文本框 8">
            <a:extLst>
              <a:ext uri="{FF2B5EF4-FFF2-40B4-BE49-F238E27FC236}">
                <a16:creationId xmlns:a16="http://schemas.microsoft.com/office/drawing/2014/main" id="{1CE622E2-AD5E-1BD8-B608-80673C0780FF}"/>
              </a:ext>
            </a:extLst>
          </p:cNvPr>
          <p:cNvSpPr txBox="1"/>
          <p:nvPr/>
        </p:nvSpPr>
        <p:spPr>
          <a:xfrm>
            <a:off x="7649176" y="4539459"/>
            <a:ext cx="3237298" cy="455253"/>
          </a:xfrm>
          <a:prstGeom prst="rect">
            <a:avLst/>
          </a:prstGeom>
          <a:noFill/>
        </p:spPr>
        <p:txBody>
          <a:bodyPr wrap="square">
            <a:spAutoFit/>
          </a:bodyPr>
          <a:lstStyle>
            <a:defPPr>
              <a:defRPr lang="zh-CN"/>
            </a:defPPr>
            <a:lvl1pPr indent="304800" algn="just">
              <a:lnSpc>
                <a:spcPct val="150000"/>
              </a:lnSpc>
              <a:defRPr>
                <a:effectLst/>
                <a:latin typeface="Times New Roman" panose="02020603050405020304" pitchFamily="18" charset="0"/>
                <a:ea typeface="宋体" panose="02010600030101010101" pitchFamily="2" charset="-122"/>
              </a:defRPr>
            </a:lvl1pPr>
          </a:lstStyle>
          <a:p>
            <a:r>
              <a:rPr lang="zh-CN" altLang="zh-CN"/>
              <a:t>晶闸管整流装置吸收电路</a:t>
            </a:r>
          </a:p>
        </p:txBody>
      </p:sp>
      <p:sp>
        <p:nvSpPr>
          <p:cNvPr id="14" name="矩形 13">
            <a:extLst>
              <a:ext uri="{FF2B5EF4-FFF2-40B4-BE49-F238E27FC236}">
                <a16:creationId xmlns:a16="http://schemas.microsoft.com/office/drawing/2014/main" id="{D4A5FF7C-5753-401D-B650-C1D58CAB4315}"/>
              </a:ext>
            </a:extLst>
          </p:cNvPr>
          <p:cNvSpPr/>
          <p:nvPr/>
        </p:nvSpPr>
        <p:spPr bwMode="auto">
          <a:xfrm>
            <a:off x="6962775" y="1866901"/>
            <a:ext cx="4714874" cy="3257550"/>
          </a:xfrm>
          <a:prstGeom prst="rect">
            <a:avLst/>
          </a:prstGeom>
          <a:noFill/>
          <a:ln w="28575">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FE90E74B-0317-514F-792B-F2CEEBE02E2E}"/>
                  </a:ext>
                </a:extLst>
              </p:cNvPr>
              <p:cNvSpPr txBox="1"/>
              <p:nvPr/>
            </p:nvSpPr>
            <p:spPr>
              <a:xfrm>
                <a:off x="551709" y="2626183"/>
                <a:ext cx="6138538" cy="4585614"/>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a:latin typeface="Times New Roman" panose="02020603050405020304" pitchFamily="18" charset="0"/>
                    <a:ea typeface="宋体" panose="02010600030101010101" pitchFamily="2" charset="-122"/>
                  </a:rPr>
                  <a:t>晶闸管在阻断状态下存在结电容。当加在晶闸管上的正向电压上升率</a:t>
                </a:r>
                <a14:m>
                  <m:oMath xmlns:m="http://schemas.openxmlformats.org/officeDocument/2006/math">
                    <m:f>
                      <m:fPr>
                        <m:ctrlPr>
                          <a:rPr lang="zh-CN" altLang="en-US" i="1" smtClean="0">
                            <a:solidFill>
                              <a:srgbClr val="836967"/>
                            </a:solidFill>
                            <a:latin typeface="Cambria Math" panose="02040503050406030204" pitchFamily="18" charset="0"/>
                          </a:rPr>
                        </m:ctrlPr>
                      </m:fPr>
                      <m:num>
                        <m:r>
                          <a:rPr lang="zh-CN" altLang="en-US" smtClean="0">
                            <a:latin typeface="Cambria Math" panose="02040503050406030204" pitchFamily="18" charset="0"/>
                          </a:rPr>
                          <m:t>ⅆ</m:t>
                        </m:r>
                        <m:r>
                          <a:rPr lang="zh-CN" altLang="en-US" i="1" smtClean="0">
                            <a:latin typeface="Cambria Math" panose="02040503050406030204" pitchFamily="18" charset="0"/>
                          </a:rPr>
                          <m:t>𝑢</m:t>
                        </m:r>
                      </m:num>
                      <m:den>
                        <m:r>
                          <a:rPr lang="zh-CN" altLang="en-US" i="0" smtClean="0">
                            <a:latin typeface="Cambria Math" panose="02040503050406030204" pitchFamily="18" charset="0"/>
                          </a:rPr>
                          <m:t>ⅆ</m:t>
                        </m:r>
                        <m:r>
                          <a:rPr lang="zh-CN" altLang="en-US" i="1" smtClean="0">
                            <a:latin typeface="Cambria Math" panose="02040503050406030204" pitchFamily="18" charset="0"/>
                          </a:rPr>
                          <m:t>𝑡</m:t>
                        </m:r>
                      </m:den>
                    </m:f>
                  </m:oMath>
                </a14:m>
                <a:r>
                  <a:rPr lang="zh-CN" altLang="en-US">
                    <a:latin typeface="Times New Roman" panose="02020603050405020304" pitchFamily="18" charset="0"/>
                    <a:ea typeface="宋体" panose="02010600030101010101" pitchFamily="2" charset="-122"/>
                  </a:rPr>
                  <a:t>较大时，结电容充电电流起到触发电流的作用，使晶闸管误导通，造成装置的失控。因此必须采取措施抑制 </a:t>
                </a:r>
                <a14:m>
                  <m:oMath xmlns:m="http://schemas.openxmlformats.org/officeDocument/2006/math">
                    <m:f>
                      <m:fPr>
                        <m:ctrlPr>
                          <a:rPr lang="zh-CN" altLang="en-US" i="1">
                            <a:solidFill>
                              <a:srgbClr val="836967"/>
                            </a:solidFill>
                            <a:latin typeface="Cambria Math" panose="02040503050406030204" pitchFamily="18" charset="0"/>
                          </a:rPr>
                        </m:ctrlPr>
                      </m:fPr>
                      <m:num>
                        <m:r>
                          <a:rPr lang="zh-CN" altLang="en-US">
                            <a:latin typeface="Cambria Math" panose="02040503050406030204" pitchFamily="18" charset="0"/>
                          </a:rPr>
                          <m:t>ⅆ</m:t>
                        </m:r>
                        <m:r>
                          <a:rPr lang="zh-CN" altLang="en-US" i="1">
                            <a:latin typeface="Cambria Math" panose="02040503050406030204" pitchFamily="18" charset="0"/>
                          </a:rPr>
                          <m:t>𝑢</m:t>
                        </m:r>
                      </m:num>
                      <m:den>
                        <m:r>
                          <a:rPr lang="zh-CN" altLang="en-US">
                            <a:latin typeface="Cambria Math" panose="02040503050406030204" pitchFamily="18" charset="0"/>
                          </a:rPr>
                          <m:t>ⅆ</m:t>
                        </m:r>
                        <m:r>
                          <a:rPr lang="zh-CN" altLang="en-US" i="1">
                            <a:latin typeface="Cambria Math" panose="02040503050406030204" pitchFamily="18" charset="0"/>
                          </a:rPr>
                          <m:t>𝑡</m:t>
                        </m:r>
                      </m:den>
                    </m:f>
                    <m:r>
                      <a:rPr lang="zh-CN" altLang="en-US" i="1">
                        <a:latin typeface="Cambria Math" panose="02040503050406030204" pitchFamily="18" charset="0"/>
                      </a:rPr>
                      <m:t> </m:t>
                    </m:r>
                  </m:oMath>
                </a14:m>
                <a:r>
                  <a:rPr lang="zh-CN" altLang="en-US">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a:p>
                <a:pPr algn="just">
                  <a:lnSpc>
                    <a:spcPct val="150000"/>
                  </a:lnSpc>
                </a:pPr>
                <a:endParaRPr lang="en-US" altLang="zh-CN" dirty="0"/>
              </a:p>
              <a:p>
                <a:pPr algn="just">
                  <a:lnSpc>
                    <a:spcPct val="150000"/>
                  </a:lnSpc>
                </a:pPr>
                <a:endParaRPr lang="zh-CN" altLang="en-US" dirty="0"/>
              </a:p>
              <a:p>
                <a:pPr marL="285750" indent="-285750" algn="just">
                  <a:lnSpc>
                    <a:spcPct val="150000"/>
                  </a:lnSpc>
                  <a:buFont typeface="Wingdings" panose="05000000000000000000" pitchFamily="2" charset="2"/>
                  <a:buChar char="Ø"/>
                </a:pPr>
                <a:endParaRPr lang="zh-CN" altLang="en-US">
                  <a:latin typeface="Times New Roman" panose="02020603050405020304" pitchFamily="18" charset="0"/>
                  <a:ea typeface="宋体" panose="02010600030101010101" pitchFamily="2" charset="-122"/>
                </a:endParaRPr>
              </a:p>
              <a:p>
                <a:pPr algn="just">
                  <a:lnSpc>
                    <a:spcPct val="150000"/>
                  </a:lnSpc>
                </a:pP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pPr>
                <a:endParaRPr lang="en-US" altLang="zh-CN">
                  <a:latin typeface="Times New Roman" panose="02020603050405020304" pitchFamily="18" charset="0"/>
                  <a:ea typeface="宋体" panose="02010600030101010101" pitchFamily="2" charset="-122"/>
                </a:endParaRPr>
              </a:p>
              <a:p>
                <a:pPr algn="just">
                  <a:lnSpc>
                    <a:spcPct val="150000"/>
                  </a:lnSpc>
                </a:pPr>
                <a:endParaRPr lang="en-US" altLang="zh-CN">
                  <a:latin typeface="Times New Roman" panose="02020603050405020304" pitchFamily="18" charset="0"/>
                  <a:ea typeface="宋体" panose="02010600030101010101" pitchFamily="2" charset="-122"/>
                </a:endParaRPr>
              </a:p>
            </p:txBody>
          </p:sp>
        </mc:Choice>
        <mc:Fallback>
          <p:sp>
            <p:nvSpPr>
              <p:cNvPr id="6" name="文本框 5">
                <a:extLst>
                  <a:ext uri="{FF2B5EF4-FFF2-40B4-BE49-F238E27FC236}">
                    <a16:creationId xmlns:a16="http://schemas.microsoft.com/office/drawing/2014/main" id="{FE90E74B-0317-514F-792B-F2CEEBE02E2E}"/>
                  </a:ext>
                </a:extLst>
              </p:cNvPr>
              <p:cNvSpPr txBox="1">
                <a:spLocks noRot="1" noChangeAspect="1" noMove="1" noResize="1" noEditPoints="1" noAdjustHandles="1" noChangeArrowheads="1" noChangeShapeType="1" noTextEdit="1"/>
              </p:cNvSpPr>
              <p:nvPr/>
            </p:nvSpPr>
            <p:spPr>
              <a:xfrm>
                <a:off x="551709" y="2626183"/>
                <a:ext cx="6138538" cy="4585614"/>
              </a:xfrm>
              <a:prstGeom prst="rect">
                <a:avLst/>
              </a:prstGeom>
              <a:blipFill>
                <a:blip r:embed="rId5"/>
                <a:stretch>
                  <a:fillRect l="-696" r="-895"/>
                </a:stretch>
              </a:blipFill>
            </p:spPr>
            <p:txBody>
              <a:bodyPr/>
              <a:lstStyle/>
              <a:p>
                <a:r>
                  <a:rPr lang="zh-CN" altLang="en-US">
                    <a:noFill/>
                  </a:rPr>
                  <a:t> </a:t>
                </a:r>
              </a:p>
            </p:txBody>
          </p:sp>
        </mc:Fallback>
      </mc:AlternateContent>
      <p:pic>
        <p:nvPicPr>
          <p:cNvPr id="3" name="图片 16">
            <a:extLst>
              <a:ext uri="{FF2B5EF4-FFF2-40B4-BE49-F238E27FC236}">
                <a16:creationId xmlns:a16="http://schemas.microsoft.com/office/drawing/2014/main" id="{576349A3-B454-57AE-313B-B4A7006DB250}"/>
              </a:ext>
            </a:extLst>
          </p:cNvPr>
          <p:cNvPicPr>
            <a:picLocks noChangeAspect="1" noChangeArrowheads="1"/>
          </p:cNvPicPr>
          <p:nvPr>
            <p:custDataLst>
              <p:tags r:id="rId1"/>
            </p:custDataLst>
          </p:nvPr>
        </p:nvPicPr>
        <p:blipFill>
          <a:blip r:embed="rId6">
            <a:extLst>
              <a:ext uri="{28A0092B-C50C-407E-A947-70E740481C1C}">
                <a14:useLocalDpi xmlns:a14="http://schemas.microsoft.com/office/drawing/2010/main" val="0"/>
              </a:ext>
            </a:extLst>
          </a:blip>
          <a:srcRect/>
          <a:stretch>
            <a:fillRect/>
          </a:stretch>
        </p:blipFill>
        <p:spPr>
          <a:xfrm>
            <a:off x="7712709" y="2199496"/>
            <a:ext cx="3215005" cy="2241550"/>
          </a:xfrm>
          <a:prstGeom prst="rect">
            <a:avLst/>
          </a:prstGeom>
          <a:noFill/>
          <a:ln>
            <a:noFill/>
          </a:ln>
        </p:spPr>
      </p:pic>
    </p:spTree>
    <p:extLst>
      <p:ext uri="{BB962C8B-B14F-4D97-AF65-F5344CB8AC3E}">
        <p14:creationId xmlns:p14="http://schemas.microsoft.com/office/powerpoint/2010/main" val="3928138746"/>
      </p:ext>
    </p:extLst>
  </p:cSld>
  <p:clrMapOvr>
    <a:masterClrMapping/>
  </p:clrMapOvr>
  <p:transition spd="slow" advTm="9487"/>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AAEC2-19EA-6476-C307-DDA76BDCDD46}"/>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C1633545-F4D4-9D81-7DEA-51E5DE78A656}"/>
              </a:ext>
            </a:extLst>
          </p:cNvPr>
          <p:cNvCxnSpPr>
            <a:cxnSpLocks/>
          </p:cNvCxnSpPr>
          <p:nvPr/>
        </p:nvCxnSpPr>
        <p:spPr>
          <a:xfrm flipV="1">
            <a:off x="1014737" y="631512"/>
            <a:ext cx="7246036" cy="1620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8CD2539A-7F2F-1423-2042-23F3DE690720}"/>
              </a:ext>
            </a:extLst>
          </p:cNvPr>
          <p:cNvSpPr/>
          <p:nvPr/>
        </p:nvSpPr>
        <p:spPr>
          <a:xfrm>
            <a:off x="962591" y="154458"/>
            <a:ext cx="9840017"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三、电路设计</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驱动电路设计</a:t>
            </a:r>
            <a:endParaRPr kumimoji="0" lang="zh-CN" altLang="zh-CN" sz="2400" b="1" i="0" u="none" strike="noStrike" kern="0" cap="none" spc="0" normalizeH="0" baseline="0" noProof="0">
              <a:ln>
                <a:noFill/>
              </a:ln>
              <a:solidFill>
                <a:prstClr val="black"/>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0162883E-38E8-ECE3-1A63-73C88C413B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14" name="矩形 13">
            <a:extLst>
              <a:ext uri="{FF2B5EF4-FFF2-40B4-BE49-F238E27FC236}">
                <a16:creationId xmlns:a16="http://schemas.microsoft.com/office/drawing/2014/main" id="{F8F9036B-5022-5CDB-BA7E-3A6FE179766C}"/>
              </a:ext>
            </a:extLst>
          </p:cNvPr>
          <p:cNvSpPr/>
          <p:nvPr/>
        </p:nvSpPr>
        <p:spPr bwMode="auto">
          <a:xfrm>
            <a:off x="551709" y="1366034"/>
            <a:ext cx="5622826" cy="5342672"/>
          </a:xfrm>
          <a:prstGeom prst="rect">
            <a:avLst/>
          </a:prstGeom>
          <a:noFill/>
          <a:ln w="28575">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en-US" altLang="zh-CN"/>
              <a:t>TMS320F2812 </a:t>
            </a:r>
            <a:r>
              <a:rPr lang="zh-CN" altLang="en-US"/>
              <a:t>芯片引脚图</a:t>
            </a: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sp>
        <p:nvSpPr>
          <p:cNvPr id="7" name="文本框 6">
            <a:extLst>
              <a:ext uri="{FF2B5EF4-FFF2-40B4-BE49-F238E27FC236}">
                <a16:creationId xmlns:a16="http://schemas.microsoft.com/office/drawing/2014/main" id="{8E01F96D-0877-BBAA-75CF-016E57AE2D46}"/>
              </a:ext>
            </a:extLst>
          </p:cNvPr>
          <p:cNvSpPr txBox="1"/>
          <p:nvPr/>
        </p:nvSpPr>
        <p:spPr>
          <a:xfrm>
            <a:off x="1014737" y="817964"/>
            <a:ext cx="4725504" cy="463973"/>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a:latin typeface="Times New Roman" panose="02020603050405020304" pitchFamily="18" charset="0"/>
                <a:ea typeface="宋体" panose="02010600030101010101" pitchFamily="2" charset="-122"/>
              </a:rPr>
              <a:t>采用的 </a:t>
            </a:r>
            <a:r>
              <a:rPr lang="en-US" altLang="zh-CN">
                <a:latin typeface="Times New Roman" panose="02020603050405020304" pitchFamily="18" charset="0"/>
                <a:ea typeface="宋体" panose="02010600030101010101" pitchFamily="2" charset="-122"/>
              </a:rPr>
              <a:t>DSP</a:t>
            </a:r>
            <a:r>
              <a:rPr lang="zh-CN" altLang="en-US">
                <a:latin typeface="Times New Roman" panose="02020603050405020304" pitchFamily="18" charset="0"/>
                <a:ea typeface="宋体" panose="02010600030101010101" pitchFamily="2" charset="-122"/>
              </a:rPr>
              <a:t>是 </a:t>
            </a:r>
            <a:r>
              <a:rPr lang="en-US" altLang="zh-CN">
                <a:latin typeface="Times New Roman" panose="02020603050405020304" pitchFamily="18" charset="0"/>
                <a:ea typeface="宋体" panose="02010600030101010101" pitchFamily="2" charset="-122"/>
              </a:rPr>
              <a:t>TMS320F281</a:t>
            </a:r>
            <a:endParaRPr lang="zh-CN" altLang="en-US" dirty="0">
              <a:latin typeface="Times New Roman" panose="02020603050405020304" pitchFamily="18" charset="0"/>
              <a:ea typeface="宋体" panose="02010600030101010101" pitchFamily="2" charset="-122"/>
            </a:endParaRPr>
          </a:p>
        </p:txBody>
      </p:sp>
      <p:pic>
        <p:nvPicPr>
          <p:cNvPr id="5" name="图片 4">
            <a:extLst>
              <a:ext uri="{FF2B5EF4-FFF2-40B4-BE49-F238E27FC236}">
                <a16:creationId xmlns:a16="http://schemas.microsoft.com/office/drawing/2014/main" id="{372CEF5D-896B-60E7-2E59-DE5CA418B7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3556" y="1471511"/>
            <a:ext cx="5259131" cy="4823620"/>
          </a:xfrm>
          <a:prstGeom prst="rect">
            <a:avLst/>
          </a:prstGeom>
        </p:spPr>
      </p:pic>
      <p:sp>
        <p:nvSpPr>
          <p:cNvPr id="10" name="文本框 9">
            <a:extLst>
              <a:ext uri="{FF2B5EF4-FFF2-40B4-BE49-F238E27FC236}">
                <a16:creationId xmlns:a16="http://schemas.microsoft.com/office/drawing/2014/main" id="{FA05332F-A6F2-574F-3895-568AA97E9332}"/>
              </a:ext>
            </a:extLst>
          </p:cNvPr>
          <p:cNvSpPr txBox="1"/>
          <p:nvPr/>
        </p:nvSpPr>
        <p:spPr>
          <a:xfrm>
            <a:off x="1831398" y="6317252"/>
            <a:ext cx="6094268" cy="369332"/>
          </a:xfrm>
          <a:prstGeom prst="rect">
            <a:avLst/>
          </a:prstGeom>
          <a:noFill/>
        </p:spPr>
        <p:txBody>
          <a:bodyPr wrap="square">
            <a:spAutoFit/>
          </a:bodyPr>
          <a:lstStyle/>
          <a:p>
            <a:r>
              <a:rPr lang="en-US" altLang="zh-CN">
                <a:latin typeface="Times New Roman" panose="02020603050405020304" pitchFamily="18" charset="0"/>
                <a:ea typeface="宋体" panose="02010600030101010101" pitchFamily="2" charset="-122"/>
              </a:rPr>
              <a:t>TMS320F2812 </a:t>
            </a:r>
            <a:r>
              <a:rPr lang="zh-CN" altLang="en-US">
                <a:latin typeface="Times New Roman" panose="02020603050405020304" pitchFamily="18" charset="0"/>
                <a:ea typeface="宋体" panose="02010600030101010101" pitchFamily="2" charset="-122"/>
              </a:rPr>
              <a:t>芯片引脚图</a:t>
            </a:r>
          </a:p>
        </p:txBody>
      </p:sp>
      <p:sp>
        <p:nvSpPr>
          <p:cNvPr id="12" name="文本框 11">
            <a:extLst>
              <a:ext uri="{FF2B5EF4-FFF2-40B4-BE49-F238E27FC236}">
                <a16:creationId xmlns:a16="http://schemas.microsoft.com/office/drawing/2014/main" id="{360BF231-630D-2F67-FA74-A2C977A15183}"/>
              </a:ext>
            </a:extLst>
          </p:cNvPr>
          <p:cNvSpPr txBox="1"/>
          <p:nvPr/>
        </p:nvSpPr>
        <p:spPr>
          <a:xfrm>
            <a:off x="6356382" y="954955"/>
            <a:ext cx="5547579" cy="5856732"/>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a:latin typeface="Times New Roman" panose="02020603050405020304" pitchFamily="18" charset="0"/>
                <a:ea typeface="宋体" panose="02010600030101010101" pitchFamily="2" charset="-122"/>
              </a:rPr>
              <a:t>主要引脚及其用途： </a:t>
            </a:r>
            <a:endParaRPr lang="en-US" altLang="zh-CN">
              <a:latin typeface="Times New Roman" panose="02020603050405020304" pitchFamily="18" charset="0"/>
              <a:ea typeface="宋体" panose="02010600030101010101" pitchFamily="2" charset="-122"/>
            </a:endParaRPr>
          </a:p>
          <a:p>
            <a:pPr marL="285750" indent="-285750" algn="just">
              <a:lnSpc>
                <a:spcPct val="150000"/>
              </a:lnSpc>
              <a:buFont typeface="Arial" panose="020B0604020202020204" pitchFamily="34" charset="0"/>
              <a:buChar char="•"/>
            </a:pPr>
            <a:r>
              <a:rPr lang="en-US" altLang="zh-CN">
                <a:latin typeface="Times New Roman" panose="02020603050405020304" pitchFamily="18" charset="0"/>
                <a:ea typeface="宋体" panose="02010600030101010101" pitchFamily="2" charset="-122"/>
              </a:rPr>
              <a:t>PWM1,PWM3,PWM5: </a:t>
            </a:r>
            <a:r>
              <a:rPr lang="zh-CN" altLang="en-US">
                <a:latin typeface="Times New Roman" panose="02020603050405020304" pitchFamily="18" charset="0"/>
                <a:ea typeface="宋体" panose="02010600030101010101" pitchFamily="2" charset="-122"/>
              </a:rPr>
              <a:t>连接驱动电路，控制上半桥的开断</a:t>
            </a:r>
            <a:r>
              <a:rPr lang="en-US" altLang="zh-CN">
                <a:latin typeface="Times New Roman" panose="02020603050405020304" pitchFamily="18" charset="0"/>
                <a:ea typeface="宋体" panose="02010600030101010101" pitchFamily="2" charset="-122"/>
              </a:rPr>
              <a:t>. </a:t>
            </a:r>
          </a:p>
          <a:p>
            <a:pPr marL="285750" indent="-285750" algn="just">
              <a:lnSpc>
                <a:spcPct val="150000"/>
              </a:lnSpc>
              <a:buFont typeface="Arial" panose="020B0604020202020204" pitchFamily="34" charset="0"/>
              <a:buChar char="•"/>
            </a:pPr>
            <a:r>
              <a:rPr lang="en-US" altLang="zh-CN">
                <a:latin typeface="Times New Roman" panose="02020603050405020304" pitchFamily="18" charset="0"/>
                <a:ea typeface="宋体" panose="02010600030101010101" pitchFamily="2" charset="-122"/>
              </a:rPr>
              <a:t>PWM2,PWM4,PWM6: </a:t>
            </a:r>
            <a:r>
              <a:rPr lang="zh-CN" altLang="en-US">
                <a:latin typeface="Times New Roman" panose="02020603050405020304" pitchFamily="18" charset="0"/>
                <a:ea typeface="宋体" panose="02010600030101010101" pitchFamily="2" charset="-122"/>
              </a:rPr>
              <a:t>连接驱动电路，控制下半桥的开断</a:t>
            </a:r>
            <a:r>
              <a:rPr lang="en-US" altLang="zh-CN">
                <a:latin typeface="Times New Roman" panose="02020603050405020304" pitchFamily="18" charset="0"/>
                <a:ea typeface="宋体" panose="02010600030101010101" pitchFamily="2" charset="-122"/>
              </a:rPr>
              <a:t>. </a:t>
            </a:r>
          </a:p>
          <a:p>
            <a:pPr marL="285750" indent="-285750" algn="just">
              <a:lnSpc>
                <a:spcPct val="150000"/>
              </a:lnSpc>
              <a:buFont typeface="Arial" panose="020B0604020202020204" pitchFamily="34" charset="0"/>
              <a:buChar char="•"/>
            </a:pPr>
            <a:r>
              <a:rPr lang="en-US" altLang="zh-CN">
                <a:latin typeface="Times New Roman" panose="02020603050405020304" pitchFamily="18" charset="0"/>
                <a:ea typeface="宋体" panose="02010600030101010101" pitchFamily="2" charset="-122"/>
              </a:rPr>
              <a:t>PDPINTA: </a:t>
            </a:r>
            <a:r>
              <a:rPr lang="zh-CN" altLang="en-US">
                <a:latin typeface="Times New Roman" panose="02020603050405020304" pitchFamily="18" charset="0"/>
                <a:ea typeface="宋体" panose="02010600030101010101" pitchFamily="2" charset="-122"/>
              </a:rPr>
              <a:t>连接 </a:t>
            </a:r>
            <a:r>
              <a:rPr lang="en-US" altLang="zh-CN">
                <a:latin typeface="Times New Roman" panose="02020603050405020304" pitchFamily="18" charset="0"/>
                <a:ea typeface="宋体" panose="02010600030101010101" pitchFamily="2" charset="-122"/>
              </a:rPr>
              <a:t>IR2131 </a:t>
            </a:r>
            <a:r>
              <a:rPr lang="zh-CN" altLang="en-US">
                <a:latin typeface="Times New Roman" panose="02020603050405020304" pitchFamily="18" charset="0"/>
                <a:ea typeface="宋体" panose="02010600030101010101" pitchFamily="2" charset="-122"/>
              </a:rPr>
              <a:t>的 </a:t>
            </a:r>
            <a:r>
              <a:rPr lang="en-US" altLang="zh-CN">
                <a:latin typeface="Times New Roman" panose="02020603050405020304" pitchFamily="18" charset="0"/>
                <a:ea typeface="宋体" panose="02010600030101010101" pitchFamily="2" charset="-122"/>
              </a:rPr>
              <a:t>FAULT </a:t>
            </a:r>
            <a:r>
              <a:rPr lang="zh-CN" altLang="en-US">
                <a:latin typeface="Times New Roman" panose="02020603050405020304" pitchFamily="18" charset="0"/>
                <a:ea typeface="宋体" panose="02010600030101010101" pitchFamily="2" charset="-122"/>
              </a:rPr>
              <a:t>故障引脚</a:t>
            </a:r>
            <a:r>
              <a:rPr lang="en-US" altLang="zh-CN">
                <a:latin typeface="Times New Roman" panose="02020603050405020304" pitchFamily="18" charset="0"/>
                <a:ea typeface="宋体" panose="02010600030101010101" pitchFamily="2" charset="-122"/>
              </a:rPr>
              <a:t>.</a:t>
            </a:r>
          </a:p>
          <a:p>
            <a:pPr marL="285750" indent="-285750" algn="just">
              <a:lnSpc>
                <a:spcPct val="150000"/>
              </a:lnSpc>
              <a:buFont typeface="Arial" panose="020B0604020202020204" pitchFamily="34" charset="0"/>
              <a:buChar char="•"/>
            </a:pPr>
            <a:r>
              <a:rPr lang="en-US" altLang="zh-CN">
                <a:latin typeface="Times New Roman" panose="02020603050405020304" pitchFamily="18" charset="0"/>
                <a:ea typeface="宋体" panose="02010600030101010101" pitchFamily="2" charset="-122"/>
              </a:rPr>
              <a:t>SPICLKA,SPICSTEA: </a:t>
            </a:r>
            <a:r>
              <a:rPr lang="zh-CN" altLang="en-US">
                <a:latin typeface="Times New Roman" panose="02020603050405020304" pitchFamily="18" charset="0"/>
                <a:ea typeface="宋体" panose="02010600030101010101" pitchFamily="2" charset="-122"/>
              </a:rPr>
              <a:t>连接显示模块，将转速和电流信息显示在显示屏上</a:t>
            </a:r>
            <a:r>
              <a:rPr lang="en-US" altLang="zh-CN">
                <a:latin typeface="Times New Roman" panose="02020603050405020304" pitchFamily="18" charset="0"/>
                <a:ea typeface="宋体" panose="02010600030101010101" pitchFamily="2" charset="-122"/>
              </a:rPr>
              <a:t>. </a:t>
            </a:r>
          </a:p>
          <a:p>
            <a:pPr marL="285750" indent="-285750" algn="just">
              <a:lnSpc>
                <a:spcPct val="150000"/>
              </a:lnSpc>
              <a:buFont typeface="Arial" panose="020B0604020202020204" pitchFamily="34" charset="0"/>
              <a:buChar char="•"/>
            </a:pPr>
            <a:r>
              <a:rPr lang="en-US" altLang="zh-CN">
                <a:latin typeface="Times New Roman" panose="02020603050405020304" pitchFamily="18" charset="0"/>
                <a:ea typeface="宋体" panose="02010600030101010101" pitchFamily="2" charset="-122"/>
              </a:rPr>
              <a:t>SCIRXDB,SCITXDB: </a:t>
            </a:r>
            <a:r>
              <a:rPr lang="zh-CN" altLang="en-US">
                <a:latin typeface="Times New Roman" panose="02020603050405020304" pitchFamily="18" charset="0"/>
                <a:ea typeface="宋体" panose="02010600030101010101" pitchFamily="2" charset="-122"/>
              </a:rPr>
              <a:t>接收上位机的数据来控制参数</a:t>
            </a:r>
            <a:r>
              <a:rPr lang="en-US" altLang="zh-CN">
                <a:latin typeface="Times New Roman" panose="02020603050405020304" pitchFamily="18" charset="0"/>
                <a:ea typeface="宋体" panose="02010600030101010101" pitchFamily="2" charset="-122"/>
              </a:rPr>
              <a:t>. </a:t>
            </a:r>
          </a:p>
          <a:p>
            <a:pPr marL="285750" indent="-285750" algn="just">
              <a:lnSpc>
                <a:spcPct val="150000"/>
              </a:lnSpc>
              <a:buFont typeface="Arial" panose="020B0604020202020204" pitchFamily="34" charset="0"/>
              <a:buChar char="•"/>
            </a:pPr>
            <a:r>
              <a:rPr lang="en-US" altLang="zh-CN">
                <a:latin typeface="Times New Roman" panose="02020603050405020304" pitchFamily="18" charset="0"/>
                <a:ea typeface="宋体" panose="02010600030101010101" pitchFamily="2" charset="-122"/>
              </a:rPr>
              <a:t>ADCINA0.ADCINA2.ADCINA3.ADCINA4: </a:t>
            </a:r>
            <a:r>
              <a:rPr lang="zh-CN" altLang="en-US">
                <a:latin typeface="Times New Roman" panose="02020603050405020304" pitchFamily="18" charset="0"/>
                <a:ea typeface="宋体" panose="02010600030101010101" pitchFamily="2" charset="-122"/>
              </a:rPr>
              <a:t>检测速度值和电流值</a:t>
            </a:r>
            <a:r>
              <a:rPr lang="en-US" altLang="zh-CN">
                <a:latin typeface="Times New Roman" panose="02020603050405020304" pitchFamily="18" charset="0"/>
                <a:ea typeface="宋体" panose="02010600030101010101" pitchFamily="2" charset="-122"/>
              </a:rPr>
              <a:t>. </a:t>
            </a:r>
          </a:p>
          <a:p>
            <a:pPr marL="285750" indent="-285750" algn="just">
              <a:lnSpc>
                <a:spcPct val="150000"/>
              </a:lnSpc>
              <a:buFont typeface="Arial" panose="020B0604020202020204" pitchFamily="34" charset="0"/>
              <a:buChar char="•"/>
            </a:pPr>
            <a:r>
              <a:rPr lang="en-US" altLang="zh-CN">
                <a:latin typeface="Times New Roman" panose="02020603050405020304" pitchFamily="18" charset="0"/>
                <a:ea typeface="宋体" panose="02010600030101010101" pitchFamily="2" charset="-122"/>
              </a:rPr>
              <a:t>CAP1.CAP2.CAP3: </a:t>
            </a:r>
            <a:r>
              <a:rPr lang="zh-CN" altLang="en-US">
                <a:latin typeface="Times New Roman" panose="02020603050405020304" pitchFamily="18" charset="0"/>
                <a:ea typeface="宋体" panose="02010600030101010101" pitchFamily="2" charset="-122"/>
              </a:rPr>
              <a:t>实时监测速度，进行速度负反馈</a:t>
            </a:r>
            <a:r>
              <a:rPr lang="en-US" altLang="zh-CN">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337769411"/>
      </p:ext>
    </p:extLst>
  </p:cSld>
  <p:clrMapOvr>
    <a:masterClrMapping/>
  </p:clrMapOvr>
  <p:transition spd="slow" advTm="9487"/>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2B188-3C60-94BD-0788-250B1556BD86}"/>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9992C069-EEC1-6DFC-B267-8C3EB72E70CE}"/>
              </a:ext>
            </a:extLst>
          </p:cNvPr>
          <p:cNvCxnSpPr>
            <a:cxnSpLocks/>
          </p:cNvCxnSpPr>
          <p:nvPr/>
        </p:nvCxnSpPr>
        <p:spPr>
          <a:xfrm flipV="1">
            <a:off x="1014737" y="631512"/>
            <a:ext cx="7246036" cy="1620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A5217F94-D090-BB09-E180-32FDC921746F}"/>
              </a:ext>
            </a:extLst>
          </p:cNvPr>
          <p:cNvSpPr/>
          <p:nvPr/>
        </p:nvSpPr>
        <p:spPr>
          <a:xfrm>
            <a:off x="962591" y="154458"/>
            <a:ext cx="9840017"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三、电路设计</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驱动电路设计</a:t>
            </a:r>
            <a:endParaRPr kumimoji="0" lang="zh-CN" altLang="zh-CN" sz="2400" b="1" i="0" u="none" strike="noStrike" kern="0" cap="none" spc="0" normalizeH="0" baseline="0" noProof="0">
              <a:ln>
                <a:noFill/>
              </a:ln>
              <a:solidFill>
                <a:prstClr val="black"/>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E6DC3891-4ABA-FB3D-B778-5C9A670187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9" name="文本框 8">
            <a:extLst>
              <a:ext uri="{FF2B5EF4-FFF2-40B4-BE49-F238E27FC236}">
                <a16:creationId xmlns:a16="http://schemas.microsoft.com/office/drawing/2014/main" id="{BD85FC59-FA75-1892-17C9-52CAB548BB85}"/>
              </a:ext>
            </a:extLst>
          </p:cNvPr>
          <p:cNvSpPr txBox="1"/>
          <p:nvPr/>
        </p:nvSpPr>
        <p:spPr>
          <a:xfrm>
            <a:off x="7201500" y="4845703"/>
            <a:ext cx="3237298" cy="455253"/>
          </a:xfrm>
          <a:prstGeom prst="rect">
            <a:avLst/>
          </a:prstGeom>
          <a:noFill/>
        </p:spPr>
        <p:txBody>
          <a:bodyPr wrap="square">
            <a:spAutoFit/>
          </a:bodyPr>
          <a:lstStyle>
            <a:defPPr>
              <a:defRPr lang="zh-CN"/>
            </a:defPPr>
            <a:lvl1pPr indent="304800" algn="just">
              <a:lnSpc>
                <a:spcPct val="150000"/>
              </a:lnSpc>
              <a:defRPr>
                <a:effectLst/>
                <a:latin typeface="Times New Roman" panose="02020603050405020304" pitchFamily="18" charset="0"/>
                <a:ea typeface="宋体" panose="02010600030101010101" pitchFamily="2" charset="-122"/>
              </a:defRPr>
            </a:lvl1pPr>
          </a:lstStyle>
          <a:p>
            <a:r>
              <a:rPr lang="zh-CN" altLang="en-US"/>
              <a:t>驱动</a:t>
            </a:r>
            <a:r>
              <a:rPr lang="zh-CN" altLang="zh-CN"/>
              <a:t>电路</a:t>
            </a:r>
            <a:r>
              <a:rPr lang="zh-CN" altLang="en-US"/>
              <a:t>引脚连接图</a:t>
            </a:r>
            <a:endParaRPr lang="zh-CN" altLang="zh-CN"/>
          </a:p>
        </p:txBody>
      </p:sp>
      <p:sp>
        <p:nvSpPr>
          <p:cNvPr id="14" name="矩形 13">
            <a:extLst>
              <a:ext uri="{FF2B5EF4-FFF2-40B4-BE49-F238E27FC236}">
                <a16:creationId xmlns:a16="http://schemas.microsoft.com/office/drawing/2014/main" id="{9A5EA416-4960-9BBD-3A9E-D0CD03121712}"/>
              </a:ext>
            </a:extLst>
          </p:cNvPr>
          <p:cNvSpPr/>
          <p:nvPr/>
        </p:nvSpPr>
        <p:spPr bwMode="auto">
          <a:xfrm>
            <a:off x="5515843" y="1557044"/>
            <a:ext cx="6251859" cy="3857624"/>
          </a:xfrm>
          <a:prstGeom prst="rect">
            <a:avLst/>
          </a:prstGeom>
          <a:noFill/>
          <a:ln w="28575">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pic>
        <p:nvPicPr>
          <p:cNvPr id="4" name="图片 3">
            <a:extLst>
              <a:ext uri="{FF2B5EF4-FFF2-40B4-BE49-F238E27FC236}">
                <a16:creationId xmlns:a16="http://schemas.microsoft.com/office/drawing/2014/main" id="{5975277C-AC64-AC8D-CB7E-7234B30C6C0B}"/>
              </a:ext>
            </a:extLst>
          </p:cNvPr>
          <p:cNvPicPr>
            <a:picLocks noChangeAspect="1"/>
          </p:cNvPicPr>
          <p:nvPr/>
        </p:nvPicPr>
        <p:blipFill>
          <a:blip r:embed="rId4">
            <a:extLst>
              <a:ext uri="{28A0092B-C50C-407E-A947-70E740481C1C}">
                <a14:useLocalDpi xmlns:a14="http://schemas.microsoft.com/office/drawing/2010/main" val="0"/>
              </a:ext>
            </a:extLst>
          </a:blip>
          <a:srcRect l="6928" r="3717"/>
          <a:stretch/>
        </p:blipFill>
        <p:spPr bwMode="auto">
          <a:xfrm>
            <a:off x="5882599" y="1886430"/>
            <a:ext cx="5829300" cy="3120467"/>
          </a:xfrm>
          <a:prstGeom prst="rect">
            <a:avLst/>
          </a:prstGeom>
          <a:noFill/>
          <a:ln>
            <a:noFill/>
          </a:ln>
        </p:spPr>
      </p:pic>
      <p:sp>
        <p:nvSpPr>
          <p:cNvPr id="7" name="文本框 6">
            <a:extLst>
              <a:ext uri="{FF2B5EF4-FFF2-40B4-BE49-F238E27FC236}">
                <a16:creationId xmlns:a16="http://schemas.microsoft.com/office/drawing/2014/main" id="{9B4E8EF5-258C-F454-3994-87F05A9E26ED}"/>
              </a:ext>
            </a:extLst>
          </p:cNvPr>
          <p:cNvSpPr txBox="1"/>
          <p:nvPr/>
        </p:nvSpPr>
        <p:spPr>
          <a:xfrm>
            <a:off x="294171" y="1557044"/>
            <a:ext cx="4725504" cy="3779240"/>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a:latin typeface="Times New Roman" panose="02020603050405020304" pitchFamily="18" charset="0"/>
                <a:ea typeface="宋体" panose="02010600030101010101" pitchFamily="2" charset="-122"/>
              </a:rPr>
              <a:t>电机控制器驱动电路采用</a:t>
            </a:r>
            <a:r>
              <a:rPr lang="en-US" altLang="zh-CN">
                <a:latin typeface="Times New Roman" panose="02020603050405020304" pitchFamily="18" charset="0"/>
                <a:ea typeface="宋体" panose="02010600030101010101" pitchFamily="2" charset="-122"/>
              </a:rPr>
              <a:t>IR21311</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IR2131</a:t>
            </a:r>
            <a:r>
              <a:rPr lang="zh-CN" altLang="en-US">
                <a:latin typeface="Times New Roman" panose="02020603050405020304" pitchFamily="18" charset="0"/>
                <a:ea typeface="宋体" panose="02010600030101010101" pitchFamily="2" charset="-122"/>
              </a:rPr>
              <a:t>是一种采用高压高速功率</a:t>
            </a:r>
            <a:r>
              <a:rPr lang="en-US" altLang="zh-CN">
                <a:latin typeface="Times New Roman" panose="02020603050405020304" pitchFamily="18" charset="0"/>
                <a:ea typeface="宋体" panose="02010600030101010101" pitchFamily="2" charset="-122"/>
              </a:rPr>
              <a:t>MOSFET</a:t>
            </a:r>
            <a:r>
              <a:rPr lang="zh-CN" altLang="en-US">
                <a:latin typeface="Times New Roman" panose="02020603050405020304" pitchFamily="18" charset="0"/>
                <a:ea typeface="宋体" panose="02010600030101010101" pitchFamily="2" charset="-122"/>
              </a:rPr>
              <a:t>和</a:t>
            </a:r>
            <a:r>
              <a:rPr lang="en-US" altLang="zh-CN">
                <a:latin typeface="Times New Roman" panose="02020603050405020304" pitchFamily="18" charset="0"/>
                <a:ea typeface="宋体" panose="02010600030101010101" pitchFamily="2" charset="-122"/>
              </a:rPr>
              <a:t>IGBT</a:t>
            </a:r>
            <a:r>
              <a:rPr lang="zh-CN" altLang="en-US">
                <a:latin typeface="Times New Roman" panose="02020603050405020304" pitchFamily="18" charset="0"/>
                <a:ea typeface="宋体" panose="02010600030101010101" pitchFamily="2" charset="-122"/>
              </a:rPr>
              <a:t>的驱动器。</a:t>
            </a:r>
            <a:r>
              <a:rPr lang="en-US" altLang="zh-CN">
                <a:latin typeface="Times New Roman" panose="02020603050405020304" pitchFamily="18" charset="0"/>
                <a:ea typeface="宋体" panose="02010600030101010101" pitchFamily="2" charset="-122"/>
              </a:rPr>
              <a:t>IR2131</a:t>
            </a:r>
            <a:r>
              <a:rPr lang="zh-CN" altLang="en-US">
                <a:latin typeface="Times New Roman" panose="02020603050405020304" pitchFamily="18" charset="0"/>
                <a:ea typeface="宋体" panose="02010600030101010101" pitchFamily="2" charset="-122"/>
              </a:rPr>
              <a:t>可同时控制</a:t>
            </a:r>
            <a:r>
              <a:rPr lang="en-US" altLang="zh-CN">
                <a:latin typeface="Times New Roman" panose="02020603050405020304" pitchFamily="18" charset="0"/>
                <a:ea typeface="宋体" panose="02010600030101010101" pitchFamily="2" charset="-122"/>
              </a:rPr>
              <a:t>6</a:t>
            </a:r>
            <a:r>
              <a:rPr lang="zh-CN" altLang="en-US">
                <a:latin typeface="Times New Roman" panose="02020603050405020304" pitchFamily="18" charset="0"/>
                <a:ea typeface="宋体" panose="02010600030101010101" pitchFamily="2" charset="-122"/>
              </a:rPr>
              <a:t>个功率管的导通和关断。通过输出端口</a:t>
            </a:r>
            <a:r>
              <a:rPr lang="en-US" altLang="zh-CN">
                <a:latin typeface="Times New Roman" panose="02020603050405020304" pitchFamily="18" charset="0"/>
                <a:ea typeface="宋体" panose="02010600030101010101" pitchFamily="2" charset="-122"/>
              </a:rPr>
              <a:t>HO1,HO2,H03</a:t>
            </a:r>
            <a:r>
              <a:rPr lang="zh-CN" altLang="en-US">
                <a:latin typeface="Times New Roman" panose="02020603050405020304" pitchFamily="18" charset="0"/>
                <a:ea typeface="宋体" panose="02010600030101010101" pitchFamily="2" charset="-122"/>
              </a:rPr>
              <a:t>分别控制三相全桥驱动电路中上半桥</a:t>
            </a:r>
            <a:r>
              <a:rPr lang="en-US" altLang="zh-CN">
                <a:latin typeface="Times New Roman" panose="02020603050405020304" pitchFamily="18" charset="0"/>
                <a:ea typeface="宋体" panose="02010600030101010101" pitchFamily="2" charset="-122"/>
              </a:rPr>
              <a:t>VQ1</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VQ3</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VQ5</a:t>
            </a:r>
            <a:r>
              <a:rPr lang="zh-CN" altLang="en-US">
                <a:latin typeface="Times New Roman" panose="02020603050405020304" pitchFamily="18" charset="0"/>
                <a:ea typeface="宋体" panose="02010600030101010101" pitchFamily="2" charset="-122"/>
              </a:rPr>
              <a:t>的导通和关断，通过输出端口</a:t>
            </a:r>
            <a:r>
              <a:rPr lang="en-US" altLang="zh-CN">
                <a:latin typeface="Times New Roman" panose="02020603050405020304" pitchFamily="18" charset="0"/>
                <a:ea typeface="宋体" panose="02010600030101010101" pitchFamily="2" charset="-122"/>
              </a:rPr>
              <a:t>LO1</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LO2</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LO3</a:t>
            </a:r>
            <a:r>
              <a:rPr lang="zh-CN" altLang="en-US">
                <a:latin typeface="Times New Roman" panose="02020603050405020304" pitchFamily="18" charset="0"/>
                <a:ea typeface="宋体" panose="02010600030101010101" pitchFamily="2" charset="-122"/>
              </a:rPr>
              <a:t>分别控制三相全桥驱动电路中下半桥</a:t>
            </a:r>
            <a:r>
              <a:rPr lang="en-US" altLang="zh-CN">
                <a:latin typeface="Times New Roman" panose="02020603050405020304" pitchFamily="18" charset="0"/>
                <a:ea typeface="宋体" panose="02010600030101010101" pitchFamily="2" charset="-122"/>
              </a:rPr>
              <a:t>VQ4</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VQ6</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VQ2</a:t>
            </a:r>
            <a:r>
              <a:rPr lang="zh-CN" altLang="en-US">
                <a:latin typeface="Times New Roman" panose="02020603050405020304" pitchFamily="18" charset="0"/>
                <a:ea typeface="宋体" panose="02010600030101010101" pitchFamily="2" charset="-122"/>
              </a:rPr>
              <a:t>的导通和关断、从而实现控制电机转速和正反转。</a:t>
            </a:r>
            <a:endParaRPr lang="zh-CN" altLang="en-US"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063927016"/>
      </p:ext>
    </p:extLst>
  </p:cSld>
  <p:clrMapOvr>
    <a:masterClrMapping/>
  </p:clrMapOvr>
  <p:transition spd="slow" advTm="9487"/>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41133-E110-C367-EE2F-370E658B3347}"/>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7E86218C-EE00-DC68-2814-F226BE096A63}"/>
              </a:ext>
            </a:extLst>
          </p:cNvPr>
          <p:cNvSpPr txBox="1"/>
          <p:nvPr/>
        </p:nvSpPr>
        <p:spPr>
          <a:xfrm>
            <a:off x="4947290" y="225896"/>
            <a:ext cx="1808143" cy="923330"/>
          </a:xfrm>
          <a:prstGeom prst="rect">
            <a:avLst/>
          </a:prstGeom>
          <a:noFill/>
        </p:spPr>
        <p:txBody>
          <a:bodyPr wrap="square" rtlCol="0">
            <a:spAutoFit/>
          </a:bodyPr>
          <a:lstStyle/>
          <a:p>
            <a:pPr algn="dist"/>
            <a:r>
              <a:rPr lang="zh-CN" altLang="en-US" sz="5400" b="1">
                <a:solidFill>
                  <a:srgbClr val="0070C0"/>
                </a:solidFill>
                <a:latin typeface="微软雅黑" panose="020B0503020204020204" pitchFamily="34" charset="-122"/>
                <a:ea typeface="微软雅黑" panose="020B0503020204020204" pitchFamily="34" charset="-122"/>
              </a:rPr>
              <a:t>目录</a:t>
            </a:r>
          </a:p>
        </p:txBody>
      </p:sp>
      <p:cxnSp>
        <p:nvCxnSpPr>
          <p:cNvPr id="2" name="直接连接符 1">
            <a:extLst>
              <a:ext uri="{FF2B5EF4-FFF2-40B4-BE49-F238E27FC236}">
                <a16:creationId xmlns:a16="http://schemas.microsoft.com/office/drawing/2014/main" id="{39463B74-15C0-21F1-CF3F-A41FE3619A7A}"/>
              </a:ext>
            </a:extLst>
          </p:cNvPr>
          <p:cNvCxnSpPr>
            <a:cxnSpLocks/>
          </p:cNvCxnSpPr>
          <p:nvPr/>
        </p:nvCxnSpPr>
        <p:spPr>
          <a:xfrm flipV="1">
            <a:off x="0" y="1095749"/>
            <a:ext cx="12192000" cy="70720"/>
          </a:xfrm>
          <a:prstGeom prst="line">
            <a:avLst/>
          </a:prstGeom>
          <a:ln w="635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5" name="组合 4">
            <a:extLst>
              <a:ext uri="{FF2B5EF4-FFF2-40B4-BE49-F238E27FC236}">
                <a16:creationId xmlns:a16="http://schemas.microsoft.com/office/drawing/2014/main" id="{94C1470F-647D-B09A-2AD7-40D0A71C064F}"/>
              </a:ext>
            </a:extLst>
          </p:cNvPr>
          <p:cNvGrpSpPr/>
          <p:nvPr/>
        </p:nvGrpSpPr>
        <p:grpSpPr>
          <a:xfrm>
            <a:off x="2650945" y="2545874"/>
            <a:ext cx="894259" cy="489631"/>
            <a:chOff x="2215144" y="927951"/>
            <a:chExt cx="1244730" cy="897673"/>
          </a:xfrm>
        </p:grpSpPr>
        <p:sp>
          <p:nvSpPr>
            <p:cNvPr id="6" name="平行四边形 5">
              <a:extLst>
                <a:ext uri="{FF2B5EF4-FFF2-40B4-BE49-F238E27FC236}">
                  <a16:creationId xmlns:a16="http://schemas.microsoft.com/office/drawing/2014/main" id="{1CABF2FF-C07E-120B-F3AF-6CF27769149B}"/>
                </a:ext>
              </a:extLst>
            </p:cNvPr>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7" name="文本框 9">
              <a:extLst>
                <a:ext uri="{FF2B5EF4-FFF2-40B4-BE49-F238E27FC236}">
                  <a16:creationId xmlns:a16="http://schemas.microsoft.com/office/drawing/2014/main" id="{6E3D8A01-5183-257C-5E40-107062859719}"/>
                </a:ext>
              </a:extLst>
            </p:cNvPr>
            <p:cNvSpPr txBox="1"/>
            <p:nvPr/>
          </p:nvSpPr>
          <p:spPr>
            <a:xfrm>
              <a:off x="2393075" y="927951"/>
              <a:ext cx="1066799" cy="816504"/>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01</a:t>
              </a:r>
              <a:endParaRPr lang="zh-CN" altLang="en-US" sz="2800">
                <a:solidFill>
                  <a:schemeClr val="bg1"/>
                </a:solidFill>
                <a:latin typeface="Impact" panose="020B0806030902050204" pitchFamily="34" charset="0"/>
              </a:endParaRPr>
            </a:p>
          </p:txBody>
        </p:sp>
      </p:grpSp>
      <p:grpSp>
        <p:nvGrpSpPr>
          <p:cNvPr id="8" name="组合 7">
            <a:extLst>
              <a:ext uri="{FF2B5EF4-FFF2-40B4-BE49-F238E27FC236}">
                <a16:creationId xmlns:a16="http://schemas.microsoft.com/office/drawing/2014/main" id="{3DD1DBAC-B980-E3EC-5165-6E69DBAD50A2}"/>
              </a:ext>
            </a:extLst>
          </p:cNvPr>
          <p:cNvGrpSpPr/>
          <p:nvPr/>
        </p:nvGrpSpPr>
        <p:grpSpPr>
          <a:xfrm>
            <a:off x="4579570" y="3121702"/>
            <a:ext cx="894259" cy="504163"/>
            <a:chOff x="2215144" y="1952311"/>
            <a:chExt cx="1244730" cy="924318"/>
          </a:xfrm>
        </p:grpSpPr>
        <p:sp>
          <p:nvSpPr>
            <p:cNvPr id="9" name="平行四边形 8">
              <a:extLst>
                <a:ext uri="{FF2B5EF4-FFF2-40B4-BE49-F238E27FC236}">
                  <a16:creationId xmlns:a16="http://schemas.microsoft.com/office/drawing/2014/main" id="{53A702E9-33A2-EAA5-F2AD-CBCB3D972A5F}"/>
                </a:ext>
              </a:extLst>
            </p:cNvPr>
            <p:cNvSpPr/>
            <p:nvPr/>
          </p:nvSpPr>
          <p:spPr>
            <a:xfrm>
              <a:off x="2215144" y="2033848"/>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0" name="文本框 10">
              <a:extLst>
                <a:ext uri="{FF2B5EF4-FFF2-40B4-BE49-F238E27FC236}">
                  <a16:creationId xmlns:a16="http://schemas.microsoft.com/office/drawing/2014/main" id="{D8F1C7CA-C568-B192-ED43-4DE1ED216B88}"/>
                </a:ext>
              </a:extLst>
            </p:cNvPr>
            <p:cNvSpPr txBox="1"/>
            <p:nvPr/>
          </p:nvSpPr>
          <p:spPr>
            <a:xfrm>
              <a:off x="2393075" y="1952311"/>
              <a:ext cx="1066799" cy="816508"/>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02</a:t>
              </a:r>
              <a:endParaRPr lang="zh-CN" altLang="en-US" sz="2800">
                <a:solidFill>
                  <a:schemeClr val="bg1"/>
                </a:solidFill>
                <a:latin typeface="Impact" panose="020B0806030902050204" pitchFamily="34" charset="0"/>
              </a:endParaRPr>
            </a:p>
          </p:txBody>
        </p:sp>
      </p:grpSp>
      <p:grpSp>
        <p:nvGrpSpPr>
          <p:cNvPr id="11" name="组合 10">
            <a:extLst>
              <a:ext uri="{FF2B5EF4-FFF2-40B4-BE49-F238E27FC236}">
                <a16:creationId xmlns:a16="http://schemas.microsoft.com/office/drawing/2014/main" id="{B7006611-91A1-4839-E9D0-002EB6A48FD0}"/>
              </a:ext>
            </a:extLst>
          </p:cNvPr>
          <p:cNvGrpSpPr/>
          <p:nvPr/>
        </p:nvGrpSpPr>
        <p:grpSpPr>
          <a:xfrm>
            <a:off x="2650945" y="3715911"/>
            <a:ext cx="894259" cy="496081"/>
            <a:chOff x="2215144" y="3018134"/>
            <a:chExt cx="1244730" cy="909499"/>
          </a:xfrm>
        </p:grpSpPr>
        <p:sp>
          <p:nvSpPr>
            <p:cNvPr id="12" name="平行四边形 11">
              <a:extLst>
                <a:ext uri="{FF2B5EF4-FFF2-40B4-BE49-F238E27FC236}">
                  <a16:creationId xmlns:a16="http://schemas.microsoft.com/office/drawing/2014/main" id="{74C9C9D7-DA8B-8918-DFD2-2DB25353B367}"/>
                </a:ext>
              </a:extLst>
            </p:cNvPr>
            <p:cNvSpPr/>
            <p:nvPr/>
          </p:nvSpPr>
          <p:spPr>
            <a:xfrm>
              <a:off x="2215144" y="3084852"/>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3" name="文本框 11">
              <a:extLst>
                <a:ext uri="{FF2B5EF4-FFF2-40B4-BE49-F238E27FC236}">
                  <a16:creationId xmlns:a16="http://schemas.microsoft.com/office/drawing/2014/main" id="{F4AE0CA0-D710-13E8-B174-5D6EB24186C2}"/>
                </a:ext>
              </a:extLst>
            </p:cNvPr>
            <p:cNvSpPr txBox="1"/>
            <p:nvPr/>
          </p:nvSpPr>
          <p:spPr>
            <a:xfrm>
              <a:off x="2393075" y="3018134"/>
              <a:ext cx="1066799" cy="816505"/>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03</a:t>
              </a:r>
              <a:endParaRPr lang="zh-CN" altLang="en-US" sz="2800">
                <a:solidFill>
                  <a:schemeClr val="bg1"/>
                </a:solidFill>
                <a:latin typeface="Impact" panose="020B0806030902050204" pitchFamily="34" charset="0"/>
              </a:endParaRPr>
            </a:p>
          </p:txBody>
        </p:sp>
      </p:grpSp>
      <p:grpSp>
        <p:nvGrpSpPr>
          <p:cNvPr id="14" name="组合 13">
            <a:extLst>
              <a:ext uri="{FF2B5EF4-FFF2-40B4-BE49-F238E27FC236}">
                <a16:creationId xmlns:a16="http://schemas.microsoft.com/office/drawing/2014/main" id="{124017CD-5E70-85C7-C3A2-08471FC1786C}"/>
              </a:ext>
            </a:extLst>
          </p:cNvPr>
          <p:cNvGrpSpPr/>
          <p:nvPr/>
        </p:nvGrpSpPr>
        <p:grpSpPr>
          <a:xfrm>
            <a:off x="4579570" y="4270751"/>
            <a:ext cx="894259" cy="523220"/>
            <a:chOff x="2215144" y="4047039"/>
            <a:chExt cx="1244730" cy="959256"/>
          </a:xfrm>
        </p:grpSpPr>
        <p:sp>
          <p:nvSpPr>
            <p:cNvPr id="15" name="平行四边形 14">
              <a:extLst>
                <a:ext uri="{FF2B5EF4-FFF2-40B4-BE49-F238E27FC236}">
                  <a16:creationId xmlns:a16="http://schemas.microsoft.com/office/drawing/2014/main" id="{D2079840-76CA-21EE-80BF-A4F3DAC6691C}"/>
                </a:ext>
              </a:extLst>
            </p:cNvPr>
            <p:cNvSpPr/>
            <p:nvPr/>
          </p:nvSpPr>
          <p:spPr>
            <a:xfrm>
              <a:off x="2215144" y="4135856"/>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6" name="文本框 12">
              <a:extLst>
                <a:ext uri="{FF2B5EF4-FFF2-40B4-BE49-F238E27FC236}">
                  <a16:creationId xmlns:a16="http://schemas.microsoft.com/office/drawing/2014/main" id="{C040205D-4E80-0C0D-F819-056371B3DE5F}"/>
                </a:ext>
              </a:extLst>
            </p:cNvPr>
            <p:cNvSpPr txBox="1"/>
            <p:nvPr/>
          </p:nvSpPr>
          <p:spPr>
            <a:xfrm>
              <a:off x="2393075" y="4047039"/>
              <a:ext cx="1066799" cy="959256"/>
            </a:xfrm>
            <a:prstGeom prst="rect">
              <a:avLst/>
            </a:prstGeom>
            <a:noFill/>
          </p:spPr>
          <p:txBody>
            <a:bodyPr wrap="square" rtlCol="0">
              <a:spAutoFit/>
            </a:bodyPr>
            <a:lstStyle/>
            <a:p>
              <a:r>
                <a:rPr lang="en-US" altLang="zh-CN" sz="2800">
                  <a:solidFill>
                    <a:srgbClr val="FF0000"/>
                  </a:solidFill>
                  <a:latin typeface="Impact" panose="020B0806030902050204" pitchFamily="34" charset="0"/>
                </a:rPr>
                <a:t>04</a:t>
              </a:r>
              <a:endParaRPr lang="zh-CN" altLang="en-US" sz="2800">
                <a:solidFill>
                  <a:srgbClr val="FF0000"/>
                </a:solidFill>
                <a:latin typeface="Impact" panose="020B0806030902050204" pitchFamily="34" charset="0"/>
              </a:endParaRPr>
            </a:p>
          </p:txBody>
        </p:sp>
      </p:grpSp>
      <p:grpSp>
        <p:nvGrpSpPr>
          <p:cNvPr id="20" name="组合 19">
            <a:extLst>
              <a:ext uri="{FF2B5EF4-FFF2-40B4-BE49-F238E27FC236}">
                <a16:creationId xmlns:a16="http://schemas.microsoft.com/office/drawing/2014/main" id="{C678DD8B-DF3F-CF29-7443-F8BE5ACFE7FA}"/>
              </a:ext>
            </a:extLst>
          </p:cNvPr>
          <p:cNvGrpSpPr/>
          <p:nvPr/>
        </p:nvGrpSpPr>
        <p:grpSpPr>
          <a:xfrm>
            <a:off x="3330198" y="2559185"/>
            <a:ext cx="3857250" cy="459690"/>
            <a:chOff x="4315150" y="953426"/>
            <a:chExt cx="3857250" cy="540057"/>
          </a:xfrm>
        </p:grpSpPr>
        <p:sp>
          <p:nvSpPr>
            <p:cNvPr id="21" name="矩形 20">
              <a:extLst>
                <a:ext uri="{FF2B5EF4-FFF2-40B4-BE49-F238E27FC236}">
                  <a16:creationId xmlns:a16="http://schemas.microsoft.com/office/drawing/2014/main" id="{30181257-F777-A0CF-3E46-4826EB2A82FC}"/>
                </a:ext>
              </a:extLst>
            </p:cNvPr>
            <p:cNvSpPr/>
            <p:nvPr/>
          </p:nvSpPr>
          <p:spPr>
            <a:xfrm>
              <a:off x="4841196" y="1036090"/>
              <a:ext cx="2827147" cy="406783"/>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设计任务</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2" name="平行四边形 21">
              <a:extLst>
                <a:ext uri="{FF2B5EF4-FFF2-40B4-BE49-F238E27FC236}">
                  <a16:creationId xmlns:a16="http://schemas.microsoft.com/office/drawing/2014/main" id="{8516E8FF-858C-7307-9DA0-B1CCE27BA7AC}"/>
                </a:ext>
              </a:extLst>
            </p:cNvPr>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23" name="组合 22">
            <a:extLst>
              <a:ext uri="{FF2B5EF4-FFF2-40B4-BE49-F238E27FC236}">
                <a16:creationId xmlns:a16="http://schemas.microsoft.com/office/drawing/2014/main" id="{29CBD71C-9A44-63A9-6A67-63AB4C7A4233}"/>
              </a:ext>
            </a:extLst>
          </p:cNvPr>
          <p:cNvGrpSpPr/>
          <p:nvPr/>
        </p:nvGrpSpPr>
        <p:grpSpPr>
          <a:xfrm>
            <a:off x="5258823" y="3149552"/>
            <a:ext cx="3857250" cy="459690"/>
            <a:chOff x="4315150" y="1647579"/>
            <a:chExt cx="3857250" cy="540057"/>
          </a:xfrm>
        </p:grpSpPr>
        <p:sp>
          <p:nvSpPr>
            <p:cNvPr id="24" name="矩形 23">
              <a:extLst>
                <a:ext uri="{FF2B5EF4-FFF2-40B4-BE49-F238E27FC236}">
                  <a16:creationId xmlns:a16="http://schemas.microsoft.com/office/drawing/2014/main" id="{2B462902-320A-5785-2F4A-2EE4139FE624}"/>
                </a:ext>
              </a:extLst>
            </p:cNvPr>
            <p:cNvSpPr/>
            <p:nvPr/>
          </p:nvSpPr>
          <p:spPr>
            <a:xfrm>
              <a:off x="4841196" y="1730243"/>
              <a:ext cx="2827147" cy="406783"/>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方案选择</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5" name="平行四边形 24">
              <a:extLst>
                <a:ext uri="{FF2B5EF4-FFF2-40B4-BE49-F238E27FC236}">
                  <a16:creationId xmlns:a16="http://schemas.microsoft.com/office/drawing/2014/main" id="{6B18F434-DD73-80C2-9117-1100B14FA130}"/>
                </a:ext>
              </a:extLst>
            </p:cNvPr>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26" name="组合 25">
            <a:extLst>
              <a:ext uri="{FF2B5EF4-FFF2-40B4-BE49-F238E27FC236}">
                <a16:creationId xmlns:a16="http://schemas.microsoft.com/office/drawing/2014/main" id="{B852099B-87C6-637C-B7FB-02167A81362B}"/>
              </a:ext>
            </a:extLst>
          </p:cNvPr>
          <p:cNvGrpSpPr/>
          <p:nvPr/>
        </p:nvGrpSpPr>
        <p:grpSpPr>
          <a:xfrm>
            <a:off x="3330198" y="3736065"/>
            <a:ext cx="3857250" cy="459690"/>
            <a:chOff x="4315150" y="2341731"/>
            <a:chExt cx="3857250" cy="540057"/>
          </a:xfrm>
        </p:grpSpPr>
        <p:sp>
          <p:nvSpPr>
            <p:cNvPr id="27" name="矩形 26">
              <a:extLst>
                <a:ext uri="{FF2B5EF4-FFF2-40B4-BE49-F238E27FC236}">
                  <a16:creationId xmlns:a16="http://schemas.microsoft.com/office/drawing/2014/main" id="{D7184955-1C50-C923-68B6-389FBDDAECE2}"/>
                </a:ext>
              </a:extLst>
            </p:cNvPr>
            <p:cNvSpPr/>
            <p:nvPr/>
          </p:nvSpPr>
          <p:spPr>
            <a:xfrm>
              <a:off x="4841197" y="2424395"/>
              <a:ext cx="2827146" cy="406783"/>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电路设计</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8" name="平行四边形 27">
              <a:extLst>
                <a:ext uri="{FF2B5EF4-FFF2-40B4-BE49-F238E27FC236}">
                  <a16:creationId xmlns:a16="http://schemas.microsoft.com/office/drawing/2014/main" id="{570AB4EA-FC0D-737D-0309-045304E63931}"/>
                </a:ext>
              </a:extLst>
            </p:cNvPr>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29" name="组合 28">
            <a:extLst>
              <a:ext uri="{FF2B5EF4-FFF2-40B4-BE49-F238E27FC236}">
                <a16:creationId xmlns:a16="http://schemas.microsoft.com/office/drawing/2014/main" id="{21FCD279-7025-E51E-0FE7-8EC6C4C99922}"/>
              </a:ext>
            </a:extLst>
          </p:cNvPr>
          <p:cNvGrpSpPr/>
          <p:nvPr/>
        </p:nvGrpSpPr>
        <p:grpSpPr>
          <a:xfrm>
            <a:off x="5258823" y="4302567"/>
            <a:ext cx="3857250" cy="693611"/>
            <a:chOff x="4315150" y="3035884"/>
            <a:chExt cx="3857250" cy="814874"/>
          </a:xfrm>
        </p:grpSpPr>
        <p:sp>
          <p:nvSpPr>
            <p:cNvPr id="30" name="矩形 29">
              <a:extLst>
                <a:ext uri="{FF2B5EF4-FFF2-40B4-BE49-F238E27FC236}">
                  <a16:creationId xmlns:a16="http://schemas.microsoft.com/office/drawing/2014/main" id="{1D115453-4566-BEF1-F3A5-209B492F0B56}"/>
                </a:ext>
              </a:extLst>
            </p:cNvPr>
            <p:cNvSpPr/>
            <p:nvPr/>
          </p:nvSpPr>
          <p:spPr>
            <a:xfrm>
              <a:off x="4841196" y="3118548"/>
              <a:ext cx="2827147" cy="732210"/>
            </a:xfrm>
            <a:prstGeom prst="rect">
              <a:avLst/>
            </a:prstGeom>
            <a:ln w="15875">
              <a:noFill/>
            </a:ln>
          </p:spPr>
          <p:txBody>
            <a:bodyPr wrap="square" lIns="68580" tIns="34290" rIns="68580" bIns="34290">
              <a:spAutoFit/>
            </a:bodyPr>
            <a:lstStyle/>
            <a:p>
              <a:r>
                <a:rPr lang="zh-CN" altLang="en-US" b="1">
                  <a:solidFill>
                    <a:srgbClr val="FF0000"/>
                  </a:solidFill>
                  <a:latin typeface="微软雅黑" panose="020B0503020204020204" pitchFamily="34" charset="-122"/>
                  <a:ea typeface="微软雅黑" panose="020B0503020204020204" pitchFamily="34" charset="-122"/>
                </a:rPr>
                <a:t>转速、电流测量方案选择</a:t>
              </a:r>
              <a:endParaRPr lang="en-GB" altLang="zh-CN" b="1">
                <a:solidFill>
                  <a:srgbClr val="FF0000"/>
                </a:solidFill>
                <a:latin typeface="微软雅黑" panose="020B0503020204020204" pitchFamily="34" charset="-122"/>
                <a:ea typeface="微软雅黑" panose="020B0503020204020204" pitchFamily="34" charset="-122"/>
              </a:endParaRPr>
            </a:p>
            <a:p>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1" name="平行四边形 30">
              <a:extLst>
                <a:ext uri="{FF2B5EF4-FFF2-40B4-BE49-F238E27FC236}">
                  <a16:creationId xmlns:a16="http://schemas.microsoft.com/office/drawing/2014/main" id="{8DFFAFD5-7380-264F-FC13-E711CCF7574C}"/>
                </a:ext>
              </a:extLst>
            </p:cNvPr>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59" name="组合 58">
            <a:extLst>
              <a:ext uri="{FF2B5EF4-FFF2-40B4-BE49-F238E27FC236}">
                <a16:creationId xmlns:a16="http://schemas.microsoft.com/office/drawing/2014/main" id="{B4C62B2E-8F3A-0490-68EC-7192BC86E80A}"/>
              </a:ext>
            </a:extLst>
          </p:cNvPr>
          <p:cNvGrpSpPr/>
          <p:nvPr/>
        </p:nvGrpSpPr>
        <p:grpSpPr>
          <a:xfrm>
            <a:off x="2650945" y="4906216"/>
            <a:ext cx="884486" cy="523220"/>
            <a:chOff x="2215144" y="5107938"/>
            <a:chExt cx="1231128" cy="959259"/>
          </a:xfrm>
        </p:grpSpPr>
        <p:sp>
          <p:nvSpPr>
            <p:cNvPr id="60" name="平行四边形 59">
              <a:extLst>
                <a:ext uri="{FF2B5EF4-FFF2-40B4-BE49-F238E27FC236}">
                  <a16:creationId xmlns:a16="http://schemas.microsoft.com/office/drawing/2014/main" id="{0E577925-69B5-A553-489D-8135D5082642}"/>
                </a:ext>
              </a:extLst>
            </p:cNvPr>
            <p:cNvSpPr/>
            <p:nvPr/>
          </p:nvSpPr>
          <p:spPr>
            <a:xfrm>
              <a:off x="2215144" y="5186859"/>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61" name="文本框 13">
              <a:extLst>
                <a:ext uri="{FF2B5EF4-FFF2-40B4-BE49-F238E27FC236}">
                  <a16:creationId xmlns:a16="http://schemas.microsoft.com/office/drawing/2014/main" id="{216C8145-9707-49F6-63FE-74AD5618AD88}"/>
                </a:ext>
              </a:extLst>
            </p:cNvPr>
            <p:cNvSpPr txBox="1"/>
            <p:nvPr/>
          </p:nvSpPr>
          <p:spPr>
            <a:xfrm>
              <a:off x="2379473" y="5107938"/>
              <a:ext cx="1066799" cy="959259"/>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05</a:t>
              </a:r>
              <a:endParaRPr lang="zh-CN" altLang="en-US" sz="2800">
                <a:solidFill>
                  <a:schemeClr val="bg1"/>
                </a:solidFill>
                <a:latin typeface="Impact" panose="020B0806030902050204" pitchFamily="34" charset="0"/>
              </a:endParaRPr>
            </a:p>
          </p:txBody>
        </p:sp>
      </p:grpSp>
      <p:grpSp>
        <p:nvGrpSpPr>
          <p:cNvPr id="62" name="组合 61">
            <a:extLst>
              <a:ext uri="{FF2B5EF4-FFF2-40B4-BE49-F238E27FC236}">
                <a16:creationId xmlns:a16="http://schemas.microsoft.com/office/drawing/2014/main" id="{DDB79417-0792-BFC4-A522-1253E2D1922D}"/>
              </a:ext>
            </a:extLst>
          </p:cNvPr>
          <p:cNvGrpSpPr/>
          <p:nvPr/>
        </p:nvGrpSpPr>
        <p:grpSpPr>
          <a:xfrm>
            <a:off x="3330199" y="4932647"/>
            <a:ext cx="3857250" cy="459690"/>
            <a:chOff x="4315150" y="3730038"/>
            <a:chExt cx="3857250" cy="540057"/>
          </a:xfrm>
        </p:grpSpPr>
        <p:sp>
          <p:nvSpPr>
            <p:cNvPr id="63" name="矩形 62">
              <a:extLst>
                <a:ext uri="{FF2B5EF4-FFF2-40B4-BE49-F238E27FC236}">
                  <a16:creationId xmlns:a16="http://schemas.microsoft.com/office/drawing/2014/main" id="{852FBF39-F582-D3AF-3239-AB454EFE850B}"/>
                </a:ext>
              </a:extLst>
            </p:cNvPr>
            <p:cNvSpPr/>
            <p:nvPr/>
          </p:nvSpPr>
          <p:spPr>
            <a:xfrm>
              <a:off x="4841197" y="3812702"/>
              <a:ext cx="2827146" cy="406783"/>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仿真验证</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4" name="平行四边形 63">
              <a:extLst>
                <a:ext uri="{FF2B5EF4-FFF2-40B4-BE49-F238E27FC236}">
                  <a16:creationId xmlns:a16="http://schemas.microsoft.com/office/drawing/2014/main" id="{0FCB52F9-CA54-064F-8203-1E2E8EAFDCF3}"/>
                </a:ext>
              </a:extLst>
            </p:cNvPr>
            <p:cNvSpPr/>
            <p:nvPr/>
          </p:nvSpPr>
          <p:spPr>
            <a:xfrm>
              <a:off x="4315150" y="3730038"/>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4" name="组合 3">
            <a:extLst>
              <a:ext uri="{FF2B5EF4-FFF2-40B4-BE49-F238E27FC236}">
                <a16:creationId xmlns:a16="http://schemas.microsoft.com/office/drawing/2014/main" id="{2BBF5910-F016-7145-AE52-D24E1D8FFA5E}"/>
              </a:ext>
            </a:extLst>
          </p:cNvPr>
          <p:cNvGrpSpPr/>
          <p:nvPr/>
        </p:nvGrpSpPr>
        <p:grpSpPr>
          <a:xfrm>
            <a:off x="4500160" y="5515777"/>
            <a:ext cx="894259" cy="523220"/>
            <a:chOff x="2215144" y="4047039"/>
            <a:chExt cx="1244730" cy="959256"/>
          </a:xfrm>
        </p:grpSpPr>
        <p:sp>
          <p:nvSpPr>
            <p:cNvPr id="17" name="平行四边形 16">
              <a:extLst>
                <a:ext uri="{FF2B5EF4-FFF2-40B4-BE49-F238E27FC236}">
                  <a16:creationId xmlns:a16="http://schemas.microsoft.com/office/drawing/2014/main" id="{9D11957B-F47B-2882-F510-252C841A873F}"/>
                </a:ext>
              </a:extLst>
            </p:cNvPr>
            <p:cNvSpPr/>
            <p:nvPr/>
          </p:nvSpPr>
          <p:spPr>
            <a:xfrm>
              <a:off x="2215144" y="4135856"/>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8" name="文本框 12">
              <a:extLst>
                <a:ext uri="{FF2B5EF4-FFF2-40B4-BE49-F238E27FC236}">
                  <a16:creationId xmlns:a16="http://schemas.microsoft.com/office/drawing/2014/main" id="{6A3B3A04-A022-ADC1-6F3A-880852ED3196}"/>
                </a:ext>
              </a:extLst>
            </p:cNvPr>
            <p:cNvSpPr txBox="1"/>
            <p:nvPr/>
          </p:nvSpPr>
          <p:spPr>
            <a:xfrm>
              <a:off x="2393075" y="4047039"/>
              <a:ext cx="1066799" cy="959256"/>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06</a:t>
              </a:r>
              <a:endParaRPr lang="zh-CN" altLang="en-US" sz="2800">
                <a:solidFill>
                  <a:schemeClr val="bg1"/>
                </a:solidFill>
                <a:latin typeface="Impact" panose="020B0806030902050204" pitchFamily="34" charset="0"/>
              </a:endParaRPr>
            </a:p>
          </p:txBody>
        </p:sp>
      </p:grpSp>
      <p:grpSp>
        <p:nvGrpSpPr>
          <p:cNvPr id="19" name="组合 18">
            <a:extLst>
              <a:ext uri="{FF2B5EF4-FFF2-40B4-BE49-F238E27FC236}">
                <a16:creationId xmlns:a16="http://schemas.microsoft.com/office/drawing/2014/main" id="{A752A45E-2C6C-71C9-404B-F0DD6A1B17D6}"/>
              </a:ext>
            </a:extLst>
          </p:cNvPr>
          <p:cNvGrpSpPr/>
          <p:nvPr/>
        </p:nvGrpSpPr>
        <p:grpSpPr>
          <a:xfrm>
            <a:off x="5179413" y="5547593"/>
            <a:ext cx="3857250" cy="693611"/>
            <a:chOff x="4315150" y="3035884"/>
            <a:chExt cx="3857250" cy="814874"/>
          </a:xfrm>
        </p:grpSpPr>
        <p:sp>
          <p:nvSpPr>
            <p:cNvPr id="32" name="矩形 31">
              <a:extLst>
                <a:ext uri="{FF2B5EF4-FFF2-40B4-BE49-F238E27FC236}">
                  <a16:creationId xmlns:a16="http://schemas.microsoft.com/office/drawing/2014/main" id="{64F10C9A-73E5-9AC9-0CBE-5931B152070F}"/>
                </a:ext>
              </a:extLst>
            </p:cNvPr>
            <p:cNvSpPr/>
            <p:nvPr/>
          </p:nvSpPr>
          <p:spPr>
            <a:xfrm>
              <a:off x="4841196" y="3118548"/>
              <a:ext cx="2827147" cy="732210"/>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收获总结</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a:p>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3" name="平行四边形 32">
              <a:extLst>
                <a:ext uri="{FF2B5EF4-FFF2-40B4-BE49-F238E27FC236}">
                  <a16:creationId xmlns:a16="http://schemas.microsoft.com/office/drawing/2014/main" id="{05120FDA-38AB-745B-1010-E8451682A78D}"/>
                </a:ext>
              </a:extLst>
            </p:cNvPr>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spTree>
    <p:extLst>
      <p:ext uri="{BB962C8B-B14F-4D97-AF65-F5344CB8AC3E}">
        <p14:creationId xmlns:p14="http://schemas.microsoft.com/office/powerpoint/2010/main" val="4987392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CAB09-1C68-4EAC-9C08-37F0E4CA1038}"/>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C88BE08A-8484-AAC2-954F-8F4D87C33E73}"/>
              </a:ext>
            </a:extLst>
          </p:cNvPr>
          <p:cNvCxnSpPr>
            <a:cxnSpLocks/>
          </p:cNvCxnSpPr>
          <p:nvPr/>
        </p:nvCxnSpPr>
        <p:spPr>
          <a:xfrm flipV="1">
            <a:off x="1014737" y="631512"/>
            <a:ext cx="7246036" cy="1620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BC8AFE6F-8642-9D29-7197-45CF30004C1C}"/>
              </a:ext>
            </a:extLst>
          </p:cNvPr>
          <p:cNvSpPr/>
          <p:nvPr/>
        </p:nvSpPr>
        <p:spPr>
          <a:xfrm>
            <a:off x="962591" y="154458"/>
            <a:ext cx="9840017"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四、转速测量方案选择</a:t>
            </a:r>
            <a:endParaRPr kumimoji="0" lang="zh-CN" altLang="zh-CN" sz="2400" b="1" i="0" u="none" strike="noStrike" kern="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6C46AB85-1BF8-40D3-785B-EA7C724B41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4" name="文本框 3">
            <a:extLst>
              <a:ext uri="{FF2B5EF4-FFF2-40B4-BE49-F238E27FC236}">
                <a16:creationId xmlns:a16="http://schemas.microsoft.com/office/drawing/2014/main" id="{2CA7D3C7-BE2A-D08E-00FF-34F458BA2838}"/>
              </a:ext>
            </a:extLst>
          </p:cNvPr>
          <p:cNvSpPr txBox="1"/>
          <p:nvPr/>
        </p:nvSpPr>
        <p:spPr>
          <a:xfrm>
            <a:off x="234358" y="1199883"/>
            <a:ext cx="4739987" cy="461023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en-US">
                <a:latin typeface="Times New Roman" panose="02020603050405020304" pitchFamily="18" charset="0"/>
                <a:ea typeface="宋体" panose="02010600030101010101" pitchFamily="2" charset="-122"/>
              </a:rPr>
              <a:t>常见的电机测速方法主要有三种：</a:t>
            </a:r>
            <a:r>
              <a:rPr lang="en-US" altLang="zh-CN">
                <a:latin typeface="Times New Roman" panose="02020603050405020304" pitchFamily="18" charset="0"/>
                <a:ea typeface="宋体" panose="02010600030101010101" pitchFamily="2" charset="-122"/>
              </a:rPr>
              <a:t>M</a:t>
            </a:r>
            <a:r>
              <a:rPr lang="zh-CN" altLang="en-US">
                <a:latin typeface="Times New Roman" panose="02020603050405020304" pitchFamily="18" charset="0"/>
                <a:ea typeface="宋体" panose="02010600030101010101" pitchFamily="2" charset="-122"/>
              </a:rPr>
              <a:t>法、</a:t>
            </a:r>
            <a:r>
              <a:rPr lang="en-US" altLang="zh-CN">
                <a:latin typeface="Times New Roman" panose="02020603050405020304" pitchFamily="18" charset="0"/>
                <a:ea typeface="宋体" panose="02010600030101010101" pitchFamily="2" charset="-122"/>
              </a:rPr>
              <a:t>T</a:t>
            </a:r>
            <a:r>
              <a:rPr lang="zh-CN" altLang="en-US">
                <a:latin typeface="Times New Roman" panose="02020603050405020304" pitchFamily="18" charset="0"/>
                <a:ea typeface="宋体" panose="02010600030101010101" pitchFamily="2" charset="-122"/>
              </a:rPr>
              <a:t>法、和</a:t>
            </a:r>
            <a:r>
              <a:rPr lang="en-US" altLang="zh-CN">
                <a:latin typeface="Times New Roman" panose="02020603050405020304" pitchFamily="18" charset="0"/>
                <a:ea typeface="宋体" panose="02010600030101010101" pitchFamily="2" charset="-122"/>
              </a:rPr>
              <a:t>M</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T</a:t>
            </a:r>
            <a:r>
              <a:rPr lang="zh-CN" altLang="en-US">
                <a:latin typeface="Times New Roman" panose="02020603050405020304" pitchFamily="18" charset="0"/>
                <a:ea typeface="宋体" panose="02010600030101010101" pitchFamily="2" charset="-122"/>
              </a:rPr>
              <a:t>法由于</a:t>
            </a:r>
            <a:r>
              <a:rPr lang="en-US" altLang="zh-CN">
                <a:latin typeface="Times New Roman" panose="02020603050405020304" pitchFamily="18" charset="0"/>
                <a:ea typeface="宋体" panose="02010600030101010101" pitchFamily="2" charset="-122"/>
              </a:rPr>
              <a:t>M</a:t>
            </a:r>
            <a:r>
              <a:rPr lang="zh-CN" altLang="en-US">
                <a:latin typeface="Times New Roman" panose="02020603050405020304" pitchFamily="18" charset="0"/>
                <a:ea typeface="宋体" panose="02010600030101010101" pitchFamily="2" charset="-122"/>
              </a:rPr>
              <a:t>法比较适合高速的场合，而</a:t>
            </a:r>
            <a:r>
              <a:rPr lang="en-US" altLang="zh-CN">
                <a:latin typeface="Times New Roman" panose="02020603050405020304" pitchFamily="18" charset="0"/>
                <a:ea typeface="宋体" panose="02010600030101010101" pitchFamily="2" charset="-122"/>
              </a:rPr>
              <a:t>T</a:t>
            </a:r>
            <a:r>
              <a:rPr lang="zh-CN" altLang="en-US">
                <a:latin typeface="Times New Roman" panose="02020603050405020304" pitchFamily="18" charset="0"/>
                <a:ea typeface="宋体" panose="02010600030101010101" pitchFamily="2" charset="-122"/>
              </a:rPr>
              <a:t>法适合低速的场合，</a:t>
            </a:r>
            <a:endParaRPr lang="en-US" altLang="zh-CN">
              <a:latin typeface="Times New Roman" panose="02020603050405020304" pitchFamily="18" charset="0"/>
              <a:ea typeface="宋体" panose="02010600030101010101" pitchFamily="2" charset="-122"/>
            </a:endParaRPr>
          </a:p>
          <a:p>
            <a:pPr marL="285750" indent="-285750" algn="just">
              <a:lnSpc>
                <a:spcPct val="150000"/>
              </a:lnSpc>
              <a:buFont typeface="Arial" panose="020B0604020202020204" pitchFamily="34" charset="0"/>
              <a:buChar char="•"/>
            </a:pPr>
            <a:r>
              <a:rPr lang="zh-CN" altLang="en-US">
                <a:latin typeface="Times New Roman" panose="02020603050405020304" pitchFamily="18" charset="0"/>
                <a:ea typeface="宋体" panose="02010600030101010101" pitchFamily="2" charset="-122"/>
              </a:rPr>
              <a:t>一般提升机的提升周期包括加速、等速、减速、爬行、停车五个阶段。提升机运行过程是一个速度在较大范围内不断变化的过程，为了在整个调速范围内都得到较好的准确性，我们选择 </a:t>
            </a:r>
            <a:r>
              <a:rPr lang="en-US" altLang="zh-CN" b="1">
                <a:solidFill>
                  <a:srgbClr val="FF0000"/>
                </a:solidFill>
                <a:latin typeface="Times New Roman" panose="02020603050405020304" pitchFamily="18" charset="0"/>
                <a:ea typeface="宋体" panose="02010600030101010101" pitchFamily="2" charset="-122"/>
              </a:rPr>
              <a:t>M</a:t>
            </a:r>
            <a:r>
              <a:rPr lang="zh-CN" altLang="en-US" b="1">
                <a:solidFill>
                  <a:srgbClr val="FF0000"/>
                </a:solidFill>
                <a:latin typeface="Times New Roman" panose="02020603050405020304" pitchFamily="18" charset="0"/>
                <a:ea typeface="宋体" panose="02010600030101010101" pitchFamily="2" charset="-122"/>
              </a:rPr>
              <a:t>／</a:t>
            </a:r>
            <a:r>
              <a:rPr lang="en-US" altLang="zh-CN" b="1">
                <a:solidFill>
                  <a:srgbClr val="FF0000"/>
                </a:solidFill>
                <a:latin typeface="Times New Roman" panose="02020603050405020304" pitchFamily="18" charset="0"/>
                <a:ea typeface="宋体" panose="02010600030101010101" pitchFamily="2" charset="-122"/>
              </a:rPr>
              <a:t>T </a:t>
            </a:r>
            <a:r>
              <a:rPr lang="zh-CN" altLang="en-US">
                <a:latin typeface="Times New Roman" panose="02020603050405020304" pitchFamily="18" charset="0"/>
                <a:ea typeface="宋体" panose="02010600030101010101" pitchFamily="2" charset="-122"/>
              </a:rPr>
              <a:t>法。</a:t>
            </a:r>
            <a:endParaRPr lang="en-US" altLang="zh-CN">
              <a:latin typeface="Times New Roman" panose="02020603050405020304" pitchFamily="18" charset="0"/>
              <a:ea typeface="宋体" panose="02010600030101010101" pitchFamily="2" charset="-122"/>
            </a:endParaRPr>
          </a:p>
          <a:p>
            <a:pPr marL="285750" indent="-285750" algn="just">
              <a:lnSpc>
                <a:spcPct val="150000"/>
              </a:lnSpc>
              <a:buFont typeface="Arial" panose="020B0604020202020204" pitchFamily="34" charset="0"/>
              <a:buChar char="•"/>
            </a:pPr>
            <a:r>
              <a:rPr lang="zh-CN" altLang="en-US">
                <a:latin typeface="Times New Roman" panose="02020603050405020304" pitchFamily="18" charset="0"/>
                <a:ea typeface="宋体" panose="02010600030101010101" pitchFamily="2" charset="-122"/>
              </a:rPr>
              <a:t>我们选择了光电编码器作为转速传感器。光电编码器具有高精度、高可靠性等优点，能够准确地检测电机的旋转速度。</a:t>
            </a:r>
            <a:endParaRPr lang="zh-CN" altLang="en-US" dirty="0">
              <a:latin typeface="Times New Roman" panose="02020603050405020304" pitchFamily="18" charset="0"/>
              <a:ea typeface="宋体" panose="02010600030101010101" pitchFamily="2" charset="-122"/>
            </a:endParaRPr>
          </a:p>
        </p:txBody>
      </p:sp>
      <p:pic>
        <p:nvPicPr>
          <p:cNvPr id="5" name="图片 4">
            <a:extLst>
              <a:ext uri="{FF2B5EF4-FFF2-40B4-BE49-F238E27FC236}">
                <a16:creationId xmlns:a16="http://schemas.microsoft.com/office/drawing/2014/main" id="{23F970A4-2E27-5CDD-53B0-C4B51A19A5CA}"/>
              </a:ext>
            </a:extLst>
          </p:cNvPr>
          <p:cNvPicPr>
            <a:picLocks noChangeAspect="1"/>
          </p:cNvPicPr>
          <p:nvPr/>
        </p:nvPicPr>
        <p:blipFill>
          <a:blip r:embed="rId4"/>
          <a:stretch>
            <a:fillRect/>
          </a:stretch>
        </p:blipFill>
        <p:spPr>
          <a:xfrm>
            <a:off x="5164473" y="968729"/>
            <a:ext cx="4070525" cy="2346678"/>
          </a:xfrm>
          <a:prstGeom prst="rect">
            <a:avLst/>
          </a:prstGeom>
        </p:spPr>
      </p:pic>
      <p:sp>
        <p:nvSpPr>
          <p:cNvPr id="6" name="矩形 5">
            <a:extLst>
              <a:ext uri="{FF2B5EF4-FFF2-40B4-BE49-F238E27FC236}">
                <a16:creationId xmlns:a16="http://schemas.microsoft.com/office/drawing/2014/main" id="{38B60CC1-7CE8-41E0-88CE-DC655379FB1B}"/>
              </a:ext>
            </a:extLst>
          </p:cNvPr>
          <p:cNvSpPr/>
          <p:nvPr/>
        </p:nvSpPr>
        <p:spPr bwMode="auto">
          <a:xfrm>
            <a:off x="5112327" y="781525"/>
            <a:ext cx="6564191" cy="5905815"/>
          </a:xfrm>
          <a:prstGeom prst="rect">
            <a:avLst/>
          </a:prstGeom>
          <a:noFill/>
          <a:ln w="28575">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pic>
        <p:nvPicPr>
          <p:cNvPr id="7" name="图片 6" descr="505cadf16487db5c0745bd041137252">
            <a:extLst>
              <a:ext uri="{FF2B5EF4-FFF2-40B4-BE49-F238E27FC236}">
                <a16:creationId xmlns:a16="http://schemas.microsoft.com/office/drawing/2014/main" id="{68D4AD71-04E9-4093-0880-57EB6FF3F441}"/>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87144" y="1916961"/>
            <a:ext cx="2194400" cy="590049"/>
          </a:xfrm>
          <a:prstGeom prst="rect">
            <a:avLst/>
          </a:prstGeom>
          <a:noFill/>
          <a:ln>
            <a:noFill/>
          </a:ln>
        </p:spPr>
      </p:pic>
      <p:pic>
        <p:nvPicPr>
          <p:cNvPr id="11" name="图片 10">
            <a:extLst>
              <a:ext uri="{FF2B5EF4-FFF2-40B4-BE49-F238E27FC236}">
                <a16:creationId xmlns:a16="http://schemas.microsoft.com/office/drawing/2014/main" id="{435B39D9-7CE6-64E3-CBC8-ECD295F3B77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49466" y="3642446"/>
            <a:ext cx="5889912" cy="2813812"/>
          </a:xfrm>
          <a:prstGeom prst="rect">
            <a:avLst/>
          </a:prstGeom>
        </p:spPr>
      </p:pic>
    </p:spTree>
    <p:extLst>
      <p:ext uri="{BB962C8B-B14F-4D97-AF65-F5344CB8AC3E}">
        <p14:creationId xmlns:p14="http://schemas.microsoft.com/office/powerpoint/2010/main" val="504013968"/>
      </p:ext>
    </p:extLst>
  </p:cSld>
  <p:clrMapOvr>
    <a:masterClrMapping/>
  </p:clrMapOvr>
  <p:transition spd="slow" advTm="9487"/>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B010B-977A-021B-4DC2-B04E70BCA721}"/>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604EE6F3-3272-4AD2-1356-E8280C8FDBBA}"/>
              </a:ext>
            </a:extLst>
          </p:cNvPr>
          <p:cNvCxnSpPr>
            <a:cxnSpLocks/>
          </p:cNvCxnSpPr>
          <p:nvPr/>
        </p:nvCxnSpPr>
        <p:spPr>
          <a:xfrm flipV="1">
            <a:off x="1014737" y="631512"/>
            <a:ext cx="7246036" cy="1620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6E658B8D-E5F8-D916-1338-498832BC5528}"/>
              </a:ext>
            </a:extLst>
          </p:cNvPr>
          <p:cNvSpPr/>
          <p:nvPr/>
        </p:nvSpPr>
        <p:spPr>
          <a:xfrm>
            <a:off x="962591" y="154458"/>
            <a:ext cx="9840017"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四、电流测量方案选择</a:t>
            </a:r>
            <a:endParaRPr kumimoji="0" lang="zh-CN" altLang="zh-CN" sz="2400" b="1" i="0" u="none" strike="noStrike" kern="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1EF5B5A9-F9C1-F7B7-52A4-8FE5F52DA1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pic>
        <p:nvPicPr>
          <p:cNvPr id="3" name="图片 2">
            <a:extLst>
              <a:ext uri="{FF2B5EF4-FFF2-40B4-BE49-F238E27FC236}">
                <a16:creationId xmlns:a16="http://schemas.microsoft.com/office/drawing/2014/main" id="{599847CF-6F8B-851D-9F4B-149AEACA234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505450" y="1585619"/>
            <a:ext cx="5840280" cy="3592995"/>
          </a:xfrm>
          <a:prstGeom prst="rect">
            <a:avLst/>
          </a:prstGeom>
          <a:noFill/>
          <a:ln>
            <a:noFill/>
          </a:ln>
        </p:spPr>
      </p:pic>
      <p:sp>
        <p:nvSpPr>
          <p:cNvPr id="5" name="文本框 4">
            <a:extLst>
              <a:ext uri="{FF2B5EF4-FFF2-40B4-BE49-F238E27FC236}">
                <a16:creationId xmlns:a16="http://schemas.microsoft.com/office/drawing/2014/main" id="{6AC2A9E6-FA32-A542-DB31-60331E6E87AE}"/>
              </a:ext>
            </a:extLst>
          </p:cNvPr>
          <p:cNvSpPr txBox="1"/>
          <p:nvPr/>
        </p:nvSpPr>
        <p:spPr>
          <a:xfrm>
            <a:off x="6813277" y="5272381"/>
            <a:ext cx="3613693" cy="455253"/>
          </a:xfrm>
          <a:prstGeom prst="rect">
            <a:avLst/>
          </a:prstGeom>
          <a:noFill/>
        </p:spPr>
        <p:txBody>
          <a:bodyPr wrap="square">
            <a:spAutoFit/>
          </a:bodyPr>
          <a:lstStyle>
            <a:defPPr>
              <a:defRPr lang="zh-CN"/>
            </a:defPPr>
            <a:lvl1pPr indent="304800" algn="just">
              <a:lnSpc>
                <a:spcPct val="150000"/>
              </a:lnSpc>
              <a:defRPr>
                <a:effectLst/>
                <a:latin typeface="Times New Roman" panose="02020603050405020304" pitchFamily="18" charset="0"/>
                <a:ea typeface="宋体" panose="02010600030101010101" pitchFamily="2" charset="-122"/>
              </a:defRPr>
            </a:lvl1pPr>
          </a:lstStyle>
          <a:p>
            <a:r>
              <a:rPr lang="zh-CN" altLang="zh-CN"/>
              <a:t>电路采样电路的调理电路图</a:t>
            </a:r>
          </a:p>
        </p:txBody>
      </p:sp>
      <p:sp>
        <p:nvSpPr>
          <p:cNvPr id="6" name="矩形 5">
            <a:extLst>
              <a:ext uri="{FF2B5EF4-FFF2-40B4-BE49-F238E27FC236}">
                <a16:creationId xmlns:a16="http://schemas.microsoft.com/office/drawing/2014/main" id="{F06B0B6A-769B-7C3C-A654-DF5E7641884F}"/>
              </a:ext>
            </a:extLst>
          </p:cNvPr>
          <p:cNvSpPr/>
          <p:nvPr/>
        </p:nvSpPr>
        <p:spPr bwMode="auto">
          <a:xfrm>
            <a:off x="5381625" y="1390384"/>
            <a:ext cx="6476999" cy="4410341"/>
          </a:xfrm>
          <a:prstGeom prst="rect">
            <a:avLst/>
          </a:prstGeom>
          <a:noFill/>
          <a:ln w="28575">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sp>
        <p:nvSpPr>
          <p:cNvPr id="10" name="文本框 9">
            <a:extLst>
              <a:ext uri="{FF2B5EF4-FFF2-40B4-BE49-F238E27FC236}">
                <a16:creationId xmlns:a16="http://schemas.microsoft.com/office/drawing/2014/main" id="{1F84A2BA-353D-4B9C-0336-DD3E0AEA2071}"/>
              </a:ext>
            </a:extLst>
          </p:cNvPr>
          <p:cNvSpPr txBox="1"/>
          <p:nvPr/>
        </p:nvSpPr>
        <p:spPr>
          <a:xfrm>
            <a:off x="130444" y="1200753"/>
            <a:ext cx="4659180" cy="5025735"/>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a:latin typeface="Times New Roman" panose="02020603050405020304" pitchFamily="18" charset="0"/>
                <a:ea typeface="宋体" panose="02010600030101010101" pitchFamily="2" charset="-122"/>
              </a:rPr>
              <a:t>本设计中采用电流互感器</a:t>
            </a:r>
            <a:r>
              <a:rPr lang="en-US" altLang="zh-CN">
                <a:latin typeface="Times New Roman" panose="02020603050405020304" pitchFamily="18" charset="0"/>
                <a:ea typeface="宋体" panose="02010600030101010101" pitchFamily="2" charset="-122"/>
              </a:rPr>
              <a:t>TA</a:t>
            </a:r>
            <a:r>
              <a:rPr lang="zh-CN" altLang="en-US">
                <a:latin typeface="Times New Roman" panose="02020603050405020304" pitchFamily="18" charset="0"/>
                <a:ea typeface="宋体" panose="02010600030101010101" pitchFamily="2" charset="-122"/>
              </a:rPr>
              <a:t>进行电流检测，并形成负反馈环。要实现电流负反馈的控制，需要对电流进行检测，控制系统采用电流霍尔传感器</a:t>
            </a:r>
            <a:r>
              <a:rPr lang="en-US" altLang="zh-CN">
                <a:latin typeface="Times New Roman" panose="02020603050405020304" pitchFamily="18" charset="0"/>
                <a:ea typeface="宋体" panose="02010600030101010101" pitchFamily="2" charset="-122"/>
              </a:rPr>
              <a:t>(CSM050AP)</a:t>
            </a:r>
            <a:r>
              <a:rPr lang="zh-CN" altLang="en-US">
                <a:latin typeface="Times New Roman" panose="02020603050405020304" pitchFamily="18" charset="0"/>
                <a:ea typeface="宋体" panose="02010600030101010101" pitchFamily="2" charset="-122"/>
              </a:rPr>
              <a:t>检测电流。传感器将采集的电流信号经过精密采样电阻转换成电压信号，然后经过电压调理电路将电压信号调整为满足</a:t>
            </a:r>
            <a:r>
              <a:rPr lang="en-US" altLang="zh-CN">
                <a:latin typeface="Times New Roman" panose="02020603050405020304" pitchFamily="18" charset="0"/>
                <a:ea typeface="宋体" panose="02010600030101010101" pitchFamily="2" charset="-122"/>
              </a:rPr>
              <a:t>DSP</a:t>
            </a:r>
            <a:r>
              <a:rPr lang="zh-CN" altLang="en-US">
                <a:latin typeface="Times New Roman" panose="02020603050405020304" pitchFamily="18" charset="0"/>
                <a:ea typeface="宋体" panose="02010600030101010101" pitchFamily="2" charset="-122"/>
              </a:rPr>
              <a:t>输入要求的电压</a:t>
            </a:r>
            <a:r>
              <a:rPr lang="en-US" altLang="zh-CN">
                <a:latin typeface="Times New Roman" panose="02020603050405020304" pitchFamily="18" charset="0"/>
                <a:ea typeface="宋体" panose="02010600030101010101" pitchFamily="2" charset="-122"/>
              </a:rPr>
              <a:t>(0~3V)</a:t>
            </a:r>
            <a:r>
              <a:rPr lang="zh-CN" altLang="en-US">
                <a:latin typeface="Times New Roman" panose="02020603050405020304" pitchFamily="18" charset="0"/>
                <a:ea typeface="宋体" panose="02010600030101010101" pitchFamily="2" charset="-122"/>
              </a:rPr>
              <a:t>，最后</a:t>
            </a:r>
            <a:r>
              <a:rPr lang="en-US" altLang="zh-CN">
                <a:latin typeface="Times New Roman" panose="02020603050405020304" pitchFamily="18" charset="0"/>
                <a:ea typeface="宋体" panose="02010600030101010101" pitchFamily="2" charset="-122"/>
              </a:rPr>
              <a:t>DSP</a:t>
            </a:r>
            <a:r>
              <a:rPr lang="zh-CN" altLang="en-US">
                <a:latin typeface="Times New Roman" panose="02020603050405020304" pitchFamily="18" charset="0"/>
                <a:ea typeface="宋体" panose="02010600030101010101" pitchFamily="2" charset="-122"/>
              </a:rPr>
              <a:t>的</a:t>
            </a:r>
            <a:r>
              <a:rPr lang="en-US" altLang="zh-CN">
                <a:latin typeface="Times New Roman" panose="02020603050405020304" pitchFamily="18" charset="0"/>
                <a:ea typeface="宋体" panose="02010600030101010101" pitchFamily="2" charset="-122"/>
              </a:rPr>
              <a:t>ADC</a:t>
            </a:r>
            <a:r>
              <a:rPr lang="zh-CN" altLang="en-US">
                <a:latin typeface="Times New Roman" panose="02020603050405020304" pitchFamily="18" charset="0"/>
                <a:ea typeface="宋体" panose="02010600030101010101" pitchFamily="2" charset="-122"/>
              </a:rPr>
              <a:t>口对调理电路输出的电压信号进行采样，采样电路的调理电路如图。调理电路检测的电流信号范围为</a:t>
            </a:r>
            <a:r>
              <a:rPr lang="en-US" altLang="zh-CN">
                <a:latin typeface="Times New Roman" panose="02020603050405020304" pitchFamily="18" charset="0"/>
                <a:ea typeface="宋体" panose="02010600030101010101" pitchFamily="2" charset="-122"/>
              </a:rPr>
              <a:t>(-50A~50A)</a:t>
            </a:r>
            <a:r>
              <a:rPr lang="zh-CN" altLang="en-US">
                <a:latin typeface="Times New Roman" panose="02020603050405020304" pitchFamily="18" charset="0"/>
                <a:ea typeface="宋体" panose="02010600030101010101" pitchFamily="2" charset="-122"/>
              </a:rPr>
              <a:t>，输出电压信号的范围为</a:t>
            </a:r>
            <a:r>
              <a:rPr lang="en-US" altLang="zh-CN">
                <a:latin typeface="Times New Roman" panose="02020603050405020304" pitchFamily="18" charset="0"/>
                <a:ea typeface="宋体" panose="02010600030101010101" pitchFamily="2" charset="-122"/>
              </a:rPr>
              <a:t>(0~3V)</a:t>
            </a:r>
            <a:r>
              <a:rPr lang="zh-CN" altLang="zh-CN">
                <a:latin typeface="Times New Roman" panose="02020603050405020304" pitchFamily="18" charset="0"/>
                <a:ea typeface="宋体" panose="02010600030101010101" pitchFamily="2" charset="-122"/>
              </a:rPr>
              <a:t>。</a:t>
            </a:r>
            <a:endParaRPr lang="zh-CN" altLang="zh-CN"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121505797"/>
      </p:ext>
    </p:extLst>
  </p:cSld>
  <p:clrMapOvr>
    <a:masterClrMapping/>
  </p:clrMapOvr>
  <p:transition spd="slow" advTm="9487"/>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8379A-37BF-10BA-6E86-1A686DD3714A}"/>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057494DE-2059-83CB-6DDD-249CA4EA14E3}"/>
              </a:ext>
            </a:extLst>
          </p:cNvPr>
          <p:cNvCxnSpPr>
            <a:cxnSpLocks/>
          </p:cNvCxnSpPr>
          <p:nvPr/>
        </p:nvCxnSpPr>
        <p:spPr>
          <a:xfrm flipV="1">
            <a:off x="1014737" y="631512"/>
            <a:ext cx="7246036" cy="1620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D18E4D05-7820-14BB-6C74-FE60AA577034}"/>
              </a:ext>
            </a:extLst>
          </p:cNvPr>
          <p:cNvSpPr/>
          <p:nvPr/>
        </p:nvSpPr>
        <p:spPr>
          <a:xfrm>
            <a:off x="962591" y="154458"/>
            <a:ext cx="9840017"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四、电流测量方案选择</a:t>
            </a:r>
            <a:endParaRPr kumimoji="0" lang="zh-CN" altLang="zh-CN" sz="2400" b="1" i="0" u="none" strike="noStrike" kern="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D89DAB90-62E7-D777-D759-D5301AAC85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5" name="文本框 4">
            <a:extLst>
              <a:ext uri="{FF2B5EF4-FFF2-40B4-BE49-F238E27FC236}">
                <a16:creationId xmlns:a16="http://schemas.microsoft.com/office/drawing/2014/main" id="{5F5D3A7F-1AAF-E219-70CD-399B30DBBF9F}"/>
              </a:ext>
            </a:extLst>
          </p:cNvPr>
          <p:cNvSpPr txBox="1"/>
          <p:nvPr/>
        </p:nvSpPr>
        <p:spPr>
          <a:xfrm>
            <a:off x="6272824" y="3236136"/>
            <a:ext cx="3613693" cy="455253"/>
          </a:xfrm>
          <a:prstGeom prst="rect">
            <a:avLst/>
          </a:prstGeom>
          <a:noFill/>
        </p:spPr>
        <p:txBody>
          <a:bodyPr wrap="square">
            <a:spAutoFit/>
          </a:bodyPr>
          <a:lstStyle>
            <a:defPPr>
              <a:defRPr lang="zh-CN"/>
            </a:defPPr>
            <a:lvl1pPr indent="304800" algn="just">
              <a:lnSpc>
                <a:spcPct val="150000"/>
              </a:lnSpc>
              <a:defRPr>
                <a:effectLst/>
                <a:latin typeface="Times New Roman" panose="02020603050405020304" pitchFamily="18" charset="0"/>
                <a:ea typeface="宋体" panose="02010600030101010101" pitchFamily="2" charset="-122"/>
              </a:defRPr>
            </a:lvl1pPr>
          </a:lstStyle>
          <a:p>
            <a:r>
              <a:rPr lang="zh-CN" altLang="en-US"/>
              <a:t>调理电路与 </a:t>
            </a:r>
            <a:r>
              <a:rPr lang="en-US" altLang="zh-CN"/>
              <a:t>DSP </a:t>
            </a:r>
            <a:r>
              <a:rPr lang="zh-CN" altLang="en-US"/>
              <a:t>连接图</a:t>
            </a:r>
            <a:endParaRPr lang="zh-CN" altLang="zh-CN"/>
          </a:p>
        </p:txBody>
      </p:sp>
      <p:sp>
        <p:nvSpPr>
          <p:cNvPr id="6" name="矩形 5">
            <a:extLst>
              <a:ext uri="{FF2B5EF4-FFF2-40B4-BE49-F238E27FC236}">
                <a16:creationId xmlns:a16="http://schemas.microsoft.com/office/drawing/2014/main" id="{DF7601C6-E2CF-2394-DD38-2E6FD69B84CC}"/>
              </a:ext>
            </a:extLst>
          </p:cNvPr>
          <p:cNvSpPr/>
          <p:nvPr/>
        </p:nvSpPr>
        <p:spPr bwMode="auto">
          <a:xfrm>
            <a:off x="5095547" y="864148"/>
            <a:ext cx="5873460" cy="2827241"/>
          </a:xfrm>
          <a:prstGeom prst="rect">
            <a:avLst/>
          </a:prstGeom>
          <a:noFill/>
          <a:ln w="28575">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sp>
        <p:nvSpPr>
          <p:cNvPr id="10" name="文本框 9">
            <a:extLst>
              <a:ext uri="{FF2B5EF4-FFF2-40B4-BE49-F238E27FC236}">
                <a16:creationId xmlns:a16="http://schemas.microsoft.com/office/drawing/2014/main" id="{9BE2924B-B301-3910-ADC3-CD136A7BF058}"/>
              </a:ext>
            </a:extLst>
          </p:cNvPr>
          <p:cNvSpPr txBox="1"/>
          <p:nvPr/>
        </p:nvSpPr>
        <p:spPr>
          <a:xfrm>
            <a:off x="88682" y="1585619"/>
            <a:ext cx="4659180" cy="3787960"/>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altLang="zh-CN">
                <a:latin typeface="Times New Roman" panose="02020603050405020304" pitchFamily="18" charset="0"/>
                <a:ea typeface="宋体" panose="02010600030101010101" pitchFamily="2" charset="-122"/>
              </a:rPr>
              <a:t>F2812 </a:t>
            </a:r>
            <a:r>
              <a:rPr lang="zh-CN" altLang="en-US">
                <a:latin typeface="Times New Roman" panose="02020603050405020304" pitchFamily="18" charset="0"/>
                <a:ea typeface="宋体" panose="02010600030101010101" pitchFamily="2" charset="-122"/>
              </a:rPr>
              <a:t>芯片的 </a:t>
            </a:r>
            <a:r>
              <a:rPr lang="en-US" altLang="zh-CN">
                <a:latin typeface="Times New Roman" panose="02020603050405020304" pitchFamily="18" charset="0"/>
                <a:ea typeface="宋体" panose="02010600030101010101" pitchFamily="2" charset="-122"/>
              </a:rPr>
              <a:t>ADC </a:t>
            </a:r>
            <a:r>
              <a:rPr lang="zh-CN" altLang="en-US">
                <a:latin typeface="Times New Roman" panose="02020603050405020304" pitchFamily="18" charset="0"/>
                <a:ea typeface="宋体" panose="02010600030101010101" pitchFamily="2" charset="-122"/>
              </a:rPr>
              <a:t>模块是一个具有 </a:t>
            </a:r>
            <a:r>
              <a:rPr lang="en-US" altLang="zh-CN">
                <a:latin typeface="Times New Roman" panose="02020603050405020304" pitchFamily="18" charset="0"/>
                <a:ea typeface="宋体" panose="02010600030101010101" pitchFamily="2" charset="-122"/>
              </a:rPr>
              <a:t>12 </a:t>
            </a:r>
            <a:r>
              <a:rPr lang="zh-CN" altLang="en-US">
                <a:latin typeface="Times New Roman" panose="02020603050405020304" pitchFamily="18" charset="0"/>
                <a:ea typeface="宋体" panose="02010600030101010101" pitchFamily="2" charset="-122"/>
              </a:rPr>
              <a:t>位分辨率的、流水线结构的模数转换器，并且拥有</a:t>
            </a:r>
            <a:r>
              <a:rPr lang="en-US" altLang="zh-CN">
                <a:latin typeface="Times New Roman" panose="02020603050405020304" pitchFamily="18" charset="0"/>
                <a:ea typeface="宋体" panose="02010600030101010101" pitchFamily="2" charset="-122"/>
              </a:rPr>
              <a:t>16</a:t>
            </a:r>
            <a:r>
              <a:rPr lang="zh-CN" altLang="en-US">
                <a:latin typeface="Times New Roman" panose="02020603050405020304" pitchFamily="18" charset="0"/>
                <a:ea typeface="宋体" panose="02010600030101010101" pitchFamily="2" charset="-122"/>
              </a:rPr>
              <a:t>个模拟输入通道，模拟输入电压范围为 </a:t>
            </a:r>
            <a:r>
              <a:rPr lang="en-US" altLang="zh-CN">
                <a:latin typeface="Times New Roman" panose="02020603050405020304" pitchFamily="18" charset="0"/>
                <a:ea typeface="宋体" panose="02010600030101010101" pitchFamily="2" charset="-122"/>
              </a:rPr>
              <a:t>0~3V</a:t>
            </a:r>
            <a:r>
              <a:rPr lang="zh-CN" altLang="en-US">
                <a:latin typeface="Times New Roman" panose="02020603050405020304" pitchFamily="18" charset="0"/>
                <a:ea typeface="宋体" panose="02010600030101010101" pitchFamily="2" charset="-122"/>
              </a:rPr>
              <a:t>。每当 </a:t>
            </a:r>
            <a:r>
              <a:rPr lang="en-US" altLang="zh-CN">
                <a:latin typeface="Times New Roman" panose="02020603050405020304" pitchFamily="18" charset="0"/>
                <a:ea typeface="宋体" panose="02010600030101010101" pitchFamily="2" charset="-122"/>
              </a:rPr>
              <a:t>ADC </a:t>
            </a:r>
            <a:r>
              <a:rPr lang="zh-CN" altLang="en-US">
                <a:latin typeface="Times New Roman" panose="02020603050405020304" pitchFamily="18" charset="0"/>
                <a:ea typeface="宋体" panose="02010600030101010101" pitchFamily="2" charset="-122"/>
              </a:rPr>
              <a:t>收到一 个启动转换请求，</a:t>
            </a:r>
            <a:r>
              <a:rPr lang="en-US" altLang="zh-CN">
                <a:latin typeface="Times New Roman" panose="02020603050405020304" pitchFamily="18" charset="0"/>
                <a:ea typeface="宋体" panose="02010600030101010101" pitchFamily="2" charset="-122"/>
              </a:rPr>
              <a:t>ADC</a:t>
            </a:r>
            <a:r>
              <a:rPr lang="zh-CN" altLang="en-US">
                <a:latin typeface="Times New Roman" panose="02020603050405020304" pitchFamily="18" charset="0"/>
                <a:ea typeface="宋体" panose="02010600030101010101" pitchFamily="2" charset="-122"/>
              </a:rPr>
              <a:t>就可按照配置顺序自动执行转换，转换结果被保存在结果 寄存器中；当整个序列转换结束后，</a:t>
            </a:r>
            <a:r>
              <a:rPr lang="en-US" altLang="zh-CN">
                <a:latin typeface="Times New Roman" panose="02020603050405020304" pitchFamily="18" charset="0"/>
                <a:ea typeface="宋体" panose="02010600030101010101" pitchFamily="2" charset="-122"/>
              </a:rPr>
              <a:t>ADC</a:t>
            </a:r>
            <a:r>
              <a:rPr lang="zh-CN" altLang="en-US">
                <a:latin typeface="Times New Roman" panose="02020603050405020304" pitchFamily="18" charset="0"/>
                <a:ea typeface="宋体" panose="02010600030101010101" pitchFamily="2" charset="-122"/>
              </a:rPr>
              <a:t>向系统发出中断请求，以便处理采集转换后的电流信息。</a:t>
            </a:r>
            <a:endParaRPr lang="zh-CN" altLang="zh-CN" dirty="0">
              <a:latin typeface="Times New Roman" panose="02020603050405020304" pitchFamily="18" charset="0"/>
              <a:ea typeface="宋体" panose="02010600030101010101" pitchFamily="2" charset="-122"/>
            </a:endParaRPr>
          </a:p>
        </p:txBody>
      </p:sp>
      <p:pic>
        <p:nvPicPr>
          <p:cNvPr id="7" name="图片 6">
            <a:extLst>
              <a:ext uri="{FF2B5EF4-FFF2-40B4-BE49-F238E27FC236}">
                <a16:creationId xmlns:a16="http://schemas.microsoft.com/office/drawing/2014/main" id="{17BFFD6B-4353-AC71-044F-78AF6597195A}"/>
              </a:ext>
            </a:extLst>
          </p:cNvPr>
          <p:cNvPicPr>
            <a:picLocks noChangeAspect="1"/>
          </p:cNvPicPr>
          <p:nvPr/>
        </p:nvPicPr>
        <p:blipFill>
          <a:blip r:embed="rId4"/>
          <a:stretch>
            <a:fillRect/>
          </a:stretch>
        </p:blipFill>
        <p:spPr>
          <a:xfrm>
            <a:off x="5198016" y="935560"/>
            <a:ext cx="5668522" cy="2365225"/>
          </a:xfrm>
          <a:prstGeom prst="rect">
            <a:avLst/>
          </a:prstGeom>
        </p:spPr>
      </p:pic>
      <p:pic>
        <p:nvPicPr>
          <p:cNvPr id="11" name="图片 10">
            <a:extLst>
              <a:ext uri="{FF2B5EF4-FFF2-40B4-BE49-F238E27FC236}">
                <a16:creationId xmlns:a16="http://schemas.microsoft.com/office/drawing/2014/main" id="{37275B0D-1B15-DB11-EDAC-B3D8E1E7BB9E}"/>
              </a:ext>
            </a:extLst>
          </p:cNvPr>
          <p:cNvPicPr>
            <a:picLocks noChangeAspect="1"/>
          </p:cNvPicPr>
          <p:nvPr/>
        </p:nvPicPr>
        <p:blipFill>
          <a:blip r:embed="rId5"/>
          <a:stretch>
            <a:fillRect/>
          </a:stretch>
        </p:blipFill>
        <p:spPr>
          <a:xfrm>
            <a:off x="5682530" y="4124013"/>
            <a:ext cx="4392500" cy="2318664"/>
          </a:xfrm>
          <a:prstGeom prst="rect">
            <a:avLst/>
          </a:prstGeom>
        </p:spPr>
      </p:pic>
      <p:sp>
        <p:nvSpPr>
          <p:cNvPr id="12" name="矩形 11">
            <a:extLst>
              <a:ext uri="{FF2B5EF4-FFF2-40B4-BE49-F238E27FC236}">
                <a16:creationId xmlns:a16="http://schemas.microsoft.com/office/drawing/2014/main" id="{C12161F9-B579-D3EB-A9AA-A31E53AF6E3C}"/>
              </a:ext>
            </a:extLst>
          </p:cNvPr>
          <p:cNvSpPr/>
          <p:nvPr/>
        </p:nvSpPr>
        <p:spPr bwMode="auto">
          <a:xfrm>
            <a:off x="5095547" y="3876301"/>
            <a:ext cx="5873460" cy="2827241"/>
          </a:xfrm>
          <a:prstGeom prst="rect">
            <a:avLst/>
          </a:prstGeom>
          <a:noFill/>
          <a:ln w="28575">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sp>
        <p:nvSpPr>
          <p:cNvPr id="14" name="文本框 13">
            <a:extLst>
              <a:ext uri="{FF2B5EF4-FFF2-40B4-BE49-F238E27FC236}">
                <a16:creationId xmlns:a16="http://schemas.microsoft.com/office/drawing/2014/main" id="{00E1B9AA-060A-A132-35FA-81F0069EFB90}"/>
              </a:ext>
            </a:extLst>
          </p:cNvPr>
          <p:cNvSpPr txBox="1"/>
          <p:nvPr/>
        </p:nvSpPr>
        <p:spPr>
          <a:xfrm>
            <a:off x="6735907" y="6226488"/>
            <a:ext cx="6094268" cy="369332"/>
          </a:xfrm>
          <a:prstGeom prst="rect">
            <a:avLst/>
          </a:prstGeom>
          <a:noFill/>
        </p:spPr>
        <p:txBody>
          <a:bodyPr wrap="square">
            <a:spAutoFit/>
          </a:bodyPr>
          <a:lstStyle/>
          <a:p>
            <a:r>
              <a:rPr lang="zh-CN" altLang="en-US"/>
              <a:t>电流检测电路原理图 </a:t>
            </a:r>
          </a:p>
        </p:txBody>
      </p:sp>
    </p:spTree>
    <p:extLst>
      <p:ext uri="{BB962C8B-B14F-4D97-AF65-F5344CB8AC3E}">
        <p14:creationId xmlns:p14="http://schemas.microsoft.com/office/powerpoint/2010/main" val="2944236647"/>
      </p:ext>
    </p:extLst>
  </p:cSld>
  <p:clrMapOvr>
    <a:masterClrMapping/>
  </p:clrMapOvr>
  <p:transition spd="slow" advTm="9487"/>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63970-2399-7B72-D12F-C13BCF556CB9}"/>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85E356F-72E2-1122-1AF5-6EBDB7BF4F40}"/>
              </a:ext>
            </a:extLst>
          </p:cNvPr>
          <p:cNvSpPr txBox="1"/>
          <p:nvPr/>
        </p:nvSpPr>
        <p:spPr>
          <a:xfrm>
            <a:off x="4947290" y="225896"/>
            <a:ext cx="1808143" cy="923330"/>
          </a:xfrm>
          <a:prstGeom prst="rect">
            <a:avLst/>
          </a:prstGeom>
          <a:noFill/>
        </p:spPr>
        <p:txBody>
          <a:bodyPr wrap="square" rtlCol="0">
            <a:spAutoFit/>
          </a:bodyPr>
          <a:lstStyle/>
          <a:p>
            <a:pPr algn="dist"/>
            <a:r>
              <a:rPr lang="zh-CN" altLang="en-US" sz="5400" b="1">
                <a:solidFill>
                  <a:srgbClr val="0070C0"/>
                </a:solidFill>
                <a:latin typeface="微软雅黑" panose="020B0503020204020204" pitchFamily="34" charset="-122"/>
                <a:ea typeface="微软雅黑" panose="020B0503020204020204" pitchFamily="34" charset="-122"/>
              </a:rPr>
              <a:t>目录</a:t>
            </a:r>
          </a:p>
        </p:txBody>
      </p:sp>
      <p:cxnSp>
        <p:nvCxnSpPr>
          <p:cNvPr id="2" name="直接连接符 1">
            <a:extLst>
              <a:ext uri="{FF2B5EF4-FFF2-40B4-BE49-F238E27FC236}">
                <a16:creationId xmlns:a16="http://schemas.microsoft.com/office/drawing/2014/main" id="{F93EAB8D-C1F7-C222-71A4-8A7DAF1B7242}"/>
              </a:ext>
            </a:extLst>
          </p:cNvPr>
          <p:cNvCxnSpPr>
            <a:cxnSpLocks/>
          </p:cNvCxnSpPr>
          <p:nvPr/>
        </p:nvCxnSpPr>
        <p:spPr>
          <a:xfrm flipV="1">
            <a:off x="0" y="1095749"/>
            <a:ext cx="12192000" cy="70720"/>
          </a:xfrm>
          <a:prstGeom prst="line">
            <a:avLst/>
          </a:prstGeom>
          <a:ln w="635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5" name="组合 4">
            <a:extLst>
              <a:ext uri="{FF2B5EF4-FFF2-40B4-BE49-F238E27FC236}">
                <a16:creationId xmlns:a16="http://schemas.microsoft.com/office/drawing/2014/main" id="{691668D8-1E0F-F2FD-E126-0781A466BA37}"/>
              </a:ext>
            </a:extLst>
          </p:cNvPr>
          <p:cNvGrpSpPr/>
          <p:nvPr/>
        </p:nvGrpSpPr>
        <p:grpSpPr>
          <a:xfrm>
            <a:off x="2650945" y="2545874"/>
            <a:ext cx="894259" cy="489631"/>
            <a:chOff x="2215144" y="927951"/>
            <a:chExt cx="1244730" cy="897673"/>
          </a:xfrm>
        </p:grpSpPr>
        <p:sp>
          <p:nvSpPr>
            <p:cNvPr id="6" name="平行四边形 5">
              <a:extLst>
                <a:ext uri="{FF2B5EF4-FFF2-40B4-BE49-F238E27FC236}">
                  <a16:creationId xmlns:a16="http://schemas.microsoft.com/office/drawing/2014/main" id="{93C0B366-CBA3-AB7B-64B0-AB57E54EEBC6}"/>
                </a:ext>
              </a:extLst>
            </p:cNvPr>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7" name="文本框 9">
              <a:extLst>
                <a:ext uri="{FF2B5EF4-FFF2-40B4-BE49-F238E27FC236}">
                  <a16:creationId xmlns:a16="http://schemas.microsoft.com/office/drawing/2014/main" id="{30C80E93-67ED-CE49-2ED8-A10BAB60CB78}"/>
                </a:ext>
              </a:extLst>
            </p:cNvPr>
            <p:cNvSpPr txBox="1"/>
            <p:nvPr/>
          </p:nvSpPr>
          <p:spPr>
            <a:xfrm>
              <a:off x="2393075" y="927951"/>
              <a:ext cx="1066799" cy="816504"/>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01</a:t>
              </a:r>
              <a:endParaRPr lang="zh-CN" altLang="en-US" sz="2800">
                <a:solidFill>
                  <a:schemeClr val="bg1"/>
                </a:solidFill>
                <a:latin typeface="Impact" panose="020B0806030902050204" pitchFamily="34" charset="0"/>
              </a:endParaRPr>
            </a:p>
          </p:txBody>
        </p:sp>
      </p:grpSp>
      <p:grpSp>
        <p:nvGrpSpPr>
          <p:cNvPr id="8" name="组合 7">
            <a:extLst>
              <a:ext uri="{FF2B5EF4-FFF2-40B4-BE49-F238E27FC236}">
                <a16:creationId xmlns:a16="http://schemas.microsoft.com/office/drawing/2014/main" id="{A381C1D2-E858-D2EF-0240-A63B6AE646CE}"/>
              </a:ext>
            </a:extLst>
          </p:cNvPr>
          <p:cNvGrpSpPr/>
          <p:nvPr/>
        </p:nvGrpSpPr>
        <p:grpSpPr>
          <a:xfrm>
            <a:off x="4579570" y="3121702"/>
            <a:ext cx="894259" cy="504163"/>
            <a:chOff x="2215144" y="1952311"/>
            <a:chExt cx="1244730" cy="924318"/>
          </a:xfrm>
        </p:grpSpPr>
        <p:sp>
          <p:nvSpPr>
            <p:cNvPr id="9" name="平行四边形 8">
              <a:extLst>
                <a:ext uri="{FF2B5EF4-FFF2-40B4-BE49-F238E27FC236}">
                  <a16:creationId xmlns:a16="http://schemas.microsoft.com/office/drawing/2014/main" id="{C06F230C-9424-3CC8-838B-D6A7E8C5586D}"/>
                </a:ext>
              </a:extLst>
            </p:cNvPr>
            <p:cNvSpPr/>
            <p:nvPr/>
          </p:nvSpPr>
          <p:spPr>
            <a:xfrm>
              <a:off x="2215144" y="2033848"/>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0" name="文本框 10">
              <a:extLst>
                <a:ext uri="{FF2B5EF4-FFF2-40B4-BE49-F238E27FC236}">
                  <a16:creationId xmlns:a16="http://schemas.microsoft.com/office/drawing/2014/main" id="{5FF69B0C-F884-D866-6120-A03C25C39E68}"/>
                </a:ext>
              </a:extLst>
            </p:cNvPr>
            <p:cNvSpPr txBox="1"/>
            <p:nvPr/>
          </p:nvSpPr>
          <p:spPr>
            <a:xfrm>
              <a:off x="2393075" y="1952311"/>
              <a:ext cx="1066799" cy="816508"/>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02</a:t>
              </a:r>
              <a:endParaRPr lang="zh-CN" altLang="en-US" sz="2800">
                <a:solidFill>
                  <a:schemeClr val="bg1"/>
                </a:solidFill>
                <a:latin typeface="Impact" panose="020B0806030902050204" pitchFamily="34" charset="0"/>
              </a:endParaRPr>
            </a:p>
          </p:txBody>
        </p:sp>
      </p:grpSp>
      <p:grpSp>
        <p:nvGrpSpPr>
          <p:cNvPr id="11" name="组合 10">
            <a:extLst>
              <a:ext uri="{FF2B5EF4-FFF2-40B4-BE49-F238E27FC236}">
                <a16:creationId xmlns:a16="http://schemas.microsoft.com/office/drawing/2014/main" id="{A71C864D-76A5-3229-6F46-B27E0B8358B7}"/>
              </a:ext>
            </a:extLst>
          </p:cNvPr>
          <p:cNvGrpSpPr/>
          <p:nvPr/>
        </p:nvGrpSpPr>
        <p:grpSpPr>
          <a:xfrm>
            <a:off x="2650945" y="3715911"/>
            <a:ext cx="894259" cy="496081"/>
            <a:chOff x="2215144" y="3018134"/>
            <a:chExt cx="1244730" cy="909499"/>
          </a:xfrm>
        </p:grpSpPr>
        <p:sp>
          <p:nvSpPr>
            <p:cNvPr id="12" name="平行四边形 11">
              <a:extLst>
                <a:ext uri="{FF2B5EF4-FFF2-40B4-BE49-F238E27FC236}">
                  <a16:creationId xmlns:a16="http://schemas.microsoft.com/office/drawing/2014/main" id="{D0BD6CCD-70E1-3D18-E880-3CD8BC8C3B22}"/>
                </a:ext>
              </a:extLst>
            </p:cNvPr>
            <p:cNvSpPr/>
            <p:nvPr/>
          </p:nvSpPr>
          <p:spPr>
            <a:xfrm>
              <a:off x="2215144" y="3084852"/>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3" name="文本框 11">
              <a:extLst>
                <a:ext uri="{FF2B5EF4-FFF2-40B4-BE49-F238E27FC236}">
                  <a16:creationId xmlns:a16="http://schemas.microsoft.com/office/drawing/2014/main" id="{5D0D1680-5A11-8A19-63F8-BA844EA8577A}"/>
                </a:ext>
              </a:extLst>
            </p:cNvPr>
            <p:cNvSpPr txBox="1"/>
            <p:nvPr/>
          </p:nvSpPr>
          <p:spPr>
            <a:xfrm>
              <a:off x="2393075" y="3018134"/>
              <a:ext cx="1066799" cy="816505"/>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03</a:t>
              </a:r>
              <a:endParaRPr lang="zh-CN" altLang="en-US" sz="2800">
                <a:solidFill>
                  <a:schemeClr val="bg1"/>
                </a:solidFill>
                <a:latin typeface="Impact" panose="020B0806030902050204" pitchFamily="34" charset="0"/>
              </a:endParaRPr>
            </a:p>
          </p:txBody>
        </p:sp>
      </p:grpSp>
      <p:grpSp>
        <p:nvGrpSpPr>
          <p:cNvPr id="14" name="组合 13">
            <a:extLst>
              <a:ext uri="{FF2B5EF4-FFF2-40B4-BE49-F238E27FC236}">
                <a16:creationId xmlns:a16="http://schemas.microsoft.com/office/drawing/2014/main" id="{28C57A7B-85F0-7B84-597E-B03B2DCFE4BE}"/>
              </a:ext>
            </a:extLst>
          </p:cNvPr>
          <p:cNvGrpSpPr/>
          <p:nvPr/>
        </p:nvGrpSpPr>
        <p:grpSpPr>
          <a:xfrm>
            <a:off x="4579570" y="4270750"/>
            <a:ext cx="894259" cy="508134"/>
            <a:chOff x="2215144" y="4047039"/>
            <a:chExt cx="1244730" cy="931598"/>
          </a:xfrm>
        </p:grpSpPr>
        <p:sp>
          <p:nvSpPr>
            <p:cNvPr id="15" name="平行四边形 14">
              <a:extLst>
                <a:ext uri="{FF2B5EF4-FFF2-40B4-BE49-F238E27FC236}">
                  <a16:creationId xmlns:a16="http://schemas.microsoft.com/office/drawing/2014/main" id="{8693CF90-8C23-B973-C238-9E79DCAE2F36}"/>
                </a:ext>
              </a:extLst>
            </p:cNvPr>
            <p:cNvSpPr/>
            <p:nvPr/>
          </p:nvSpPr>
          <p:spPr>
            <a:xfrm>
              <a:off x="2215144" y="4135856"/>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6" name="文本框 12">
              <a:extLst>
                <a:ext uri="{FF2B5EF4-FFF2-40B4-BE49-F238E27FC236}">
                  <a16:creationId xmlns:a16="http://schemas.microsoft.com/office/drawing/2014/main" id="{FA1FECCA-5CB9-7EAB-17CE-84E4DF5B1B71}"/>
                </a:ext>
              </a:extLst>
            </p:cNvPr>
            <p:cNvSpPr txBox="1"/>
            <p:nvPr/>
          </p:nvSpPr>
          <p:spPr>
            <a:xfrm>
              <a:off x="2393075" y="4047039"/>
              <a:ext cx="1066799" cy="816506"/>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04</a:t>
              </a:r>
              <a:endParaRPr lang="zh-CN" altLang="en-US" sz="2800">
                <a:solidFill>
                  <a:schemeClr val="bg1"/>
                </a:solidFill>
                <a:latin typeface="Impact" panose="020B0806030902050204" pitchFamily="34" charset="0"/>
              </a:endParaRPr>
            </a:p>
          </p:txBody>
        </p:sp>
      </p:grpSp>
      <p:grpSp>
        <p:nvGrpSpPr>
          <p:cNvPr id="20" name="组合 19">
            <a:extLst>
              <a:ext uri="{FF2B5EF4-FFF2-40B4-BE49-F238E27FC236}">
                <a16:creationId xmlns:a16="http://schemas.microsoft.com/office/drawing/2014/main" id="{FCF4103D-D7CE-16E0-8E69-1CC2F23DF087}"/>
              </a:ext>
            </a:extLst>
          </p:cNvPr>
          <p:cNvGrpSpPr/>
          <p:nvPr/>
        </p:nvGrpSpPr>
        <p:grpSpPr>
          <a:xfrm>
            <a:off x="3330198" y="2559185"/>
            <a:ext cx="3857250" cy="459690"/>
            <a:chOff x="4315150" y="953426"/>
            <a:chExt cx="3857250" cy="540057"/>
          </a:xfrm>
        </p:grpSpPr>
        <p:sp>
          <p:nvSpPr>
            <p:cNvPr id="21" name="矩形 20">
              <a:extLst>
                <a:ext uri="{FF2B5EF4-FFF2-40B4-BE49-F238E27FC236}">
                  <a16:creationId xmlns:a16="http://schemas.microsoft.com/office/drawing/2014/main" id="{B48B64D1-4530-4D5B-A339-DF49A9683C4D}"/>
                </a:ext>
              </a:extLst>
            </p:cNvPr>
            <p:cNvSpPr/>
            <p:nvPr/>
          </p:nvSpPr>
          <p:spPr>
            <a:xfrm>
              <a:off x="4841196" y="1036090"/>
              <a:ext cx="2827147" cy="406783"/>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设计任务</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2" name="平行四边形 21">
              <a:extLst>
                <a:ext uri="{FF2B5EF4-FFF2-40B4-BE49-F238E27FC236}">
                  <a16:creationId xmlns:a16="http://schemas.microsoft.com/office/drawing/2014/main" id="{2CE3ADB2-CF71-0CCA-29C4-6DDDC1F5BA66}"/>
                </a:ext>
              </a:extLst>
            </p:cNvPr>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23" name="组合 22">
            <a:extLst>
              <a:ext uri="{FF2B5EF4-FFF2-40B4-BE49-F238E27FC236}">
                <a16:creationId xmlns:a16="http://schemas.microsoft.com/office/drawing/2014/main" id="{773FBA57-EEDC-A93A-8767-01586AD69F61}"/>
              </a:ext>
            </a:extLst>
          </p:cNvPr>
          <p:cNvGrpSpPr/>
          <p:nvPr/>
        </p:nvGrpSpPr>
        <p:grpSpPr>
          <a:xfrm>
            <a:off x="5258823" y="3149552"/>
            <a:ext cx="3857250" cy="459690"/>
            <a:chOff x="4315150" y="1647579"/>
            <a:chExt cx="3857250" cy="540057"/>
          </a:xfrm>
        </p:grpSpPr>
        <p:sp>
          <p:nvSpPr>
            <p:cNvPr id="24" name="矩形 23">
              <a:extLst>
                <a:ext uri="{FF2B5EF4-FFF2-40B4-BE49-F238E27FC236}">
                  <a16:creationId xmlns:a16="http://schemas.microsoft.com/office/drawing/2014/main" id="{4E487B31-C332-0901-BE72-66A0B4039316}"/>
                </a:ext>
              </a:extLst>
            </p:cNvPr>
            <p:cNvSpPr/>
            <p:nvPr/>
          </p:nvSpPr>
          <p:spPr>
            <a:xfrm>
              <a:off x="4841196" y="1730243"/>
              <a:ext cx="2827147" cy="406783"/>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方案选择</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5" name="平行四边形 24">
              <a:extLst>
                <a:ext uri="{FF2B5EF4-FFF2-40B4-BE49-F238E27FC236}">
                  <a16:creationId xmlns:a16="http://schemas.microsoft.com/office/drawing/2014/main" id="{5026B727-D810-D639-D362-2174ACFB5819}"/>
                </a:ext>
              </a:extLst>
            </p:cNvPr>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26" name="组合 25">
            <a:extLst>
              <a:ext uri="{FF2B5EF4-FFF2-40B4-BE49-F238E27FC236}">
                <a16:creationId xmlns:a16="http://schemas.microsoft.com/office/drawing/2014/main" id="{9299A617-1CDB-8278-ED59-9DB46AD1C6F2}"/>
              </a:ext>
            </a:extLst>
          </p:cNvPr>
          <p:cNvGrpSpPr/>
          <p:nvPr/>
        </p:nvGrpSpPr>
        <p:grpSpPr>
          <a:xfrm>
            <a:off x="3330198" y="3736065"/>
            <a:ext cx="3857250" cy="459690"/>
            <a:chOff x="4315150" y="2341731"/>
            <a:chExt cx="3857250" cy="540057"/>
          </a:xfrm>
        </p:grpSpPr>
        <p:sp>
          <p:nvSpPr>
            <p:cNvPr id="27" name="矩形 26">
              <a:extLst>
                <a:ext uri="{FF2B5EF4-FFF2-40B4-BE49-F238E27FC236}">
                  <a16:creationId xmlns:a16="http://schemas.microsoft.com/office/drawing/2014/main" id="{35A591FF-839F-1E31-BC8A-93EE52332370}"/>
                </a:ext>
              </a:extLst>
            </p:cNvPr>
            <p:cNvSpPr/>
            <p:nvPr/>
          </p:nvSpPr>
          <p:spPr>
            <a:xfrm>
              <a:off x="4841197" y="2424395"/>
              <a:ext cx="2827146" cy="406783"/>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电路设计</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8" name="平行四边形 27">
              <a:extLst>
                <a:ext uri="{FF2B5EF4-FFF2-40B4-BE49-F238E27FC236}">
                  <a16:creationId xmlns:a16="http://schemas.microsoft.com/office/drawing/2014/main" id="{D944D311-1ABC-94BD-F772-AE546B331FDA}"/>
                </a:ext>
              </a:extLst>
            </p:cNvPr>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29" name="组合 28">
            <a:extLst>
              <a:ext uri="{FF2B5EF4-FFF2-40B4-BE49-F238E27FC236}">
                <a16:creationId xmlns:a16="http://schemas.microsoft.com/office/drawing/2014/main" id="{3DFD1DCA-D27F-4DDF-0266-15AA8C788581}"/>
              </a:ext>
            </a:extLst>
          </p:cNvPr>
          <p:cNvGrpSpPr/>
          <p:nvPr/>
        </p:nvGrpSpPr>
        <p:grpSpPr>
          <a:xfrm>
            <a:off x="5258823" y="4302567"/>
            <a:ext cx="3857250" cy="693611"/>
            <a:chOff x="4315150" y="3035884"/>
            <a:chExt cx="3857250" cy="814874"/>
          </a:xfrm>
        </p:grpSpPr>
        <p:sp>
          <p:nvSpPr>
            <p:cNvPr id="30" name="矩形 29">
              <a:extLst>
                <a:ext uri="{FF2B5EF4-FFF2-40B4-BE49-F238E27FC236}">
                  <a16:creationId xmlns:a16="http://schemas.microsoft.com/office/drawing/2014/main" id="{ADE8F83C-45C5-702B-FD9E-1292467198DE}"/>
                </a:ext>
              </a:extLst>
            </p:cNvPr>
            <p:cNvSpPr/>
            <p:nvPr/>
          </p:nvSpPr>
          <p:spPr>
            <a:xfrm>
              <a:off x="4841196" y="3118548"/>
              <a:ext cx="2827147" cy="732210"/>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转速、电流测量方案选择</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a:p>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1" name="平行四边形 30">
              <a:extLst>
                <a:ext uri="{FF2B5EF4-FFF2-40B4-BE49-F238E27FC236}">
                  <a16:creationId xmlns:a16="http://schemas.microsoft.com/office/drawing/2014/main" id="{D7F7E07E-ACF8-C68D-67A8-E6755D87D6A8}"/>
                </a:ext>
              </a:extLst>
            </p:cNvPr>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59" name="组合 58">
            <a:extLst>
              <a:ext uri="{FF2B5EF4-FFF2-40B4-BE49-F238E27FC236}">
                <a16:creationId xmlns:a16="http://schemas.microsoft.com/office/drawing/2014/main" id="{35BB4FAE-E9FC-B4E6-EB33-C96B6E40F766}"/>
              </a:ext>
            </a:extLst>
          </p:cNvPr>
          <p:cNvGrpSpPr/>
          <p:nvPr/>
        </p:nvGrpSpPr>
        <p:grpSpPr>
          <a:xfrm>
            <a:off x="2650945" y="4906216"/>
            <a:ext cx="884486" cy="523220"/>
            <a:chOff x="2215144" y="5107938"/>
            <a:chExt cx="1231128" cy="959259"/>
          </a:xfrm>
        </p:grpSpPr>
        <p:sp>
          <p:nvSpPr>
            <p:cNvPr id="60" name="平行四边形 59">
              <a:extLst>
                <a:ext uri="{FF2B5EF4-FFF2-40B4-BE49-F238E27FC236}">
                  <a16:creationId xmlns:a16="http://schemas.microsoft.com/office/drawing/2014/main" id="{81E246B3-8012-99A0-66B2-0CDACC8B5CA0}"/>
                </a:ext>
              </a:extLst>
            </p:cNvPr>
            <p:cNvSpPr/>
            <p:nvPr/>
          </p:nvSpPr>
          <p:spPr>
            <a:xfrm>
              <a:off x="2215144" y="5186859"/>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61" name="文本框 13">
              <a:extLst>
                <a:ext uri="{FF2B5EF4-FFF2-40B4-BE49-F238E27FC236}">
                  <a16:creationId xmlns:a16="http://schemas.microsoft.com/office/drawing/2014/main" id="{0805DB79-6B96-0121-28E3-9D2F2FBAF0A9}"/>
                </a:ext>
              </a:extLst>
            </p:cNvPr>
            <p:cNvSpPr txBox="1"/>
            <p:nvPr/>
          </p:nvSpPr>
          <p:spPr>
            <a:xfrm>
              <a:off x="2379473" y="5107938"/>
              <a:ext cx="1066799" cy="959259"/>
            </a:xfrm>
            <a:prstGeom prst="rect">
              <a:avLst/>
            </a:prstGeom>
            <a:noFill/>
          </p:spPr>
          <p:txBody>
            <a:bodyPr wrap="square" rtlCol="0">
              <a:spAutoFit/>
            </a:bodyPr>
            <a:lstStyle/>
            <a:p>
              <a:r>
                <a:rPr lang="en-US" altLang="zh-CN" sz="2800">
                  <a:solidFill>
                    <a:srgbClr val="FF0000"/>
                  </a:solidFill>
                  <a:latin typeface="Impact" panose="020B0806030902050204" pitchFamily="34" charset="0"/>
                </a:rPr>
                <a:t>05</a:t>
              </a:r>
              <a:endParaRPr lang="zh-CN" altLang="en-US" sz="2800">
                <a:solidFill>
                  <a:srgbClr val="FF0000"/>
                </a:solidFill>
                <a:latin typeface="Impact" panose="020B0806030902050204" pitchFamily="34" charset="0"/>
              </a:endParaRPr>
            </a:p>
          </p:txBody>
        </p:sp>
      </p:grpSp>
      <p:grpSp>
        <p:nvGrpSpPr>
          <p:cNvPr id="62" name="组合 61">
            <a:extLst>
              <a:ext uri="{FF2B5EF4-FFF2-40B4-BE49-F238E27FC236}">
                <a16:creationId xmlns:a16="http://schemas.microsoft.com/office/drawing/2014/main" id="{2C1B41BD-F986-E207-8C74-0627589D1BBE}"/>
              </a:ext>
            </a:extLst>
          </p:cNvPr>
          <p:cNvGrpSpPr/>
          <p:nvPr/>
        </p:nvGrpSpPr>
        <p:grpSpPr>
          <a:xfrm>
            <a:off x="3330199" y="4932647"/>
            <a:ext cx="3857250" cy="459690"/>
            <a:chOff x="4315150" y="3730038"/>
            <a:chExt cx="3857250" cy="540057"/>
          </a:xfrm>
        </p:grpSpPr>
        <p:sp>
          <p:nvSpPr>
            <p:cNvPr id="63" name="矩形 62">
              <a:extLst>
                <a:ext uri="{FF2B5EF4-FFF2-40B4-BE49-F238E27FC236}">
                  <a16:creationId xmlns:a16="http://schemas.microsoft.com/office/drawing/2014/main" id="{57B0A30C-1672-86F1-A0E1-1063AFEBC4CE}"/>
                </a:ext>
              </a:extLst>
            </p:cNvPr>
            <p:cNvSpPr/>
            <p:nvPr/>
          </p:nvSpPr>
          <p:spPr>
            <a:xfrm>
              <a:off x="4841197" y="3812702"/>
              <a:ext cx="2827146" cy="406783"/>
            </a:xfrm>
            <a:prstGeom prst="rect">
              <a:avLst/>
            </a:prstGeom>
            <a:ln w="15875">
              <a:noFill/>
            </a:ln>
          </p:spPr>
          <p:txBody>
            <a:bodyPr wrap="square" lIns="68580" tIns="34290" rIns="68580" bIns="34290">
              <a:spAutoFit/>
            </a:bodyPr>
            <a:lstStyle/>
            <a:p>
              <a:r>
                <a:rPr lang="zh-CN" altLang="en-US" b="1">
                  <a:solidFill>
                    <a:srgbClr val="FF0000"/>
                  </a:solidFill>
                  <a:latin typeface="微软雅黑" panose="020B0503020204020204" pitchFamily="34" charset="-122"/>
                  <a:ea typeface="微软雅黑" panose="020B0503020204020204" pitchFamily="34" charset="-122"/>
                </a:rPr>
                <a:t>仿真验证</a:t>
              </a:r>
              <a:endParaRPr lang="en-GB" altLang="zh-CN" b="1">
                <a:solidFill>
                  <a:srgbClr val="FF0000"/>
                </a:solidFill>
                <a:latin typeface="微软雅黑" panose="020B0503020204020204" pitchFamily="34" charset="-122"/>
                <a:ea typeface="微软雅黑" panose="020B0503020204020204" pitchFamily="34" charset="-122"/>
              </a:endParaRPr>
            </a:p>
          </p:txBody>
        </p:sp>
        <p:sp>
          <p:nvSpPr>
            <p:cNvPr id="64" name="平行四边形 63">
              <a:extLst>
                <a:ext uri="{FF2B5EF4-FFF2-40B4-BE49-F238E27FC236}">
                  <a16:creationId xmlns:a16="http://schemas.microsoft.com/office/drawing/2014/main" id="{F270BB97-AAA5-1721-B4FD-1674671FA7C2}"/>
                </a:ext>
              </a:extLst>
            </p:cNvPr>
            <p:cNvSpPr/>
            <p:nvPr/>
          </p:nvSpPr>
          <p:spPr>
            <a:xfrm>
              <a:off x="4315150" y="3730038"/>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4" name="组合 3">
            <a:extLst>
              <a:ext uri="{FF2B5EF4-FFF2-40B4-BE49-F238E27FC236}">
                <a16:creationId xmlns:a16="http://schemas.microsoft.com/office/drawing/2014/main" id="{66C31A0E-718D-888E-11A5-53AFF5F55419}"/>
              </a:ext>
            </a:extLst>
          </p:cNvPr>
          <p:cNvGrpSpPr/>
          <p:nvPr/>
        </p:nvGrpSpPr>
        <p:grpSpPr>
          <a:xfrm>
            <a:off x="4500160" y="5515777"/>
            <a:ext cx="894259" cy="523220"/>
            <a:chOff x="2215144" y="4047039"/>
            <a:chExt cx="1244730" cy="959256"/>
          </a:xfrm>
        </p:grpSpPr>
        <p:sp>
          <p:nvSpPr>
            <p:cNvPr id="17" name="平行四边形 16">
              <a:extLst>
                <a:ext uri="{FF2B5EF4-FFF2-40B4-BE49-F238E27FC236}">
                  <a16:creationId xmlns:a16="http://schemas.microsoft.com/office/drawing/2014/main" id="{6913F4C8-CB32-2141-8F2E-BBFBFDD49F88}"/>
                </a:ext>
              </a:extLst>
            </p:cNvPr>
            <p:cNvSpPr/>
            <p:nvPr/>
          </p:nvSpPr>
          <p:spPr>
            <a:xfrm>
              <a:off x="2215144" y="4135856"/>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8" name="文本框 12">
              <a:extLst>
                <a:ext uri="{FF2B5EF4-FFF2-40B4-BE49-F238E27FC236}">
                  <a16:creationId xmlns:a16="http://schemas.microsoft.com/office/drawing/2014/main" id="{07302CBE-CAE2-D648-4FD7-3E52A2107AE9}"/>
                </a:ext>
              </a:extLst>
            </p:cNvPr>
            <p:cNvSpPr txBox="1"/>
            <p:nvPr/>
          </p:nvSpPr>
          <p:spPr>
            <a:xfrm>
              <a:off x="2393075" y="4047039"/>
              <a:ext cx="1066799" cy="959256"/>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06</a:t>
              </a:r>
              <a:endParaRPr lang="zh-CN" altLang="en-US" sz="2800">
                <a:solidFill>
                  <a:schemeClr val="bg1"/>
                </a:solidFill>
                <a:latin typeface="Impact" panose="020B0806030902050204" pitchFamily="34" charset="0"/>
              </a:endParaRPr>
            </a:p>
          </p:txBody>
        </p:sp>
      </p:grpSp>
      <p:grpSp>
        <p:nvGrpSpPr>
          <p:cNvPr id="19" name="组合 18">
            <a:extLst>
              <a:ext uri="{FF2B5EF4-FFF2-40B4-BE49-F238E27FC236}">
                <a16:creationId xmlns:a16="http://schemas.microsoft.com/office/drawing/2014/main" id="{11BEF60C-5A34-25D8-64A7-74F2E22CEE51}"/>
              </a:ext>
            </a:extLst>
          </p:cNvPr>
          <p:cNvGrpSpPr/>
          <p:nvPr/>
        </p:nvGrpSpPr>
        <p:grpSpPr>
          <a:xfrm>
            <a:off x="5179413" y="5547593"/>
            <a:ext cx="3857250" cy="693611"/>
            <a:chOff x="4315150" y="3035884"/>
            <a:chExt cx="3857250" cy="814874"/>
          </a:xfrm>
        </p:grpSpPr>
        <p:sp>
          <p:nvSpPr>
            <p:cNvPr id="32" name="矩形 31">
              <a:extLst>
                <a:ext uri="{FF2B5EF4-FFF2-40B4-BE49-F238E27FC236}">
                  <a16:creationId xmlns:a16="http://schemas.microsoft.com/office/drawing/2014/main" id="{52BF8852-68A1-C417-5B1E-7359649B1CAA}"/>
                </a:ext>
              </a:extLst>
            </p:cNvPr>
            <p:cNvSpPr/>
            <p:nvPr/>
          </p:nvSpPr>
          <p:spPr>
            <a:xfrm>
              <a:off x="4841196" y="3118548"/>
              <a:ext cx="2827147" cy="732210"/>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收获总结</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a:p>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3" name="平行四边形 32">
              <a:extLst>
                <a:ext uri="{FF2B5EF4-FFF2-40B4-BE49-F238E27FC236}">
                  <a16:creationId xmlns:a16="http://schemas.microsoft.com/office/drawing/2014/main" id="{B656C9E8-CDB7-CD38-CC34-C8523400D4F5}"/>
                </a:ext>
              </a:extLst>
            </p:cNvPr>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spTree>
    <p:extLst>
      <p:ext uri="{BB962C8B-B14F-4D97-AF65-F5344CB8AC3E}">
        <p14:creationId xmlns:p14="http://schemas.microsoft.com/office/powerpoint/2010/main" val="378923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1A4FF-196D-5750-C307-33E44ECC4820}"/>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70BC2955-46C8-07CB-4865-A6A8042E9607}"/>
              </a:ext>
            </a:extLst>
          </p:cNvPr>
          <p:cNvCxnSpPr>
            <a:cxnSpLocks/>
          </p:cNvCxnSpPr>
          <p:nvPr/>
        </p:nvCxnSpPr>
        <p:spPr>
          <a:xfrm flipV="1">
            <a:off x="1014737" y="631512"/>
            <a:ext cx="7246036" cy="1620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E4683691-EF0F-19C3-6882-57D29234CA9D}"/>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电流环的仿真和配置</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170E0862-3809-37C4-CE8E-7D2D6DF244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4" name="文本框 3">
            <a:extLst>
              <a:ext uri="{FF2B5EF4-FFF2-40B4-BE49-F238E27FC236}">
                <a16:creationId xmlns:a16="http://schemas.microsoft.com/office/drawing/2014/main" id="{92207E3D-3C5E-2744-A99F-308AD5BEE4F8}"/>
              </a:ext>
            </a:extLst>
          </p:cNvPr>
          <p:cNvSpPr txBox="1"/>
          <p:nvPr/>
        </p:nvSpPr>
        <p:spPr>
          <a:xfrm>
            <a:off x="962590" y="795715"/>
            <a:ext cx="10334059" cy="870751"/>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zh-CN">
                <a:latin typeface="Times New Roman" panose="02020603050405020304" pitchFamily="18" charset="0"/>
                <a:ea typeface="宋体" panose="02010600030101010101" pitchFamily="2" charset="-122"/>
              </a:rPr>
              <a:t>按照</a:t>
            </a:r>
            <a:r>
              <a:rPr lang="zh-CN" altLang="en-US">
                <a:latin typeface="Times New Roman" panose="02020603050405020304" pitchFamily="18" charset="0"/>
                <a:ea typeface="宋体" panose="02010600030101010101" pitchFamily="2" charset="-122"/>
              </a:rPr>
              <a:t>计算</a:t>
            </a:r>
            <a:r>
              <a:rPr lang="zh-CN" altLang="zh-CN">
                <a:latin typeface="Times New Roman" panose="02020603050405020304" pitchFamily="18" charset="0"/>
                <a:ea typeface="宋体" panose="02010600030101010101" pitchFamily="2" charset="-122"/>
              </a:rPr>
              <a:t>好的电流调节器</a:t>
            </a:r>
            <a:r>
              <a:rPr lang="zh-CN" altLang="en-US">
                <a:latin typeface="Times New Roman" panose="02020603050405020304" pitchFamily="18" charset="0"/>
                <a:ea typeface="宋体" panose="02010600030101010101" pitchFamily="2" charset="-122"/>
              </a:rPr>
              <a:t>参数</a:t>
            </a:r>
            <a:r>
              <a:rPr lang="zh-CN" altLang="zh-CN">
                <a:latin typeface="Times New Roman" panose="02020603050405020304" pitchFamily="18" charset="0"/>
                <a:ea typeface="宋体" panose="02010600030101010101" pitchFamily="2" charset="-122"/>
              </a:rPr>
              <a:t>，</a:t>
            </a:r>
            <a:r>
              <a:rPr lang="zh-CN" altLang="zh-CN">
                <a:latin typeface="Times New Roman" panose="02020603050405020304" pitchFamily="18" charset="0"/>
                <a:ea typeface="宋体" panose="02010600030101010101" pitchFamily="2" charset="-122"/>
                <a:sym typeface="+mn-ea"/>
              </a:rPr>
              <a:t>进行</a:t>
            </a:r>
            <a:r>
              <a:rPr lang="en-US" altLang="zh-CN">
                <a:latin typeface="Times New Roman" panose="02020603050405020304" pitchFamily="18" charset="0"/>
                <a:ea typeface="宋体" panose="02010600030101010101" pitchFamily="2" charset="-122"/>
                <a:sym typeface="+mn-ea"/>
              </a:rPr>
              <a:t>MATLAB/Simulink</a:t>
            </a:r>
            <a:r>
              <a:rPr lang="zh-CN" altLang="zh-CN">
                <a:latin typeface="Times New Roman" panose="02020603050405020304" pitchFamily="18" charset="0"/>
                <a:ea typeface="宋体" panose="02010600030101010101" pitchFamily="2" charset="-122"/>
                <a:sym typeface="+mn-ea"/>
              </a:rPr>
              <a:t>图的搭建。电流环的仿真模型如图所示。（</a:t>
            </a:r>
            <a:r>
              <a:rPr lang="zh-CN" altLang="zh-CN" b="1">
                <a:latin typeface="Times New Roman" panose="02020603050405020304" pitchFamily="18" charset="0"/>
                <a:ea typeface="宋体" panose="02010600030101010101" pitchFamily="2" charset="-122"/>
                <a:sym typeface="+mn-ea"/>
              </a:rPr>
              <a:t>暂不考虑反电动势变化的动态影响</a:t>
            </a:r>
            <a:r>
              <a:rPr lang="zh-CN" altLang="zh-CN">
                <a:latin typeface="Times New Roman" panose="02020603050405020304" pitchFamily="18" charset="0"/>
                <a:ea typeface="宋体" panose="02010600030101010101" pitchFamily="2" charset="-122"/>
                <a:sym typeface="+mn-ea"/>
              </a:rPr>
              <a:t>）</a:t>
            </a:r>
            <a:endParaRPr lang="zh-CN" altLang="en-US">
              <a:latin typeface="Times New Roman" panose="02020603050405020304" pitchFamily="18" charset="0"/>
              <a:ea typeface="宋体" panose="02010600030101010101" pitchFamily="2" charset="-122"/>
            </a:endParaRPr>
          </a:p>
        </p:txBody>
      </p:sp>
      <p:pic>
        <p:nvPicPr>
          <p:cNvPr id="3" name="图片 2">
            <a:extLst>
              <a:ext uri="{FF2B5EF4-FFF2-40B4-BE49-F238E27FC236}">
                <a16:creationId xmlns:a16="http://schemas.microsoft.com/office/drawing/2014/main" id="{44ACDAC7-2691-E9DF-9FF3-689883557A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73533" y="2244105"/>
            <a:ext cx="8218132" cy="2698733"/>
          </a:xfrm>
          <a:prstGeom prst="rect">
            <a:avLst/>
          </a:prstGeom>
        </p:spPr>
      </p:pic>
      <p:sp>
        <p:nvSpPr>
          <p:cNvPr id="6" name="文本框 5">
            <a:extLst>
              <a:ext uri="{FF2B5EF4-FFF2-40B4-BE49-F238E27FC236}">
                <a16:creationId xmlns:a16="http://schemas.microsoft.com/office/drawing/2014/main" id="{403645C3-F183-80D0-BE89-B2E9B6924DC9}"/>
              </a:ext>
            </a:extLst>
          </p:cNvPr>
          <p:cNvSpPr txBox="1"/>
          <p:nvPr/>
        </p:nvSpPr>
        <p:spPr>
          <a:xfrm>
            <a:off x="4020697" y="5335811"/>
            <a:ext cx="4676494" cy="369332"/>
          </a:xfrm>
          <a:prstGeom prst="rect">
            <a:avLst/>
          </a:prstGeom>
          <a:noFill/>
        </p:spPr>
        <p:txBody>
          <a:bodyPr wrap="square">
            <a:spAutoFit/>
          </a:bodyPr>
          <a:lstStyle/>
          <a:p>
            <a:r>
              <a:rPr lang="zh-CN" altLang="zh-CN"/>
              <a:t>构建</a:t>
            </a:r>
            <a:r>
              <a:rPr lang="zh-CN" altLang="en-US"/>
              <a:t>采用</a:t>
            </a:r>
            <a:r>
              <a:rPr lang="en-US" altLang="zh-CN"/>
              <a:t>PI</a:t>
            </a:r>
            <a:r>
              <a:rPr lang="zh-CN" altLang="en-US"/>
              <a:t>控制器</a:t>
            </a:r>
            <a:r>
              <a:rPr lang="zh-CN" altLang="zh-CN"/>
              <a:t>的电流环</a:t>
            </a:r>
            <a:r>
              <a:rPr lang="en-US" altLang="zh-CN"/>
              <a:t>Simulink</a:t>
            </a:r>
            <a:r>
              <a:rPr lang="zh-CN" altLang="zh-CN"/>
              <a:t>模型</a:t>
            </a:r>
          </a:p>
        </p:txBody>
      </p:sp>
    </p:spTree>
    <p:extLst>
      <p:ext uri="{BB962C8B-B14F-4D97-AF65-F5344CB8AC3E}">
        <p14:creationId xmlns:p14="http://schemas.microsoft.com/office/powerpoint/2010/main" val="4237959693"/>
      </p:ext>
    </p:extLst>
  </p:cSld>
  <p:clrMapOvr>
    <a:masterClrMapping/>
  </p:clrMapOvr>
  <p:transition spd="slow" advTm="9487"/>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1151D-3E98-93C4-76E3-287771017809}"/>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2B9AE07C-4328-E589-48AF-E54391200A1B}"/>
              </a:ext>
            </a:extLst>
          </p:cNvPr>
          <p:cNvCxnSpPr>
            <a:cxnSpLocks/>
          </p:cNvCxnSpPr>
          <p:nvPr/>
        </p:nvCxnSpPr>
        <p:spPr>
          <a:xfrm flipV="1">
            <a:off x="1014737" y="631512"/>
            <a:ext cx="7246036" cy="1620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6CC8D8F3-13AA-BDFC-D1AC-5E251063EDE2}"/>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电流环的仿真和配置</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EC4507E3-F5D8-4ECA-7683-15DE405130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4" name="文本框 3">
            <a:extLst>
              <a:ext uri="{FF2B5EF4-FFF2-40B4-BE49-F238E27FC236}">
                <a16:creationId xmlns:a16="http://schemas.microsoft.com/office/drawing/2014/main" id="{144A1EAE-D641-73EF-A672-1B59299D1F6D}"/>
              </a:ext>
            </a:extLst>
          </p:cNvPr>
          <p:cNvSpPr txBox="1"/>
          <p:nvPr/>
        </p:nvSpPr>
        <p:spPr>
          <a:xfrm>
            <a:off x="962590" y="795715"/>
            <a:ext cx="10334059" cy="455253"/>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zh-CN">
                <a:latin typeface="Times New Roman" panose="02020603050405020304" pitchFamily="18" charset="0"/>
                <a:ea typeface="宋体" panose="02010600030101010101" pitchFamily="2" charset="-122"/>
              </a:rPr>
              <a:t>电流调节器参数配置的电流环仿真结果</a:t>
            </a:r>
            <a:r>
              <a:rPr lang="en-US" altLang="zh-CN">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d</a:t>
            </a:r>
            <a:r>
              <a:rPr lang="en-US" altLang="zh-CN">
                <a:latin typeface="Times New Roman" panose="02020603050405020304" pitchFamily="18" charset="0"/>
                <a:ea typeface="宋体" panose="02010600030101010101" pitchFamily="2" charset="-122"/>
              </a:rPr>
              <a:t>)</a:t>
            </a:r>
            <a:endParaRPr lang="zh-CN" altLang="en-US">
              <a:latin typeface="Times New Roman" panose="02020603050405020304" pitchFamily="18" charset="0"/>
              <a:ea typeface="宋体" panose="02010600030101010101" pitchFamily="2" charset="-122"/>
            </a:endParaRPr>
          </a:p>
        </p:txBody>
      </p:sp>
      <p:pic>
        <p:nvPicPr>
          <p:cNvPr id="6" name="图片 5">
            <a:extLst>
              <a:ext uri="{FF2B5EF4-FFF2-40B4-BE49-F238E27FC236}">
                <a16:creationId xmlns:a16="http://schemas.microsoft.com/office/drawing/2014/main" id="{B1338762-0CCD-02DC-A948-E6E1496AF25C}"/>
              </a:ext>
            </a:extLst>
          </p:cNvPr>
          <p:cNvPicPr>
            <a:picLocks noChangeAspect="1"/>
          </p:cNvPicPr>
          <p:nvPr/>
        </p:nvPicPr>
        <p:blipFill>
          <a:blip r:embed="rId4"/>
          <a:stretch>
            <a:fillRect/>
          </a:stretch>
        </p:blipFill>
        <p:spPr>
          <a:xfrm>
            <a:off x="1388227" y="1348698"/>
            <a:ext cx="8690955" cy="4619475"/>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6B1977EE-8A73-BC5F-8E60-429BE34FA677}"/>
                  </a:ext>
                </a:extLst>
              </p:cNvPr>
              <p:cNvSpPr txBox="1"/>
              <p:nvPr/>
            </p:nvSpPr>
            <p:spPr>
              <a:xfrm>
                <a:off x="1280680" y="6062285"/>
                <a:ext cx="6094268" cy="6897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𝜎</m:t>
                          </m:r>
                        </m:e>
                        <m:sub>
                          <m:r>
                            <a:rPr lang="zh-CN" altLang="en-US" i="1">
                              <a:latin typeface="Cambria Math" panose="02040503050406030204" pitchFamily="18" charset="0"/>
                            </a:rPr>
                            <m:t>𝑖</m:t>
                          </m:r>
                        </m:sub>
                      </m:sSub>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𝑑𝑚</m:t>
                              </m:r>
                            </m:sub>
                          </m:sSub>
                          <m:r>
                            <a:rPr lang="zh-CN" altLang="en-US" i="0">
                              <a:latin typeface="Cambria Math" panose="02040503050406030204" pitchFamily="18" charset="0"/>
                            </a:rPr>
                            <m:t>−</m:t>
                          </m:r>
                          <m:sSubSup>
                            <m:sSubSupPr>
                              <m:ctrlPr>
                                <a:rPr lang="zh-CN" altLang="en-US" i="1">
                                  <a:solidFill>
                                    <a:srgbClr val="836967"/>
                                  </a:solidFill>
                                  <a:latin typeface="Cambria Math" panose="02040503050406030204" pitchFamily="18" charset="0"/>
                                </a:rPr>
                              </m:ctrlPr>
                            </m:sSubSupPr>
                            <m:e>
                              <m:r>
                                <a:rPr lang="zh-CN" altLang="en-US" i="1">
                                  <a:latin typeface="Cambria Math" panose="02040503050406030204" pitchFamily="18" charset="0"/>
                                </a:rPr>
                                <m:t>𝐼</m:t>
                              </m:r>
                            </m:e>
                            <m:sub>
                              <m:r>
                                <a:rPr lang="zh-CN" altLang="en-US" i="1">
                                  <a:latin typeface="Cambria Math" panose="02040503050406030204" pitchFamily="18" charset="0"/>
                                </a:rPr>
                                <m:t>𝑑𝑚</m:t>
                              </m:r>
                            </m:sub>
                            <m:sup>
                              <m:r>
                                <a:rPr lang="zh-CN" altLang="en-US" i="0">
                                  <a:latin typeface="Cambria Math" panose="02040503050406030204" pitchFamily="18" charset="0"/>
                                </a:rPr>
                                <m:t>∗</m:t>
                              </m:r>
                            </m:sup>
                          </m:sSubSup>
                        </m:num>
                        <m:den>
                          <m:sSubSup>
                            <m:sSubSupPr>
                              <m:ctrlPr>
                                <a:rPr lang="zh-CN" altLang="en-US" i="1">
                                  <a:solidFill>
                                    <a:srgbClr val="836967"/>
                                  </a:solidFill>
                                  <a:latin typeface="Cambria Math" panose="02040503050406030204" pitchFamily="18" charset="0"/>
                                </a:rPr>
                              </m:ctrlPr>
                            </m:sSubSupPr>
                            <m:e>
                              <m:r>
                                <a:rPr lang="zh-CN" altLang="en-US" i="1">
                                  <a:latin typeface="Cambria Math" panose="02040503050406030204" pitchFamily="18" charset="0"/>
                                </a:rPr>
                                <m:t>𝐼</m:t>
                              </m:r>
                            </m:e>
                            <m:sub>
                              <m:r>
                                <a:rPr lang="zh-CN" altLang="en-US" i="1">
                                  <a:latin typeface="Cambria Math" panose="02040503050406030204" pitchFamily="18" charset="0"/>
                                </a:rPr>
                                <m:t>𝑑𝑚</m:t>
                              </m:r>
                            </m:sub>
                            <m:sup>
                              <m:r>
                                <a:rPr lang="zh-CN" altLang="en-US" i="0">
                                  <a:latin typeface="Cambria Math" panose="02040503050406030204" pitchFamily="18" charset="0"/>
                                </a:rPr>
                                <m:t>∗</m:t>
                              </m:r>
                            </m:sup>
                          </m:sSubSup>
                        </m:den>
                      </m:f>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31</m:t>
                          </m:r>
                          <m:r>
                            <a:rPr lang="en-US" altLang="zh-CN" b="0" i="0" smtClean="0">
                              <a:latin typeface="Cambria Math" panose="02040503050406030204" pitchFamily="18" charset="0"/>
                            </a:rPr>
                            <m:t>57</m:t>
                          </m:r>
                          <m:r>
                            <a:rPr lang="zh-CN" altLang="en-US" i="0">
                              <a:latin typeface="Cambria Math" panose="02040503050406030204" pitchFamily="18" charset="0"/>
                            </a:rPr>
                            <m:t>−3030</m:t>
                          </m:r>
                        </m:num>
                        <m:den>
                          <m:r>
                            <a:rPr lang="zh-CN" altLang="en-US" i="0">
                              <a:latin typeface="Cambria Math" panose="02040503050406030204" pitchFamily="18" charset="0"/>
                            </a:rPr>
                            <m:t>3030</m:t>
                          </m:r>
                        </m:den>
                      </m:f>
                      <m:r>
                        <a:rPr lang="zh-CN" altLang="en-US" i="0">
                          <a:latin typeface="Cambria Math" panose="02040503050406030204" pitchFamily="18" charset="0"/>
                        </a:rPr>
                        <m:t>×100%=4</m:t>
                      </m:r>
                      <m:r>
                        <a:rPr lang="en-US" altLang="zh-CN" b="0" i="0" smtClean="0">
                          <a:latin typeface="Cambria Math" panose="02040503050406030204" pitchFamily="18" charset="0"/>
                        </a:rPr>
                        <m:t>.19</m:t>
                      </m:r>
                      <m:r>
                        <a:rPr lang="zh-CN" altLang="en-US" i="0">
                          <a:latin typeface="Cambria Math" panose="02040503050406030204" pitchFamily="18" charset="0"/>
                        </a:rPr>
                        <m:t>%&lt;5%</m:t>
                      </m:r>
                    </m:oMath>
                  </m:oMathPara>
                </a14:m>
                <a:endParaRPr lang="zh-CN" altLang="en-US"/>
              </a:p>
            </p:txBody>
          </p:sp>
        </mc:Choice>
        <mc:Fallback xmlns="">
          <p:sp>
            <p:nvSpPr>
              <p:cNvPr id="5" name="文本框 4">
                <a:extLst>
                  <a:ext uri="{FF2B5EF4-FFF2-40B4-BE49-F238E27FC236}">
                    <a16:creationId xmlns:a16="http://schemas.microsoft.com/office/drawing/2014/main" id="{6B1977EE-8A73-BC5F-8E60-429BE34FA677}"/>
                  </a:ext>
                </a:extLst>
              </p:cNvPr>
              <p:cNvSpPr txBox="1">
                <a:spLocks noRot="1" noChangeAspect="1" noMove="1" noResize="1" noEditPoints="1" noAdjustHandles="1" noChangeArrowheads="1" noChangeShapeType="1" noTextEdit="1"/>
              </p:cNvSpPr>
              <p:nvPr/>
            </p:nvSpPr>
            <p:spPr>
              <a:xfrm>
                <a:off x="1280680" y="6062285"/>
                <a:ext cx="6094268" cy="689741"/>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75218113"/>
      </p:ext>
    </p:extLst>
  </p:cSld>
  <p:clrMapOvr>
    <a:masterClrMapping/>
  </p:clrMapOvr>
  <p:transition spd="slow" advTm="9487"/>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F440A-22FD-D14D-110A-C7ED27FD5B3A}"/>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3B0BF26A-9146-711D-D608-AEB17EDEBF92}"/>
              </a:ext>
            </a:extLst>
          </p:cNvPr>
          <p:cNvCxnSpPr>
            <a:cxnSpLocks/>
          </p:cNvCxnSpPr>
          <p:nvPr/>
        </p:nvCxnSpPr>
        <p:spPr>
          <a:xfrm flipV="1">
            <a:off x="1014737" y="631512"/>
            <a:ext cx="7246036" cy="1620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E6E8FF21-BFE5-BC97-122D-6D6C5361F6DC}"/>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-PI</a:t>
            </a:r>
            <a:r>
              <a:rPr lang="zh-CN" altLang="en-US" sz="2400" b="1" kern="0">
                <a:solidFill>
                  <a:prstClr val="black"/>
                </a:solidFill>
                <a:latin typeface="黑体" panose="02010609060101010101" pitchFamily="49" charset="-122"/>
                <a:ea typeface="黑体" panose="02010609060101010101" pitchFamily="49" charset="-122"/>
              </a:rPr>
              <a:t>控制器的仿真和配置</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F0CFFF4A-F609-C87F-34D7-5A5A9486E2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4" name="文本框 3">
            <a:extLst>
              <a:ext uri="{FF2B5EF4-FFF2-40B4-BE49-F238E27FC236}">
                <a16:creationId xmlns:a16="http://schemas.microsoft.com/office/drawing/2014/main" id="{83DDB33C-B035-60C1-2E85-D04BB9B59149}"/>
              </a:ext>
            </a:extLst>
          </p:cNvPr>
          <p:cNvSpPr txBox="1"/>
          <p:nvPr/>
        </p:nvSpPr>
        <p:spPr>
          <a:xfrm>
            <a:off x="962590" y="795715"/>
            <a:ext cx="10334059" cy="873572"/>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zh-CN">
                <a:latin typeface="Times New Roman" panose="02020603050405020304" pitchFamily="18" charset="0"/>
                <a:ea typeface="宋体" panose="02010600030101010101" pitchFamily="2" charset="-122"/>
              </a:rPr>
              <a:t>按照设计好的转速调节器，进行MATLAB/Simulink图的搭建。转速环的仿真模型如图所示。</a:t>
            </a:r>
          </a:p>
          <a:p>
            <a:pPr marL="285750" indent="-285750" algn="just">
              <a:lnSpc>
                <a:spcPct val="150000"/>
              </a:lnSpc>
              <a:buFont typeface="Wingdings" panose="05000000000000000000" pitchFamily="2" charset="2"/>
              <a:buChar char="Ø"/>
            </a:pPr>
            <a:endParaRPr lang="zh-CN" altLang="en-US">
              <a:latin typeface="Times New Roman" panose="02020603050405020304" pitchFamily="18" charset="0"/>
              <a:ea typeface="宋体" panose="02010600030101010101" pitchFamily="2" charset="-122"/>
            </a:endParaRPr>
          </a:p>
        </p:txBody>
      </p:sp>
      <p:sp>
        <p:nvSpPr>
          <p:cNvPr id="6" name="文本框 5">
            <a:extLst>
              <a:ext uri="{FF2B5EF4-FFF2-40B4-BE49-F238E27FC236}">
                <a16:creationId xmlns:a16="http://schemas.microsoft.com/office/drawing/2014/main" id="{B92E164B-5603-EB45-D603-FA452A8CB254}"/>
              </a:ext>
            </a:extLst>
          </p:cNvPr>
          <p:cNvSpPr txBox="1"/>
          <p:nvPr/>
        </p:nvSpPr>
        <p:spPr>
          <a:xfrm>
            <a:off x="3868016" y="5429329"/>
            <a:ext cx="4455968" cy="369332"/>
          </a:xfrm>
          <a:prstGeom prst="rect">
            <a:avLst/>
          </a:prstGeom>
          <a:noFill/>
        </p:spPr>
        <p:txBody>
          <a:bodyPr wrap="square">
            <a:spAutoFit/>
          </a:bodyPr>
          <a:lstStyle/>
          <a:p>
            <a:r>
              <a:rPr lang="zh-CN" altLang="zh-CN"/>
              <a:t>构建的</a:t>
            </a:r>
            <a:r>
              <a:rPr lang="zh-CN" altLang="en-US"/>
              <a:t>采用</a:t>
            </a:r>
            <a:r>
              <a:rPr lang="en-US" altLang="zh-CN"/>
              <a:t>PI</a:t>
            </a:r>
            <a:r>
              <a:rPr lang="zh-CN" altLang="en-US"/>
              <a:t>控制的双闭环</a:t>
            </a:r>
            <a:r>
              <a:rPr lang="en-US" altLang="zh-CN"/>
              <a:t>Simulink</a:t>
            </a:r>
            <a:r>
              <a:rPr lang="zh-CN" altLang="zh-CN"/>
              <a:t>模型</a:t>
            </a:r>
          </a:p>
        </p:txBody>
      </p:sp>
      <p:pic>
        <p:nvPicPr>
          <p:cNvPr id="5" name="图片 4">
            <a:extLst>
              <a:ext uri="{FF2B5EF4-FFF2-40B4-BE49-F238E27FC236}">
                <a16:creationId xmlns:a16="http://schemas.microsoft.com/office/drawing/2014/main" id="{0D82EF80-EDC6-8CE5-B1E6-41B9D3A9E3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7925" y="2001368"/>
            <a:ext cx="10414683" cy="3002361"/>
          </a:xfrm>
          <a:prstGeom prst="rect">
            <a:avLst/>
          </a:prstGeom>
        </p:spPr>
      </p:pic>
    </p:spTree>
    <p:extLst>
      <p:ext uri="{BB962C8B-B14F-4D97-AF65-F5344CB8AC3E}">
        <p14:creationId xmlns:p14="http://schemas.microsoft.com/office/powerpoint/2010/main" val="2131963787"/>
      </p:ext>
    </p:extLst>
  </p:cSld>
  <p:clrMapOvr>
    <a:masterClrMapping/>
  </p:clrMapOvr>
  <p:transition spd="slow" advTm="9487"/>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C61E6-2C32-B5EC-A705-29F847CE5467}"/>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C2AD1873-007E-9838-FB79-E70D4EB45030}"/>
              </a:ext>
            </a:extLst>
          </p:cNvPr>
          <p:cNvCxnSpPr>
            <a:cxnSpLocks/>
          </p:cNvCxnSpPr>
          <p:nvPr/>
        </p:nvCxnSpPr>
        <p:spPr>
          <a:xfrm flipV="1">
            <a:off x="1014737" y="631512"/>
            <a:ext cx="7246036" cy="1620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7BE73A1A-E1F9-76F9-9383-22E41755FE60}"/>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-PI</a:t>
            </a:r>
            <a:r>
              <a:rPr lang="zh-CN" altLang="en-US" sz="2400" b="1" kern="0">
                <a:solidFill>
                  <a:prstClr val="black"/>
                </a:solidFill>
                <a:latin typeface="黑体" panose="02010609060101010101" pitchFamily="49" charset="-122"/>
                <a:ea typeface="黑体" panose="02010609060101010101" pitchFamily="49" charset="-122"/>
              </a:rPr>
              <a:t>控制器的仿真和配置</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8A4250FF-53E4-F8BE-E760-BCA6941FEA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4" name="文本框 3">
            <a:extLst>
              <a:ext uri="{FF2B5EF4-FFF2-40B4-BE49-F238E27FC236}">
                <a16:creationId xmlns:a16="http://schemas.microsoft.com/office/drawing/2014/main" id="{460BDC9D-E72E-D602-3E44-A19AD5B11155}"/>
              </a:ext>
            </a:extLst>
          </p:cNvPr>
          <p:cNvSpPr txBox="1"/>
          <p:nvPr/>
        </p:nvSpPr>
        <p:spPr>
          <a:xfrm>
            <a:off x="962590" y="795715"/>
            <a:ext cx="10334059" cy="455253"/>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a:latin typeface="Times New Roman" panose="02020603050405020304" pitchFamily="18" charset="0"/>
                <a:ea typeface="宋体" panose="02010600030101010101" pitchFamily="2" charset="-122"/>
              </a:rPr>
              <a:t>空载</a:t>
            </a:r>
            <a:r>
              <a:rPr lang="zh-CN" altLang="zh-CN">
                <a:latin typeface="Times New Roman" panose="02020603050405020304" pitchFamily="18" charset="0"/>
                <a:ea typeface="宋体" panose="02010600030101010101" pitchFamily="2" charset="-122"/>
              </a:rPr>
              <a:t>启动时转速电枢电流波形图</a:t>
            </a:r>
            <a:endParaRPr lang="zh-CN" altLang="en-US">
              <a:latin typeface="Times New Roman" panose="02020603050405020304" pitchFamily="18" charset="0"/>
              <a:ea typeface="宋体" panose="02010600030101010101" pitchFamily="2" charset="-122"/>
            </a:endParaRPr>
          </a:p>
        </p:txBody>
      </p:sp>
      <p:pic>
        <p:nvPicPr>
          <p:cNvPr id="9" name="图片 8">
            <a:extLst>
              <a:ext uri="{FF2B5EF4-FFF2-40B4-BE49-F238E27FC236}">
                <a16:creationId xmlns:a16="http://schemas.microsoft.com/office/drawing/2014/main" id="{E2222284-5AD3-8D1F-FB19-0D5434486DC3}"/>
              </a:ext>
            </a:extLst>
          </p:cNvPr>
          <p:cNvPicPr>
            <a:picLocks noChangeAspect="1"/>
          </p:cNvPicPr>
          <p:nvPr/>
        </p:nvPicPr>
        <p:blipFill>
          <a:blip r:embed="rId4"/>
          <a:stretch>
            <a:fillRect/>
          </a:stretch>
        </p:blipFill>
        <p:spPr>
          <a:xfrm>
            <a:off x="1381991" y="1348698"/>
            <a:ext cx="8799953" cy="4681997"/>
          </a:xfrm>
          <a:prstGeom prst="rect">
            <a:avLst/>
          </a:prstGeom>
        </p:spPr>
      </p:pic>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03EEDADB-7BC4-D7B9-3A7C-ABCAE6E5DD46}"/>
                  </a:ext>
                </a:extLst>
              </p:cNvPr>
              <p:cNvSpPr txBox="1"/>
              <p:nvPr/>
            </p:nvSpPr>
            <p:spPr>
              <a:xfrm>
                <a:off x="314325" y="6174049"/>
                <a:ext cx="6094268" cy="6208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𝜎</m:t>
                          </m:r>
                        </m:e>
                        <m:sub>
                          <m:r>
                            <a:rPr lang="zh-CN" altLang="en-US" i="1">
                              <a:latin typeface="Cambria Math" panose="02040503050406030204" pitchFamily="18" charset="0"/>
                            </a:rPr>
                            <m:t>𝑛</m:t>
                          </m:r>
                        </m:sub>
                      </m:sSub>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1">
                              <a:latin typeface="Cambria Math" panose="02040503050406030204" pitchFamily="18" charset="0"/>
                            </a:rPr>
                            <m:t>𝑛</m:t>
                          </m:r>
                          <m:r>
                            <a:rPr lang="zh-CN" altLang="en-US" i="0">
                              <a:latin typeface="Cambria Math" panose="02040503050406030204" pitchFamily="18" charset="0"/>
                            </a:rPr>
                            <m:t>−</m:t>
                          </m:r>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𝑛</m:t>
                              </m:r>
                            </m:e>
                            <m:sup>
                              <m:r>
                                <a:rPr lang="zh-CN" altLang="en-US" i="0">
                                  <a:latin typeface="Cambria Math" panose="02040503050406030204" pitchFamily="18" charset="0"/>
                                </a:rPr>
                                <m:t>∗</m:t>
                              </m:r>
                            </m:sup>
                          </m:sSup>
                        </m:num>
                        <m:den>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𝑛</m:t>
                              </m:r>
                            </m:e>
                            <m:sup>
                              <m:r>
                                <a:rPr lang="zh-CN" altLang="en-US" i="0">
                                  <a:latin typeface="Cambria Math" panose="02040503050406030204" pitchFamily="18" charset="0"/>
                                </a:rPr>
                                <m:t>∗</m:t>
                              </m:r>
                            </m:sup>
                          </m:sSup>
                        </m:den>
                      </m:f>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6</m:t>
                          </m:r>
                          <m:r>
                            <a:rPr lang="en-US" altLang="zh-CN" b="0" i="0" smtClean="0">
                              <a:latin typeface="Cambria Math" panose="02040503050406030204" pitchFamily="18" charset="0"/>
                            </a:rPr>
                            <m:t>17.3</m:t>
                          </m:r>
                          <m:r>
                            <a:rPr lang="zh-CN" altLang="en-US" i="0">
                              <a:latin typeface="Cambria Math" panose="02040503050406030204" pitchFamily="18" charset="0"/>
                            </a:rPr>
                            <m:t>−600</m:t>
                          </m:r>
                        </m:num>
                        <m:den>
                          <m:r>
                            <a:rPr lang="zh-CN" altLang="en-US" i="0">
                              <a:latin typeface="Cambria Math" panose="02040503050406030204" pitchFamily="18" charset="0"/>
                            </a:rPr>
                            <m:t>600</m:t>
                          </m:r>
                        </m:den>
                      </m:f>
                      <m:r>
                        <a:rPr lang="zh-CN" altLang="en-US" i="0">
                          <a:latin typeface="Cambria Math" panose="02040503050406030204" pitchFamily="18" charset="0"/>
                        </a:rPr>
                        <m:t>×100%=</m:t>
                      </m:r>
                      <m:r>
                        <a:rPr lang="en-US" altLang="zh-CN" b="0" i="0" smtClean="0">
                          <a:latin typeface="Cambria Math" panose="02040503050406030204" pitchFamily="18" charset="0"/>
                        </a:rPr>
                        <m:t>2.8</m:t>
                      </m:r>
                      <m:r>
                        <a:rPr lang="zh-CN" altLang="en-US" i="0">
                          <a:latin typeface="Cambria Math" panose="02040503050406030204" pitchFamily="18" charset="0"/>
                        </a:rPr>
                        <m:t>8%&lt;10%</m:t>
                      </m:r>
                    </m:oMath>
                  </m:oMathPara>
                </a14:m>
                <a:endParaRPr lang="zh-CN" altLang="en-US"/>
              </a:p>
            </p:txBody>
          </p:sp>
        </mc:Choice>
        <mc:Fallback xmlns="">
          <p:sp>
            <p:nvSpPr>
              <p:cNvPr id="11" name="文本框 10">
                <a:extLst>
                  <a:ext uri="{FF2B5EF4-FFF2-40B4-BE49-F238E27FC236}">
                    <a16:creationId xmlns:a16="http://schemas.microsoft.com/office/drawing/2014/main" id="{03EEDADB-7BC4-D7B9-3A7C-ABCAE6E5DD46}"/>
                  </a:ext>
                </a:extLst>
              </p:cNvPr>
              <p:cNvSpPr txBox="1">
                <a:spLocks noRot="1" noChangeAspect="1" noMove="1" noResize="1" noEditPoints="1" noAdjustHandles="1" noChangeArrowheads="1" noChangeShapeType="1" noTextEdit="1"/>
              </p:cNvSpPr>
              <p:nvPr/>
            </p:nvSpPr>
            <p:spPr>
              <a:xfrm>
                <a:off x="314325" y="6174049"/>
                <a:ext cx="6094268" cy="620811"/>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3FA72FEB-7A5D-8694-48A9-CC45328EF33F}"/>
                  </a:ext>
                </a:extLst>
              </p:cNvPr>
              <p:cNvSpPr txBox="1"/>
              <p:nvPr/>
            </p:nvSpPr>
            <p:spPr>
              <a:xfrm>
                <a:off x="5882599" y="6168259"/>
                <a:ext cx="6094268" cy="6897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𝜎</m:t>
                          </m:r>
                        </m:e>
                        <m:sub>
                          <m:r>
                            <a:rPr lang="zh-CN" altLang="en-US" i="1">
                              <a:latin typeface="Cambria Math" panose="02040503050406030204" pitchFamily="18" charset="0"/>
                            </a:rPr>
                            <m:t>𝑖</m:t>
                          </m:r>
                        </m:sub>
                      </m:sSub>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𝑑𝑚</m:t>
                              </m:r>
                            </m:sub>
                          </m:sSub>
                          <m:r>
                            <a:rPr lang="zh-CN" altLang="en-US" i="0">
                              <a:latin typeface="Cambria Math" panose="02040503050406030204" pitchFamily="18" charset="0"/>
                            </a:rPr>
                            <m:t>−</m:t>
                          </m:r>
                          <m:sSubSup>
                            <m:sSubSupPr>
                              <m:ctrlPr>
                                <a:rPr lang="zh-CN" altLang="en-US" i="1">
                                  <a:solidFill>
                                    <a:srgbClr val="836967"/>
                                  </a:solidFill>
                                  <a:latin typeface="Cambria Math" panose="02040503050406030204" pitchFamily="18" charset="0"/>
                                </a:rPr>
                              </m:ctrlPr>
                            </m:sSubSupPr>
                            <m:e>
                              <m:r>
                                <a:rPr lang="zh-CN" altLang="en-US" i="1">
                                  <a:latin typeface="Cambria Math" panose="02040503050406030204" pitchFamily="18" charset="0"/>
                                </a:rPr>
                                <m:t>𝐼</m:t>
                              </m:r>
                            </m:e>
                            <m:sub>
                              <m:r>
                                <a:rPr lang="zh-CN" altLang="en-US" i="1">
                                  <a:latin typeface="Cambria Math" panose="02040503050406030204" pitchFamily="18" charset="0"/>
                                </a:rPr>
                                <m:t>𝑑𝑚</m:t>
                              </m:r>
                            </m:sub>
                            <m:sup>
                              <m:r>
                                <a:rPr lang="zh-CN" altLang="en-US" i="0">
                                  <a:latin typeface="Cambria Math" panose="02040503050406030204" pitchFamily="18" charset="0"/>
                                </a:rPr>
                                <m:t>∗</m:t>
                              </m:r>
                            </m:sup>
                          </m:sSubSup>
                        </m:num>
                        <m:den>
                          <m:sSubSup>
                            <m:sSubSupPr>
                              <m:ctrlPr>
                                <a:rPr lang="zh-CN" altLang="en-US" i="1">
                                  <a:solidFill>
                                    <a:srgbClr val="836967"/>
                                  </a:solidFill>
                                  <a:latin typeface="Cambria Math" panose="02040503050406030204" pitchFamily="18" charset="0"/>
                                </a:rPr>
                              </m:ctrlPr>
                            </m:sSubSupPr>
                            <m:e>
                              <m:r>
                                <a:rPr lang="zh-CN" altLang="en-US" i="1">
                                  <a:latin typeface="Cambria Math" panose="02040503050406030204" pitchFamily="18" charset="0"/>
                                </a:rPr>
                                <m:t>𝐼</m:t>
                              </m:r>
                            </m:e>
                            <m:sub>
                              <m:r>
                                <a:rPr lang="zh-CN" altLang="en-US" i="1">
                                  <a:latin typeface="Cambria Math" panose="02040503050406030204" pitchFamily="18" charset="0"/>
                                </a:rPr>
                                <m:t>𝑑𝑚</m:t>
                              </m:r>
                            </m:sub>
                            <m:sup>
                              <m:r>
                                <a:rPr lang="zh-CN" altLang="en-US" i="0">
                                  <a:latin typeface="Cambria Math" panose="02040503050406030204" pitchFamily="18" charset="0"/>
                                </a:rPr>
                                <m:t>∗</m:t>
                              </m:r>
                            </m:sup>
                          </m:sSubSup>
                        </m:den>
                      </m:f>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314</m:t>
                          </m:r>
                          <m:r>
                            <a:rPr lang="en-US" altLang="zh-CN" b="0" i="0" smtClean="0">
                              <a:latin typeface="Cambria Math" panose="02040503050406030204" pitchFamily="18" charset="0"/>
                            </a:rPr>
                            <m:t>0</m:t>
                          </m:r>
                          <m:r>
                            <a:rPr lang="zh-CN" altLang="en-US" i="0">
                              <a:latin typeface="Cambria Math" panose="02040503050406030204" pitchFamily="18" charset="0"/>
                            </a:rPr>
                            <m:t>−3030</m:t>
                          </m:r>
                        </m:num>
                        <m:den>
                          <m:r>
                            <a:rPr lang="zh-CN" altLang="en-US" i="0">
                              <a:latin typeface="Cambria Math" panose="02040503050406030204" pitchFamily="18" charset="0"/>
                            </a:rPr>
                            <m:t>3030</m:t>
                          </m:r>
                        </m:den>
                      </m:f>
                      <m:r>
                        <a:rPr lang="zh-CN" altLang="en-US" i="0">
                          <a:latin typeface="Cambria Math" panose="02040503050406030204" pitchFamily="18" charset="0"/>
                        </a:rPr>
                        <m:t>×100%=3.</m:t>
                      </m:r>
                      <m:r>
                        <a:rPr lang="en-US" altLang="zh-CN" b="0" i="0" smtClean="0">
                          <a:latin typeface="Cambria Math" panose="02040503050406030204" pitchFamily="18" charset="0"/>
                        </a:rPr>
                        <m:t>6</m:t>
                      </m:r>
                      <m:r>
                        <a:rPr lang="zh-CN" altLang="en-US" i="0">
                          <a:latin typeface="Cambria Math" panose="02040503050406030204" pitchFamily="18" charset="0"/>
                        </a:rPr>
                        <m:t>3%&lt;5%</m:t>
                      </m:r>
                    </m:oMath>
                  </m:oMathPara>
                </a14:m>
                <a:endParaRPr lang="zh-CN" altLang="en-US"/>
              </a:p>
            </p:txBody>
          </p:sp>
        </mc:Choice>
        <mc:Fallback xmlns="">
          <p:sp>
            <p:nvSpPr>
              <p:cNvPr id="5" name="文本框 4">
                <a:extLst>
                  <a:ext uri="{FF2B5EF4-FFF2-40B4-BE49-F238E27FC236}">
                    <a16:creationId xmlns:a16="http://schemas.microsoft.com/office/drawing/2014/main" id="{3FA72FEB-7A5D-8694-48A9-CC45328EF33F}"/>
                  </a:ext>
                </a:extLst>
              </p:cNvPr>
              <p:cNvSpPr txBox="1">
                <a:spLocks noRot="1" noChangeAspect="1" noMove="1" noResize="1" noEditPoints="1" noAdjustHandles="1" noChangeArrowheads="1" noChangeShapeType="1" noTextEdit="1"/>
              </p:cNvSpPr>
              <p:nvPr/>
            </p:nvSpPr>
            <p:spPr>
              <a:xfrm>
                <a:off x="5882599" y="6168259"/>
                <a:ext cx="6094268" cy="689741"/>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70942406"/>
      </p:ext>
    </p:extLst>
  </p:cSld>
  <p:clrMapOvr>
    <a:masterClrMapping/>
  </p:clrMapOvr>
  <p:transition spd="slow" advTm="9487"/>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4BC4C-5FF4-5F9C-41D5-84484987340A}"/>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B4804A30-AD8D-DFB1-2A5F-3E385AB8D614}"/>
              </a:ext>
            </a:extLst>
          </p:cNvPr>
          <p:cNvCxnSpPr>
            <a:cxnSpLocks/>
          </p:cNvCxnSpPr>
          <p:nvPr/>
        </p:nvCxnSpPr>
        <p:spPr>
          <a:xfrm flipV="1">
            <a:off x="1014737" y="631512"/>
            <a:ext cx="7246036" cy="1620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D020D7F0-BEF0-7CE8-A457-5144CD7C5D0A}"/>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-PI</a:t>
            </a:r>
            <a:r>
              <a:rPr lang="zh-CN" altLang="en-US" sz="2400" b="1" kern="0">
                <a:solidFill>
                  <a:prstClr val="black"/>
                </a:solidFill>
                <a:latin typeface="黑体" panose="02010609060101010101" pitchFamily="49" charset="-122"/>
                <a:ea typeface="黑体" panose="02010609060101010101" pitchFamily="49" charset="-122"/>
              </a:rPr>
              <a:t>控制器的仿真和配置</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56E76B4B-7807-1DCC-24DF-047E70F9DA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4" name="文本框 3">
            <a:extLst>
              <a:ext uri="{FF2B5EF4-FFF2-40B4-BE49-F238E27FC236}">
                <a16:creationId xmlns:a16="http://schemas.microsoft.com/office/drawing/2014/main" id="{2ABDDD59-579E-73AC-0496-C55DAEC515E5}"/>
              </a:ext>
            </a:extLst>
          </p:cNvPr>
          <p:cNvSpPr txBox="1"/>
          <p:nvPr/>
        </p:nvSpPr>
        <p:spPr>
          <a:xfrm>
            <a:off x="962590" y="795715"/>
            <a:ext cx="10334059" cy="455253"/>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zh-CN">
                <a:latin typeface="Times New Roman" panose="02020603050405020304" pitchFamily="18" charset="0"/>
                <a:ea typeface="宋体" panose="02010600030101010101" pitchFamily="2" charset="-122"/>
              </a:rPr>
              <a:t>理想空载启动与停止时电枢电流及转速波形图</a:t>
            </a:r>
            <a:endParaRPr lang="zh-CN" altLang="en-US">
              <a:latin typeface="Times New Roman" panose="02020603050405020304" pitchFamily="18" charset="0"/>
              <a:ea typeface="宋体" panose="02010600030101010101" pitchFamily="2" charset="-122"/>
            </a:endParaRPr>
          </a:p>
        </p:txBody>
      </p:sp>
      <p:pic>
        <p:nvPicPr>
          <p:cNvPr id="9" name="图片 8">
            <a:extLst>
              <a:ext uri="{FF2B5EF4-FFF2-40B4-BE49-F238E27FC236}">
                <a16:creationId xmlns:a16="http://schemas.microsoft.com/office/drawing/2014/main" id="{E943C571-4A61-E0DB-15BD-CEE128336DD9}"/>
              </a:ext>
            </a:extLst>
          </p:cNvPr>
          <p:cNvPicPr>
            <a:picLocks noChangeAspect="1"/>
          </p:cNvPicPr>
          <p:nvPr/>
        </p:nvPicPr>
        <p:blipFill>
          <a:blip r:embed="rId4"/>
          <a:stretch>
            <a:fillRect/>
          </a:stretch>
        </p:blipFill>
        <p:spPr>
          <a:xfrm>
            <a:off x="1319646" y="1292370"/>
            <a:ext cx="9595564" cy="5087648"/>
          </a:xfrm>
          <a:prstGeom prst="rect">
            <a:avLst/>
          </a:prstGeom>
        </p:spPr>
      </p:pic>
    </p:spTree>
    <p:extLst>
      <p:ext uri="{BB962C8B-B14F-4D97-AF65-F5344CB8AC3E}">
        <p14:creationId xmlns:p14="http://schemas.microsoft.com/office/powerpoint/2010/main" val="3270645741"/>
      </p:ext>
    </p:extLst>
  </p:cSld>
  <p:clrMapOvr>
    <a:masterClrMapping/>
  </p:clrMapOvr>
  <p:transition spd="slow" advTm="9487"/>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44CDB-C835-F7B2-46AD-17442EFAAA2B}"/>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4672A7AB-69A0-B9C8-1439-BE201DC33771}"/>
              </a:ext>
            </a:extLst>
          </p:cNvPr>
          <p:cNvCxnSpPr>
            <a:cxnSpLocks/>
          </p:cNvCxnSpPr>
          <p:nvPr/>
        </p:nvCxnSpPr>
        <p:spPr>
          <a:xfrm flipV="1">
            <a:off x="1014737" y="631512"/>
            <a:ext cx="7246036" cy="1620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2C96ADC3-5768-634E-5B27-4D6BA1D42840}"/>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-PI</a:t>
            </a:r>
            <a:r>
              <a:rPr lang="zh-CN" altLang="en-US" sz="2400" b="1" kern="0">
                <a:solidFill>
                  <a:prstClr val="black"/>
                </a:solidFill>
                <a:latin typeface="黑体" panose="02010609060101010101" pitchFamily="49" charset="-122"/>
                <a:ea typeface="黑体" panose="02010609060101010101" pitchFamily="49" charset="-122"/>
              </a:rPr>
              <a:t>控制器的仿真和配置</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ED915809-4970-0A44-EA00-17AE080D7D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4" name="文本框 3">
            <a:extLst>
              <a:ext uri="{FF2B5EF4-FFF2-40B4-BE49-F238E27FC236}">
                <a16:creationId xmlns:a16="http://schemas.microsoft.com/office/drawing/2014/main" id="{1C3C7566-499F-0B47-F494-D76920789F7D}"/>
              </a:ext>
            </a:extLst>
          </p:cNvPr>
          <p:cNvSpPr txBox="1"/>
          <p:nvPr/>
        </p:nvSpPr>
        <p:spPr>
          <a:xfrm>
            <a:off x="962590" y="795715"/>
            <a:ext cx="10334059" cy="455253"/>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a:latin typeface="Times New Roman" panose="02020603050405020304" pitchFamily="18" charset="0"/>
                <a:ea typeface="宋体" panose="02010600030101010101" pitchFamily="2" charset="-122"/>
              </a:rPr>
              <a:t>半载</a:t>
            </a:r>
            <a:r>
              <a:rPr lang="zh-CN" altLang="zh-CN">
                <a:latin typeface="Times New Roman" panose="02020603050405020304" pitchFamily="18" charset="0"/>
                <a:ea typeface="宋体" panose="02010600030101010101" pitchFamily="2" charset="-122"/>
              </a:rPr>
              <a:t>启动时转速电枢电流波形图</a:t>
            </a:r>
            <a:endParaRPr lang="zh-CN" altLang="en-US">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596737B1-9436-94CE-4275-73BFDD089EFC}"/>
                  </a:ext>
                </a:extLst>
              </p:cNvPr>
              <p:cNvSpPr txBox="1"/>
              <p:nvPr/>
            </p:nvSpPr>
            <p:spPr>
              <a:xfrm>
                <a:off x="1732" y="6167727"/>
                <a:ext cx="6094268" cy="6208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𝜎</m:t>
                          </m:r>
                        </m:e>
                        <m:sub>
                          <m:r>
                            <a:rPr lang="zh-CN" altLang="en-US" i="1">
                              <a:latin typeface="Cambria Math" panose="02040503050406030204" pitchFamily="18" charset="0"/>
                            </a:rPr>
                            <m:t>𝑛</m:t>
                          </m:r>
                        </m:sub>
                      </m:sSub>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1">
                              <a:latin typeface="Cambria Math" panose="02040503050406030204" pitchFamily="18" charset="0"/>
                            </a:rPr>
                            <m:t>𝑛</m:t>
                          </m:r>
                          <m:r>
                            <a:rPr lang="zh-CN" altLang="en-US" i="0">
                              <a:latin typeface="Cambria Math" panose="02040503050406030204" pitchFamily="18" charset="0"/>
                            </a:rPr>
                            <m:t>−</m:t>
                          </m:r>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𝑛</m:t>
                              </m:r>
                            </m:e>
                            <m:sup>
                              <m:r>
                                <a:rPr lang="zh-CN" altLang="en-US" i="0">
                                  <a:latin typeface="Cambria Math" panose="02040503050406030204" pitchFamily="18" charset="0"/>
                                </a:rPr>
                                <m:t>∗</m:t>
                              </m:r>
                            </m:sup>
                          </m:sSup>
                        </m:num>
                        <m:den>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𝑛</m:t>
                              </m:r>
                            </m:e>
                            <m:sup>
                              <m:r>
                                <a:rPr lang="zh-CN" altLang="en-US" i="0">
                                  <a:latin typeface="Cambria Math" panose="02040503050406030204" pitchFamily="18" charset="0"/>
                                </a:rPr>
                                <m:t>∗</m:t>
                              </m:r>
                            </m:sup>
                          </m:sSup>
                        </m:den>
                      </m:f>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6</m:t>
                          </m:r>
                          <m:r>
                            <a:rPr lang="en-US" altLang="zh-CN" b="0" i="0" smtClean="0">
                              <a:latin typeface="Cambria Math" panose="02040503050406030204" pitchFamily="18" charset="0"/>
                            </a:rPr>
                            <m:t>11</m:t>
                          </m:r>
                          <m:r>
                            <a:rPr lang="zh-CN" altLang="en-US" i="0">
                              <a:latin typeface="Cambria Math" panose="02040503050406030204" pitchFamily="18" charset="0"/>
                            </a:rPr>
                            <m:t>−600</m:t>
                          </m:r>
                        </m:num>
                        <m:den>
                          <m:r>
                            <a:rPr lang="zh-CN" altLang="en-US" i="0">
                              <a:latin typeface="Cambria Math" panose="02040503050406030204" pitchFamily="18" charset="0"/>
                            </a:rPr>
                            <m:t>600</m:t>
                          </m:r>
                        </m:den>
                      </m:f>
                      <m:r>
                        <a:rPr lang="zh-CN" altLang="en-US" i="0">
                          <a:latin typeface="Cambria Math" panose="02040503050406030204" pitchFamily="18" charset="0"/>
                        </a:rPr>
                        <m:t>×100%=</m:t>
                      </m:r>
                      <m:r>
                        <a:rPr lang="en-US" altLang="zh-CN" b="0" i="0" smtClean="0">
                          <a:latin typeface="Cambria Math" panose="02040503050406030204" pitchFamily="18" charset="0"/>
                        </a:rPr>
                        <m:t>1.83%</m:t>
                      </m:r>
                    </m:oMath>
                  </m:oMathPara>
                </a14:m>
                <a:endParaRPr lang="zh-CN" altLang="en-US"/>
              </a:p>
            </p:txBody>
          </p:sp>
        </mc:Choice>
        <mc:Fallback xmlns="">
          <p:sp>
            <p:nvSpPr>
              <p:cNvPr id="11" name="文本框 10">
                <a:extLst>
                  <a:ext uri="{FF2B5EF4-FFF2-40B4-BE49-F238E27FC236}">
                    <a16:creationId xmlns:a16="http://schemas.microsoft.com/office/drawing/2014/main" id="{596737B1-9436-94CE-4275-73BFDD089EFC}"/>
                  </a:ext>
                </a:extLst>
              </p:cNvPr>
              <p:cNvSpPr txBox="1">
                <a:spLocks noRot="1" noChangeAspect="1" noMove="1" noResize="1" noEditPoints="1" noAdjustHandles="1" noChangeArrowheads="1" noChangeShapeType="1" noTextEdit="1"/>
              </p:cNvSpPr>
              <p:nvPr/>
            </p:nvSpPr>
            <p:spPr>
              <a:xfrm>
                <a:off x="1732" y="6167727"/>
                <a:ext cx="6094268" cy="620811"/>
              </a:xfrm>
              <a:prstGeom prst="rect">
                <a:avLst/>
              </a:prstGeom>
              <a:blipFill>
                <a:blip r:embed="rId4"/>
                <a:stretch>
                  <a:fillRect/>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EA6785BD-E910-EB92-AB9C-9E5B17852C37}"/>
              </a:ext>
            </a:extLst>
          </p:cNvPr>
          <p:cNvPicPr>
            <a:picLocks noChangeAspect="1"/>
          </p:cNvPicPr>
          <p:nvPr/>
        </p:nvPicPr>
        <p:blipFill>
          <a:blip r:embed="rId5"/>
          <a:stretch>
            <a:fillRect/>
          </a:stretch>
        </p:blipFill>
        <p:spPr>
          <a:xfrm>
            <a:off x="1393726" y="1250968"/>
            <a:ext cx="8977745" cy="4771912"/>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EB1AFA60-C1EE-4F3D-C523-7DAA2F67F52F}"/>
                  </a:ext>
                </a:extLst>
              </p:cNvPr>
              <p:cNvSpPr txBox="1"/>
              <p:nvPr/>
            </p:nvSpPr>
            <p:spPr>
              <a:xfrm>
                <a:off x="5202381" y="6133261"/>
                <a:ext cx="6094268" cy="6897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𝜎</m:t>
                          </m:r>
                        </m:e>
                        <m:sub>
                          <m:r>
                            <a:rPr lang="zh-CN" altLang="en-US" i="1">
                              <a:latin typeface="Cambria Math" panose="02040503050406030204" pitchFamily="18" charset="0"/>
                            </a:rPr>
                            <m:t>𝑖</m:t>
                          </m:r>
                        </m:sub>
                      </m:sSub>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𝑑𝑚</m:t>
                              </m:r>
                            </m:sub>
                          </m:sSub>
                          <m:r>
                            <a:rPr lang="zh-CN" altLang="en-US" i="0">
                              <a:latin typeface="Cambria Math" panose="02040503050406030204" pitchFamily="18" charset="0"/>
                            </a:rPr>
                            <m:t>−</m:t>
                          </m:r>
                          <m:sSubSup>
                            <m:sSubSupPr>
                              <m:ctrlPr>
                                <a:rPr lang="zh-CN" altLang="en-US" i="1">
                                  <a:solidFill>
                                    <a:srgbClr val="836967"/>
                                  </a:solidFill>
                                  <a:latin typeface="Cambria Math" panose="02040503050406030204" pitchFamily="18" charset="0"/>
                                </a:rPr>
                              </m:ctrlPr>
                            </m:sSubSupPr>
                            <m:e>
                              <m:r>
                                <a:rPr lang="zh-CN" altLang="en-US" i="1">
                                  <a:latin typeface="Cambria Math" panose="02040503050406030204" pitchFamily="18" charset="0"/>
                                </a:rPr>
                                <m:t>𝐼</m:t>
                              </m:r>
                            </m:e>
                            <m:sub>
                              <m:r>
                                <a:rPr lang="zh-CN" altLang="en-US" i="1">
                                  <a:latin typeface="Cambria Math" panose="02040503050406030204" pitchFamily="18" charset="0"/>
                                </a:rPr>
                                <m:t>𝑑𝑚</m:t>
                              </m:r>
                            </m:sub>
                            <m:sup>
                              <m:r>
                                <a:rPr lang="zh-CN" altLang="en-US" i="0">
                                  <a:latin typeface="Cambria Math" panose="02040503050406030204" pitchFamily="18" charset="0"/>
                                </a:rPr>
                                <m:t>∗</m:t>
                              </m:r>
                            </m:sup>
                          </m:sSubSup>
                        </m:num>
                        <m:den>
                          <m:sSubSup>
                            <m:sSubSupPr>
                              <m:ctrlPr>
                                <a:rPr lang="zh-CN" altLang="en-US" i="1">
                                  <a:solidFill>
                                    <a:srgbClr val="836967"/>
                                  </a:solidFill>
                                  <a:latin typeface="Cambria Math" panose="02040503050406030204" pitchFamily="18" charset="0"/>
                                </a:rPr>
                              </m:ctrlPr>
                            </m:sSubSupPr>
                            <m:e>
                              <m:r>
                                <a:rPr lang="zh-CN" altLang="en-US" i="1">
                                  <a:latin typeface="Cambria Math" panose="02040503050406030204" pitchFamily="18" charset="0"/>
                                </a:rPr>
                                <m:t>𝐼</m:t>
                              </m:r>
                            </m:e>
                            <m:sub>
                              <m:r>
                                <a:rPr lang="zh-CN" altLang="en-US" i="1">
                                  <a:latin typeface="Cambria Math" panose="02040503050406030204" pitchFamily="18" charset="0"/>
                                </a:rPr>
                                <m:t>𝑑𝑚</m:t>
                              </m:r>
                            </m:sub>
                            <m:sup>
                              <m:r>
                                <a:rPr lang="zh-CN" altLang="en-US" i="0">
                                  <a:latin typeface="Cambria Math" panose="02040503050406030204" pitchFamily="18" charset="0"/>
                                </a:rPr>
                                <m:t>∗</m:t>
                              </m:r>
                            </m:sup>
                          </m:sSubSup>
                        </m:den>
                      </m:f>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31</m:t>
                          </m:r>
                          <m:r>
                            <a:rPr lang="en-US" altLang="zh-CN" b="0" i="0" smtClean="0">
                              <a:latin typeface="Cambria Math" panose="02040503050406030204" pitchFamily="18" charset="0"/>
                            </a:rPr>
                            <m:t>47</m:t>
                          </m:r>
                          <m:r>
                            <a:rPr lang="zh-CN" altLang="en-US" i="0">
                              <a:latin typeface="Cambria Math" panose="02040503050406030204" pitchFamily="18" charset="0"/>
                            </a:rPr>
                            <m:t>−3030</m:t>
                          </m:r>
                        </m:num>
                        <m:den>
                          <m:r>
                            <a:rPr lang="zh-CN" altLang="en-US" i="0">
                              <a:latin typeface="Cambria Math" panose="02040503050406030204" pitchFamily="18" charset="0"/>
                            </a:rPr>
                            <m:t>3030</m:t>
                          </m:r>
                        </m:den>
                      </m:f>
                      <m:r>
                        <a:rPr lang="zh-CN" altLang="en-US" i="0">
                          <a:latin typeface="Cambria Math" panose="02040503050406030204" pitchFamily="18" charset="0"/>
                        </a:rPr>
                        <m:t>×100%=</m:t>
                      </m:r>
                      <m:r>
                        <a:rPr lang="en-US" altLang="zh-CN" b="0" i="0" smtClean="0">
                          <a:latin typeface="Cambria Math" panose="02040503050406030204" pitchFamily="18" charset="0"/>
                        </a:rPr>
                        <m:t>3.8</m:t>
                      </m:r>
                      <m:r>
                        <a:rPr lang="zh-CN" altLang="en-US" i="0">
                          <a:latin typeface="Cambria Math" panose="02040503050406030204" pitchFamily="18" charset="0"/>
                        </a:rPr>
                        <m:t>6%&lt;5%</m:t>
                      </m:r>
                    </m:oMath>
                  </m:oMathPara>
                </a14:m>
                <a:endParaRPr lang="zh-CN" altLang="en-US"/>
              </a:p>
            </p:txBody>
          </p:sp>
        </mc:Choice>
        <mc:Fallback xmlns="">
          <p:sp>
            <p:nvSpPr>
              <p:cNvPr id="7" name="文本框 6">
                <a:extLst>
                  <a:ext uri="{FF2B5EF4-FFF2-40B4-BE49-F238E27FC236}">
                    <a16:creationId xmlns:a16="http://schemas.microsoft.com/office/drawing/2014/main" id="{EB1AFA60-C1EE-4F3D-C523-7DAA2F67F52F}"/>
                  </a:ext>
                </a:extLst>
              </p:cNvPr>
              <p:cNvSpPr txBox="1">
                <a:spLocks noRot="1" noChangeAspect="1" noMove="1" noResize="1" noEditPoints="1" noAdjustHandles="1" noChangeArrowheads="1" noChangeShapeType="1" noTextEdit="1"/>
              </p:cNvSpPr>
              <p:nvPr/>
            </p:nvSpPr>
            <p:spPr>
              <a:xfrm>
                <a:off x="5202381" y="6133261"/>
                <a:ext cx="6094268" cy="689741"/>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70234765"/>
      </p:ext>
    </p:extLst>
  </p:cSld>
  <p:clrMapOvr>
    <a:masterClrMapping/>
  </p:clrMapOvr>
  <p:transition spd="slow" advTm="9487"/>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0A392-C668-237C-BE3E-666023303E2C}"/>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DD4521C7-0E89-7373-F14F-1CB5F42FDB35}"/>
              </a:ext>
            </a:extLst>
          </p:cNvPr>
          <p:cNvCxnSpPr>
            <a:cxnSpLocks/>
          </p:cNvCxnSpPr>
          <p:nvPr/>
        </p:nvCxnSpPr>
        <p:spPr>
          <a:xfrm flipV="1">
            <a:off x="1014737" y="631512"/>
            <a:ext cx="7246036" cy="1620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7F448947-602E-4A48-45BA-E1DBC067095E}"/>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-PI</a:t>
            </a:r>
            <a:r>
              <a:rPr lang="zh-CN" altLang="en-US" sz="2400" b="1" kern="0">
                <a:solidFill>
                  <a:prstClr val="black"/>
                </a:solidFill>
                <a:latin typeface="黑体" panose="02010609060101010101" pitchFamily="49" charset="-122"/>
                <a:ea typeface="黑体" panose="02010609060101010101" pitchFamily="49" charset="-122"/>
              </a:rPr>
              <a:t>控制器的仿真和配置</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75443670-E0A5-F6C6-6448-A893BE7F18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4" name="文本框 3">
            <a:extLst>
              <a:ext uri="{FF2B5EF4-FFF2-40B4-BE49-F238E27FC236}">
                <a16:creationId xmlns:a16="http://schemas.microsoft.com/office/drawing/2014/main" id="{D4788F8C-D6B3-2065-EE92-059CE9ED0E59}"/>
              </a:ext>
            </a:extLst>
          </p:cNvPr>
          <p:cNvSpPr txBox="1"/>
          <p:nvPr/>
        </p:nvSpPr>
        <p:spPr>
          <a:xfrm>
            <a:off x="962590" y="795715"/>
            <a:ext cx="10334059" cy="455253"/>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a:latin typeface="Times New Roman" panose="02020603050405020304" pitchFamily="18" charset="0"/>
                <a:ea typeface="宋体" panose="02010600030101010101" pitchFamily="2" charset="-122"/>
              </a:rPr>
              <a:t>半</a:t>
            </a:r>
            <a:r>
              <a:rPr lang="zh-CN" altLang="zh-CN">
                <a:latin typeface="Times New Roman" panose="02020603050405020304" pitchFamily="18" charset="0"/>
                <a:ea typeface="宋体" panose="02010600030101010101" pitchFamily="2" charset="-122"/>
              </a:rPr>
              <a:t>载启动与停止时电枢电流及转速波形图</a:t>
            </a:r>
            <a:endParaRPr lang="zh-CN" altLang="en-US">
              <a:latin typeface="Times New Roman" panose="02020603050405020304" pitchFamily="18" charset="0"/>
              <a:ea typeface="宋体" panose="02010600030101010101" pitchFamily="2" charset="-122"/>
            </a:endParaRPr>
          </a:p>
        </p:txBody>
      </p:sp>
      <p:pic>
        <p:nvPicPr>
          <p:cNvPr id="5" name="图片 4">
            <a:extLst>
              <a:ext uri="{FF2B5EF4-FFF2-40B4-BE49-F238E27FC236}">
                <a16:creationId xmlns:a16="http://schemas.microsoft.com/office/drawing/2014/main" id="{6E26D313-3572-6165-4060-2CDF5F290D0F}"/>
              </a:ext>
            </a:extLst>
          </p:cNvPr>
          <p:cNvPicPr>
            <a:picLocks noChangeAspect="1"/>
          </p:cNvPicPr>
          <p:nvPr/>
        </p:nvPicPr>
        <p:blipFill>
          <a:blip r:embed="rId4"/>
          <a:stretch>
            <a:fillRect/>
          </a:stretch>
        </p:blipFill>
        <p:spPr>
          <a:xfrm>
            <a:off x="1316483" y="1250968"/>
            <a:ext cx="9912927" cy="5268987"/>
          </a:xfrm>
          <a:prstGeom prst="rect">
            <a:avLst/>
          </a:prstGeom>
        </p:spPr>
      </p:pic>
    </p:spTree>
    <p:extLst>
      <p:ext uri="{BB962C8B-B14F-4D97-AF65-F5344CB8AC3E}">
        <p14:creationId xmlns:p14="http://schemas.microsoft.com/office/powerpoint/2010/main" val="2421180184"/>
      </p:ext>
    </p:extLst>
  </p:cSld>
  <p:clrMapOvr>
    <a:masterClrMapping/>
  </p:clrMapOvr>
  <p:transition spd="slow" advTm="9487"/>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7C5D3-373B-D3DD-CDB1-323E655BC226}"/>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BC5EE2D2-4B3F-7E7F-6263-EA388F96B533}"/>
              </a:ext>
            </a:extLst>
          </p:cNvPr>
          <p:cNvCxnSpPr>
            <a:cxnSpLocks/>
          </p:cNvCxnSpPr>
          <p:nvPr/>
        </p:nvCxnSpPr>
        <p:spPr>
          <a:xfrm flipV="1">
            <a:off x="1014737" y="631512"/>
            <a:ext cx="7246036" cy="1620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CAB0649A-2F91-A57B-5453-B094600B46A7}"/>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-PI</a:t>
            </a:r>
            <a:r>
              <a:rPr lang="zh-CN" altLang="en-US" sz="2400" b="1" kern="0">
                <a:solidFill>
                  <a:prstClr val="black"/>
                </a:solidFill>
                <a:latin typeface="黑体" panose="02010609060101010101" pitchFamily="49" charset="-122"/>
                <a:ea typeface="黑体" panose="02010609060101010101" pitchFamily="49" charset="-122"/>
              </a:rPr>
              <a:t>控制器的仿真和配置</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DB228B5C-BDBC-9B17-4D55-9833E93324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4" name="文本框 3">
            <a:extLst>
              <a:ext uri="{FF2B5EF4-FFF2-40B4-BE49-F238E27FC236}">
                <a16:creationId xmlns:a16="http://schemas.microsoft.com/office/drawing/2014/main" id="{AD4A2E3A-56E0-012B-9C7E-DEEA95A2F5B7}"/>
              </a:ext>
            </a:extLst>
          </p:cNvPr>
          <p:cNvSpPr txBox="1"/>
          <p:nvPr/>
        </p:nvSpPr>
        <p:spPr>
          <a:xfrm>
            <a:off x="962590" y="795715"/>
            <a:ext cx="10334059" cy="455253"/>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a:latin typeface="Times New Roman" panose="02020603050405020304" pitchFamily="18" charset="0"/>
                <a:ea typeface="宋体" panose="02010600030101010101" pitchFamily="2" charset="-122"/>
              </a:rPr>
              <a:t>满载</a:t>
            </a:r>
            <a:r>
              <a:rPr lang="zh-CN" altLang="zh-CN">
                <a:latin typeface="Times New Roman" panose="02020603050405020304" pitchFamily="18" charset="0"/>
                <a:ea typeface="宋体" panose="02010600030101010101" pitchFamily="2" charset="-122"/>
              </a:rPr>
              <a:t>启动时转速电枢电流波形图</a:t>
            </a:r>
            <a:endParaRPr lang="zh-CN" altLang="en-US">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1B98B220-5AE3-774F-4201-4C7BF3823E29}"/>
                  </a:ext>
                </a:extLst>
              </p:cNvPr>
              <p:cNvSpPr txBox="1"/>
              <p:nvPr/>
            </p:nvSpPr>
            <p:spPr>
              <a:xfrm>
                <a:off x="355889" y="6113470"/>
                <a:ext cx="6094268" cy="6208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𝜎</m:t>
                          </m:r>
                        </m:e>
                        <m:sub>
                          <m:r>
                            <a:rPr lang="zh-CN" altLang="en-US" i="1">
                              <a:latin typeface="Cambria Math" panose="02040503050406030204" pitchFamily="18" charset="0"/>
                            </a:rPr>
                            <m:t>𝑛</m:t>
                          </m:r>
                        </m:sub>
                      </m:sSub>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1">
                              <a:latin typeface="Cambria Math" panose="02040503050406030204" pitchFamily="18" charset="0"/>
                            </a:rPr>
                            <m:t>𝑛</m:t>
                          </m:r>
                          <m:r>
                            <a:rPr lang="zh-CN" altLang="en-US" i="0">
                              <a:latin typeface="Cambria Math" panose="02040503050406030204" pitchFamily="18" charset="0"/>
                            </a:rPr>
                            <m:t>−</m:t>
                          </m:r>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𝑛</m:t>
                              </m:r>
                            </m:e>
                            <m:sup>
                              <m:r>
                                <a:rPr lang="zh-CN" altLang="en-US" i="0">
                                  <a:latin typeface="Cambria Math" panose="02040503050406030204" pitchFamily="18" charset="0"/>
                                </a:rPr>
                                <m:t>∗</m:t>
                              </m:r>
                            </m:sup>
                          </m:sSup>
                        </m:num>
                        <m:den>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𝑛</m:t>
                              </m:r>
                            </m:e>
                            <m:sup>
                              <m:r>
                                <a:rPr lang="zh-CN" altLang="en-US" i="0">
                                  <a:latin typeface="Cambria Math" panose="02040503050406030204" pitchFamily="18" charset="0"/>
                                </a:rPr>
                                <m:t>∗</m:t>
                              </m:r>
                            </m:sup>
                          </m:sSup>
                        </m:den>
                      </m:f>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6</m:t>
                          </m:r>
                          <m:r>
                            <a:rPr lang="en-US" altLang="zh-CN" b="0" i="0" smtClean="0">
                              <a:latin typeface="Cambria Math" panose="02040503050406030204" pitchFamily="18" charset="0"/>
                            </a:rPr>
                            <m:t>04.8</m:t>
                          </m:r>
                          <m:r>
                            <a:rPr lang="zh-CN" altLang="en-US" i="0">
                              <a:latin typeface="Cambria Math" panose="02040503050406030204" pitchFamily="18" charset="0"/>
                            </a:rPr>
                            <m:t>−600</m:t>
                          </m:r>
                        </m:num>
                        <m:den>
                          <m:r>
                            <a:rPr lang="zh-CN" altLang="en-US" i="0">
                              <a:latin typeface="Cambria Math" panose="02040503050406030204" pitchFamily="18" charset="0"/>
                            </a:rPr>
                            <m:t>600</m:t>
                          </m:r>
                        </m:den>
                      </m:f>
                      <m:r>
                        <a:rPr lang="zh-CN" altLang="en-US" i="0">
                          <a:latin typeface="Cambria Math" panose="02040503050406030204" pitchFamily="18" charset="0"/>
                        </a:rPr>
                        <m:t>×100%=</m:t>
                      </m:r>
                      <m:r>
                        <a:rPr lang="en-US" altLang="zh-CN" b="0" i="0" smtClean="0">
                          <a:latin typeface="Cambria Math" panose="02040503050406030204" pitchFamily="18" charset="0"/>
                        </a:rPr>
                        <m:t>0.</m:t>
                      </m:r>
                      <m:r>
                        <a:rPr lang="zh-CN" altLang="en-US" i="0">
                          <a:latin typeface="Cambria Math" panose="02040503050406030204" pitchFamily="18" charset="0"/>
                        </a:rPr>
                        <m:t>8%</m:t>
                      </m:r>
                    </m:oMath>
                  </m:oMathPara>
                </a14:m>
                <a:endParaRPr lang="zh-CN" altLang="en-US"/>
              </a:p>
            </p:txBody>
          </p:sp>
        </mc:Choice>
        <mc:Fallback xmlns="">
          <p:sp>
            <p:nvSpPr>
              <p:cNvPr id="11" name="文本框 10">
                <a:extLst>
                  <a:ext uri="{FF2B5EF4-FFF2-40B4-BE49-F238E27FC236}">
                    <a16:creationId xmlns:a16="http://schemas.microsoft.com/office/drawing/2014/main" id="{1B98B220-5AE3-774F-4201-4C7BF3823E29}"/>
                  </a:ext>
                </a:extLst>
              </p:cNvPr>
              <p:cNvSpPr txBox="1">
                <a:spLocks noRot="1" noChangeAspect="1" noMove="1" noResize="1" noEditPoints="1" noAdjustHandles="1" noChangeArrowheads="1" noChangeShapeType="1" noTextEdit="1"/>
              </p:cNvSpPr>
              <p:nvPr/>
            </p:nvSpPr>
            <p:spPr>
              <a:xfrm>
                <a:off x="355889" y="6113470"/>
                <a:ext cx="6094268" cy="620811"/>
              </a:xfrm>
              <a:prstGeom prst="rect">
                <a:avLst/>
              </a:prstGeom>
              <a:blipFill>
                <a:blip r:embed="rId4"/>
                <a:stretch>
                  <a:fillRect/>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9A1BA5A6-AF94-1975-B65D-8792D2848289}"/>
              </a:ext>
            </a:extLst>
          </p:cNvPr>
          <p:cNvPicPr>
            <a:picLocks noChangeAspect="1"/>
          </p:cNvPicPr>
          <p:nvPr/>
        </p:nvPicPr>
        <p:blipFill>
          <a:blip r:embed="rId5"/>
          <a:stretch>
            <a:fillRect/>
          </a:stretch>
        </p:blipFill>
        <p:spPr>
          <a:xfrm>
            <a:off x="1329799" y="1250968"/>
            <a:ext cx="9105600" cy="4839871"/>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9260D409-C3E7-6243-32C4-ACCA42E68CD0}"/>
                  </a:ext>
                </a:extLst>
              </p:cNvPr>
              <p:cNvSpPr txBox="1"/>
              <p:nvPr/>
            </p:nvSpPr>
            <p:spPr>
              <a:xfrm>
                <a:off x="5499388" y="6062285"/>
                <a:ext cx="6094268" cy="6897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𝜎</m:t>
                          </m:r>
                        </m:e>
                        <m:sub>
                          <m:r>
                            <a:rPr lang="zh-CN" altLang="en-US" i="1">
                              <a:latin typeface="Cambria Math" panose="02040503050406030204" pitchFamily="18" charset="0"/>
                            </a:rPr>
                            <m:t>𝑖</m:t>
                          </m:r>
                        </m:sub>
                      </m:sSub>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𝑑𝑚</m:t>
                              </m:r>
                            </m:sub>
                          </m:sSub>
                          <m:r>
                            <a:rPr lang="zh-CN" altLang="en-US" i="0">
                              <a:latin typeface="Cambria Math" panose="02040503050406030204" pitchFamily="18" charset="0"/>
                            </a:rPr>
                            <m:t>−</m:t>
                          </m:r>
                          <m:sSubSup>
                            <m:sSubSupPr>
                              <m:ctrlPr>
                                <a:rPr lang="zh-CN" altLang="en-US" i="1">
                                  <a:solidFill>
                                    <a:srgbClr val="836967"/>
                                  </a:solidFill>
                                  <a:latin typeface="Cambria Math" panose="02040503050406030204" pitchFamily="18" charset="0"/>
                                </a:rPr>
                              </m:ctrlPr>
                            </m:sSubSupPr>
                            <m:e>
                              <m:r>
                                <a:rPr lang="zh-CN" altLang="en-US" i="1">
                                  <a:latin typeface="Cambria Math" panose="02040503050406030204" pitchFamily="18" charset="0"/>
                                </a:rPr>
                                <m:t>𝐼</m:t>
                              </m:r>
                            </m:e>
                            <m:sub>
                              <m:r>
                                <a:rPr lang="zh-CN" altLang="en-US" i="1">
                                  <a:latin typeface="Cambria Math" panose="02040503050406030204" pitchFamily="18" charset="0"/>
                                </a:rPr>
                                <m:t>𝑑𝑚</m:t>
                              </m:r>
                            </m:sub>
                            <m:sup>
                              <m:r>
                                <a:rPr lang="zh-CN" altLang="en-US" i="0">
                                  <a:latin typeface="Cambria Math" panose="02040503050406030204" pitchFamily="18" charset="0"/>
                                </a:rPr>
                                <m:t>∗</m:t>
                              </m:r>
                            </m:sup>
                          </m:sSubSup>
                        </m:num>
                        <m:den>
                          <m:sSubSup>
                            <m:sSubSupPr>
                              <m:ctrlPr>
                                <a:rPr lang="zh-CN" altLang="en-US" i="1">
                                  <a:solidFill>
                                    <a:srgbClr val="836967"/>
                                  </a:solidFill>
                                  <a:latin typeface="Cambria Math" panose="02040503050406030204" pitchFamily="18" charset="0"/>
                                </a:rPr>
                              </m:ctrlPr>
                            </m:sSubSupPr>
                            <m:e>
                              <m:r>
                                <a:rPr lang="zh-CN" altLang="en-US" i="1">
                                  <a:latin typeface="Cambria Math" panose="02040503050406030204" pitchFamily="18" charset="0"/>
                                </a:rPr>
                                <m:t>𝐼</m:t>
                              </m:r>
                            </m:e>
                            <m:sub>
                              <m:r>
                                <a:rPr lang="zh-CN" altLang="en-US" i="1">
                                  <a:latin typeface="Cambria Math" panose="02040503050406030204" pitchFamily="18" charset="0"/>
                                </a:rPr>
                                <m:t>𝑑𝑚</m:t>
                              </m:r>
                            </m:sub>
                            <m:sup>
                              <m:r>
                                <a:rPr lang="zh-CN" altLang="en-US" i="0">
                                  <a:latin typeface="Cambria Math" panose="02040503050406030204" pitchFamily="18" charset="0"/>
                                </a:rPr>
                                <m:t>∗</m:t>
                              </m:r>
                            </m:sup>
                          </m:sSubSup>
                        </m:den>
                      </m:f>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31</m:t>
                          </m:r>
                          <m:r>
                            <a:rPr lang="en-US" altLang="zh-CN" b="0" i="0" smtClean="0">
                              <a:latin typeface="Cambria Math" panose="02040503050406030204" pitchFamily="18" charset="0"/>
                            </a:rPr>
                            <m:t>57</m:t>
                          </m:r>
                          <m:r>
                            <a:rPr lang="zh-CN" altLang="en-US" i="0">
                              <a:latin typeface="Cambria Math" panose="02040503050406030204" pitchFamily="18" charset="0"/>
                            </a:rPr>
                            <m:t>−3030</m:t>
                          </m:r>
                        </m:num>
                        <m:den>
                          <m:r>
                            <a:rPr lang="zh-CN" altLang="en-US" i="0">
                              <a:latin typeface="Cambria Math" panose="02040503050406030204" pitchFamily="18" charset="0"/>
                            </a:rPr>
                            <m:t>3030</m:t>
                          </m:r>
                        </m:den>
                      </m:f>
                      <m:r>
                        <a:rPr lang="zh-CN" altLang="en-US" i="0">
                          <a:latin typeface="Cambria Math" panose="02040503050406030204" pitchFamily="18" charset="0"/>
                        </a:rPr>
                        <m:t>×100%=4.</m:t>
                      </m:r>
                      <m:r>
                        <a:rPr lang="en-US" altLang="zh-CN" b="0" i="0" smtClean="0">
                          <a:latin typeface="Cambria Math" panose="02040503050406030204" pitchFamily="18" charset="0"/>
                        </a:rPr>
                        <m:t>19</m:t>
                      </m:r>
                      <m:r>
                        <a:rPr lang="zh-CN" altLang="en-US" i="0">
                          <a:latin typeface="Cambria Math" panose="02040503050406030204" pitchFamily="18" charset="0"/>
                        </a:rPr>
                        <m:t>%&lt;5%</m:t>
                      </m:r>
                    </m:oMath>
                  </m:oMathPara>
                </a14:m>
                <a:endParaRPr lang="zh-CN" altLang="en-US"/>
              </a:p>
            </p:txBody>
          </p:sp>
        </mc:Choice>
        <mc:Fallback xmlns="">
          <p:sp>
            <p:nvSpPr>
              <p:cNvPr id="7" name="文本框 6">
                <a:extLst>
                  <a:ext uri="{FF2B5EF4-FFF2-40B4-BE49-F238E27FC236}">
                    <a16:creationId xmlns:a16="http://schemas.microsoft.com/office/drawing/2014/main" id="{9260D409-C3E7-6243-32C4-ACCA42E68CD0}"/>
                  </a:ext>
                </a:extLst>
              </p:cNvPr>
              <p:cNvSpPr txBox="1">
                <a:spLocks noRot="1" noChangeAspect="1" noMove="1" noResize="1" noEditPoints="1" noAdjustHandles="1" noChangeArrowheads="1" noChangeShapeType="1" noTextEdit="1"/>
              </p:cNvSpPr>
              <p:nvPr/>
            </p:nvSpPr>
            <p:spPr>
              <a:xfrm>
                <a:off x="5499388" y="6062285"/>
                <a:ext cx="6094268" cy="689741"/>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71757298"/>
      </p:ext>
    </p:extLst>
  </p:cSld>
  <p:clrMapOvr>
    <a:masterClrMapping/>
  </p:clrMapOvr>
  <p:transition spd="slow" advTm="9487"/>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CBE05-ED12-6B48-B090-D1245EEFD878}"/>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7D0E041E-6E83-F2F3-7424-D2241FA997B7}"/>
              </a:ext>
            </a:extLst>
          </p:cNvPr>
          <p:cNvCxnSpPr>
            <a:cxnSpLocks/>
          </p:cNvCxnSpPr>
          <p:nvPr/>
        </p:nvCxnSpPr>
        <p:spPr>
          <a:xfrm flipV="1">
            <a:off x="1014737" y="631512"/>
            <a:ext cx="7246036" cy="1620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C4112494-EFFB-6381-0B3C-E69BEA846118}"/>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-PI</a:t>
            </a:r>
            <a:r>
              <a:rPr lang="zh-CN" altLang="en-US" sz="2400" b="1" kern="0">
                <a:solidFill>
                  <a:prstClr val="black"/>
                </a:solidFill>
                <a:latin typeface="黑体" panose="02010609060101010101" pitchFamily="49" charset="-122"/>
                <a:ea typeface="黑体" panose="02010609060101010101" pitchFamily="49" charset="-122"/>
              </a:rPr>
              <a:t>控制器的仿真和配置</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869FCDB6-FF51-4ADA-0072-3670FF6BFD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4" name="文本框 3">
            <a:extLst>
              <a:ext uri="{FF2B5EF4-FFF2-40B4-BE49-F238E27FC236}">
                <a16:creationId xmlns:a16="http://schemas.microsoft.com/office/drawing/2014/main" id="{B66C9BD5-8DE2-11DB-C64C-5E985668E58A}"/>
              </a:ext>
            </a:extLst>
          </p:cNvPr>
          <p:cNvSpPr txBox="1"/>
          <p:nvPr/>
        </p:nvSpPr>
        <p:spPr>
          <a:xfrm>
            <a:off x="962590" y="795715"/>
            <a:ext cx="10334059" cy="455253"/>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a:latin typeface="Times New Roman" panose="02020603050405020304" pitchFamily="18" charset="0"/>
                <a:ea typeface="宋体" panose="02010600030101010101" pitchFamily="2" charset="-122"/>
              </a:rPr>
              <a:t>满</a:t>
            </a:r>
            <a:r>
              <a:rPr lang="zh-CN" altLang="zh-CN">
                <a:latin typeface="Times New Roman" panose="02020603050405020304" pitchFamily="18" charset="0"/>
                <a:ea typeface="宋体" panose="02010600030101010101" pitchFamily="2" charset="-122"/>
              </a:rPr>
              <a:t>载启动与停止时电枢电流及转速波形图</a:t>
            </a:r>
            <a:endParaRPr lang="zh-CN" altLang="en-US">
              <a:latin typeface="Times New Roman" panose="02020603050405020304" pitchFamily="18" charset="0"/>
              <a:ea typeface="宋体" panose="02010600030101010101" pitchFamily="2" charset="-122"/>
            </a:endParaRPr>
          </a:p>
        </p:txBody>
      </p:sp>
      <p:pic>
        <p:nvPicPr>
          <p:cNvPr id="5" name="图片 4">
            <a:extLst>
              <a:ext uri="{FF2B5EF4-FFF2-40B4-BE49-F238E27FC236}">
                <a16:creationId xmlns:a16="http://schemas.microsoft.com/office/drawing/2014/main" id="{6992A60E-8B1A-2A7B-6E63-4C525AC68ED6}"/>
              </a:ext>
            </a:extLst>
          </p:cNvPr>
          <p:cNvPicPr>
            <a:picLocks noChangeAspect="1"/>
          </p:cNvPicPr>
          <p:nvPr/>
        </p:nvPicPr>
        <p:blipFill>
          <a:blip r:embed="rId4"/>
          <a:stretch>
            <a:fillRect/>
          </a:stretch>
        </p:blipFill>
        <p:spPr>
          <a:xfrm>
            <a:off x="1235500" y="1250967"/>
            <a:ext cx="10030921" cy="5326477"/>
          </a:xfrm>
          <a:prstGeom prst="rect">
            <a:avLst/>
          </a:prstGeom>
        </p:spPr>
      </p:pic>
    </p:spTree>
    <p:extLst>
      <p:ext uri="{BB962C8B-B14F-4D97-AF65-F5344CB8AC3E}">
        <p14:creationId xmlns:p14="http://schemas.microsoft.com/office/powerpoint/2010/main" val="363983581"/>
      </p:ext>
    </p:extLst>
  </p:cSld>
  <p:clrMapOvr>
    <a:masterClrMapping/>
  </p:clrMapOvr>
  <p:transition spd="slow" advTm="9487"/>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97482-C9AA-A172-40B0-6F8872D2037F}"/>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B75B9D6A-DCD7-CCD1-C3D8-4E0C6BEB3641}"/>
              </a:ext>
            </a:extLst>
          </p:cNvPr>
          <p:cNvCxnSpPr>
            <a:cxnSpLocks/>
          </p:cNvCxnSpPr>
          <p:nvPr/>
        </p:nvCxnSpPr>
        <p:spPr>
          <a:xfrm flipV="1">
            <a:off x="1014737" y="631512"/>
            <a:ext cx="7246036" cy="1620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1771AF5A-7E6F-1F58-4C35-0FCF4EAA0525}"/>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-PI</a:t>
            </a:r>
            <a:r>
              <a:rPr lang="zh-CN" altLang="en-US" sz="2400" b="1" kern="0">
                <a:solidFill>
                  <a:prstClr val="black"/>
                </a:solidFill>
                <a:latin typeface="黑体" panose="02010609060101010101" pitchFamily="49" charset="-122"/>
                <a:ea typeface="黑体" panose="02010609060101010101" pitchFamily="49" charset="-122"/>
              </a:rPr>
              <a:t>控制器的仿真和配置</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B1E240FC-C4C8-C557-0DF1-4E330BD410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4" name="文本框 3">
            <a:extLst>
              <a:ext uri="{FF2B5EF4-FFF2-40B4-BE49-F238E27FC236}">
                <a16:creationId xmlns:a16="http://schemas.microsoft.com/office/drawing/2014/main" id="{44D1DC58-78FA-11A1-2D01-FC6AF2636A7F}"/>
              </a:ext>
            </a:extLst>
          </p:cNvPr>
          <p:cNvSpPr txBox="1"/>
          <p:nvPr/>
        </p:nvSpPr>
        <p:spPr>
          <a:xfrm>
            <a:off x="962590" y="795715"/>
            <a:ext cx="10334059" cy="455253"/>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altLang="zh-CN">
                <a:latin typeface="Times New Roman" panose="02020603050405020304" pitchFamily="18" charset="0"/>
                <a:ea typeface="宋体" panose="02010600030101010101" pitchFamily="2" charset="-122"/>
              </a:rPr>
              <a:t>PI</a:t>
            </a:r>
            <a:r>
              <a:rPr lang="zh-CN" altLang="en-US">
                <a:latin typeface="Times New Roman" panose="02020603050405020304" pitchFamily="18" charset="0"/>
                <a:ea typeface="宋体" panose="02010600030101010101" pitchFamily="2" charset="-122"/>
              </a:rPr>
              <a:t>控制下在</a:t>
            </a:r>
            <a:r>
              <a:rPr lang="zh-CN" altLang="zh-CN" b="1">
                <a:latin typeface="Times New Roman" panose="02020603050405020304" pitchFamily="18" charset="0"/>
                <a:ea typeface="宋体" panose="02010600030101010101" pitchFamily="2" charset="-122"/>
              </a:rPr>
              <a:t>理想空载启动</a:t>
            </a:r>
            <a:r>
              <a:rPr lang="zh-CN" altLang="en-US">
                <a:latin typeface="Times New Roman" panose="02020603050405020304" pitchFamily="18" charset="0"/>
                <a:ea typeface="宋体" panose="02010600030101010101" pitchFamily="2" charset="-122"/>
              </a:rPr>
              <a:t>后</a:t>
            </a:r>
            <a:r>
              <a:rPr lang="en-US" altLang="zh-CN" b="1">
                <a:latin typeface="Times New Roman" panose="02020603050405020304" pitchFamily="18" charset="0"/>
                <a:ea typeface="宋体" panose="02010600030101010101" pitchFamily="2" charset="-122"/>
              </a:rPr>
              <a:t>2s</a:t>
            </a:r>
            <a:r>
              <a:rPr lang="zh-CN" altLang="en-US" b="1">
                <a:latin typeface="Times New Roman" panose="02020603050405020304" pitchFamily="18" charset="0"/>
                <a:ea typeface="宋体" panose="02010600030101010101" pitchFamily="2" charset="-122"/>
              </a:rPr>
              <a:t>加额定负载</a:t>
            </a:r>
            <a:r>
              <a:rPr lang="zh-CN" altLang="en-US">
                <a:latin typeface="Times New Roman" panose="02020603050405020304" pitchFamily="18" charset="0"/>
                <a:ea typeface="宋体" panose="02010600030101010101" pitchFamily="2" charset="-122"/>
              </a:rPr>
              <a:t>的</a:t>
            </a:r>
            <a:r>
              <a:rPr lang="zh-CN" altLang="zh-CN">
                <a:latin typeface="Times New Roman" panose="02020603050405020304" pitchFamily="18" charset="0"/>
                <a:ea typeface="宋体" panose="02010600030101010101" pitchFamily="2" charset="-122"/>
              </a:rPr>
              <a:t>电枢电流及转速波形图</a:t>
            </a:r>
            <a:endParaRPr lang="zh-CN" altLang="en-US">
              <a:latin typeface="Times New Roman" panose="02020603050405020304" pitchFamily="18" charset="0"/>
              <a:ea typeface="宋体" panose="02010600030101010101" pitchFamily="2" charset="-122"/>
            </a:endParaRPr>
          </a:p>
        </p:txBody>
      </p:sp>
      <p:pic>
        <p:nvPicPr>
          <p:cNvPr id="6" name="图片 5">
            <a:extLst>
              <a:ext uri="{FF2B5EF4-FFF2-40B4-BE49-F238E27FC236}">
                <a16:creationId xmlns:a16="http://schemas.microsoft.com/office/drawing/2014/main" id="{A9EAF883-8991-1366-9345-3583C9F63675}"/>
              </a:ext>
            </a:extLst>
          </p:cNvPr>
          <p:cNvPicPr>
            <a:picLocks noChangeAspect="1"/>
          </p:cNvPicPr>
          <p:nvPr/>
        </p:nvPicPr>
        <p:blipFill>
          <a:blip r:embed="rId4"/>
          <a:stretch>
            <a:fillRect/>
          </a:stretch>
        </p:blipFill>
        <p:spPr>
          <a:xfrm>
            <a:off x="1191491" y="1380288"/>
            <a:ext cx="9809018" cy="5208645"/>
          </a:xfrm>
          <a:prstGeom prst="rect">
            <a:avLst/>
          </a:prstGeom>
        </p:spPr>
      </p:pic>
    </p:spTree>
    <p:extLst>
      <p:ext uri="{BB962C8B-B14F-4D97-AF65-F5344CB8AC3E}">
        <p14:creationId xmlns:p14="http://schemas.microsoft.com/office/powerpoint/2010/main" val="415021314"/>
      </p:ext>
    </p:extLst>
  </p:cSld>
  <p:clrMapOvr>
    <a:masterClrMapping/>
  </p:clrMapOvr>
  <p:transition spd="slow" advTm="9487"/>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2F5AD-01CC-B42C-017F-9409A0990F7D}"/>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ACE01509-123D-68D8-6C9C-CEADC9C7A6CB}"/>
              </a:ext>
            </a:extLst>
          </p:cNvPr>
          <p:cNvCxnSpPr>
            <a:cxnSpLocks/>
          </p:cNvCxnSpPr>
          <p:nvPr/>
        </p:nvCxnSpPr>
        <p:spPr>
          <a:xfrm>
            <a:off x="1014737" y="647713"/>
            <a:ext cx="8681713"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D8690FC3-EDCE-C4A5-2BEA-408B23F546CE}"/>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-PID</a:t>
            </a:r>
            <a:r>
              <a:rPr lang="zh-CN" altLang="en-US" sz="2400" b="1" kern="0">
                <a:solidFill>
                  <a:prstClr val="black"/>
                </a:solidFill>
                <a:latin typeface="黑体" panose="02010609060101010101" pitchFamily="49" charset="-122"/>
                <a:ea typeface="黑体" panose="02010609060101010101" pitchFamily="49" charset="-122"/>
              </a:rPr>
              <a:t>型转速、电流调节器的系统设计与仿真</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4A516F5C-3433-F990-D3D4-CBA40F6C08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4" name="文本框 3">
            <a:extLst>
              <a:ext uri="{FF2B5EF4-FFF2-40B4-BE49-F238E27FC236}">
                <a16:creationId xmlns:a16="http://schemas.microsoft.com/office/drawing/2014/main" id="{421D0883-13C2-D8B9-3C76-482BBEA1B9DF}"/>
              </a:ext>
            </a:extLst>
          </p:cNvPr>
          <p:cNvSpPr txBox="1"/>
          <p:nvPr/>
        </p:nvSpPr>
        <p:spPr>
          <a:xfrm>
            <a:off x="1638865" y="1852990"/>
            <a:ext cx="8209985" cy="336656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a:latin typeface="Times New Roman" panose="02020603050405020304" pitchFamily="18" charset="0"/>
                <a:ea typeface="宋体" panose="02010600030101010101" pitchFamily="2" charset="-122"/>
              </a:rPr>
              <a:t>为了使转速响应更快，改善调速系统的动态性能，可以按照</a:t>
            </a:r>
            <a:r>
              <a:rPr lang="en-US" altLang="zh-CN">
                <a:latin typeface="Times New Roman" panose="02020603050405020304" pitchFamily="18" charset="0"/>
                <a:ea typeface="宋体" panose="02010600030101010101" pitchFamily="2" charset="-122"/>
              </a:rPr>
              <a:t>PID</a:t>
            </a:r>
            <a:r>
              <a:rPr lang="zh-CN" altLang="en-US">
                <a:latin typeface="Times New Roman" panose="02020603050405020304" pitchFamily="18" charset="0"/>
                <a:ea typeface="宋体" panose="02010600030101010101" pitchFamily="2" charset="-122"/>
              </a:rPr>
              <a:t>型设计转速、电流调节器。</a:t>
            </a:r>
            <a:endParaRPr lang="en-US" altLang="zh-CN">
              <a:latin typeface="Times New Roman" panose="02020603050405020304" pitchFamily="18" charset="0"/>
              <a:ea typeface="宋体" panose="02010600030101010101" pitchFamily="2" charset="-122"/>
            </a:endParaRPr>
          </a:p>
          <a:p>
            <a:pPr marL="285750" indent="-285750">
              <a:lnSpc>
                <a:spcPct val="150000"/>
              </a:lnSpc>
              <a:buFont typeface="Arial" panose="020B0604020202020204" pitchFamily="34" charset="0"/>
              <a:buChar char="•"/>
            </a:pPr>
            <a:r>
              <a:rPr lang="zh-CN" altLang="en-US">
                <a:latin typeface="Times New Roman" panose="02020603050405020304" pitchFamily="18" charset="0"/>
                <a:ea typeface="宋体" panose="02010600030101010101" pitchFamily="2" charset="-122"/>
              </a:rPr>
              <a:t>因为在调节器中加入微分环节，这相当于引入了新的零点，使得系统的极点向左半平面移动，</a:t>
            </a:r>
            <a:r>
              <a:rPr lang="zh-CN" altLang="en-US" b="1">
                <a:latin typeface="Times New Roman" panose="02020603050405020304" pitchFamily="18" charset="0"/>
                <a:ea typeface="宋体" panose="02010600030101010101" pitchFamily="2" charset="-122"/>
              </a:rPr>
              <a:t>从而稳定裕度更大，系统快速性更好</a:t>
            </a:r>
            <a:r>
              <a:rPr lang="zh-CN" altLang="en-US">
                <a:latin typeface="Times New Roman" panose="02020603050405020304" pitchFamily="18" charset="0"/>
                <a:ea typeface="宋体" panose="02010600030101010101" pitchFamily="2" charset="-122"/>
              </a:rPr>
              <a:t>。同时也可由自控原理的知识，可知采用</a:t>
            </a:r>
            <a:r>
              <a:rPr lang="en-US" altLang="zh-CN">
                <a:latin typeface="Times New Roman" panose="02020603050405020304" pitchFamily="18" charset="0"/>
                <a:ea typeface="宋体" panose="02010600030101010101" pitchFamily="2" charset="-122"/>
              </a:rPr>
              <a:t>PID</a:t>
            </a:r>
            <a:r>
              <a:rPr lang="zh-CN" altLang="en-US">
                <a:latin typeface="Times New Roman" panose="02020603050405020304" pitchFamily="18" charset="0"/>
                <a:ea typeface="宋体" panose="02010600030101010101" pitchFamily="2" charset="-122"/>
              </a:rPr>
              <a:t>型转速、电流调节器时，系统的截止频率大于采用</a:t>
            </a:r>
            <a:r>
              <a:rPr lang="en-US" altLang="zh-CN">
                <a:latin typeface="Times New Roman" panose="02020603050405020304" pitchFamily="18" charset="0"/>
                <a:ea typeface="宋体" panose="02010600030101010101" pitchFamily="2" charset="-122"/>
              </a:rPr>
              <a:t>PI</a:t>
            </a:r>
            <a:r>
              <a:rPr lang="zh-CN" altLang="en-US">
                <a:latin typeface="Times New Roman" panose="02020603050405020304" pitchFamily="18" charset="0"/>
                <a:ea typeface="宋体" panose="02010600030101010101" pitchFamily="2" charset="-122"/>
              </a:rPr>
              <a:t>型转速、电流调节器时的截止频率，使得系统快速性更好，调节时间更短。</a:t>
            </a:r>
            <a:endParaRPr lang="zh-CN" altLang="zh-CN">
              <a:latin typeface="Times New Roman" panose="02020603050405020304" pitchFamily="18" charset="0"/>
              <a:ea typeface="宋体" panose="02010600030101010101" pitchFamily="2" charset="-122"/>
            </a:endParaRPr>
          </a:p>
          <a:p>
            <a:pPr marL="285750" indent="-285750" algn="just">
              <a:lnSpc>
                <a:spcPct val="150000"/>
              </a:lnSpc>
              <a:buFont typeface="Wingdings" panose="05000000000000000000" pitchFamily="2" charset="2"/>
              <a:buChar char="Ø"/>
            </a:pPr>
            <a:endParaRPr lang="zh-CN" altLang="zh-CN">
              <a:latin typeface="Times New Roman" panose="02020603050405020304" pitchFamily="18" charset="0"/>
              <a:ea typeface="宋体" panose="02010600030101010101" pitchFamily="2" charset="-122"/>
            </a:endParaRPr>
          </a:p>
          <a:p>
            <a:pPr marL="285750" indent="-285750" algn="just">
              <a:lnSpc>
                <a:spcPct val="150000"/>
              </a:lnSpc>
              <a:buFont typeface="Wingdings" panose="05000000000000000000" pitchFamily="2" charset="2"/>
              <a:buChar char="Ø"/>
            </a:pPr>
            <a:endParaRPr lang="zh-CN" altLang="en-US">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816719649"/>
      </p:ext>
    </p:extLst>
  </p:cSld>
  <p:clrMapOvr>
    <a:masterClrMapping/>
  </p:clrMapOvr>
  <p:transition spd="slow" advTm="9487"/>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9729E-72DC-C0FC-8798-1A761EEF8334}"/>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BFE856CD-1E1E-A630-AF4E-2C518DA7E650}"/>
              </a:ext>
            </a:extLst>
          </p:cNvPr>
          <p:cNvCxnSpPr>
            <a:cxnSpLocks/>
          </p:cNvCxnSpPr>
          <p:nvPr/>
        </p:nvCxnSpPr>
        <p:spPr>
          <a:xfrm>
            <a:off x="1014737" y="647713"/>
            <a:ext cx="8681713"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80A3667D-E9D6-1E2A-8E2D-C96470C90D5F}"/>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-PID</a:t>
            </a:r>
            <a:r>
              <a:rPr lang="zh-CN" altLang="en-US" sz="2400" b="1" kern="0">
                <a:solidFill>
                  <a:prstClr val="black"/>
                </a:solidFill>
                <a:latin typeface="黑体" panose="02010609060101010101" pitchFamily="49" charset="-122"/>
                <a:ea typeface="黑体" panose="02010609060101010101" pitchFamily="49" charset="-122"/>
              </a:rPr>
              <a:t>型转速、电流调节器的系统设计与仿真</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DA50B748-B98E-5C60-B9DD-671BD13C8D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4" name="文本框 3">
            <a:extLst>
              <a:ext uri="{FF2B5EF4-FFF2-40B4-BE49-F238E27FC236}">
                <a16:creationId xmlns:a16="http://schemas.microsoft.com/office/drawing/2014/main" id="{39BFD67B-560F-C404-5395-494F054CDC16}"/>
              </a:ext>
            </a:extLst>
          </p:cNvPr>
          <p:cNvSpPr txBox="1"/>
          <p:nvPr/>
        </p:nvSpPr>
        <p:spPr>
          <a:xfrm>
            <a:off x="962590" y="795715"/>
            <a:ext cx="10334059" cy="1289071"/>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zh-CN">
                <a:latin typeface="Times New Roman" panose="02020603050405020304" pitchFamily="18" charset="0"/>
                <a:ea typeface="宋体" panose="02010600030101010101" pitchFamily="2" charset="-122"/>
              </a:rPr>
              <a:t>在</a:t>
            </a:r>
            <a:r>
              <a:rPr lang="en-US" altLang="zh-CN">
                <a:latin typeface="Times New Roman" panose="02020603050405020304" pitchFamily="18" charset="0"/>
                <a:ea typeface="宋体" panose="02010600030101010101" pitchFamily="2" charset="-122"/>
              </a:rPr>
              <a:t>PI</a:t>
            </a:r>
            <a:r>
              <a:rPr lang="zh-CN" altLang="zh-CN">
                <a:latin typeface="Times New Roman" panose="02020603050405020304" pitchFamily="18" charset="0"/>
                <a:ea typeface="宋体" panose="02010600030101010101" pitchFamily="2" charset="-122"/>
              </a:rPr>
              <a:t>调节器上</a:t>
            </a:r>
            <a:r>
              <a:rPr lang="zh-CN" altLang="en-US">
                <a:latin typeface="Times New Roman" panose="02020603050405020304" pitchFamily="18" charset="0"/>
                <a:ea typeface="宋体" panose="02010600030101010101" pitchFamily="2" charset="-122"/>
              </a:rPr>
              <a:t>增加快速性</a:t>
            </a:r>
            <a:r>
              <a:rPr lang="zh-CN" altLang="zh-CN">
                <a:latin typeface="Times New Roman" panose="02020603050405020304" pitchFamily="18" charset="0"/>
                <a:ea typeface="宋体" panose="02010600030101010101" pitchFamily="2" charset="-122"/>
              </a:rPr>
              <a:t>的办法即为</a:t>
            </a:r>
            <a:r>
              <a:rPr lang="zh-CN" altLang="en-US">
                <a:latin typeface="Times New Roman" panose="02020603050405020304" pitchFamily="18" charset="0"/>
                <a:ea typeface="宋体" panose="02010600030101010101" pitchFamily="2" charset="-122"/>
              </a:rPr>
              <a:t>采用</a:t>
            </a:r>
            <a:r>
              <a:rPr lang="en-US" altLang="zh-CN">
                <a:latin typeface="Times New Roman" panose="02020603050405020304" pitchFamily="18" charset="0"/>
                <a:ea typeface="宋体" panose="02010600030101010101" pitchFamily="2" charset="-122"/>
              </a:rPr>
              <a:t>PID</a:t>
            </a:r>
            <a:r>
              <a:rPr lang="zh-CN" altLang="en-US">
                <a:latin typeface="Times New Roman" panose="02020603050405020304" pitchFamily="18" charset="0"/>
                <a:ea typeface="宋体" panose="02010600030101010101" pitchFamily="2" charset="-122"/>
              </a:rPr>
              <a:t>型转速、电流调节器的系统设计与仿真</a:t>
            </a:r>
            <a:r>
              <a:rPr lang="zh-CN" altLang="zh-CN">
                <a:latin typeface="Times New Roman" panose="02020603050405020304" pitchFamily="18" charset="0"/>
                <a:ea typeface="宋体" panose="02010600030101010101" pitchFamily="2" charset="-122"/>
              </a:rPr>
              <a:t>，搭建</a:t>
            </a:r>
            <a:r>
              <a:rPr lang="en-US" altLang="zh-CN">
                <a:latin typeface="Times New Roman" panose="02020603050405020304" pitchFamily="18" charset="0"/>
                <a:ea typeface="宋体" panose="02010600030101010101" pitchFamily="2" charset="-122"/>
              </a:rPr>
              <a:t>Simulink</a:t>
            </a:r>
            <a:r>
              <a:rPr lang="zh-CN" altLang="zh-CN">
                <a:latin typeface="Times New Roman" panose="02020603050405020304" pitchFamily="18" charset="0"/>
                <a:ea typeface="宋体" panose="02010600030101010101" pitchFamily="2" charset="-122"/>
              </a:rPr>
              <a:t>结构图如图所示</a:t>
            </a:r>
          </a:p>
          <a:p>
            <a:pPr marL="285750" indent="-285750" algn="just">
              <a:lnSpc>
                <a:spcPct val="150000"/>
              </a:lnSpc>
              <a:buFont typeface="Wingdings" panose="05000000000000000000" pitchFamily="2" charset="2"/>
              <a:buChar char="Ø"/>
            </a:pPr>
            <a:endParaRPr lang="zh-CN" altLang="en-US">
              <a:latin typeface="Times New Roman" panose="02020603050405020304" pitchFamily="18" charset="0"/>
              <a:ea typeface="宋体" panose="02010600030101010101" pitchFamily="2" charset="-122"/>
            </a:endParaRPr>
          </a:p>
        </p:txBody>
      </p:sp>
      <p:sp>
        <p:nvSpPr>
          <p:cNvPr id="6" name="文本框 5">
            <a:extLst>
              <a:ext uri="{FF2B5EF4-FFF2-40B4-BE49-F238E27FC236}">
                <a16:creationId xmlns:a16="http://schemas.microsoft.com/office/drawing/2014/main" id="{A6213495-C1F8-2FA3-BB87-18C89BA805F5}"/>
              </a:ext>
            </a:extLst>
          </p:cNvPr>
          <p:cNvSpPr txBox="1"/>
          <p:nvPr/>
        </p:nvSpPr>
        <p:spPr>
          <a:xfrm>
            <a:off x="3834724" y="5526311"/>
            <a:ext cx="4095750" cy="369332"/>
          </a:xfrm>
          <a:prstGeom prst="rect">
            <a:avLst/>
          </a:prstGeom>
          <a:noFill/>
        </p:spPr>
        <p:txBody>
          <a:bodyPr wrap="square">
            <a:spAutoFit/>
          </a:bodyPr>
          <a:lstStyle/>
          <a:p>
            <a:r>
              <a:rPr lang="en-US" altLang="zh-CN"/>
              <a:t>PID</a:t>
            </a:r>
            <a:r>
              <a:rPr lang="zh-CN" altLang="en-US"/>
              <a:t>控制下双闭环</a:t>
            </a:r>
            <a:r>
              <a:rPr lang="en-US" altLang="zh-CN"/>
              <a:t>simulink</a:t>
            </a:r>
            <a:r>
              <a:rPr lang="zh-CN" altLang="en-US"/>
              <a:t>仿真模型图</a:t>
            </a:r>
            <a:endParaRPr lang="zh-CN" altLang="zh-CN"/>
          </a:p>
        </p:txBody>
      </p:sp>
      <p:pic>
        <p:nvPicPr>
          <p:cNvPr id="9" name="图片 8">
            <a:extLst>
              <a:ext uri="{FF2B5EF4-FFF2-40B4-BE49-F238E27FC236}">
                <a16:creationId xmlns:a16="http://schemas.microsoft.com/office/drawing/2014/main" id="{B42DDAC6-FA36-E645-C0B8-5E6C505FFA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0101" y="2193707"/>
            <a:ext cx="9715499" cy="3223682"/>
          </a:xfrm>
          <a:prstGeom prst="rect">
            <a:avLst/>
          </a:prstGeom>
        </p:spPr>
      </p:pic>
    </p:spTree>
    <p:extLst>
      <p:ext uri="{BB962C8B-B14F-4D97-AF65-F5344CB8AC3E}">
        <p14:creationId xmlns:p14="http://schemas.microsoft.com/office/powerpoint/2010/main" val="1763536185"/>
      </p:ext>
    </p:extLst>
  </p:cSld>
  <p:clrMapOvr>
    <a:masterClrMapping/>
  </p:clrMapOvr>
  <p:transition spd="slow" advTm="9487"/>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D2586-A915-5FDC-84D2-449853361D72}"/>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570BB234-AA9C-5135-83B2-F1D9BF764F42}"/>
              </a:ext>
            </a:extLst>
          </p:cNvPr>
          <p:cNvCxnSpPr>
            <a:cxnSpLocks/>
          </p:cNvCxnSpPr>
          <p:nvPr/>
        </p:nvCxnSpPr>
        <p:spPr>
          <a:xfrm>
            <a:off x="1014737" y="647713"/>
            <a:ext cx="8681713"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98C0C8EB-3554-FBDF-5C45-157865AEF53E}"/>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-PID</a:t>
            </a:r>
            <a:r>
              <a:rPr lang="zh-CN" altLang="en-US" sz="2400" b="1" kern="0">
                <a:solidFill>
                  <a:prstClr val="black"/>
                </a:solidFill>
                <a:latin typeface="黑体" panose="02010609060101010101" pitchFamily="49" charset="-122"/>
                <a:ea typeface="黑体" panose="02010609060101010101" pitchFamily="49" charset="-122"/>
              </a:rPr>
              <a:t>型转速、电流调节器的系统设计与仿真</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FCCCC9E3-1B33-008E-69A7-BAC70A04A1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4" name="文本框 3">
            <a:extLst>
              <a:ext uri="{FF2B5EF4-FFF2-40B4-BE49-F238E27FC236}">
                <a16:creationId xmlns:a16="http://schemas.microsoft.com/office/drawing/2014/main" id="{ED10C704-C84A-1929-C56B-623222B84CE6}"/>
              </a:ext>
            </a:extLst>
          </p:cNvPr>
          <p:cNvSpPr txBox="1"/>
          <p:nvPr/>
        </p:nvSpPr>
        <p:spPr>
          <a:xfrm>
            <a:off x="962590" y="795715"/>
            <a:ext cx="10334059" cy="1289071"/>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a:latin typeface="Times New Roman" panose="02020603050405020304" pitchFamily="18" charset="0"/>
                <a:ea typeface="宋体" panose="02010600030101010101" pitchFamily="2" charset="-122"/>
              </a:rPr>
              <a:t>下图为</a:t>
            </a:r>
            <a:r>
              <a:rPr lang="en-US" altLang="zh-CN">
                <a:latin typeface="Times New Roman" panose="02020603050405020304" pitchFamily="18" charset="0"/>
                <a:ea typeface="宋体" panose="02010600030101010101" pitchFamily="2" charset="-122"/>
              </a:rPr>
              <a:t>PID</a:t>
            </a:r>
            <a:r>
              <a:rPr lang="zh-CN" altLang="en-US">
                <a:latin typeface="Times New Roman" panose="02020603050405020304" pitchFamily="18" charset="0"/>
                <a:ea typeface="宋体" panose="02010600030101010101" pitchFamily="2" charset="-122"/>
              </a:rPr>
              <a:t>控制下满载启动时</a:t>
            </a:r>
            <a:r>
              <a:rPr lang="zh-CN" altLang="en-US" b="1">
                <a:latin typeface="Times New Roman" panose="02020603050405020304" pitchFamily="18" charset="0"/>
                <a:ea typeface="宋体" panose="02010600030101010101" pitchFamily="2" charset="-122"/>
              </a:rPr>
              <a:t>电枢电流</a:t>
            </a:r>
            <a:r>
              <a:rPr lang="zh-CN" altLang="en-US">
                <a:latin typeface="Times New Roman" panose="02020603050405020304" pitchFamily="18" charset="0"/>
                <a:ea typeface="宋体" panose="02010600030101010101" pitchFamily="2" charset="-122"/>
              </a:rPr>
              <a:t>及转速波形图</a:t>
            </a:r>
            <a:endParaRPr lang="en-US" altLang="zh-CN">
              <a:latin typeface="Times New Roman" panose="02020603050405020304" pitchFamily="18" charset="0"/>
              <a:ea typeface="宋体" panose="02010600030101010101" pitchFamily="2" charset="-122"/>
            </a:endParaRPr>
          </a:p>
          <a:p>
            <a:pPr algn="just">
              <a:lnSpc>
                <a:spcPct val="150000"/>
              </a:lnSpc>
            </a:pPr>
            <a:endParaRPr lang="zh-CN" altLang="en-US">
              <a:latin typeface="Times New Roman" panose="02020603050405020304" pitchFamily="18" charset="0"/>
              <a:ea typeface="宋体" panose="02010600030101010101" pitchFamily="2" charset="-122"/>
            </a:endParaRPr>
          </a:p>
          <a:p>
            <a:pPr marL="285750" indent="-285750" algn="just">
              <a:lnSpc>
                <a:spcPct val="150000"/>
              </a:lnSpc>
              <a:buFont typeface="Wingdings" panose="05000000000000000000" pitchFamily="2" charset="2"/>
              <a:buChar char="Ø"/>
            </a:pPr>
            <a:endParaRPr lang="zh-CN" altLang="en-US">
              <a:latin typeface="Times New Roman" panose="02020603050405020304" pitchFamily="18" charset="0"/>
              <a:ea typeface="宋体" panose="02010600030101010101" pitchFamily="2" charset="-122"/>
            </a:endParaRPr>
          </a:p>
        </p:txBody>
      </p:sp>
      <p:pic>
        <p:nvPicPr>
          <p:cNvPr id="5" name="图片 4">
            <a:extLst>
              <a:ext uri="{FF2B5EF4-FFF2-40B4-BE49-F238E27FC236}">
                <a16:creationId xmlns:a16="http://schemas.microsoft.com/office/drawing/2014/main" id="{4DD9A500-1A19-125C-6280-884CD4F0D00D}"/>
              </a:ext>
            </a:extLst>
          </p:cNvPr>
          <p:cNvPicPr>
            <a:picLocks noChangeAspect="1"/>
          </p:cNvPicPr>
          <p:nvPr/>
        </p:nvPicPr>
        <p:blipFill>
          <a:blip r:embed="rId4"/>
          <a:stretch>
            <a:fillRect/>
          </a:stretch>
        </p:blipFill>
        <p:spPr>
          <a:xfrm>
            <a:off x="1168057" y="1346410"/>
            <a:ext cx="8444562" cy="4462108"/>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9F5D7308-F325-B17E-5A4C-4C585F553777}"/>
                  </a:ext>
                </a:extLst>
              </p:cNvPr>
              <p:cNvSpPr txBox="1"/>
              <p:nvPr/>
            </p:nvSpPr>
            <p:spPr>
              <a:xfrm>
                <a:off x="888423" y="6014342"/>
                <a:ext cx="6431972" cy="6897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𝜎</m:t>
                          </m:r>
                        </m:e>
                        <m:sub>
                          <m:r>
                            <a:rPr lang="zh-CN" altLang="en-US" i="1">
                              <a:latin typeface="Cambria Math" panose="02040503050406030204" pitchFamily="18" charset="0"/>
                            </a:rPr>
                            <m:t>𝑖</m:t>
                          </m:r>
                        </m:sub>
                      </m:sSub>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𝑑𝑚</m:t>
                              </m:r>
                            </m:sub>
                          </m:sSub>
                          <m:r>
                            <a:rPr lang="zh-CN" altLang="en-US" i="0">
                              <a:latin typeface="Cambria Math" panose="02040503050406030204" pitchFamily="18" charset="0"/>
                            </a:rPr>
                            <m:t>−</m:t>
                          </m:r>
                          <m:sSubSup>
                            <m:sSubSupPr>
                              <m:ctrlPr>
                                <a:rPr lang="zh-CN" altLang="en-US" i="1">
                                  <a:solidFill>
                                    <a:srgbClr val="836967"/>
                                  </a:solidFill>
                                  <a:latin typeface="Cambria Math" panose="02040503050406030204" pitchFamily="18" charset="0"/>
                                </a:rPr>
                              </m:ctrlPr>
                            </m:sSubSupPr>
                            <m:e>
                              <m:r>
                                <a:rPr lang="zh-CN" altLang="en-US" i="1">
                                  <a:latin typeface="Cambria Math" panose="02040503050406030204" pitchFamily="18" charset="0"/>
                                </a:rPr>
                                <m:t>𝐼</m:t>
                              </m:r>
                            </m:e>
                            <m:sub>
                              <m:r>
                                <a:rPr lang="zh-CN" altLang="en-US" i="1">
                                  <a:latin typeface="Cambria Math" panose="02040503050406030204" pitchFamily="18" charset="0"/>
                                </a:rPr>
                                <m:t>𝑑𝑚</m:t>
                              </m:r>
                            </m:sub>
                            <m:sup>
                              <m:r>
                                <a:rPr lang="zh-CN" altLang="en-US" i="0">
                                  <a:latin typeface="Cambria Math" panose="02040503050406030204" pitchFamily="18" charset="0"/>
                                </a:rPr>
                                <m:t>∗</m:t>
                              </m:r>
                            </m:sup>
                          </m:sSubSup>
                        </m:num>
                        <m:den>
                          <m:sSubSup>
                            <m:sSubSupPr>
                              <m:ctrlPr>
                                <a:rPr lang="zh-CN" altLang="en-US" i="1">
                                  <a:solidFill>
                                    <a:srgbClr val="836967"/>
                                  </a:solidFill>
                                  <a:latin typeface="Cambria Math" panose="02040503050406030204" pitchFamily="18" charset="0"/>
                                </a:rPr>
                              </m:ctrlPr>
                            </m:sSubSupPr>
                            <m:e>
                              <m:r>
                                <a:rPr lang="zh-CN" altLang="en-US" i="1">
                                  <a:latin typeface="Cambria Math" panose="02040503050406030204" pitchFamily="18" charset="0"/>
                                </a:rPr>
                                <m:t>𝐼</m:t>
                              </m:r>
                            </m:e>
                            <m:sub>
                              <m:r>
                                <a:rPr lang="zh-CN" altLang="en-US" i="1">
                                  <a:latin typeface="Cambria Math" panose="02040503050406030204" pitchFamily="18" charset="0"/>
                                </a:rPr>
                                <m:t>𝑑𝑚</m:t>
                              </m:r>
                            </m:sub>
                            <m:sup>
                              <m:r>
                                <a:rPr lang="zh-CN" altLang="en-US" i="0">
                                  <a:latin typeface="Cambria Math" panose="02040503050406030204" pitchFamily="18" charset="0"/>
                                </a:rPr>
                                <m:t>∗</m:t>
                              </m:r>
                            </m:sup>
                          </m:sSubSup>
                        </m:den>
                      </m:f>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304</m:t>
                          </m:r>
                          <m:r>
                            <a:rPr lang="en-US" altLang="zh-CN" b="0" i="0" smtClean="0">
                              <a:latin typeface="Cambria Math" panose="02040503050406030204" pitchFamily="18" charset="0"/>
                            </a:rPr>
                            <m:t>5</m:t>
                          </m:r>
                          <m:r>
                            <a:rPr lang="zh-CN" altLang="en-US" i="0">
                              <a:latin typeface="Cambria Math" panose="02040503050406030204" pitchFamily="18" charset="0"/>
                            </a:rPr>
                            <m:t>−3030</m:t>
                          </m:r>
                        </m:num>
                        <m:den>
                          <m:r>
                            <a:rPr lang="zh-CN" altLang="en-US" i="0">
                              <a:latin typeface="Cambria Math" panose="02040503050406030204" pitchFamily="18" charset="0"/>
                            </a:rPr>
                            <m:t>3030</m:t>
                          </m:r>
                        </m:den>
                      </m:f>
                      <m:r>
                        <a:rPr lang="zh-CN" altLang="en-US" i="0">
                          <a:latin typeface="Cambria Math" panose="02040503050406030204" pitchFamily="18" charset="0"/>
                        </a:rPr>
                        <m:t>×100%=0.</m:t>
                      </m:r>
                      <m:r>
                        <a:rPr lang="en-US" altLang="zh-CN" b="0" i="0" smtClean="0">
                          <a:latin typeface="Cambria Math" panose="02040503050406030204" pitchFamily="18" charset="0"/>
                        </a:rPr>
                        <m:t>495</m:t>
                      </m:r>
                      <m:r>
                        <a:rPr lang="zh-CN" altLang="en-US" i="0">
                          <a:latin typeface="Cambria Math" panose="02040503050406030204" pitchFamily="18" charset="0"/>
                        </a:rPr>
                        <m:t>%</m:t>
                      </m:r>
                    </m:oMath>
                  </m:oMathPara>
                </a14:m>
                <a:endParaRPr lang="zh-CN" altLang="en-US"/>
              </a:p>
            </p:txBody>
          </p:sp>
        </mc:Choice>
        <mc:Fallback xmlns="">
          <p:sp>
            <p:nvSpPr>
              <p:cNvPr id="7" name="文本框 6">
                <a:extLst>
                  <a:ext uri="{FF2B5EF4-FFF2-40B4-BE49-F238E27FC236}">
                    <a16:creationId xmlns:a16="http://schemas.microsoft.com/office/drawing/2014/main" id="{9F5D7308-F325-B17E-5A4C-4C585F553777}"/>
                  </a:ext>
                </a:extLst>
              </p:cNvPr>
              <p:cNvSpPr txBox="1">
                <a:spLocks noRot="1" noChangeAspect="1" noMove="1" noResize="1" noEditPoints="1" noAdjustHandles="1" noChangeArrowheads="1" noChangeShapeType="1" noTextEdit="1"/>
              </p:cNvSpPr>
              <p:nvPr/>
            </p:nvSpPr>
            <p:spPr>
              <a:xfrm>
                <a:off x="888423" y="6014342"/>
                <a:ext cx="6431972" cy="689741"/>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18505112"/>
      </p:ext>
    </p:extLst>
  </p:cSld>
  <p:clrMapOvr>
    <a:masterClrMapping/>
  </p:clrMapOvr>
  <p:transition spd="slow" advTm="9487"/>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EEFCB-CF9E-612F-E83C-F77CB945A1D8}"/>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4DDC56C3-B7DE-0EA5-0965-71DCF46A9476}"/>
              </a:ext>
            </a:extLst>
          </p:cNvPr>
          <p:cNvCxnSpPr>
            <a:cxnSpLocks/>
          </p:cNvCxnSpPr>
          <p:nvPr/>
        </p:nvCxnSpPr>
        <p:spPr>
          <a:xfrm>
            <a:off x="1014737" y="647713"/>
            <a:ext cx="8681713"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D34F5737-D70B-AF68-E0CF-94987333E711}"/>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-PID</a:t>
            </a:r>
            <a:r>
              <a:rPr lang="zh-CN" altLang="en-US" sz="2400" b="1" kern="0">
                <a:solidFill>
                  <a:prstClr val="black"/>
                </a:solidFill>
                <a:latin typeface="黑体" panose="02010609060101010101" pitchFamily="49" charset="-122"/>
                <a:ea typeface="黑体" panose="02010609060101010101" pitchFamily="49" charset="-122"/>
              </a:rPr>
              <a:t>型转速、电流调节器的系统设计与仿真</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E5D3DE47-156B-14D4-3181-A95EAD6BCC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4" name="文本框 3">
            <a:extLst>
              <a:ext uri="{FF2B5EF4-FFF2-40B4-BE49-F238E27FC236}">
                <a16:creationId xmlns:a16="http://schemas.microsoft.com/office/drawing/2014/main" id="{C695BA60-D91D-B987-55F8-75C6E14DE492}"/>
              </a:ext>
            </a:extLst>
          </p:cNvPr>
          <p:cNvSpPr txBox="1"/>
          <p:nvPr/>
        </p:nvSpPr>
        <p:spPr>
          <a:xfrm>
            <a:off x="962590" y="795715"/>
            <a:ext cx="10334059" cy="1289071"/>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a:latin typeface="Times New Roman" panose="02020603050405020304" pitchFamily="18" charset="0"/>
                <a:ea typeface="宋体" panose="02010600030101010101" pitchFamily="2" charset="-122"/>
              </a:rPr>
              <a:t>下图为</a:t>
            </a:r>
            <a:r>
              <a:rPr lang="en-US" altLang="zh-CN">
                <a:latin typeface="Times New Roman" panose="02020603050405020304" pitchFamily="18" charset="0"/>
                <a:ea typeface="宋体" panose="02010600030101010101" pitchFamily="2" charset="-122"/>
              </a:rPr>
              <a:t>PID</a:t>
            </a:r>
            <a:r>
              <a:rPr lang="zh-CN" altLang="en-US">
                <a:latin typeface="Times New Roman" panose="02020603050405020304" pitchFamily="18" charset="0"/>
                <a:ea typeface="宋体" panose="02010600030101010101" pitchFamily="2" charset="-122"/>
              </a:rPr>
              <a:t>控制下满载启动时电枢电流及</a:t>
            </a:r>
            <a:r>
              <a:rPr lang="zh-CN" altLang="en-US" b="1">
                <a:latin typeface="Times New Roman" panose="02020603050405020304" pitchFamily="18" charset="0"/>
                <a:ea typeface="宋体" panose="02010600030101010101" pitchFamily="2" charset="-122"/>
              </a:rPr>
              <a:t>转速波形</a:t>
            </a:r>
            <a:r>
              <a:rPr lang="zh-CN" altLang="en-US">
                <a:latin typeface="Times New Roman" panose="02020603050405020304" pitchFamily="18" charset="0"/>
                <a:ea typeface="宋体" panose="02010600030101010101" pitchFamily="2" charset="-122"/>
              </a:rPr>
              <a:t>图</a:t>
            </a:r>
            <a:endParaRPr lang="en-US" altLang="zh-CN">
              <a:latin typeface="Times New Roman" panose="02020603050405020304" pitchFamily="18" charset="0"/>
              <a:ea typeface="宋体" panose="02010600030101010101" pitchFamily="2" charset="-122"/>
            </a:endParaRPr>
          </a:p>
          <a:p>
            <a:pPr algn="just">
              <a:lnSpc>
                <a:spcPct val="150000"/>
              </a:lnSpc>
            </a:pPr>
            <a:endParaRPr lang="zh-CN" altLang="en-US">
              <a:latin typeface="Times New Roman" panose="02020603050405020304" pitchFamily="18" charset="0"/>
              <a:ea typeface="宋体" panose="02010600030101010101" pitchFamily="2" charset="-122"/>
            </a:endParaRPr>
          </a:p>
          <a:p>
            <a:pPr marL="285750" indent="-285750" algn="just">
              <a:lnSpc>
                <a:spcPct val="150000"/>
              </a:lnSpc>
              <a:buFont typeface="Wingdings" panose="05000000000000000000" pitchFamily="2" charset="2"/>
              <a:buChar char="Ø"/>
            </a:pPr>
            <a:endParaRPr lang="zh-CN" altLang="en-US">
              <a:latin typeface="Times New Roman" panose="02020603050405020304" pitchFamily="18" charset="0"/>
              <a:ea typeface="宋体" panose="02010600030101010101" pitchFamily="2" charset="-122"/>
            </a:endParaRPr>
          </a:p>
        </p:txBody>
      </p:sp>
      <p:pic>
        <p:nvPicPr>
          <p:cNvPr id="9" name="图片 8">
            <a:extLst>
              <a:ext uri="{FF2B5EF4-FFF2-40B4-BE49-F238E27FC236}">
                <a16:creationId xmlns:a16="http://schemas.microsoft.com/office/drawing/2014/main" id="{5C593D90-63CD-0A2D-AC0E-F7F61C05F0A7}"/>
              </a:ext>
            </a:extLst>
          </p:cNvPr>
          <p:cNvPicPr>
            <a:picLocks noChangeAspect="1"/>
          </p:cNvPicPr>
          <p:nvPr/>
        </p:nvPicPr>
        <p:blipFill>
          <a:blip r:embed="rId4"/>
          <a:stretch>
            <a:fillRect/>
          </a:stretch>
        </p:blipFill>
        <p:spPr>
          <a:xfrm>
            <a:off x="1393372" y="1348698"/>
            <a:ext cx="8556126" cy="4547810"/>
          </a:xfrm>
          <a:prstGeom prst="rect">
            <a:avLst/>
          </a:prstGeom>
        </p:spPr>
      </p:pic>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13CF5B89-9DCA-F4C7-00A4-A6DF9DF288D9}"/>
                  </a:ext>
                </a:extLst>
              </p:cNvPr>
              <p:cNvSpPr txBox="1"/>
              <p:nvPr/>
            </p:nvSpPr>
            <p:spPr>
              <a:xfrm>
                <a:off x="551709" y="6062285"/>
                <a:ext cx="6094268" cy="6208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𝜎</m:t>
                          </m:r>
                        </m:e>
                        <m:sub>
                          <m:r>
                            <a:rPr lang="zh-CN" altLang="en-US" i="1">
                              <a:latin typeface="Cambria Math" panose="02040503050406030204" pitchFamily="18" charset="0"/>
                            </a:rPr>
                            <m:t>𝑛</m:t>
                          </m:r>
                        </m:sub>
                      </m:sSub>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1">
                              <a:latin typeface="Cambria Math" panose="02040503050406030204" pitchFamily="18" charset="0"/>
                            </a:rPr>
                            <m:t>𝑛</m:t>
                          </m:r>
                          <m:r>
                            <a:rPr lang="zh-CN" altLang="en-US" i="0">
                              <a:latin typeface="Cambria Math" panose="02040503050406030204" pitchFamily="18" charset="0"/>
                            </a:rPr>
                            <m:t>−</m:t>
                          </m:r>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𝑛</m:t>
                              </m:r>
                            </m:e>
                            <m:sup>
                              <m:r>
                                <a:rPr lang="zh-CN" altLang="en-US" i="0">
                                  <a:latin typeface="Cambria Math" panose="02040503050406030204" pitchFamily="18" charset="0"/>
                                </a:rPr>
                                <m:t>∗</m:t>
                              </m:r>
                            </m:sup>
                          </m:sSup>
                        </m:num>
                        <m:den>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𝑛</m:t>
                              </m:r>
                            </m:e>
                            <m:sup>
                              <m:r>
                                <a:rPr lang="zh-CN" altLang="en-US" i="0">
                                  <a:latin typeface="Cambria Math" panose="02040503050406030204" pitchFamily="18" charset="0"/>
                                </a:rPr>
                                <m:t>∗</m:t>
                              </m:r>
                            </m:sup>
                          </m:sSup>
                        </m:den>
                      </m:f>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601−600</m:t>
                          </m:r>
                        </m:num>
                        <m:den>
                          <m:r>
                            <a:rPr lang="zh-CN" altLang="en-US" i="0">
                              <a:latin typeface="Cambria Math" panose="02040503050406030204" pitchFamily="18" charset="0"/>
                            </a:rPr>
                            <m:t>600</m:t>
                          </m:r>
                        </m:den>
                      </m:f>
                      <m:r>
                        <a:rPr lang="zh-CN" altLang="en-US" i="0">
                          <a:latin typeface="Cambria Math" panose="02040503050406030204" pitchFamily="18" charset="0"/>
                        </a:rPr>
                        <m:t>×100%=0.167%</m:t>
                      </m:r>
                    </m:oMath>
                  </m:oMathPara>
                </a14:m>
                <a:endParaRPr lang="zh-CN" altLang="en-US"/>
              </a:p>
            </p:txBody>
          </p:sp>
        </mc:Choice>
        <mc:Fallback xmlns="">
          <p:sp>
            <p:nvSpPr>
              <p:cNvPr id="11" name="文本框 10">
                <a:extLst>
                  <a:ext uri="{FF2B5EF4-FFF2-40B4-BE49-F238E27FC236}">
                    <a16:creationId xmlns:a16="http://schemas.microsoft.com/office/drawing/2014/main" id="{13CF5B89-9DCA-F4C7-00A4-A6DF9DF288D9}"/>
                  </a:ext>
                </a:extLst>
              </p:cNvPr>
              <p:cNvSpPr txBox="1">
                <a:spLocks noRot="1" noChangeAspect="1" noMove="1" noResize="1" noEditPoints="1" noAdjustHandles="1" noChangeArrowheads="1" noChangeShapeType="1" noTextEdit="1"/>
              </p:cNvSpPr>
              <p:nvPr/>
            </p:nvSpPr>
            <p:spPr>
              <a:xfrm>
                <a:off x="551709" y="6062285"/>
                <a:ext cx="6094268" cy="620811"/>
              </a:xfrm>
              <a:prstGeom prst="rect">
                <a:avLst/>
              </a:prstGeom>
              <a:blipFill>
                <a:blip r:embed="rId5"/>
                <a:stretch>
                  <a:fillRect/>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7E59BA6A-473F-603A-82D0-4D061E8D780B}"/>
              </a:ext>
            </a:extLst>
          </p:cNvPr>
          <p:cNvSpPr txBox="1"/>
          <p:nvPr/>
        </p:nvSpPr>
        <p:spPr>
          <a:xfrm>
            <a:off x="6241472" y="6210287"/>
            <a:ext cx="6094268" cy="369332"/>
          </a:xfrm>
          <a:prstGeom prst="rect">
            <a:avLst/>
          </a:prstGeom>
          <a:noFill/>
        </p:spPr>
        <p:txBody>
          <a:bodyPr wrap="square">
            <a:spAutoFit/>
          </a:bodyPr>
          <a:lstStyle/>
          <a:p>
            <a:r>
              <a:rPr lang="zh-CN" altLang="en-US" b="1">
                <a:latin typeface="Times New Roman" panose="02020603050405020304" pitchFamily="18" charset="0"/>
                <a:ea typeface="宋体" panose="02010600030101010101" pitchFamily="2" charset="-122"/>
              </a:rPr>
              <a:t>系统调节时间减小，快速性更好，转速超调量减少。</a:t>
            </a:r>
            <a:endParaRPr lang="zh-CN" altLang="en-US" b="1"/>
          </a:p>
        </p:txBody>
      </p:sp>
    </p:spTree>
    <p:extLst>
      <p:ext uri="{BB962C8B-B14F-4D97-AF65-F5344CB8AC3E}">
        <p14:creationId xmlns:p14="http://schemas.microsoft.com/office/powerpoint/2010/main" val="1519540653"/>
      </p:ext>
    </p:extLst>
  </p:cSld>
  <p:clrMapOvr>
    <a:masterClrMapping/>
  </p:clrMapOvr>
  <p:transition spd="slow" advTm="9487"/>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46EE6-F87C-DE20-AF70-CC7FF1F45BFA}"/>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BF30468A-6C51-2BD6-5A58-4898B26432AE}"/>
              </a:ext>
            </a:extLst>
          </p:cNvPr>
          <p:cNvCxnSpPr>
            <a:cxnSpLocks/>
          </p:cNvCxnSpPr>
          <p:nvPr/>
        </p:nvCxnSpPr>
        <p:spPr>
          <a:xfrm>
            <a:off x="1014737" y="647713"/>
            <a:ext cx="8681713"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1CB1D2B1-9BDC-844D-53EB-85593DD30354}"/>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-PID</a:t>
            </a:r>
            <a:r>
              <a:rPr lang="zh-CN" altLang="en-US" sz="2400" b="1" kern="0">
                <a:solidFill>
                  <a:prstClr val="black"/>
                </a:solidFill>
                <a:latin typeface="黑体" panose="02010609060101010101" pitchFamily="49" charset="-122"/>
                <a:ea typeface="黑体" panose="02010609060101010101" pitchFamily="49" charset="-122"/>
              </a:rPr>
              <a:t>型转速、电流调节器的系统设计与仿真</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14FDCF08-FA45-ABA1-C5F5-3F7C29C341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4" name="文本框 3">
            <a:extLst>
              <a:ext uri="{FF2B5EF4-FFF2-40B4-BE49-F238E27FC236}">
                <a16:creationId xmlns:a16="http://schemas.microsoft.com/office/drawing/2014/main" id="{EAAFF9FF-B2B8-6A5C-2EA3-B792F01B79F4}"/>
              </a:ext>
            </a:extLst>
          </p:cNvPr>
          <p:cNvSpPr txBox="1"/>
          <p:nvPr/>
        </p:nvSpPr>
        <p:spPr>
          <a:xfrm>
            <a:off x="962590" y="795715"/>
            <a:ext cx="10334059" cy="455253"/>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a:latin typeface="Times New Roman" panose="02020603050405020304" pitchFamily="18" charset="0"/>
                <a:ea typeface="宋体" panose="02010600030101010101" pitchFamily="2" charset="-122"/>
              </a:rPr>
              <a:t>下图为</a:t>
            </a:r>
            <a:r>
              <a:rPr lang="en-US" altLang="zh-CN">
                <a:latin typeface="Times New Roman" panose="02020603050405020304" pitchFamily="18" charset="0"/>
                <a:ea typeface="宋体" panose="02010600030101010101" pitchFamily="2" charset="-122"/>
              </a:rPr>
              <a:t>PID</a:t>
            </a:r>
            <a:r>
              <a:rPr lang="zh-CN" altLang="en-US">
                <a:latin typeface="Times New Roman" panose="02020603050405020304" pitchFamily="18" charset="0"/>
                <a:ea typeface="宋体" panose="02010600030101010101" pitchFamily="2" charset="-122"/>
              </a:rPr>
              <a:t>控制下</a:t>
            </a:r>
            <a:r>
              <a:rPr lang="zh-CN" altLang="zh-CN">
                <a:latin typeface="Times New Roman" panose="02020603050405020304" pitchFamily="18" charset="0"/>
                <a:ea typeface="宋体" panose="02010600030101010101" pitchFamily="2" charset="-122"/>
              </a:rPr>
              <a:t>理想空载启动与停止时电枢电流及转速波形图</a:t>
            </a:r>
            <a:endParaRPr lang="zh-CN" altLang="en-US">
              <a:latin typeface="Times New Roman" panose="02020603050405020304" pitchFamily="18" charset="0"/>
              <a:ea typeface="宋体" panose="02010600030101010101" pitchFamily="2" charset="-122"/>
            </a:endParaRPr>
          </a:p>
        </p:txBody>
      </p:sp>
      <p:pic>
        <p:nvPicPr>
          <p:cNvPr id="5" name="图片 4">
            <a:extLst>
              <a:ext uri="{FF2B5EF4-FFF2-40B4-BE49-F238E27FC236}">
                <a16:creationId xmlns:a16="http://schemas.microsoft.com/office/drawing/2014/main" id="{D364CB90-3AB6-DABE-D2D3-853BDEEF36EC}"/>
              </a:ext>
            </a:extLst>
          </p:cNvPr>
          <p:cNvPicPr>
            <a:picLocks noChangeAspect="1"/>
          </p:cNvPicPr>
          <p:nvPr/>
        </p:nvPicPr>
        <p:blipFill>
          <a:blip r:embed="rId4"/>
          <a:stretch>
            <a:fillRect/>
          </a:stretch>
        </p:blipFill>
        <p:spPr>
          <a:xfrm>
            <a:off x="1373601" y="1250968"/>
            <a:ext cx="9855809" cy="5238627"/>
          </a:xfrm>
          <a:prstGeom prst="rect">
            <a:avLst/>
          </a:prstGeom>
        </p:spPr>
      </p:pic>
    </p:spTree>
    <p:extLst>
      <p:ext uri="{BB962C8B-B14F-4D97-AF65-F5344CB8AC3E}">
        <p14:creationId xmlns:p14="http://schemas.microsoft.com/office/powerpoint/2010/main" val="927334851"/>
      </p:ext>
    </p:extLst>
  </p:cSld>
  <p:clrMapOvr>
    <a:masterClrMapping/>
  </p:clrMapOvr>
  <p:transition spd="slow" advTm="9487"/>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68EAC-1941-3BB7-F6DF-71F3C87BA01F}"/>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78540152-AC82-1FBD-689A-1C6C27648698}"/>
              </a:ext>
            </a:extLst>
          </p:cNvPr>
          <p:cNvCxnSpPr>
            <a:cxnSpLocks/>
          </p:cNvCxnSpPr>
          <p:nvPr/>
        </p:nvCxnSpPr>
        <p:spPr>
          <a:xfrm>
            <a:off x="1014737" y="647713"/>
            <a:ext cx="8681713"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16EC111F-86D9-869E-8464-81D89236EDFF}"/>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-PID</a:t>
            </a:r>
            <a:r>
              <a:rPr lang="zh-CN" altLang="en-US" sz="2400" b="1" kern="0">
                <a:solidFill>
                  <a:prstClr val="black"/>
                </a:solidFill>
                <a:latin typeface="黑体" panose="02010609060101010101" pitchFamily="49" charset="-122"/>
                <a:ea typeface="黑体" panose="02010609060101010101" pitchFamily="49" charset="-122"/>
              </a:rPr>
              <a:t>型转速、电流调节器的系统设计与仿真</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01CE138C-B26C-83A3-7A7D-1DB5DF994E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4" name="文本框 3">
            <a:extLst>
              <a:ext uri="{FF2B5EF4-FFF2-40B4-BE49-F238E27FC236}">
                <a16:creationId xmlns:a16="http://schemas.microsoft.com/office/drawing/2014/main" id="{F82B8A1C-60F5-694F-BAA3-F23D093728C3}"/>
              </a:ext>
            </a:extLst>
          </p:cNvPr>
          <p:cNvSpPr txBox="1"/>
          <p:nvPr/>
        </p:nvSpPr>
        <p:spPr>
          <a:xfrm>
            <a:off x="962590" y="795715"/>
            <a:ext cx="10334059" cy="455253"/>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a:latin typeface="Times New Roman" panose="02020603050405020304" pitchFamily="18" charset="0"/>
                <a:ea typeface="宋体" panose="02010600030101010101" pitchFamily="2" charset="-122"/>
              </a:rPr>
              <a:t>下图为</a:t>
            </a:r>
            <a:r>
              <a:rPr lang="en-US" altLang="zh-CN">
                <a:latin typeface="Times New Roman" panose="02020603050405020304" pitchFamily="18" charset="0"/>
                <a:ea typeface="宋体" panose="02010600030101010101" pitchFamily="2" charset="-122"/>
              </a:rPr>
              <a:t>PID</a:t>
            </a:r>
            <a:r>
              <a:rPr lang="zh-CN" altLang="en-US">
                <a:latin typeface="Times New Roman" panose="02020603050405020304" pitchFamily="18" charset="0"/>
                <a:ea typeface="宋体" panose="02010600030101010101" pitchFamily="2" charset="-122"/>
              </a:rPr>
              <a:t>控制下在</a:t>
            </a:r>
            <a:r>
              <a:rPr lang="zh-CN" altLang="zh-CN" b="1">
                <a:latin typeface="Times New Roman" panose="02020603050405020304" pitchFamily="18" charset="0"/>
                <a:ea typeface="宋体" panose="02010600030101010101" pitchFamily="2" charset="-122"/>
              </a:rPr>
              <a:t>理想空载启动</a:t>
            </a:r>
            <a:r>
              <a:rPr lang="zh-CN" altLang="en-US">
                <a:latin typeface="Times New Roman" panose="02020603050405020304" pitchFamily="18" charset="0"/>
                <a:ea typeface="宋体" panose="02010600030101010101" pitchFamily="2" charset="-122"/>
              </a:rPr>
              <a:t>后</a:t>
            </a:r>
            <a:r>
              <a:rPr lang="en-US" altLang="zh-CN" b="1">
                <a:latin typeface="Times New Roman" panose="02020603050405020304" pitchFamily="18" charset="0"/>
                <a:ea typeface="宋体" panose="02010600030101010101" pitchFamily="2" charset="-122"/>
              </a:rPr>
              <a:t>2s</a:t>
            </a:r>
            <a:r>
              <a:rPr lang="zh-CN" altLang="en-US" b="1">
                <a:latin typeface="Times New Roman" panose="02020603050405020304" pitchFamily="18" charset="0"/>
                <a:ea typeface="宋体" panose="02010600030101010101" pitchFamily="2" charset="-122"/>
              </a:rPr>
              <a:t>加额定负载</a:t>
            </a:r>
            <a:r>
              <a:rPr lang="zh-CN" altLang="en-US">
                <a:latin typeface="Times New Roman" panose="02020603050405020304" pitchFamily="18" charset="0"/>
                <a:ea typeface="宋体" panose="02010600030101010101" pitchFamily="2" charset="-122"/>
              </a:rPr>
              <a:t>的</a:t>
            </a:r>
            <a:r>
              <a:rPr lang="zh-CN" altLang="zh-CN">
                <a:latin typeface="Times New Roman" panose="02020603050405020304" pitchFamily="18" charset="0"/>
                <a:ea typeface="宋体" panose="02010600030101010101" pitchFamily="2" charset="-122"/>
              </a:rPr>
              <a:t>电枢电流及转速波形图</a:t>
            </a:r>
            <a:endParaRPr lang="zh-CN" altLang="en-US">
              <a:latin typeface="Times New Roman" panose="02020603050405020304" pitchFamily="18" charset="0"/>
              <a:ea typeface="宋体" panose="02010600030101010101" pitchFamily="2" charset="-122"/>
            </a:endParaRPr>
          </a:p>
        </p:txBody>
      </p:sp>
      <p:pic>
        <p:nvPicPr>
          <p:cNvPr id="9" name="图片 8">
            <a:extLst>
              <a:ext uri="{FF2B5EF4-FFF2-40B4-BE49-F238E27FC236}">
                <a16:creationId xmlns:a16="http://schemas.microsoft.com/office/drawing/2014/main" id="{A0468813-6AB6-BEDC-2516-A6F8D6884D70}"/>
              </a:ext>
            </a:extLst>
          </p:cNvPr>
          <p:cNvPicPr>
            <a:picLocks noChangeAspect="1"/>
          </p:cNvPicPr>
          <p:nvPr/>
        </p:nvPicPr>
        <p:blipFill>
          <a:blip r:embed="rId4"/>
          <a:stretch>
            <a:fillRect/>
          </a:stretch>
        </p:blipFill>
        <p:spPr>
          <a:xfrm>
            <a:off x="1033357" y="1398969"/>
            <a:ext cx="9698483" cy="5155004"/>
          </a:xfrm>
          <a:prstGeom prst="rect">
            <a:avLst/>
          </a:prstGeom>
        </p:spPr>
      </p:pic>
    </p:spTree>
    <p:extLst>
      <p:ext uri="{BB962C8B-B14F-4D97-AF65-F5344CB8AC3E}">
        <p14:creationId xmlns:p14="http://schemas.microsoft.com/office/powerpoint/2010/main" val="135684885"/>
      </p:ext>
    </p:extLst>
  </p:cSld>
  <p:clrMapOvr>
    <a:masterClrMapping/>
  </p:clrMapOvr>
  <p:transition spd="slow" advTm="9487"/>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4B349-D665-9C26-F2D9-CCD5441B0B96}"/>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32D76631-4C06-4732-E829-D5F9A4AC0184}"/>
              </a:ext>
            </a:extLst>
          </p:cNvPr>
          <p:cNvCxnSpPr>
            <a:cxnSpLocks/>
          </p:cNvCxnSpPr>
          <p:nvPr/>
        </p:nvCxnSpPr>
        <p:spPr>
          <a:xfrm>
            <a:off x="1014737" y="647713"/>
            <a:ext cx="8681713"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B4AE98D4-B108-503D-DD05-05B3892CA309}"/>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加入给定积分的</a:t>
            </a:r>
            <a:r>
              <a:rPr lang="en-US" altLang="zh-CN" sz="2400" b="1" kern="0">
                <a:solidFill>
                  <a:prstClr val="black"/>
                </a:solidFill>
                <a:latin typeface="黑体" panose="02010609060101010101" pitchFamily="49" charset="-122"/>
                <a:ea typeface="黑体" panose="02010609060101010101" pitchFamily="49" charset="-122"/>
              </a:rPr>
              <a:t>PID</a:t>
            </a:r>
            <a:r>
              <a:rPr lang="zh-CN" altLang="en-US" sz="2400" b="1" kern="0">
                <a:solidFill>
                  <a:prstClr val="black"/>
                </a:solidFill>
                <a:latin typeface="黑体" panose="02010609060101010101" pitchFamily="49" charset="-122"/>
                <a:ea typeface="黑体" panose="02010609060101010101" pitchFamily="49" charset="-122"/>
              </a:rPr>
              <a:t>型</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4BA795BF-6BFE-EE6F-B40E-EB5C1CDC94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4" name="文本框 3">
            <a:extLst>
              <a:ext uri="{FF2B5EF4-FFF2-40B4-BE49-F238E27FC236}">
                <a16:creationId xmlns:a16="http://schemas.microsoft.com/office/drawing/2014/main" id="{DF8E4AB7-2810-CCB3-60D3-E19C00EDDD47}"/>
              </a:ext>
            </a:extLst>
          </p:cNvPr>
          <p:cNvSpPr txBox="1"/>
          <p:nvPr/>
        </p:nvSpPr>
        <p:spPr>
          <a:xfrm>
            <a:off x="962590" y="795715"/>
            <a:ext cx="10334059" cy="1289071"/>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zh-CN">
                <a:latin typeface="Times New Roman" panose="02020603050405020304" pitchFamily="18" charset="0"/>
                <a:ea typeface="宋体" panose="02010600030101010101" pitchFamily="2" charset="-122"/>
              </a:rPr>
              <a:t>在</a:t>
            </a:r>
            <a:r>
              <a:rPr lang="en-US" altLang="zh-CN">
                <a:latin typeface="Times New Roman" panose="02020603050405020304" pitchFamily="18" charset="0"/>
                <a:ea typeface="宋体" panose="02010600030101010101" pitchFamily="2" charset="-122"/>
              </a:rPr>
              <a:t>PID</a:t>
            </a:r>
            <a:r>
              <a:rPr lang="zh-CN" altLang="zh-CN">
                <a:latin typeface="Times New Roman" panose="02020603050405020304" pitchFamily="18" charset="0"/>
                <a:ea typeface="宋体" panose="02010600030101010101" pitchFamily="2" charset="-122"/>
              </a:rPr>
              <a:t>调节器上进一步减小超调量的另一种办法即为加入转速给定积分器环节，搭建</a:t>
            </a:r>
            <a:r>
              <a:rPr lang="en-US" altLang="zh-CN">
                <a:latin typeface="Times New Roman" panose="02020603050405020304" pitchFamily="18" charset="0"/>
                <a:ea typeface="宋体" panose="02010600030101010101" pitchFamily="2" charset="-122"/>
              </a:rPr>
              <a:t>Simulink</a:t>
            </a:r>
            <a:r>
              <a:rPr lang="zh-CN" altLang="zh-CN">
                <a:latin typeface="Times New Roman" panose="02020603050405020304" pitchFamily="18" charset="0"/>
                <a:ea typeface="宋体" panose="02010600030101010101" pitchFamily="2" charset="-122"/>
              </a:rPr>
              <a:t>结构图如图所示。</a:t>
            </a:r>
          </a:p>
          <a:p>
            <a:pPr marL="285750" indent="-285750" algn="just">
              <a:lnSpc>
                <a:spcPct val="150000"/>
              </a:lnSpc>
              <a:buFont typeface="Wingdings" panose="05000000000000000000" pitchFamily="2" charset="2"/>
              <a:buChar char="Ø"/>
            </a:pPr>
            <a:endParaRPr lang="zh-CN" altLang="en-US">
              <a:latin typeface="Times New Roman" panose="02020603050405020304" pitchFamily="18" charset="0"/>
              <a:ea typeface="宋体" panose="02010600030101010101" pitchFamily="2" charset="-122"/>
            </a:endParaRPr>
          </a:p>
        </p:txBody>
      </p:sp>
      <p:sp>
        <p:nvSpPr>
          <p:cNvPr id="6" name="文本框 5">
            <a:extLst>
              <a:ext uri="{FF2B5EF4-FFF2-40B4-BE49-F238E27FC236}">
                <a16:creationId xmlns:a16="http://schemas.microsoft.com/office/drawing/2014/main" id="{6CB541FD-AEE8-2CE5-EB3C-9193BFD15D44}"/>
              </a:ext>
            </a:extLst>
          </p:cNvPr>
          <p:cNvSpPr txBox="1"/>
          <p:nvPr/>
        </p:nvSpPr>
        <p:spPr>
          <a:xfrm>
            <a:off x="3787098" y="6062285"/>
            <a:ext cx="4899701" cy="369332"/>
          </a:xfrm>
          <a:prstGeom prst="rect">
            <a:avLst/>
          </a:prstGeom>
          <a:noFill/>
        </p:spPr>
        <p:txBody>
          <a:bodyPr wrap="square">
            <a:spAutoFit/>
          </a:bodyPr>
          <a:lstStyle/>
          <a:p>
            <a:r>
              <a:rPr lang="zh-CN" altLang="zh-CN"/>
              <a:t>加入转速给定积分器环节的</a:t>
            </a:r>
            <a:r>
              <a:rPr lang="en-US" altLang="zh-CN"/>
              <a:t>Simulink</a:t>
            </a:r>
            <a:r>
              <a:rPr lang="zh-CN" altLang="zh-CN"/>
              <a:t>结构图</a:t>
            </a:r>
          </a:p>
        </p:txBody>
      </p:sp>
      <p:pic>
        <p:nvPicPr>
          <p:cNvPr id="3" name="图片 2">
            <a:extLst>
              <a:ext uri="{FF2B5EF4-FFF2-40B4-BE49-F238E27FC236}">
                <a16:creationId xmlns:a16="http://schemas.microsoft.com/office/drawing/2014/main" id="{E75AC56C-2FCD-6E0D-4414-0F05BFC12A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3050" y="2084786"/>
            <a:ext cx="9759098" cy="3077845"/>
          </a:xfrm>
          <a:prstGeom prst="rect">
            <a:avLst/>
          </a:prstGeom>
        </p:spPr>
      </p:pic>
      <p:sp>
        <p:nvSpPr>
          <p:cNvPr id="12" name="箭头: 下 11">
            <a:extLst>
              <a:ext uri="{FF2B5EF4-FFF2-40B4-BE49-F238E27FC236}">
                <a16:creationId xmlns:a16="http://schemas.microsoft.com/office/drawing/2014/main" id="{3BB96BE5-30A3-72A5-AF9B-C1CFC143C8A9}"/>
              </a:ext>
            </a:extLst>
          </p:cNvPr>
          <p:cNvSpPr/>
          <p:nvPr/>
        </p:nvSpPr>
        <p:spPr>
          <a:xfrm>
            <a:off x="1678132" y="2300178"/>
            <a:ext cx="114300" cy="540327"/>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99351399"/>
      </p:ext>
    </p:extLst>
  </p:cSld>
  <p:clrMapOvr>
    <a:masterClrMapping/>
  </p:clrMapOvr>
  <p:transition spd="slow" advTm="9487"/>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CAA09-479E-FBB1-2857-E1B4B5B9D3F8}"/>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EA814A55-D1E7-F094-F152-AEA7D463C9D7}"/>
              </a:ext>
            </a:extLst>
          </p:cNvPr>
          <p:cNvCxnSpPr>
            <a:cxnSpLocks/>
          </p:cNvCxnSpPr>
          <p:nvPr/>
        </p:nvCxnSpPr>
        <p:spPr>
          <a:xfrm>
            <a:off x="1014737" y="647713"/>
            <a:ext cx="8681713"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pic>
        <p:nvPicPr>
          <p:cNvPr id="15" name="图片 14">
            <a:extLst>
              <a:ext uri="{FF2B5EF4-FFF2-40B4-BE49-F238E27FC236}">
                <a16:creationId xmlns:a16="http://schemas.microsoft.com/office/drawing/2014/main" id="{ABFC462E-4405-C707-5D37-9D351EBB12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4" name="文本框 3">
            <a:extLst>
              <a:ext uri="{FF2B5EF4-FFF2-40B4-BE49-F238E27FC236}">
                <a16:creationId xmlns:a16="http://schemas.microsoft.com/office/drawing/2014/main" id="{A08BBA47-F4EF-2CE8-C5CC-40AEA33E20F3}"/>
              </a:ext>
            </a:extLst>
          </p:cNvPr>
          <p:cNvSpPr txBox="1"/>
          <p:nvPr/>
        </p:nvSpPr>
        <p:spPr>
          <a:xfrm>
            <a:off x="1482137" y="2208879"/>
            <a:ext cx="9438708" cy="1286250"/>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a:latin typeface="Times New Roman" panose="02020603050405020304" pitchFamily="18" charset="0"/>
                <a:ea typeface="宋体" panose="02010600030101010101" pitchFamily="2" charset="-122"/>
              </a:rPr>
              <a:t>在</a:t>
            </a:r>
            <a:r>
              <a:rPr lang="en-US" altLang="zh-CN">
                <a:latin typeface="Times New Roman" panose="02020603050405020304" pitchFamily="18" charset="0"/>
                <a:ea typeface="宋体" panose="02010600030101010101" pitchFamily="2" charset="-122"/>
              </a:rPr>
              <a:t>PI</a:t>
            </a:r>
            <a:r>
              <a:rPr lang="zh-CN" altLang="en-US">
                <a:latin typeface="Times New Roman" panose="02020603050405020304" pitchFamily="18" charset="0"/>
                <a:ea typeface="宋体" panose="02010600030101010101" pitchFamily="2" charset="-122"/>
              </a:rPr>
              <a:t>控制系统中，如果转速设定信号突变，会导致误差瞬间增大，积分环节反应剧烈，造成超调。而加入一个积分器之后，转速设定值变为斜坡信号，误差变化更平缓，从而减少积分突变，整体响应更平稳，超调量显著减小。</a:t>
            </a:r>
          </a:p>
        </p:txBody>
      </p:sp>
      <p:sp>
        <p:nvSpPr>
          <p:cNvPr id="3" name="矩形 2">
            <a:extLst>
              <a:ext uri="{FF2B5EF4-FFF2-40B4-BE49-F238E27FC236}">
                <a16:creationId xmlns:a16="http://schemas.microsoft.com/office/drawing/2014/main" id="{29692836-E164-375A-9445-B894A69A0864}"/>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加入给定积分的</a:t>
            </a:r>
            <a:r>
              <a:rPr lang="en-US" altLang="zh-CN" sz="2400" b="1" kern="0">
                <a:solidFill>
                  <a:prstClr val="black"/>
                </a:solidFill>
                <a:latin typeface="黑体" panose="02010609060101010101" pitchFamily="49" charset="-122"/>
                <a:ea typeface="黑体" panose="02010609060101010101" pitchFamily="49" charset="-122"/>
              </a:rPr>
              <a:t>PID</a:t>
            </a:r>
            <a:r>
              <a:rPr lang="zh-CN" altLang="en-US" sz="2400" b="1" kern="0">
                <a:solidFill>
                  <a:prstClr val="black"/>
                </a:solidFill>
                <a:latin typeface="黑体" panose="02010609060101010101" pitchFamily="49" charset="-122"/>
                <a:ea typeface="黑体" panose="02010609060101010101" pitchFamily="49" charset="-122"/>
              </a:rPr>
              <a:t>型</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spTree>
    <p:extLst>
      <p:ext uri="{BB962C8B-B14F-4D97-AF65-F5344CB8AC3E}">
        <p14:creationId xmlns:p14="http://schemas.microsoft.com/office/powerpoint/2010/main" val="4222809783"/>
      </p:ext>
    </p:extLst>
  </p:cSld>
  <p:clrMapOvr>
    <a:masterClrMapping/>
  </p:clrMapOvr>
  <p:transition spd="slow" advTm="9487"/>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879C8-D581-C619-94DB-161DA80D5A8E}"/>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810D362C-CCE5-97C2-9210-6A6471BE55AC}"/>
              </a:ext>
            </a:extLst>
          </p:cNvPr>
          <p:cNvCxnSpPr>
            <a:cxnSpLocks/>
          </p:cNvCxnSpPr>
          <p:nvPr/>
        </p:nvCxnSpPr>
        <p:spPr>
          <a:xfrm>
            <a:off x="1014737" y="647713"/>
            <a:ext cx="8681713"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pic>
        <p:nvPicPr>
          <p:cNvPr id="15" name="图片 14">
            <a:extLst>
              <a:ext uri="{FF2B5EF4-FFF2-40B4-BE49-F238E27FC236}">
                <a16:creationId xmlns:a16="http://schemas.microsoft.com/office/drawing/2014/main" id="{9132EA29-903F-82F5-47B1-01370B63DE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4" name="文本框 3">
            <a:extLst>
              <a:ext uri="{FF2B5EF4-FFF2-40B4-BE49-F238E27FC236}">
                <a16:creationId xmlns:a16="http://schemas.microsoft.com/office/drawing/2014/main" id="{8177126D-BC23-1431-59C2-6C3D04F62F9E}"/>
              </a:ext>
            </a:extLst>
          </p:cNvPr>
          <p:cNvSpPr txBox="1"/>
          <p:nvPr/>
        </p:nvSpPr>
        <p:spPr>
          <a:xfrm>
            <a:off x="962590" y="795715"/>
            <a:ext cx="10334059" cy="874214"/>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a:latin typeface="Times New Roman" panose="02020603050405020304" pitchFamily="18" charset="0"/>
                <a:ea typeface="宋体" panose="02010600030101010101" pitchFamily="2" charset="-122"/>
              </a:rPr>
              <a:t>下图为</a:t>
            </a:r>
            <a:r>
              <a:rPr lang="zh-CN" altLang="zh-CN">
                <a:latin typeface="Times New Roman" panose="02020603050405020304" pitchFamily="18" charset="0"/>
                <a:ea typeface="宋体" panose="02010600030101010101" pitchFamily="2" charset="-122"/>
              </a:rPr>
              <a:t>加入转速给定积分器环节后</a:t>
            </a:r>
            <a:r>
              <a:rPr lang="zh-CN" altLang="en-US">
                <a:latin typeface="Times New Roman" panose="02020603050405020304" pitchFamily="18" charset="0"/>
                <a:ea typeface="宋体" panose="02010600030101010101" pitchFamily="2" charset="-122"/>
              </a:rPr>
              <a:t>满载</a:t>
            </a:r>
            <a:r>
              <a:rPr lang="zh-CN" altLang="zh-CN">
                <a:latin typeface="Times New Roman" panose="02020603050405020304" pitchFamily="18" charset="0"/>
                <a:ea typeface="宋体" panose="02010600030101010101" pitchFamily="2" charset="-122"/>
              </a:rPr>
              <a:t>启动时电枢电流及转速波形图</a:t>
            </a:r>
            <a:endParaRPr lang="en-US" altLang="zh-CN">
              <a:latin typeface="Times New Roman" panose="02020603050405020304" pitchFamily="18" charset="0"/>
              <a:ea typeface="宋体" panose="02010600030101010101" pitchFamily="2" charset="-122"/>
            </a:endParaRPr>
          </a:p>
          <a:p>
            <a:pPr marL="285750" indent="-285750" algn="just">
              <a:lnSpc>
                <a:spcPct val="150000"/>
              </a:lnSpc>
              <a:buFont typeface="Wingdings" panose="05000000000000000000" pitchFamily="2" charset="2"/>
              <a:buChar char="Ø"/>
            </a:pPr>
            <a:r>
              <a:rPr lang="zh-CN" altLang="zh-CN">
                <a:latin typeface="Times New Roman" panose="02020603050405020304" pitchFamily="18" charset="0"/>
                <a:ea typeface="宋体" panose="02010600030101010101" pitchFamily="2" charset="-122"/>
              </a:rPr>
              <a:t>我们可以看出加入积分环节后</a:t>
            </a:r>
            <a:r>
              <a:rPr lang="zh-CN" altLang="en-US" b="1">
                <a:latin typeface="Times New Roman" panose="02020603050405020304" pitchFamily="18" charset="0"/>
                <a:ea typeface="宋体" panose="02010600030101010101" pitchFamily="2" charset="-122"/>
              </a:rPr>
              <a:t>电流</a:t>
            </a:r>
            <a:r>
              <a:rPr lang="zh-CN" altLang="zh-CN" b="1">
                <a:latin typeface="Times New Roman" panose="02020603050405020304" pitchFamily="18" charset="0"/>
                <a:ea typeface="宋体" panose="02010600030101010101" pitchFamily="2" charset="-122"/>
              </a:rPr>
              <a:t>超调量有一些减小</a:t>
            </a:r>
            <a:r>
              <a:rPr lang="zh-CN"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转速超调变化</a:t>
            </a:r>
            <a:r>
              <a:rPr lang="zh-CN" altLang="zh-CN">
                <a:latin typeface="Times New Roman" panose="02020603050405020304" pitchFamily="18" charset="0"/>
                <a:ea typeface="宋体" panose="02010600030101010101" pitchFamily="2" charset="-122"/>
              </a:rPr>
              <a:t>不明显。</a:t>
            </a:r>
            <a:endParaRPr lang="zh-CN" altLang="en-US">
              <a:latin typeface="Times New Roman" panose="02020603050405020304" pitchFamily="18" charset="0"/>
              <a:ea typeface="宋体" panose="02010600030101010101" pitchFamily="2" charset="-122"/>
            </a:endParaRPr>
          </a:p>
        </p:txBody>
      </p:sp>
      <p:sp>
        <p:nvSpPr>
          <p:cNvPr id="3" name="矩形 2">
            <a:extLst>
              <a:ext uri="{FF2B5EF4-FFF2-40B4-BE49-F238E27FC236}">
                <a16:creationId xmlns:a16="http://schemas.microsoft.com/office/drawing/2014/main" id="{E82DA987-AF13-0E62-1647-FFBEDC997EAC}"/>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加入给定积分的</a:t>
            </a:r>
            <a:r>
              <a:rPr lang="en-US" altLang="zh-CN" sz="2400" b="1" kern="0">
                <a:solidFill>
                  <a:prstClr val="black"/>
                </a:solidFill>
                <a:latin typeface="黑体" panose="02010609060101010101" pitchFamily="49" charset="-122"/>
                <a:ea typeface="黑体" panose="02010609060101010101" pitchFamily="49" charset="-122"/>
              </a:rPr>
              <a:t>PID</a:t>
            </a:r>
            <a:r>
              <a:rPr lang="zh-CN" altLang="en-US" sz="2400" b="1" kern="0">
                <a:solidFill>
                  <a:prstClr val="black"/>
                </a:solidFill>
                <a:latin typeface="黑体" panose="02010609060101010101" pitchFamily="49" charset="-122"/>
                <a:ea typeface="黑体" panose="02010609060101010101" pitchFamily="49" charset="-122"/>
              </a:rPr>
              <a:t>型</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9" name="图片 8">
            <a:extLst>
              <a:ext uri="{FF2B5EF4-FFF2-40B4-BE49-F238E27FC236}">
                <a16:creationId xmlns:a16="http://schemas.microsoft.com/office/drawing/2014/main" id="{878F6103-ED45-D664-E314-C9D9A8151B18}"/>
              </a:ext>
            </a:extLst>
          </p:cNvPr>
          <p:cNvPicPr>
            <a:picLocks noChangeAspect="1"/>
          </p:cNvPicPr>
          <p:nvPr/>
        </p:nvPicPr>
        <p:blipFill>
          <a:blip r:embed="rId4"/>
          <a:stretch>
            <a:fillRect/>
          </a:stretch>
        </p:blipFill>
        <p:spPr>
          <a:xfrm>
            <a:off x="1411589" y="1669929"/>
            <a:ext cx="8271767" cy="4392356"/>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4390192-092F-2B3F-8A78-FED4FBA8B60B}"/>
                  </a:ext>
                </a:extLst>
              </p:cNvPr>
              <p:cNvSpPr txBox="1"/>
              <p:nvPr/>
            </p:nvSpPr>
            <p:spPr>
              <a:xfrm>
                <a:off x="2308459" y="6062285"/>
                <a:ext cx="6094268" cy="6897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𝜎</m:t>
                          </m:r>
                        </m:e>
                        <m:sub>
                          <m:r>
                            <a:rPr lang="zh-CN" altLang="en-US" i="1">
                              <a:latin typeface="Cambria Math" panose="02040503050406030204" pitchFamily="18" charset="0"/>
                            </a:rPr>
                            <m:t>𝑖</m:t>
                          </m:r>
                        </m:sub>
                      </m:sSub>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𝑑𝑚</m:t>
                              </m:r>
                            </m:sub>
                          </m:sSub>
                          <m:r>
                            <a:rPr lang="zh-CN" altLang="en-US" i="0">
                              <a:latin typeface="Cambria Math" panose="02040503050406030204" pitchFamily="18" charset="0"/>
                            </a:rPr>
                            <m:t>−</m:t>
                          </m:r>
                          <m:sSubSup>
                            <m:sSubSupPr>
                              <m:ctrlPr>
                                <a:rPr lang="zh-CN" altLang="en-US" i="1">
                                  <a:solidFill>
                                    <a:srgbClr val="836967"/>
                                  </a:solidFill>
                                  <a:latin typeface="Cambria Math" panose="02040503050406030204" pitchFamily="18" charset="0"/>
                                </a:rPr>
                              </m:ctrlPr>
                            </m:sSubSupPr>
                            <m:e>
                              <m:r>
                                <a:rPr lang="zh-CN" altLang="en-US" i="1">
                                  <a:latin typeface="Cambria Math" panose="02040503050406030204" pitchFamily="18" charset="0"/>
                                </a:rPr>
                                <m:t>𝐼</m:t>
                              </m:r>
                            </m:e>
                            <m:sub>
                              <m:r>
                                <a:rPr lang="zh-CN" altLang="en-US" i="1">
                                  <a:latin typeface="Cambria Math" panose="02040503050406030204" pitchFamily="18" charset="0"/>
                                </a:rPr>
                                <m:t>𝑑𝑚</m:t>
                              </m:r>
                            </m:sub>
                            <m:sup>
                              <m:r>
                                <a:rPr lang="zh-CN" altLang="en-US" i="0">
                                  <a:latin typeface="Cambria Math" panose="02040503050406030204" pitchFamily="18" charset="0"/>
                                </a:rPr>
                                <m:t>∗</m:t>
                              </m:r>
                            </m:sup>
                          </m:sSubSup>
                        </m:num>
                        <m:den>
                          <m:sSubSup>
                            <m:sSubSupPr>
                              <m:ctrlPr>
                                <a:rPr lang="zh-CN" altLang="en-US" i="1">
                                  <a:solidFill>
                                    <a:srgbClr val="836967"/>
                                  </a:solidFill>
                                  <a:latin typeface="Cambria Math" panose="02040503050406030204" pitchFamily="18" charset="0"/>
                                </a:rPr>
                              </m:ctrlPr>
                            </m:sSubSupPr>
                            <m:e>
                              <m:r>
                                <a:rPr lang="zh-CN" altLang="en-US" i="1">
                                  <a:latin typeface="Cambria Math" panose="02040503050406030204" pitchFamily="18" charset="0"/>
                                </a:rPr>
                                <m:t>𝐼</m:t>
                              </m:r>
                            </m:e>
                            <m:sub>
                              <m:r>
                                <a:rPr lang="zh-CN" altLang="en-US" i="1">
                                  <a:latin typeface="Cambria Math" panose="02040503050406030204" pitchFamily="18" charset="0"/>
                                </a:rPr>
                                <m:t>𝑑𝑚</m:t>
                              </m:r>
                            </m:sub>
                            <m:sup>
                              <m:r>
                                <a:rPr lang="zh-CN" altLang="en-US" i="0">
                                  <a:latin typeface="Cambria Math" panose="02040503050406030204" pitchFamily="18" charset="0"/>
                                </a:rPr>
                                <m:t>∗</m:t>
                              </m:r>
                            </m:sup>
                          </m:sSubSup>
                        </m:den>
                      </m:f>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30</m:t>
                          </m:r>
                          <m:r>
                            <a:rPr lang="en-US" altLang="zh-CN" b="0" i="0" smtClean="0">
                              <a:latin typeface="Cambria Math" panose="02040503050406030204" pitchFamily="18" charset="0"/>
                            </a:rPr>
                            <m:t>38</m:t>
                          </m:r>
                          <m:r>
                            <a:rPr lang="zh-CN" altLang="en-US" i="0">
                              <a:latin typeface="Cambria Math" panose="02040503050406030204" pitchFamily="18" charset="0"/>
                            </a:rPr>
                            <m:t>−3030</m:t>
                          </m:r>
                        </m:num>
                        <m:den>
                          <m:r>
                            <a:rPr lang="zh-CN" altLang="en-US" i="0">
                              <a:latin typeface="Cambria Math" panose="02040503050406030204" pitchFamily="18" charset="0"/>
                            </a:rPr>
                            <m:t>3030</m:t>
                          </m:r>
                        </m:den>
                      </m:f>
                      <m:r>
                        <a:rPr lang="zh-CN" altLang="en-US" i="0">
                          <a:latin typeface="Cambria Math" panose="02040503050406030204" pitchFamily="18" charset="0"/>
                        </a:rPr>
                        <m:t>×100%=0.</m:t>
                      </m:r>
                      <m:r>
                        <a:rPr lang="en-US" altLang="zh-CN" b="0" i="0" smtClean="0">
                          <a:latin typeface="Cambria Math" panose="02040503050406030204" pitchFamily="18" charset="0"/>
                        </a:rPr>
                        <m:t>264</m:t>
                      </m:r>
                      <m:r>
                        <a:rPr lang="zh-CN" altLang="en-US" i="0">
                          <a:latin typeface="Cambria Math" panose="02040503050406030204" pitchFamily="18" charset="0"/>
                        </a:rPr>
                        <m:t>%</m:t>
                      </m:r>
                    </m:oMath>
                  </m:oMathPara>
                </a14:m>
                <a:endParaRPr lang="zh-CN" altLang="en-US"/>
              </a:p>
            </p:txBody>
          </p:sp>
        </mc:Choice>
        <mc:Fallback xmlns="">
          <p:sp>
            <p:nvSpPr>
              <p:cNvPr id="5" name="文本框 4">
                <a:extLst>
                  <a:ext uri="{FF2B5EF4-FFF2-40B4-BE49-F238E27FC236}">
                    <a16:creationId xmlns:a16="http://schemas.microsoft.com/office/drawing/2014/main" id="{74390192-092F-2B3F-8A78-FED4FBA8B60B}"/>
                  </a:ext>
                </a:extLst>
              </p:cNvPr>
              <p:cNvSpPr txBox="1">
                <a:spLocks noRot="1" noChangeAspect="1" noMove="1" noResize="1" noEditPoints="1" noAdjustHandles="1" noChangeArrowheads="1" noChangeShapeType="1" noTextEdit="1"/>
              </p:cNvSpPr>
              <p:nvPr/>
            </p:nvSpPr>
            <p:spPr>
              <a:xfrm>
                <a:off x="2308459" y="6062285"/>
                <a:ext cx="6094268" cy="689741"/>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30868431"/>
      </p:ext>
    </p:extLst>
  </p:cSld>
  <p:clrMapOvr>
    <a:masterClrMapping/>
  </p:clrMapOvr>
  <p:transition spd="slow" advTm="9487"/>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6B195-A00B-E914-FA9F-22878ACC8EFA}"/>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80A57C6A-A80D-A064-C1D2-344E0A6D9435}"/>
              </a:ext>
            </a:extLst>
          </p:cNvPr>
          <p:cNvCxnSpPr>
            <a:cxnSpLocks/>
          </p:cNvCxnSpPr>
          <p:nvPr/>
        </p:nvCxnSpPr>
        <p:spPr>
          <a:xfrm>
            <a:off x="1014737" y="647713"/>
            <a:ext cx="8681713"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pic>
        <p:nvPicPr>
          <p:cNvPr id="15" name="图片 14">
            <a:extLst>
              <a:ext uri="{FF2B5EF4-FFF2-40B4-BE49-F238E27FC236}">
                <a16:creationId xmlns:a16="http://schemas.microsoft.com/office/drawing/2014/main" id="{C1FDB710-DC8D-AF13-A724-9CBB890CF2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4" name="文本框 3">
            <a:extLst>
              <a:ext uri="{FF2B5EF4-FFF2-40B4-BE49-F238E27FC236}">
                <a16:creationId xmlns:a16="http://schemas.microsoft.com/office/drawing/2014/main" id="{3AA55AA4-A59E-E8B7-2020-EC8D31F3501C}"/>
              </a:ext>
            </a:extLst>
          </p:cNvPr>
          <p:cNvSpPr txBox="1"/>
          <p:nvPr/>
        </p:nvSpPr>
        <p:spPr>
          <a:xfrm>
            <a:off x="962590" y="795715"/>
            <a:ext cx="10334059" cy="874214"/>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a:latin typeface="Times New Roman" panose="02020603050405020304" pitchFamily="18" charset="0"/>
                <a:ea typeface="宋体" panose="02010600030101010101" pitchFamily="2" charset="-122"/>
              </a:rPr>
              <a:t>下图为</a:t>
            </a:r>
            <a:r>
              <a:rPr lang="zh-CN" altLang="zh-CN">
                <a:latin typeface="Times New Roman" panose="02020603050405020304" pitchFamily="18" charset="0"/>
                <a:ea typeface="宋体" panose="02010600030101010101" pitchFamily="2" charset="-122"/>
              </a:rPr>
              <a:t>加入转速给定积分器环节后</a:t>
            </a:r>
            <a:r>
              <a:rPr lang="zh-CN" altLang="en-US">
                <a:latin typeface="Times New Roman" panose="02020603050405020304" pitchFamily="18" charset="0"/>
                <a:ea typeface="宋体" panose="02010600030101010101" pitchFamily="2" charset="-122"/>
              </a:rPr>
              <a:t>满载</a:t>
            </a:r>
            <a:r>
              <a:rPr lang="zh-CN" altLang="zh-CN">
                <a:latin typeface="Times New Roman" panose="02020603050405020304" pitchFamily="18" charset="0"/>
                <a:ea typeface="宋体" panose="02010600030101010101" pitchFamily="2" charset="-122"/>
              </a:rPr>
              <a:t>启动时电枢电流及转速波形图</a:t>
            </a:r>
            <a:endParaRPr lang="en-US" altLang="zh-CN">
              <a:latin typeface="Times New Roman" panose="02020603050405020304" pitchFamily="18" charset="0"/>
              <a:ea typeface="宋体" panose="02010600030101010101" pitchFamily="2" charset="-122"/>
            </a:endParaRPr>
          </a:p>
          <a:p>
            <a:pPr marL="285750" indent="-285750" algn="just">
              <a:lnSpc>
                <a:spcPct val="150000"/>
              </a:lnSpc>
              <a:buFont typeface="Wingdings" panose="05000000000000000000" pitchFamily="2" charset="2"/>
              <a:buChar char="Ø"/>
            </a:pPr>
            <a:r>
              <a:rPr lang="zh-CN" altLang="zh-CN">
                <a:latin typeface="Times New Roman" panose="02020603050405020304" pitchFamily="18" charset="0"/>
                <a:ea typeface="宋体" panose="02010600030101010101" pitchFamily="2" charset="-122"/>
              </a:rPr>
              <a:t>我们可以看出加入积分环节后</a:t>
            </a:r>
            <a:r>
              <a:rPr lang="zh-CN" altLang="en-US">
                <a:latin typeface="Times New Roman" panose="02020603050405020304" pitchFamily="18" charset="0"/>
                <a:ea typeface="宋体" panose="02010600030101010101" pitchFamily="2" charset="-122"/>
              </a:rPr>
              <a:t>电流</a:t>
            </a:r>
            <a:r>
              <a:rPr lang="zh-CN" altLang="zh-CN">
                <a:latin typeface="Times New Roman" panose="02020603050405020304" pitchFamily="18" charset="0"/>
                <a:ea typeface="宋体" panose="02010600030101010101" pitchFamily="2" charset="-122"/>
              </a:rPr>
              <a:t>超调量有一些减小，</a:t>
            </a:r>
            <a:r>
              <a:rPr lang="zh-CN" altLang="en-US" b="1">
                <a:latin typeface="Times New Roman" panose="02020603050405020304" pitchFamily="18" charset="0"/>
                <a:ea typeface="宋体" panose="02010600030101010101" pitchFamily="2" charset="-122"/>
              </a:rPr>
              <a:t>转速超调变化</a:t>
            </a:r>
            <a:r>
              <a:rPr lang="zh-CN" altLang="zh-CN" b="1">
                <a:latin typeface="Times New Roman" panose="02020603050405020304" pitchFamily="18" charset="0"/>
                <a:ea typeface="宋体" panose="02010600030101010101" pitchFamily="2" charset="-122"/>
              </a:rPr>
              <a:t>不明显</a:t>
            </a:r>
            <a:r>
              <a:rPr lang="zh-CN" altLang="zh-CN">
                <a:latin typeface="Times New Roman" panose="02020603050405020304" pitchFamily="18" charset="0"/>
                <a:ea typeface="宋体" panose="02010600030101010101" pitchFamily="2" charset="-122"/>
              </a:rPr>
              <a:t>。</a:t>
            </a:r>
            <a:endParaRPr lang="zh-CN" altLang="en-US">
              <a:latin typeface="Times New Roman" panose="02020603050405020304" pitchFamily="18" charset="0"/>
              <a:ea typeface="宋体" panose="02010600030101010101" pitchFamily="2" charset="-122"/>
            </a:endParaRPr>
          </a:p>
        </p:txBody>
      </p:sp>
      <p:sp>
        <p:nvSpPr>
          <p:cNvPr id="3" name="矩形 2">
            <a:extLst>
              <a:ext uri="{FF2B5EF4-FFF2-40B4-BE49-F238E27FC236}">
                <a16:creationId xmlns:a16="http://schemas.microsoft.com/office/drawing/2014/main" id="{DC43C389-73E3-6BF6-79BB-F3C2A1F6BAB3}"/>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加入给定积分的</a:t>
            </a:r>
            <a:r>
              <a:rPr lang="en-US" altLang="zh-CN" sz="2400" b="1" kern="0">
                <a:solidFill>
                  <a:prstClr val="black"/>
                </a:solidFill>
                <a:latin typeface="黑体" panose="02010609060101010101" pitchFamily="49" charset="-122"/>
                <a:ea typeface="黑体" panose="02010609060101010101" pitchFamily="49" charset="-122"/>
              </a:rPr>
              <a:t>PID</a:t>
            </a:r>
            <a:r>
              <a:rPr lang="zh-CN" altLang="en-US" sz="2400" b="1" kern="0">
                <a:solidFill>
                  <a:prstClr val="black"/>
                </a:solidFill>
                <a:latin typeface="黑体" panose="02010609060101010101" pitchFamily="49" charset="-122"/>
                <a:ea typeface="黑体" panose="02010609060101010101" pitchFamily="49" charset="-122"/>
              </a:rPr>
              <a:t>型</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6" name="图片 5">
            <a:extLst>
              <a:ext uri="{FF2B5EF4-FFF2-40B4-BE49-F238E27FC236}">
                <a16:creationId xmlns:a16="http://schemas.microsoft.com/office/drawing/2014/main" id="{E70DD042-DB83-9CC3-2593-5C87DF4F441E}"/>
              </a:ext>
            </a:extLst>
          </p:cNvPr>
          <p:cNvPicPr>
            <a:picLocks noChangeAspect="1"/>
          </p:cNvPicPr>
          <p:nvPr/>
        </p:nvPicPr>
        <p:blipFill>
          <a:blip r:embed="rId4"/>
          <a:stretch>
            <a:fillRect/>
          </a:stretch>
        </p:blipFill>
        <p:spPr>
          <a:xfrm>
            <a:off x="1388617" y="1669928"/>
            <a:ext cx="8307833" cy="4415837"/>
          </a:xfrm>
          <a:prstGeom prst="rect">
            <a:avLst/>
          </a:prstGeom>
        </p:spPr>
      </p:pic>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4514AB5C-E6B9-254E-D420-247EE96A1EFB}"/>
                  </a:ext>
                </a:extLst>
              </p:cNvPr>
              <p:cNvSpPr txBox="1"/>
              <p:nvPr/>
            </p:nvSpPr>
            <p:spPr>
              <a:xfrm>
                <a:off x="2235036" y="6210287"/>
                <a:ext cx="6094268" cy="6208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𝜎</m:t>
                          </m:r>
                        </m:e>
                        <m:sub>
                          <m:r>
                            <a:rPr lang="zh-CN" altLang="en-US" i="1">
                              <a:latin typeface="Cambria Math" panose="02040503050406030204" pitchFamily="18" charset="0"/>
                            </a:rPr>
                            <m:t>𝑛</m:t>
                          </m:r>
                        </m:sub>
                      </m:sSub>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1">
                              <a:latin typeface="Cambria Math" panose="02040503050406030204" pitchFamily="18" charset="0"/>
                            </a:rPr>
                            <m:t>𝑛</m:t>
                          </m:r>
                          <m:r>
                            <a:rPr lang="zh-CN" altLang="en-US" i="0">
                              <a:latin typeface="Cambria Math" panose="02040503050406030204" pitchFamily="18" charset="0"/>
                            </a:rPr>
                            <m:t>−</m:t>
                          </m:r>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𝑛</m:t>
                              </m:r>
                            </m:e>
                            <m:sup>
                              <m:r>
                                <a:rPr lang="zh-CN" altLang="en-US" i="0">
                                  <a:latin typeface="Cambria Math" panose="02040503050406030204" pitchFamily="18" charset="0"/>
                                </a:rPr>
                                <m:t>∗</m:t>
                              </m:r>
                            </m:sup>
                          </m:sSup>
                        </m:num>
                        <m:den>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𝑛</m:t>
                              </m:r>
                            </m:e>
                            <m:sup>
                              <m:r>
                                <a:rPr lang="zh-CN" altLang="en-US" i="0">
                                  <a:latin typeface="Cambria Math" panose="02040503050406030204" pitchFamily="18" charset="0"/>
                                </a:rPr>
                                <m:t>∗</m:t>
                              </m:r>
                            </m:sup>
                          </m:sSup>
                        </m:den>
                      </m:f>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601−600</m:t>
                          </m:r>
                        </m:num>
                        <m:den>
                          <m:r>
                            <a:rPr lang="zh-CN" altLang="en-US" i="0">
                              <a:latin typeface="Cambria Math" panose="02040503050406030204" pitchFamily="18" charset="0"/>
                            </a:rPr>
                            <m:t>600</m:t>
                          </m:r>
                        </m:den>
                      </m:f>
                      <m:r>
                        <a:rPr lang="zh-CN" altLang="en-US" i="0">
                          <a:latin typeface="Cambria Math" panose="02040503050406030204" pitchFamily="18" charset="0"/>
                        </a:rPr>
                        <m:t>×100%=0.167%</m:t>
                      </m:r>
                    </m:oMath>
                  </m:oMathPara>
                </a14:m>
                <a:endParaRPr lang="zh-CN" altLang="en-US"/>
              </a:p>
            </p:txBody>
          </p:sp>
        </mc:Choice>
        <mc:Fallback xmlns="">
          <p:sp>
            <p:nvSpPr>
              <p:cNvPr id="10" name="文本框 9">
                <a:extLst>
                  <a:ext uri="{FF2B5EF4-FFF2-40B4-BE49-F238E27FC236}">
                    <a16:creationId xmlns:a16="http://schemas.microsoft.com/office/drawing/2014/main" id="{4514AB5C-E6B9-254E-D420-247EE96A1EFB}"/>
                  </a:ext>
                </a:extLst>
              </p:cNvPr>
              <p:cNvSpPr txBox="1">
                <a:spLocks noRot="1" noChangeAspect="1" noMove="1" noResize="1" noEditPoints="1" noAdjustHandles="1" noChangeArrowheads="1" noChangeShapeType="1" noTextEdit="1"/>
              </p:cNvSpPr>
              <p:nvPr/>
            </p:nvSpPr>
            <p:spPr>
              <a:xfrm>
                <a:off x="2235036" y="6210287"/>
                <a:ext cx="6094268" cy="620811"/>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45734498"/>
      </p:ext>
    </p:extLst>
  </p:cSld>
  <p:clrMapOvr>
    <a:masterClrMapping/>
  </p:clrMapOvr>
  <p:transition spd="slow" advTm="9487"/>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337DC-63D0-B849-576A-451F16596E9C}"/>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484618CF-8032-D197-63D8-5E18660C6015}"/>
              </a:ext>
            </a:extLst>
          </p:cNvPr>
          <p:cNvCxnSpPr>
            <a:cxnSpLocks/>
          </p:cNvCxnSpPr>
          <p:nvPr/>
        </p:nvCxnSpPr>
        <p:spPr>
          <a:xfrm>
            <a:off x="1014737" y="647713"/>
            <a:ext cx="8681713"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pic>
        <p:nvPicPr>
          <p:cNvPr id="15" name="图片 14">
            <a:extLst>
              <a:ext uri="{FF2B5EF4-FFF2-40B4-BE49-F238E27FC236}">
                <a16:creationId xmlns:a16="http://schemas.microsoft.com/office/drawing/2014/main" id="{6453D180-06F0-B796-7406-1E26C4933F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4" name="文本框 3">
            <a:extLst>
              <a:ext uri="{FF2B5EF4-FFF2-40B4-BE49-F238E27FC236}">
                <a16:creationId xmlns:a16="http://schemas.microsoft.com/office/drawing/2014/main" id="{8A1F99A9-04D6-3196-E84A-12FB77E6066F}"/>
              </a:ext>
            </a:extLst>
          </p:cNvPr>
          <p:cNvSpPr txBox="1"/>
          <p:nvPr/>
        </p:nvSpPr>
        <p:spPr>
          <a:xfrm>
            <a:off x="962590" y="795715"/>
            <a:ext cx="10334059" cy="455253"/>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a:latin typeface="Times New Roman" panose="02020603050405020304" pitchFamily="18" charset="0"/>
                <a:ea typeface="宋体" panose="02010600030101010101" pitchFamily="2" charset="-122"/>
              </a:rPr>
              <a:t>下图为</a:t>
            </a:r>
            <a:r>
              <a:rPr lang="zh-CN" altLang="zh-CN">
                <a:latin typeface="Times New Roman" panose="02020603050405020304" pitchFamily="18" charset="0"/>
                <a:ea typeface="宋体" panose="02010600030101010101" pitchFamily="2" charset="-122"/>
              </a:rPr>
              <a:t>加入转速给定积分器环节后</a:t>
            </a:r>
            <a:r>
              <a:rPr lang="zh-CN" altLang="en-US">
                <a:latin typeface="Times New Roman" panose="02020603050405020304" pitchFamily="18" charset="0"/>
                <a:ea typeface="宋体" panose="02010600030101010101" pitchFamily="2" charset="-122"/>
              </a:rPr>
              <a:t>在</a:t>
            </a:r>
            <a:r>
              <a:rPr lang="zh-CN" altLang="zh-CN" b="1">
                <a:latin typeface="Times New Roman" panose="02020603050405020304" pitchFamily="18" charset="0"/>
                <a:ea typeface="宋体" panose="02010600030101010101" pitchFamily="2" charset="-122"/>
              </a:rPr>
              <a:t>理想空载启动</a:t>
            </a:r>
            <a:r>
              <a:rPr lang="zh-CN" altLang="en-US">
                <a:latin typeface="Times New Roman" panose="02020603050405020304" pitchFamily="18" charset="0"/>
                <a:ea typeface="宋体" panose="02010600030101010101" pitchFamily="2" charset="-122"/>
              </a:rPr>
              <a:t>后</a:t>
            </a:r>
            <a:r>
              <a:rPr lang="en-US" altLang="zh-CN" b="1">
                <a:latin typeface="Times New Roman" panose="02020603050405020304" pitchFamily="18" charset="0"/>
                <a:ea typeface="宋体" panose="02010600030101010101" pitchFamily="2" charset="-122"/>
              </a:rPr>
              <a:t>2s</a:t>
            </a:r>
            <a:r>
              <a:rPr lang="zh-CN" altLang="en-US" b="1">
                <a:latin typeface="Times New Roman" panose="02020603050405020304" pitchFamily="18" charset="0"/>
                <a:ea typeface="宋体" panose="02010600030101010101" pitchFamily="2" charset="-122"/>
              </a:rPr>
              <a:t>加额定负载</a:t>
            </a:r>
            <a:r>
              <a:rPr lang="zh-CN" altLang="en-US">
                <a:latin typeface="Times New Roman" panose="02020603050405020304" pitchFamily="18" charset="0"/>
                <a:ea typeface="宋体" panose="02010600030101010101" pitchFamily="2" charset="-122"/>
              </a:rPr>
              <a:t>的</a:t>
            </a:r>
            <a:r>
              <a:rPr lang="zh-CN" altLang="zh-CN">
                <a:latin typeface="Times New Roman" panose="02020603050405020304" pitchFamily="18" charset="0"/>
                <a:ea typeface="宋体" panose="02010600030101010101" pitchFamily="2" charset="-122"/>
              </a:rPr>
              <a:t>电枢电流及转速波形图</a:t>
            </a:r>
            <a:endParaRPr lang="en-US" altLang="zh-CN">
              <a:latin typeface="Times New Roman" panose="02020603050405020304" pitchFamily="18" charset="0"/>
              <a:ea typeface="宋体" panose="02010600030101010101" pitchFamily="2" charset="-122"/>
            </a:endParaRPr>
          </a:p>
        </p:txBody>
      </p:sp>
      <p:sp>
        <p:nvSpPr>
          <p:cNvPr id="3" name="矩形 2">
            <a:extLst>
              <a:ext uri="{FF2B5EF4-FFF2-40B4-BE49-F238E27FC236}">
                <a16:creationId xmlns:a16="http://schemas.microsoft.com/office/drawing/2014/main" id="{4300EFA6-CA1D-C780-1CD2-AC744C9A59D8}"/>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a:t>
            </a:r>
            <a:r>
              <a:rPr lang="zh-CN" altLang="en-US" sz="2400" b="1" kern="0">
                <a:solidFill>
                  <a:prstClr val="black"/>
                </a:solidFill>
                <a:latin typeface="黑体" panose="02010609060101010101" pitchFamily="49" charset="-122"/>
                <a:ea typeface="黑体" panose="02010609060101010101" pitchFamily="49" charset="-122"/>
              </a:rPr>
              <a:t>加入给定积分的</a:t>
            </a:r>
            <a:r>
              <a:rPr lang="en-US" altLang="zh-CN" sz="2400" b="1" kern="0">
                <a:solidFill>
                  <a:prstClr val="black"/>
                </a:solidFill>
                <a:latin typeface="黑体" panose="02010609060101010101" pitchFamily="49" charset="-122"/>
                <a:ea typeface="黑体" panose="02010609060101010101" pitchFamily="49" charset="-122"/>
              </a:rPr>
              <a:t>PID</a:t>
            </a:r>
            <a:r>
              <a:rPr lang="zh-CN" altLang="en-US" sz="2400" b="1" kern="0">
                <a:solidFill>
                  <a:prstClr val="black"/>
                </a:solidFill>
                <a:latin typeface="黑体" panose="02010609060101010101" pitchFamily="49" charset="-122"/>
                <a:ea typeface="黑体" panose="02010609060101010101" pitchFamily="49" charset="-122"/>
              </a:rPr>
              <a:t>型</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5" name="图片 4">
            <a:extLst>
              <a:ext uri="{FF2B5EF4-FFF2-40B4-BE49-F238E27FC236}">
                <a16:creationId xmlns:a16="http://schemas.microsoft.com/office/drawing/2014/main" id="{8816505D-B6A6-A792-3A14-3EF12757625D}"/>
              </a:ext>
            </a:extLst>
          </p:cNvPr>
          <p:cNvPicPr>
            <a:picLocks noChangeAspect="1"/>
          </p:cNvPicPr>
          <p:nvPr/>
        </p:nvPicPr>
        <p:blipFill>
          <a:blip r:embed="rId4"/>
          <a:stretch>
            <a:fillRect/>
          </a:stretch>
        </p:blipFill>
        <p:spPr>
          <a:xfrm>
            <a:off x="1346037" y="1250968"/>
            <a:ext cx="9950612" cy="5304573"/>
          </a:xfrm>
          <a:prstGeom prst="rect">
            <a:avLst/>
          </a:prstGeom>
        </p:spPr>
      </p:pic>
    </p:spTree>
    <p:extLst>
      <p:ext uri="{BB962C8B-B14F-4D97-AF65-F5344CB8AC3E}">
        <p14:creationId xmlns:p14="http://schemas.microsoft.com/office/powerpoint/2010/main" val="1806603172"/>
      </p:ext>
    </p:extLst>
  </p:cSld>
  <p:clrMapOvr>
    <a:masterClrMapping/>
  </p:clrMapOvr>
  <p:transition spd="slow" advTm="9487"/>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1EFED-321F-8CBD-A580-E73DB8BD6EC9}"/>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79F94B64-CAA4-5829-FD5E-7773D903D582}"/>
              </a:ext>
            </a:extLst>
          </p:cNvPr>
          <p:cNvCxnSpPr>
            <a:cxnSpLocks/>
          </p:cNvCxnSpPr>
          <p:nvPr/>
        </p:nvCxnSpPr>
        <p:spPr>
          <a:xfrm>
            <a:off x="1014737" y="647713"/>
            <a:ext cx="8681713"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F7948961-FAF1-0A9A-C042-437F5161040F}"/>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334A48C0-1166-3B90-322A-5F918B0244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A05FFAC-08F7-100B-60B9-E2452186E83C}"/>
                  </a:ext>
                </a:extLst>
              </p:cNvPr>
              <p:cNvSpPr txBox="1"/>
              <p:nvPr/>
            </p:nvSpPr>
            <p:spPr>
              <a:xfrm>
                <a:off x="6889173" y="994457"/>
                <a:ext cx="4291445" cy="5441233"/>
              </a:xfrm>
              <a:prstGeom prst="rect">
                <a:avLst/>
              </a:prstGeom>
              <a:noFill/>
            </p:spPr>
            <p:txBody>
              <a:bodyPr wrap="square">
                <a:spAutoFit/>
              </a:bodyPr>
              <a:lstStyle/>
              <a:p>
                <a:pPr>
                  <a:lnSpc>
                    <a:spcPct val="150000"/>
                  </a:lnSpc>
                </a:pPr>
                <a:r>
                  <a:rPr lang="zh-CN" altLang="zh-CN" b="1">
                    <a:latin typeface="Times New Roman" panose="02020603050405020304" pitchFamily="18" charset="0"/>
                    <a:ea typeface="宋体" panose="02010600030101010101" pitchFamily="2" charset="-122"/>
                  </a:rPr>
                  <a:t>结论：</a:t>
                </a:r>
                <a:endParaRPr lang="en-US" altLang="zh-CN" b="1" dirty="0">
                  <a:latin typeface="Times New Roman" panose="02020603050405020304" pitchFamily="18" charset="0"/>
                  <a:ea typeface="宋体" panose="02010600030101010101" pitchFamily="2" charset="-122"/>
                </a:endParaRPr>
              </a:p>
              <a:p>
                <a:pPr>
                  <a:lnSpc>
                    <a:spcPct val="150000"/>
                  </a:lnSpc>
                </a:pP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带载启动时间明显要长于空载启动，启动时带载越重，启动时间越长。带载越重，电流超调量</a:t>
                </a:r>
                <a14:m>
                  <m:oMath xmlns:m="http://schemas.openxmlformats.org/officeDocument/2006/math">
                    <m:sSub>
                      <m:sSubPr>
                        <m:ctrlPr>
                          <a:rPr lang="zh-CN" altLang="zh-CN" i="1">
                            <a:latin typeface="Cambria Math" panose="02040503050406030204" pitchFamily="18" charset="0"/>
                          </a:rPr>
                        </m:ctrlPr>
                      </m:sSubPr>
                      <m:e>
                        <m:r>
                          <a:rPr lang="en-US" altLang="zh-CN">
                            <a:latin typeface="Cambria Math" panose="02040503050406030204" pitchFamily="18" charset="0"/>
                          </a:rPr>
                          <m:t>𝜎</m:t>
                        </m:r>
                      </m:e>
                      <m:sub>
                        <m:r>
                          <a:rPr lang="en-US" altLang="zh-CN">
                            <a:latin typeface="Cambria Math" panose="02040503050406030204" pitchFamily="18" charset="0"/>
                          </a:rPr>
                          <m:t>𝑖</m:t>
                        </m:r>
                      </m:sub>
                    </m:sSub>
                  </m:oMath>
                </a14:m>
                <a:r>
                  <a:rPr lang="zh-CN" altLang="en-US" dirty="0">
                    <a:latin typeface="Times New Roman" panose="02020603050405020304" pitchFamily="18" charset="0"/>
                    <a:ea typeface="宋体" panose="02010600030101010101" pitchFamily="2" charset="-122"/>
                  </a:rPr>
                  <a:t>越大，转速超调量</a:t>
                </a:r>
                <a14:m>
                  <m:oMath xmlns:m="http://schemas.openxmlformats.org/officeDocument/2006/math">
                    <m:sSub>
                      <m:sSubPr>
                        <m:ctrlPr>
                          <a:rPr lang="zh-CN" altLang="zh-CN" i="1">
                            <a:latin typeface="Cambria Math" panose="02040503050406030204" pitchFamily="18" charset="0"/>
                          </a:rPr>
                        </m:ctrlPr>
                      </m:sSubPr>
                      <m:e>
                        <m:r>
                          <a:rPr lang="en-US" altLang="zh-CN">
                            <a:latin typeface="Cambria Math" panose="02040503050406030204" pitchFamily="18" charset="0"/>
                          </a:rPr>
                          <m:t>𝜎</m:t>
                        </m:r>
                      </m:e>
                      <m:sub>
                        <m:r>
                          <a:rPr lang="en-US" altLang="zh-CN">
                            <a:latin typeface="Cambria Math" panose="02040503050406030204" pitchFamily="18" charset="0"/>
                          </a:rPr>
                          <m:t>𝑛</m:t>
                        </m:r>
                      </m:sub>
                    </m:sSub>
                  </m:oMath>
                </a14:m>
                <a:r>
                  <a:rPr lang="zh-CN" altLang="en-US" dirty="0">
                    <a:latin typeface="Times New Roman" panose="02020603050405020304" pitchFamily="18" charset="0"/>
                    <a:ea typeface="宋体" panose="02010600030101010101" pitchFamily="2" charset="-122"/>
                  </a:rPr>
                  <a:t>越</a:t>
                </a:r>
                <a:r>
                  <a:rPr lang="zh-CN" altLang="en-US">
                    <a:latin typeface="Times New Roman" panose="02020603050405020304" pitchFamily="18" charset="0"/>
                    <a:ea typeface="宋体" panose="02010600030101010101" pitchFamily="2" charset="-122"/>
                  </a:rPr>
                  <a:t>小。</a:t>
                </a:r>
                <a:endParaRPr lang="en-US" altLang="zh-CN" dirty="0">
                  <a:latin typeface="Times New Roman" panose="02020603050405020304" pitchFamily="18" charset="0"/>
                  <a:ea typeface="宋体" panose="02010600030101010101" pitchFamily="2" charset="-122"/>
                </a:endParaRPr>
              </a:p>
              <a:p>
                <a:pPr>
                  <a:lnSpc>
                    <a:spcPct val="150000"/>
                  </a:lnSpc>
                </a:pPr>
                <a:r>
                  <a:rPr lang="en-US" altLang="zh-CN" dirty="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采用</a:t>
                </a:r>
                <a:r>
                  <a:rPr lang="en-US" altLang="zh-CN" dirty="0">
                    <a:latin typeface="Times New Roman" panose="02020603050405020304" pitchFamily="18" charset="0"/>
                    <a:ea typeface="宋体" panose="02010600030101010101" pitchFamily="2" charset="-122"/>
                  </a:rPr>
                  <a:t>PID</a:t>
                </a:r>
                <a:r>
                  <a:rPr lang="zh-CN" altLang="en-US" dirty="0">
                    <a:latin typeface="Times New Roman" panose="02020603050405020304" pitchFamily="18" charset="0"/>
                    <a:ea typeface="宋体" panose="02010600030101010101" pitchFamily="2" charset="-122"/>
                  </a:rPr>
                  <a:t>设计后：电流超调量和转速超调量都减小，恒流升速阶段时的电枢电流增加，转速的</a:t>
                </a:r>
                <a:r>
                  <a:rPr lang="zh-CN" altLang="en-US">
                    <a:latin typeface="Times New Roman" panose="02020603050405020304" pitchFamily="18" charset="0"/>
                    <a:ea typeface="宋体" panose="02010600030101010101" pitchFamily="2" charset="-122"/>
                  </a:rPr>
                  <a:t>峰值时间由</a:t>
                </a:r>
                <a:r>
                  <a:rPr lang="en-US" altLang="zh-CN">
                    <a:latin typeface="Times New Roman" panose="02020603050405020304" pitchFamily="18" charset="0"/>
                    <a:ea typeface="宋体" panose="02010600030101010101" pitchFamily="2" charset="-122"/>
                  </a:rPr>
                  <a:t>3.05s</a:t>
                </a:r>
                <a:r>
                  <a:rPr lang="zh-CN" altLang="en-US">
                    <a:latin typeface="Times New Roman" panose="02020603050405020304" pitchFamily="18" charset="0"/>
                    <a:ea typeface="宋体" panose="02010600030101010101" pitchFamily="2" charset="-122"/>
                  </a:rPr>
                  <a:t>变为</a:t>
                </a:r>
                <a:r>
                  <a:rPr lang="en-US" altLang="zh-CN" dirty="0">
                    <a:latin typeface="Times New Roman" panose="02020603050405020304" pitchFamily="18" charset="0"/>
                    <a:ea typeface="宋体" panose="02010600030101010101" pitchFamily="2" charset="-122"/>
                  </a:rPr>
                  <a:t>2.85s</a:t>
                </a:r>
                <a:r>
                  <a:rPr lang="zh-CN" altLang="en-US" dirty="0">
                    <a:latin typeface="Times New Roman" panose="02020603050405020304" pitchFamily="18" charset="0"/>
                    <a:ea typeface="宋体" panose="02010600030101010101" pitchFamily="2" charset="-122"/>
                  </a:rPr>
                  <a:t>，系统响应得更</a:t>
                </a:r>
                <a:r>
                  <a:rPr lang="zh-CN" altLang="en-US">
                    <a:latin typeface="Times New Roman" panose="02020603050405020304" pitchFamily="18" charset="0"/>
                    <a:ea typeface="宋体" panose="02010600030101010101" pitchFamily="2" charset="-122"/>
                  </a:rPr>
                  <a:t>快。</a:t>
                </a:r>
                <a:endParaRPr lang="en-US" altLang="zh-CN" dirty="0">
                  <a:latin typeface="Times New Roman" panose="02020603050405020304" pitchFamily="18" charset="0"/>
                  <a:ea typeface="宋体" panose="02010600030101010101" pitchFamily="2" charset="-122"/>
                </a:endParaRPr>
              </a:p>
              <a:p>
                <a:pPr>
                  <a:lnSpc>
                    <a:spcPct val="150000"/>
                  </a:lnSpc>
                </a:pPr>
                <a:r>
                  <a:rPr lang="en-US" altLang="zh-CN">
                    <a:latin typeface="Times New Roman" panose="02020603050405020304" pitchFamily="18" charset="0"/>
                    <a:ea typeface="宋体" panose="02010600030101010101" pitchFamily="2" charset="-122"/>
                  </a:rPr>
                  <a:t>3</a:t>
                </a:r>
                <a:r>
                  <a:rPr lang="zh-CN" altLang="zh-CN">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zh-CN" altLang="zh-CN" dirty="0">
                    <a:latin typeface="Times New Roman" panose="02020603050405020304" pitchFamily="18" charset="0"/>
                    <a:ea typeface="宋体" panose="02010600030101010101" pitchFamily="2" charset="-122"/>
                  </a:rPr>
                  <a:t>加入积分调节后：电流超调</a:t>
                </a:r>
                <a:r>
                  <a:rPr lang="zh-CN" altLang="en-US" dirty="0">
                    <a:latin typeface="Times New Roman" panose="02020603050405020304" pitchFamily="18" charset="0"/>
                    <a:ea typeface="宋体" panose="02010600030101010101" pitchFamily="2" charset="-122"/>
                  </a:rPr>
                  <a:t>量</a:t>
                </a:r>
                <a:r>
                  <a:rPr lang="zh-CN" altLang="zh-CN" dirty="0">
                    <a:latin typeface="Times New Roman" panose="02020603050405020304" pitchFamily="18" charset="0"/>
                    <a:ea typeface="宋体" panose="02010600030101010101" pitchFamily="2" charset="-122"/>
                  </a:rPr>
                  <a:t>减小，转速超调</a:t>
                </a:r>
                <a:r>
                  <a:rPr lang="zh-CN" altLang="en-US" dirty="0">
                    <a:latin typeface="Times New Roman" panose="02020603050405020304" pitchFamily="18" charset="0"/>
                    <a:ea typeface="宋体" panose="02010600030101010101" pitchFamily="2" charset="-122"/>
                  </a:rPr>
                  <a:t>量</a:t>
                </a:r>
                <a:r>
                  <a:rPr lang="zh-CN" altLang="zh-CN" dirty="0">
                    <a:latin typeface="Times New Roman" panose="02020603050405020304" pitchFamily="18" charset="0"/>
                    <a:ea typeface="宋体" panose="02010600030101010101" pitchFamily="2" charset="-122"/>
                  </a:rPr>
                  <a:t>未变，同时转速调节时间</a:t>
                </a:r>
                <a:r>
                  <a:rPr lang="zh-CN" altLang="en-US" dirty="0">
                    <a:latin typeface="Times New Roman" panose="02020603050405020304" pitchFamily="18" charset="0"/>
                    <a:ea typeface="宋体" panose="02010600030101010101" pitchFamily="2" charset="-122"/>
                  </a:rPr>
                  <a:t>也大致不变，这说明系统的性能得到了进一步改善</a:t>
                </a:r>
                <a:r>
                  <a:rPr lang="zh-CN" altLang="zh-CN" dirty="0">
                    <a:latin typeface="Times New Roman" panose="02020603050405020304" pitchFamily="18" charset="0"/>
                    <a:ea typeface="宋体" panose="02010600030101010101" pitchFamily="2" charset="-122"/>
                  </a:rPr>
                  <a:t>。</a:t>
                </a:r>
              </a:p>
            </p:txBody>
          </p:sp>
        </mc:Choice>
        <mc:Fallback xmlns="">
          <p:sp>
            <p:nvSpPr>
              <p:cNvPr id="5" name="文本框 4">
                <a:extLst>
                  <a:ext uri="{FF2B5EF4-FFF2-40B4-BE49-F238E27FC236}">
                    <a16:creationId xmlns:a16="http://schemas.microsoft.com/office/drawing/2014/main" id="{0A05FFAC-08F7-100B-60B9-E2452186E83C}"/>
                  </a:ext>
                </a:extLst>
              </p:cNvPr>
              <p:cNvSpPr txBox="1">
                <a:spLocks noRot="1" noChangeAspect="1" noMove="1" noResize="1" noEditPoints="1" noAdjustHandles="1" noChangeArrowheads="1" noChangeShapeType="1" noTextEdit="1"/>
              </p:cNvSpPr>
              <p:nvPr/>
            </p:nvSpPr>
            <p:spPr>
              <a:xfrm>
                <a:off x="6889173" y="994457"/>
                <a:ext cx="4291445" cy="5441233"/>
              </a:xfrm>
              <a:prstGeom prst="rect">
                <a:avLst/>
              </a:prstGeom>
              <a:blipFill>
                <a:blip r:embed="rId5"/>
                <a:stretch>
                  <a:fillRect l="-1136" b="-560"/>
                </a:stretch>
              </a:blipFill>
            </p:spPr>
            <p:txBody>
              <a:bodyPr/>
              <a:lstStyle/>
              <a:p>
                <a:r>
                  <a:rPr lang="zh-CN" altLang="en-US">
                    <a:noFill/>
                  </a:rPr>
                  <a:t> </a:t>
                </a:r>
              </a:p>
            </p:txBody>
          </p:sp>
        </mc:Fallback>
      </mc:AlternateContent>
      <p:graphicFrame>
        <p:nvGraphicFramePr>
          <p:cNvPr id="10" name="表格 9">
            <a:extLst>
              <a:ext uri="{FF2B5EF4-FFF2-40B4-BE49-F238E27FC236}">
                <a16:creationId xmlns:a16="http://schemas.microsoft.com/office/drawing/2014/main" id="{5F4BB941-87F4-93FD-95C5-C5E8C9992006}"/>
              </a:ext>
            </a:extLst>
          </p:cNvPr>
          <p:cNvGraphicFramePr>
            <a:graphicFrameLocks noGrp="1"/>
          </p:cNvGraphicFramePr>
          <p:nvPr>
            <p:extLst>
              <p:ext uri="{D42A27DB-BD31-4B8C-83A1-F6EECF244321}">
                <p14:modId xmlns:p14="http://schemas.microsoft.com/office/powerpoint/2010/main" val="546515559"/>
              </p:ext>
            </p:extLst>
          </p:nvPr>
        </p:nvGraphicFramePr>
        <p:xfrm>
          <a:off x="1216748" y="1839191"/>
          <a:ext cx="4897580" cy="1422500"/>
        </p:xfrm>
        <a:graphic>
          <a:graphicData uri="http://schemas.openxmlformats.org/drawingml/2006/table">
            <a:tbl>
              <a:tblPr>
                <a:tableStyleId>{22838BEF-8BB2-4498-84A7-C5851F593DF1}</a:tableStyleId>
              </a:tblPr>
              <a:tblGrid>
                <a:gridCol w="1398378">
                  <a:extLst>
                    <a:ext uri="{9D8B030D-6E8A-4147-A177-3AD203B41FA5}">
                      <a16:colId xmlns:a16="http://schemas.microsoft.com/office/drawing/2014/main" val="2303886439"/>
                    </a:ext>
                  </a:extLst>
                </a:gridCol>
                <a:gridCol w="974211">
                  <a:extLst>
                    <a:ext uri="{9D8B030D-6E8A-4147-A177-3AD203B41FA5}">
                      <a16:colId xmlns:a16="http://schemas.microsoft.com/office/drawing/2014/main" val="935144353"/>
                    </a:ext>
                  </a:extLst>
                </a:gridCol>
                <a:gridCol w="1018309">
                  <a:extLst>
                    <a:ext uri="{9D8B030D-6E8A-4147-A177-3AD203B41FA5}">
                      <a16:colId xmlns:a16="http://schemas.microsoft.com/office/drawing/2014/main" val="1293075695"/>
                    </a:ext>
                  </a:extLst>
                </a:gridCol>
                <a:gridCol w="1506682">
                  <a:extLst>
                    <a:ext uri="{9D8B030D-6E8A-4147-A177-3AD203B41FA5}">
                      <a16:colId xmlns:a16="http://schemas.microsoft.com/office/drawing/2014/main" val="4186892214"/>
                    </a:ext>
                  </a:extLst>
                </a:gridCol>
              </a:tblGrid>
              <a:tr h="529319">
                <a:tc>
                  <a:txBody>
                    <a:bodyPr/>
                    <a:lstStyle/>
                    <a:p>
                      <a:pPr algn="ctr" fontAlgn="ctr"/>
                      <a:r>
                        <a:rPr lang="zh-CN" altLang="en-US" sz="1800" u="none" strike="noStrike">
                          <a:effectLst/>
                          <a:latin typeface="宋体" panose="02010600030101010101" pitchFamily="2" charset="-122"/>
                          <a:ea typeface="宋体" panose="02010600030101010101" pitchFamily="2" charset="-122"/>
                        </a:rPr>
                        <a:t>转速超调</a:t>
                      </a:r>
                      <a:endParaRPr lang="zh-CN" altLang="en-US"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en-US" sz="1800" u="none" strike="noStrike">
                          <a:effectLst/>
                          <a:latin typeface="宋体" panose="02010600030101010101" pitchFamily="2" charset="-122"/>
                          <a:ea typeface="宋体" panose="02010600030101010101" pitchFamily="2" charset="-122"/>
                        </a:rPr>
                        <a:t>PI</a:t>
                      </a:r>
                      <a:r>
                        <a:rPr lang="zh-CN" altLang="en-US" sz="1800" u="none" strike="noStrike">
                          <a:effectLst/>
                          <a:latin typeface="宋体" panose="02010600030101010101" pitchFamily="2" charset="-122"/>
                          <a:ea typeface="宋体" panose="02010600030101010101" pitchFamily="2" charset="-122"/>
                        </a:rPr>
                        <a:t>控制</a:t>
                      </a:r>
                      <a:endParaRPr lang="zh-CN" altLang="en-US"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en-US" sz="1800" u="none" strike="noStrike">
                          <a:effectLst/>
                          <a:latin typeface="宋体" panose="02010600030101010101" pitchFamily="2" charset="-122"/>
                          <a:ea typeface="宋体" panose="02010600030101010101" pitchFamily="2" charset="-122"/>
                        </a:rPr>
                        <a:t>PID</a:t>
                      </a:r>
                      <a:r>
                        <a:rPr lang="zh-CN" altLang="en-US" sz="1800" u="none" strike="noStrike">
                          <a:effectLst/>
                          <a:latin typeface="宋体" panose="02010600030101010101" pitchFamily="2" charset="-122"/>
                          <a:ea typeface="宋体" panose="02010600030101010101" pitchFamily="2" charset="-122"/>
                        </a:rPr>
                        <a:t>控制</a:t>
                      </a:r>
                      <a:endParaRPr lang="zh-CN" altLang="en-US"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en-US" sz="1800" u="none" strike="noStrike">
                          <a:effectLst/>
                          <a:latin typeface="宋体" panose="02010600030101010101" pitchFamily="2" charset="-122"/>
                          <a:ea typeface="宋体" panose="02010600030101010101" pitchFamily="2" charset="-122"/>
                        </a:rPr>
                        <a:t>PID+</a:t>
                      </a:r>
                      <a:r>
                        <a:rPr lang="zh-CN" altLang="en-US" sz="1800" u="none" strike="noStrike">
                          <a:effectLst/>
                          <a:latin typeface="宋体" panose="02010600030101010101" pitchFamily="2" charset="-122"/>
                          <a:ea typeface="宋体" panose="02010600030101010101" pitchFamily="2" charset="-122"/>
                        </a:rPr>
                        <a:t>给定积分</a:t>
                      </a:r>
                      <a:endParaRPr lang="zh-CN" altLang="en-US"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extLst>
                  <a:ext uri="{0D108BD9-81ED-4DB2-BD59-A6C34878D82A}">
                    <a16:rowId xmlns:a16="http://schemas.microsoft.com/office/drawing/2014/main" val="2991931529"/>
                  </a:ext>
                </a:extLst>
              </a:tr>
              <a:tr h="297727">
                <a:tc>
                  <a:txBody>
                    <a:bodyPr/>
                    <a:lstStyle/>
                    <a:p>
                      <a:pPr algn="ctr" fontAlgn="ctr"/>
                      <a:r>
                        <a:rPr lang="zh-CN" altLang="en-US" sz="1800" u="none" strike="noStrike">
                          <a:effectLst/>
                          <a:latin typeface="宋体" panose="02010600030101010101" pitchFamily="2" charset="-122"/>
                          <a:ea typeface="宋体" panose="02010600030101010101" pitchFamily="2" charset="-122"/>
                        </a:rPr>
                        <a:t>空载启动</a:t>
                      </a:r>
                      <a:endParaRPr lang="zh-CN" altLang="en-US"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en-US" altLang="zh-CN" sz="1800" u="none" strike="noStrike">
                          <a:effectLst/>
                          <a:latin typeface="宋体" panose="02010600030101010101" pitchFamily="2" charset="-122"/>
                          <a:ea typeface="宋体" panose="02010600030101010101" pitchFamily="2" charset="-122"/>
                        </a:rPr>
                        <a:t>2.88%</a:t>
                      </a:r>
                      <a:endParaRPr lang="en-US" altLang="zh-CN"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zh-CN" altLang="en-US" sz="1800" u="none" strike="noStrike">
                          <a:effectLst/>
                          <a:latin typeface="宋体" panose="02010600030101010101" pitchFamily="2" charset="-122"/>
                          <a:ea typeface="宋体" panose="02010600030101010101" pitchFamily="2" charset="-122"/>
                        </a:rPr>
                        <a:t>　</a:t>
                      </a:r>
                      <a:endParaRPr lang="zh-CN" altLang="en-US"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zh-CN" altLang="en-US" sz="1800" u="none" strike="noStrike">
                          <a:effectLst/>
                          <a:latin typeface="宋体" panose="02010600030101010101" pitchFamily="2" charset="-122"/>
                          <a:ea typeface="宋体" panose="02010600030101010101" pitchFamily="2" charset="-122"/>
                        </a:rPr>
                        <a:t>　</a:t>
                      </a:r>
                      <a:endParaRPr lang="zh-CN" altLang="en-US"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extLst>
                  <a:ext uri="{0D108BD9-81ED-4DB2-BD59-A6C34878D82A}">
                    <a16:rowId xmlns:a16="http://schemas.microsoft.com/office/drawing/2014/main" val="3800685874"/>
                  </a:ext>
                </a:extLst>
              </a:tr>
              <a:tr h="297727">
                <a:tc>
                  <a:txBody>
                    <a:bodyPr/>
                    <a:lstStyle/>
                    <a:p>
                      <a:pPr algn="ctr" fontAlgn="ctr"/>
                      <a:r>
                        <a:rPr lang="zh-CN" altLang="en-US" sz="1800" u="none" strike="noStrike">
                          <a:effectLst/>
                          <a:latin typeface="宋体" panose="02010600030101010101" pitchFamily="2" charset="-122"/>
                          <a:ea typeface="宋体" panose="02010600030101010101" pitchFamily="2" charset="-122"/>
                        </a:rPr>
                        <a:t>半载启动</a:t>
                      </a:r>
                      <a:endParaRPr lang="zh-CN" altLang="en-US"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en-US" altLang="zh-CN" sz="1800" u="none" strike="noStrike">
                          <a:effectLst/>
                          <a:latin typeface="宋体" panose="02010600030101010101" pitchFamily="2" charset="-122"/>
                          <a:ea typeface="宋体" panose="02010600030101010101" pitchFamily="2" charset="-122"/>
                        </a:rPr>
                        <a:t>1.83%</a:t>
                      </a:r>
                      <a:endParaRPr lang="en-US" altLang="zh-CN"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zh-CN" altLang="en-US" sz="1800" u="none" strike="noStrike">
                          <a:effectLst/>
                          <a:latin typeface="宋体" panose="02010600030101010101" pitchFamily="2" charset="-122"/>
                          <a:ea typeface="宋体" panose="02010600030101010101" pitchFamily="2" charset="-122"/>
                        </a:rPr>
                        <a:t>　</a:t>
                      </a:r>
                      <a:endParaRPr lang="zh-CN" altLang="en-US"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zh-CN" altLang="en-US" sz="1800" u="none" strike="noStrike">
                          <a:effectLst/>
                          <a:latin typeface="宋体" panose="02010600030101010101" pitchFamily="2" charset="-122"/>
                          <a:ea typeface="宋体" panose="02010600030101010101" pitchFamily="2" charset="-122"/>
                        </a:rPr>
                        <a:t>　</a:t>
                      </a:r>
                      <a:endParaRPr lang="zh-CN" altLang="en-US"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extLst>
                  <a:ext uri="{0D108BD9-81ED-4DB2-BD59-A6C34878D82A}">
                    <a16:rowId xmlns:a16="http://schemas.microsoft.com/office/drawing/2014/main" val="1871024788"/>
                  </a:ext>
                </a:extLst>
              </a:tr>
              <a:tr h="297727">
                <a:tc>
                  <a:txBody>
                    <a:bodyPr/>
                    <a:lstStyle/>
                    <a:p>
                      <a:pPr algn="ctr" fontAlgn="ctr"/>
                      <a:r>
                        <a:rPr lang="zh-CN" altLang="en-US" sz="1800" u="none" strike="noStrike">
                          <a:effectLst/>
                          <a:latin typeface="宋体" panose="02010600030101010101" pitchFamily="2" charset="-122"/>
                          <a:ea typeface="宋体" panose="02010600030101010101" pitchFamily="2" charset="-122"/>
                        </a:rPr>
                        <a:t>满载启动</a:t>
                      </a:r>
                      <a:endParaRPr lang="zh-CN" altLang="en-US"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en-US" altLang="zh-CN" sz="1800" u="none" strike="noStrike">
                          <a:effectLst/>
                          <a:latin typeface="宋体" panose="02010600030101010101" pitchFamily="2" charset="-122"/>
                          <a:ea typeface="宋体" panose="02010600030101010101" pitchFamily="2" charset="-122"/>
                        </a:rPr>
                        <a:t>0.80%</a:t>
                      </a:r>
                      <a:endParaRPr lang="en-US" altLang="zh-CN"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en-US" altLang="zh-CN" sz="1800" u="none" strike="noStrike">
                          <a:effectLst/>
                          <a:latin typeface="宋体" panose="02010600030101010101" pitchFamily="2" charset="-122"/>
                          <a:ea typeface="宋体" panose="02010600030101010101" pitchFamily="2" charset="-122"/>
                        </a:rPr>
                        <a:t>0.167%</a:t>
                      </a:r>
                      <a:endParaRPr lang="en-US" altLang="zh-CN"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en-US" altLang="zh-CN" sz="1800" u="none" strike="noStrike">
                          <a:effectLst/>
                          <a:latin typeface="宋体" panose="02010600030101010101" pitchFamily="2" charset="-122"/>
                          <a:ea typeface="宋体" panose="02010600030101010101" pitchFamily="2" charset="-122"/>
                        </a:rPr>
                        <a:t>0.167%</a:t>
                      </a:r>
                      <a:endParaRPr lang="en-US" altLang="zh-CN"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extLst>
                  <a:ext uri="{0D108BD9-81ED-4DB2-BD59-A6C34878D82A}">
                    <a16:rowId xmlns:a16="http://schemas.microsoft.com/office/drawing/2014/main" val="2414523677"/>
                  </a:ext>
                </a:extLst>
              </a:tr>
            </a:tbl>
          </a:graphicData>
        </a:graphic>
      </p:graphicFrame>
      <p:graphicFrame>
        <p:nvGraphicFramePr>
          <p:cNvPr id="11" name="表格 10">
            <a:extLst>
              <a:ext uri="{FF2B5EF4-FFF2-40B4-BE49-F238E27FC236}">
                <a16:creationId xmlns:a16="http://schemas.microsoft.com/office/drawing/2014/main" id="{791673EE-3CCA-D468-9764-1A5EB0B1BCEE}"/>
              </a:ext>
            </a:extLst>
          </p:cNvPr>
          <p:cNvGraphicFramePr>
            <a:graphicFrameLocks noGrp="1"/>
          </p:cNvGraphicFramePr>
          <p:nvPr>
            <p:extLst>
              <p:ext uri="{D42A27DB-BD31-4B8C-83A1-F6EECF244321}">
                <p14:modId xmlns:p14="http://schemas.microsoft.com/office/powerpoint/2010/main" val="1814488152"/>
              </p:ext>
            </p:extLst>
          </p:nvPr>
        </p:nvGraphicFramePr>
        <p:xfrm>
          <a:off x="1216748" y="3873351"/>
          <a:ext cx="4897580" cy="1449436"/>
        </p:xfrm>
        <a:graphic>
          <a:graphicData uri="http://schemas.openxmlformats.org/drawingml/2006/table">
            <a:tbl>
              <a:tblPr>
                <a:tableStyleId>{22838BEF-8BB2-4498-84A7-C5851F593DF1}</a:tableStyleId>
              </a:tblPr>
              <a:tblGrid>
                <a:gridCol w="1447797">
                  <a:extLst>
                    <a:ext uri="{9D8B030D-6E8A-4147-A177-3AD203B41FA5}">
                      <a16:colId xmlns:a16="http://schemas.microsoft.com/office/drawing/2014/main" val="2562308747"/>
                    </a:ext>
                  </a:extLst>
                </a:gridCol>
                <a:gridCol w="955964">
                  <a:extLst>
                    <a:ext uri="{9D8B030D-6E8A-4147-A177-3AD203B41FA5}">
                      <a16:colId xmlns:a16="http://schemas.microsoft.com/office/drawing/2014/main" val="928872935"/>
                    </a:ext>
                  </a:extLst>
                </a:gridCol>
                <a:gridCol w="987137">
                  <a:extLst>
                    <a:ext uri="{9D8B030D-6E8A-4147-A177-3AD203B41FA5}">
                      <a16:colId xmlns:a16="http://schemas.microsoft.com/office/drawing/2014/main" val="3316078977"/>
                    </a:ext>
                  </a:extLst>
                </a:gridCol>
                <a:gridCol w="1506682">
                  <a:extLst>
                    <a:ext uri="{9D8B030D-6E8A-4147-A177-3AD203B41FA5}">
                      <a16:colId xmlns:a16="http://schemas.microsoft.com/office/drawing/2014/main" val="529876054"/>
                    </a:ext>
                  </a:extLst>
                </a:gridCol>
              </a:tblGrid>
              <a:tr h="344974">
                <a:tc>
                  <a:txBody>
                    <a:bodyPr/>
                    <a:lstStyle/>
                    <a:p>
                      <a:pPr algn="ctr" fontAlgn="ctr"/>
                      <a:r>
                        <a:rPr lang="zh-CN" altLang="en-US" sz="1800" u="none" strike="noStrike">
                          <a:effectLst/>
                          <a:latin typeface="宋体" panose="02010600030101010101" pitchFamily="2" charset="-122"/>
                          <a:ea typeface="宋体" panose="02010600030101010101" pitchFamily="2" charset="-122"/>
                        </a:rPr>
                        <a:t>电流超调</a:t>
                      </a:r>
                      <a:endParaRPr lang="zh-CN" altLang="en-US"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en-US" sz="1800" u="none" strike="noStrike">
                          <a:effectLst/>
                          <a:latin typeface="宋体" panose="02010600030101010101" pitchFamily="2" charset="-122"/>
                          <a:ea typeface="宋体" panose="02010600030101010101" pitchFamily="2" charset="-122"/>
                        </a:rPr>
                        <a:t>PI</a:t>
                      </a:r>
                      <a:r>
                        <a:rPr lang="zh-CN" altLang="en-US" sz="1800" u="none" strike="noStrike">
                          <a:effectLst/>
                          <a:latin typeface="宋体" panose="02010600030101010101" pitchFamily="2" charset="-122"/>
                          <a:ea typeface="宋体" panose="02010600030101010101" pitchFamily="2" charset="-122"/>
                        </a:rPr>
                        <a:t>控制</a:t>
                      </a:r>
                      <a:endParaRPr lang="zh-CN" altLang="en-US"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en-US" sz="1800" u="none" strike="noStrike">
                          <a:effectLst/>
                          <a:latin typeface="宋体" panose="02010600030101010101" pitchFamily="2" charset="-122"/>
                          <a:ea typeface="宋体" panose="02010600030101010101" pitchFamily="2" charset="-122"/>
                        </a:rPr>
                        <a:t>PID</a:t>
                      </a:r>
                      <a:r>
                        <a:rPr lang="zh-CN" altLang="en-US" sz="1800" u="none" strike="noStrike">
                          <a:effectLst/>
                          <a:latin typeface="宋体" panose="02010600030101010101" pitchFamily="2" charset="-122"/>
                          <a:ea typeface="宋体" panose="02010600030101010101" pitchFamily="2" charset="-122"/>
                        </a:rPr>
                        <a:t>控制</a:t>
                      </a:r>
                      <a:endParaRPr lang="zh-CN" altLang="en-US"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en-US" sz="1800" u="none" strike="noStrike">
                          <a:effectLst/>
                          <a:latin typeface="宋体" panose="02010600030101010101" pitchFamily="2" charset="-122"/>
                          <a:ea typeface="宋体" panose="02010600030101010101" pitchFamily="2" charset="-122"/>
                        </a:rPr>
                        <a:t>PID+</a:t>
                      </a:r>
                      <a:r>
                        <a:rPr lang="zh-CN" altLang="en-US" sz="1800" u="none" strike="noStrike">
                          <a:effectLst/>
                          <a:latin typeface="宋体" panose="02010600030101010101" pitchFamily="2" charset="-122"/>
                          <a:ea typeface="宋体" panose="02010600030101010101" pitchFamily="2" charset="-122"/>
                        </a:rPr>
                        <a:t>给定积分</a:t>
                      </a:r>
                      <a:endParaRPr lang="zh-CN" altLang="en-US"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extLst>
                  <a:ext uri="{0D108BD9-81ED-4DB2-BD59-A6C34878D82A}">
                    <a16:rowId xmlns:a16="http://schemas.microsoft.com/office/drawing/2014/main" val="3943345023"/>
                  </a:ext>
                </a:extLst>
              </a:tr>
              <a:tr h="344974">
                <a:tc>
                  <a:txBody>
                    <a:bodyPr/>
                    <a:lstStyle/>
                    <a:p>
                      <a:pPr algn="ctr" fontAlgn="ctr"/>
                      <a:r>
                        <a:rPr lang="zh-CN" altLang="en-US" sz="1800" u="none" strike="noStrike">
                          <a:effectLst/>
                          <a:latin typeface="宋体" panose="02010600030101010101" pitchFamily="2" charset="-122"/>
                          <a:ea typeface="宋体" panose="02010600030101010101" pitchFamily="2" charset="-122"/>
                        </a:rPr>
                        <a:t>空载启动</a:t>
                      </a:r>
                      <a:endParaRPr lang="zh-CN" altLang="en-US"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en-US" altLang="zh-CN" sz="1800" u="none" strike="noStrike">
                          <a:effectLst/>
                          <a:latin typeface="宋体" panose="02010600030101010101" pitchFamily="2" charset="-122"/>
                          <a:ea typeface="宋体" panose="02010600030101010101" pitchFamily="2" charset="-122"/>
                        </a:rPr>
                        <a:t>3.63%</a:t>
                      </a:r>
                      <a:endParaRPr lang="en-US" altLang="zh-CN"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zh-CN" altLang="en-US" sz="1800" u="none" strike="noStrike">
                          <a:effectLst/>
                          <a:latin typeface="宋体" panose="02010600030101010101" pitchFamily="2" charset="-122"/>
                          <a:ea typeface="宋体" panose="02010600030101010101" pitchFamily="2" charset="-122"/>
                        </a:rPr>
                        <a:t>　</a:t>
                      </a:r>
                      <a:endParaRPr lang="zh-CN" altLang="en-US"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zh-CN" altLang="en-US" sz="1800" u="none" strike="noStrike">
                          <a:effectLst/>
                          <a:latin typeface="宋体" panose="02010600030101010101" pitchFamily="2" charset="-122"/>
                          <a:ea typeface="宋体" panose="02010600030101010101" pitchFamily="2" charset="-122"/>
                        </a:rPr>
                        <a:t>　</a:t>
                      </a:r>
                      <a:endParaRPr lang="zh-CN" altLang="en-US"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extLst>
                  <a:ext uri="{0D108BD9-81ED-4DB2-BD59-A6C34878D82A}">
                    <a16:rowId xmlns:a16="http://schemas.microsoft.com/office/drawing/2014/main" val="1177842467"/>
                  </a:ext>
                </a:extLst>
              </a:tr>
              <a:tr h="414514">
                <a:tc>
                  <a:txBody>
                    <a:bodyPr/>
                    <a:lstStyle/>
                    <a:p>
                      <a:pPr algn="ctr" fontAlgn="ctr"/>
                      <a:r>
                        <a:rPr lang="zh-CN" altLang="en-US" sz="1800" u="none" strike="noStrike">
                          <a:effectLst/>
                          <a:latin typeface="宋体" panose="02010600030101010101" pitchFamily="2" charset="-122"/>
                          <a:ea typeface="宋体" panose="02010600030101010101" pitchFamily="2" charset="-122"/>
                        </a:rPr>
                        <a:t>半载启动</a:t>
                      </a:r>
                      <a:endParaRPr lang="zh-CN" altLang="en-US"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en-US" altLang="zh-CN" sz="1800" u="none" strike="noStrike">
                          <a:effectLst/>
                          <a:latin typeface="宋体" panose="02010600030101010101" pitchFamily="2" charset="-122"/>
                          <a:ea typeface="宋体" panose="02010600030101010101" pitchFamily="2" charset="-122"/>
                        </a:rPr>
                        <a:t>3.86%</a:t>
                      </a:r>
                      <a:endParaRPr lang="en-US" altLang="zh-CN"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zh-CN" altLang="en-US" sz="1800" u="none" strike="noStrike">
                          <a:effectLst/>
                          <a:latin typeface="宋体" panose="02010600030101010101" pitchFamily="2" charset="-122"/>
                          <a:ea typeface="宋体" panose="02010600030101010101" pitchFamily="2" charset="-122"/>
                        </a:rPr>
                        <a:t>　</a:t>
                      </a:r>
                      <a:endParaRPr lang="zh-CN" altLang="en-US"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zh-CN" altLang="en-US" sz="1800" u="none" strike="noStrike">
                          <a:effectLst/>
                          <a:latin typeface="宋体" panose="02010600030101010101" pitchFamily="2" charset="-122"/>
                          <a:ea typeface="宋体" panose="02010600030101010101" pitchFamily="2" charset="-122"/>
                        </a:rPr>
                        <a:t>　</a:t>
                      </a:r>
                      <a:endParaRPr lang="zh-CN" altLang="en-US"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extLst>
                  <a:ext uri="{0D108BD9-81ED-4DB2-BD59-A6C34878D82A}">
                    <a16:rowId xmlns:a16="http://schemas.microsoft.com/office/drawing/2014/main" val="46271208"/>
                  </a:ext>
                </a:extLst>
              </a:tr>
              <a:tr h="344974">
                <a:tc>
                  <a:txBody>
                    <a:bodyPr/>
                    <a:lstStyle/>
                    <a:p>
                      <a:pPr algn="ctr" fontAlgn="ctr"/>
                      <a:r>
                        <a:rPr lang="zh-CN" altLang="en-US" sz="1800" u="none" strike="noStrike">
                          <a:effectLst/>
                          <a:latin typeface="宋体" panose="02010600030101010101" pitchFamily="2" charset="-122"/>
                          <a:ea typeface="宋体" panose="02010600030101010101" pitchFamily="2" charset="-122"/>
                        </a:rPr>
                        <a:t>满载启动</a:t>
                      </a:r>
                      <a:endParaRPr lang="zh-CN" altLang="en-US"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en-US" altLang="zh-CN" sz="1800" u="none" strike="noStrike">
                          <a:effectLst/>
                          <a:latin typeface="宋体" panose="02010600030101010101" pitchFamily="2" charset="-122"/>
                          <a:ea typeface="宋体" panose="02010600030101010101" pitchFamily="2" charset="-122"/>
                        </a:rPr>
                        <a:t>4.19%</a:t>
                      </a:r>
                      <a:endParaRPr lang="en-US" altLang="zh-CN"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en-US" altLang="zh-CN" sz="1800" u="none" strike="noStrike">
                          <a:effectLst/>
                          <a:latin typeface="宋体" panose="02010600030101010101" pitchFamily="2" charset="-122"/>
                          <a:ea typeface="宋体" panose="02010600030101010101" pitchFamily="2" charset="-122"/>
                        </a:rPr>
                        <a:t>0.495%</a:t>
                      </a:r>
                      <a:endParaRPr lang="en-US" altLang="zh-CN"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en-US" altLang="zh-CN" sz="1800" u="none" strike="noStrike">
                          <a:effectLst/>
                          <a:latin typeface="宋体" panose="02010600030101010101" pitchFamily="2" charset="-122"/>
                          <a:ea typeface="宋体" panose="02010600030101010101" pitchFamily="2" charset="-122"/>
                        </a:rPr>
                        <a:t>0.264%</a:t>
                      </a:r>
                      <a:endParaRPr lang="en-US" altLang="zh-CN" sz="18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ctr"/>
                </a:tc>
                <a:extLst>
                  <a:ext uri="{0D108BD9-81ED-4DB2-BD59-A6C34878D82A}">
                    <a16:rowId xmlns:a16="http://schemas.microsoft.com/office/drawing/2014/main" val="1002059723"/>
                  </a:ext>
                </a:extLst>
              </a:tr>
            </a:tbl>
          </a:graphicData>
        </a:graphic>
      </p:graphicFrame>
    </p:spTree>
    <p:extLst>
      <p:ext uri="{BB962C8B-B14F-4D97-AF65-F5344CB8AC3E}">
        <p14:creationId xmlns:p14="http://schemas.microsoft.com/office/powerpoint/2010/main" val="3099789493"/>
      </p:ext>
    </p:extLst>
  </p:cSld>
  <p:clrMapOvr>
    <a:masterClrMapping/>
  </p:clrMapOvr>
  <p:transition spd="slow" advTm="9487"/>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DDF73-EA10-6FBF-0819-F580A4935495}"/>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7135DCA4-73C6-60D6-5D4C-6BAF69AFC097}"/>
              </a:ext>
            </a:extLst>
          </p:cNvPr>
          <p:cNvCxnSpPr>
            <a:cxnSpLocks/>
          </p:cNvCxnSpPr>
          <p:nvPr/>
        </p:nvCxnSpPr>
        <p:spPr>
          <a:xfrm>
            <a:off x="1014737" y="647713"/>
            <a:ext cx="8681713"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7D3187D6-30B7-C74C-2EE9-78834A21ECDD}"/>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-POWER System</a:t>
            </a:r>
            <a:r>
              <a:rPr lang="zh-CN" altLang="en-US" sz="2400" b="1" kern="0">
                <a:solidFill>
                  <a:prstClr val="black"/>
                </a:solidFill>
                <a:latin typeface="黑体" panose="02010609060101010101" pitchFamily="49" charset="-122"/>
                <a:ea typeface="黑体" panose="02010609060101010101" pitchFamily="49" charset="-122"/>
              </a:rPr>
              <a:t>设计与仿真</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71365E5A-1CCE-9BC7-7640-14FBCB292D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pic>
        <p:nvPicPr>
          <p:cNvPr id="3" name="图片 2">
            <a:extLst>
              <a:ext uri="{FF2B5EF4-FFF2-40B4-BE49-F238E27FC236}">
                <a16:creationId xmlns:a16="http://schemas.microsoft.com/office/drawing/2014/main" id="{AFD9F02B-D599-34CA-B858-C923EF9AB94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47264" y="1812637"/>
            <a:ext cx="8070670" cy="4125277"/>
          </a:xfrm>
          <a:prstGeom prst="rect">
            <a:avLst/>
          </a:prstGeom>
        </p:spPr>
      </p:pic>
      <p:sp>
        <p:nvSpPr>
          <p:cNvPr id="6" name="文本框 5">
            <a:extLst>
              <a:ext uri="{FF2B5EF4-FFF2-40B4-BE49-F238E27FC236}">
                <a16:creationId xmlns:a16="http://schemas.microsoft.com/office/drawing/2014/main" id="{FC3DF9AB-E98B-FADB-7B72-7964C4B8D596}"/>
              </a:ext>
            </a:extLst>
          </p:cNvPr>
          <p:cNvSpPr txBox="1"/>
          <p:nvPr/>
        </p:nvSpPr>
        <p:spPr>
          <a:xfrm>
            <a:off x="852176" y="1202213"/>
            <a:ext cx="10283183" cy="610424"/>
          </a:xfrm>
          <a:prstGeom prst="rect">
            <a:avLst/>
          </a:prstGeom>
          <a:noFill/>
        </p:spPr>
        <p:txBody>
          <a:bodyPr wrap="square">
            <a:spAutoFit/>
          </a:bodyPr>
          <a:lstStyle/>
          <a:p>
            <a:pPr marL="285750" indent="-285750" algn="just" fontAlgn="ctr">
              <a:lnSpc>
                <a:spcPts val="2000"/>
              </a:lnSpc>
              <a:buFont typeface="Wingdings" panose="05000000000000000000" pitchFamily="2" charset="2"/>
              <a:buChar char="Ø"/>
            </a:pPr>
            <a:r>
              <a:rPr lang="zh-CN" altLang="zh-CN" sz="1800" kern="100">
                <a:effectLst/>
                <a:latin typeface="宋体" panose="02010600030101010101" pitchFamily="2" charset="-122"/>
                <a:ea typeface="宋体" panose="02010600030101010101" pitchFamily="2" charset="-122"/>
                <a:cs typeface="Times New Roman" panose="02020603050405020304" pitchFamily="18" charset="0"/>
              </a:rPr>
              <a:t>基于电气原理图的四象限三相整流直流驱动器无环流系统如图所示，该电路是基于</a:t>
            </a:r>
            <a:r>
              <a:rPr lang="en-US" altLang="zh-CN" sz="1800" kern="100">
                <a:effectLst/>
                <a:latin typeface="宋体" panose="02010600030101010101" pitchFamily="2" charset="-122"/>
                <a:ea typeface="宋体" panose="02010600030101010101" pitchFamily="2" charset="-122"/>
                <a:cs typeface="Times New Roman" panose="02020603050405020304" pitchFamily="18" charset="0"/>
              </a:rPr>
              <a:t>Power System</a:t>
            </a:r>
            <a:r>
              <a:rPr lang="zh-CN" altLang="zh-CN" sz="1800" kern="100">
                <a:effectLst/>
                <a:latin typeface="宋体" panose="02010600030101010101" pitchFamily="2" charset="-122"/>
                <a:ea typeface="宋体" panose="02010600030101010101" pitchFamily="2" charset="-122"/>
                <a:cs typeface="Times New Roman" panose="02020603050405020304" pitchFamily="18" charset="0"/>
              </a:rPr>
              <a:t>的</a:t>
            </a:r>
            <a:r>
              <a:rPr lang="en-US" altLang="zh-CN" sz="1800" kern="100">
                <a:effectLst/>
                <a:latin typeface="宋体" panose="02010600030101010101" pitchFamily="2" charset="-122"/>
                <a:ea typeface="宋体" panose="02010600030101010101" pitchFamily="2" charset="-122"/>
                <a:cs typeface="Times New Roman" panose="02020603050405020304" pitchFamily="18" charset="0"/>
              </a:rPr>
              <a:t>DC4</a:t>
            </a:r>
            <a:r>
              <a:rPr lang="zh-CN" altLang="zh-CN" sz="1800" kern="100">
                <a:effectLst/>
                <a:latin typeface="宋体" panose="02010600030101010101" pitchFamily="2" charset="-122"/>
                <a:ea typeface="宋体" panose="02010600030101010101" pitchFamily="2" charset="-122"/>
                <a:cs typeface="Times New Roman" panose="02020603050405020304" pitchFamily="18" charset="0"/>
              </a:rPr>
              <a:t>模块。该模型为四象限三相整流器</a:t>
            </a:r>
            <a:r>
              <a:rPr lang="en-US" altLang="zh-CN" sz="1800" kern="100">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kern="100">
                <a:effectLst/>
                <a:latin typeface="宋体" panose="02010600030101010101" pitchFamily="2" charset="-122"/>
                <a:ea typeface="宋体" panose="02010600030101010101" pitchFamily="2" charset="-122"/>
                <a:cs typeface="Times New Roman" panose="02020603050405020304" pitchFamily="18" charset="0"/>
              </a:rPr>
              <a:t>双变换器拓扑</a:t>
            </a:r>
            <a:r>
              <a:rPr lang="en-US" altLang="zh-CN" sz="1800" kern="100">
                <a:effectLst/>
                <a:latin typeface="宋体" panose="02010600030101010101" pitchFamily="2" charset="-122"/>
                <a:ea typeface="宋体" panose="02010600030101010101" pitchFamily="2" charset="-122"/>
                <a:cs typeface="Times New Roman" panose="02020603050405020304" pitchFamily="18" charset="0"/>
              </a:rPr>
              <a:t>) </a:t>
            </a:r>
            <a:r>
              <a:rPr lang="zh-CN" altLang="zh-CN" sz="1800" kern="100">
                <a:effectLst/>
                <a:latin typeface="宋体" panose="02010600030101010101" pitchFamily="2" charset="-122"/>
                <a:ea typeface="宋体" panose="02010600030101010101" pitchFamily="2" charset="-122"/>
                <a:cs typeface="Times New Roman" panose="02020603050405020304" pitchFamily="18" charset="0"/>
              </a:rPr>
              <a:t>驱动无环流的直流电机系统。</a:t>
            </a:r>
          </a:p>
        </p:txBody>
      </p:sp>
      <p:sp>
        <p:nvSpPr>
          <p:cNvPr id="9" name="文本框 8">
            <a:extLst>
              <a:ext uri="{FF2B5EF4-FFF2-40B4-BE49-F238E27FC236}">
                <a16:creationId xmlns:a16="http://schemas.microsoft.com/office/drawing/2014/main" id="{7870C537-3449-3F41-7114-FD2540593139}"/>
              </a:ext>
            </a:extLst>
          </p:cNvPr>
          <p:cNvSpPr txBox="1"/>
          <p:nvPr/>
        </p:nvSpPr>
        <p:spPr>
          <a:xfrm>
            <a:off x="2585679" y="5753248"/>
            <a:ext cx="6593840" cy="369332"/>
          </a:xfrm>
          <a:prstGeom prst="rect">
            <a:avLst/>
          </a:prstGeom>
          <a:noFill/>
        </p:spPr>
        <p:txBody>
          <a:bodyPr wrap="square">
            <a:spAutoFit/>
          </a:bodyPr>
          <a:lstStyle/>
          <a:p>
            <a:pPr indent="266700" algn="ctr"/>
            <a:r>
              <a:rPr lang="zh-CN" altLang="zh-CN" sz="1800" kern="100">
                <a:effectLst/>
                <a:latin typeface="Times New Roman" panose="02020603050405020304" pitchFamily="18" charset="0"/>
                <a:ea typeface="黑体" panose="02010609060101010101" pitchFamily="49" charset="-122"/>
                <a:cs typeface="Times New Roman" panose="02020603050405020304" pitchFamily="18" charset="0"/>
              </a:rPr>
              <a:t>基于电气原理图的四象限三相整流直流驱动器无环流系统</a:t>
            </a:r>
            <a:endParaRPr lang="zh-CN" altLang="zh-CN" sz="1800" kern="10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95539781"/>
      </p:ext>
    </p:extLst>
  </p:cSld>
  <p:clrMapOvr>
    <a:masterClrMapping/>
  </p:clrMapOvr>
  <p:transition spd="slow" advTm="9487"/>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09188-0D59-1654-D92C-CC4BC7AF4828}"/>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5446239D-F383-0F37-87E6-8ADB8285A895}"/>
              </a:ext>
            </a:extLst>
          </p:cNvPr>
          <p:cNvCxnSpPr>
            <a:cxnSpLocks/>
          </p:cNvCxnSpPr>
          <p:nvPr/>
        </p:nvCxnSpPr>
        <p:spPr>
          <a:xfrm>
            <a:off x="1014737" y="647713"/>
            <a:ext cx="8681713"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7BEBF680-A1EA-18B7-FD8B-556E22E91E48}"/>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-POWER System</a:t>
            </a:r>
            <a:r>
              <a:rPr lang="zh-CN" altLang="en-US" sz="2400" b="1" kern="0">
                <a:solidFill>
                  <a:prstClr val="black"/>
                </a:solidFill>
                <a:latin typeface="黑体" panose="02010609060101010101" pitchFamily="49" charset="-122"/>
                <a:ea typeface="黑体" panose="02010609060101010101" pitchFamily="49" charset="-122"/>
              </a:rPr>
              <a:t>设计与仿真</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CAD3746B-2C97-2434-9371-03B05EDB70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6" name="文本框 5">
            <a:extLst>
              <a:ext uri="{FF2B5EF4-FFF2-40B4-BE49-F238E27FC236}">
                <a16:creationId xmlns:a16="http://schemas.microsoft.com/office/drawing/2014/main" id="{5764DE82-F289-3889-C91C-022538C53057}"/>
              </a:ext>
            </a:extLst>
          </p:cNvPr>
          <p:cNvSpPr txBox="1"/>
          <p:nvPr/>
        </p:nvSpPr>
        <p:spPr>
          <a:xfrm>
            <a:off x="852176" y="1202213"/>
            <a:ext cx="10283183" cy="369332"/>
          </a:xfrm>
          <a:prstGeom prst="rect">
            <a:avLst/>
          </a:prstGeom>
          <a:noFill/>
        </p:spPr>
        <p:txBody>
          <a:bodyPr wrap="square">
            <a:spAutoFit/>
          </a:bodyPr>
          <a:lstStyle/>
          <a:p>
            <a:pPr marL="285750" indent="-285750" fontAlgn="ctr">
              <a:buFont typeface="Wingdings" panose="05000000000000000000" pitchFamily="2" charset="2"/>
              <a:buChar char="Ø"/>
            </a:pPr>
            <a:r>
              <a:rPr lang="zh-CN" altLang="zh-CN" kern="100">
                <a:latin typeface="宋体" panose="02010600030101010101" pitchFamily="2" charset="-122"/>
                <a:ea typeface="宋体" panose="02010600030101010101" pitchFamily="2" charset="-122"/>
                <a:cs typeface="Times New Roman" panose="02020603050405020304" pitchFamily="18" charset="0"/>
              </a:rPr>
              <a:t>调速系统整体结构如图所示：</a:t>
            </a:r>
          </a:p>
        </p:txBody>
      </p:sp>
      <p:pic>
        <p:nvPicPr>
          <p:cNvPr id="4" name="图片 3">
            <a:extLst>
              <a:ext uri="{FF2B5EF4-FFF2-40B4-BE49-F238E27FC236}">
                <a16:creationId xmlns:a16="http://schemas.microsoft.com/office/drawing/2014/main" id="{CC2B20C5-2029-36FA-977D-AAAD3EB54294}"/>
              </a:ext>
            </a:extLst>
          </p:cNvPr>
          <p:cNvPicPr>
            <a:picLocks noChangeAspect="1"/>
          </p:cNvPicPr>
          <p:nvPr/>
        </p:nvPicPr>
        <p:blipFill>
          <a:blip r:embed="rId4"/>
          <a:stretch>
            <a:fillRect/>
          </a:stretch>
        </p:blipFill>
        <p:spPr>
          <a:xfrm>
            <a:off x="1566821" y="1865723"/>
            <a:ext cx="8631555" cy="4159898"/>
          </a:xfrm>
          <a:prstGeom prst="rect">
            <a:avLst/>
          </a:prstGeom>
        </p:spPr>
      </p:pic>
      <p:sp>
        <p:nvSpPr>
          <p:cNvPr id="7" name="文本框 6">
            <a:extLst>
              <a:ext uri="{FF2B5EF4-FFF2-40B4-BE49-F238E27FC236}">
                <a16:creationId xmlns:a16="http://schemas.microsoft.com/office/drawing/2014/main" id="{72B57494-0965-FC99-E0B4-3231BB04C7F4}"/>
              </a:ext>
            </a:extLst>
          </p:cNvPr>
          <p:cNvSpPr txBox="1"/>
          <p:nvPr/>
        </p:nvSpPr>
        <p:spPr>
          <a:xfrm>
            <a:off x="2682240" y="6025621"/>
            <a:ext cx="6096000" cy="369332"/>
          </a:xfrm>
          <a:prstGeom prst="rect">
            <a:avLst/>
          </a:prstGeom>
          <a:noFill/>
        </p:spPr>
        <p:txBody>
          <a:bodyPr wrap="square">
            <a:spAutoFit/>
          </a:bodyPr>
          <a:lstStyle/>
          <a:p>
            <a:pPr indent="266700" algn="ctr"/>
            <a:r>
              <a:rPr lang="zh-CN" altLang="zh-CN" sz="1800" kern="100">
                <a:effectLst/>
                <a:latin typeface="Times New Roman" panose="02020603050405020304" pitchFamily="18" charset="0"/>
                <a:ea typeface="黑体" panose="02010609060101010101" pitchFamily="49" charset="-122"/>
                <a:cs typeface="Times New Roman" panose="02020603050405020304" pitchFamily="18" charset="0"/>
              </a:rPr>
              <a:t>四象限三相整流器直流驱动</a:t>
            </a:r>
            <a:endParaRPr lang="zh-CN" altLang="zh-CN" sz="1800" kern="10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384050225"/>
      </p:ext>
    </p:extLst>
  </p:cSld>
  <p:clrMapOvr>
    <a:masterClrMapping/>
  </p:clrMapOvr>
  <p:transition spd="slow" advTm="9487"/>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ADFAA-784A-9B7C-6748-8F88CF6C7791}"/>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9CA58D9B-B421-0FD1-5881-CD18732B1F74}"/>
              </a:ext>
            </a:extLst>
          </p:cNvPr>
          <p:cNvCxnSpPr>
            <a:cxnSpLocks/>
          </p:cNvCxnSpPr>
          <p:nvPr/>
        </p:nvCxnSpPr>
        <p:spPr>
          <a:xfrm>
            <a:off x="1014737" y="647713"/>
            <a:ext cx="8681713"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1553C7C7-D830-1F27-8415-97F7A3E6D5C4}"/>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-POWER System</a:t>
            </a:r>
            <a:r>
              <a:rPr lang="zh-CN" altLang="en-US" sz="2400" b="1" kern="0">
                <a:solidFill>
                  <a:prstClr val="black"/>
                </a:solidFill>
                <a:latin typeface="黑体" panose="02010609060101010101" pitchFamily="49" charset="-122"/>
                <a:ea typeface="黑体" panose="02010609060101010101" pitchFamily="49" charset="-122"/>
              </a:rPr>
              <a:t>设计与仿真</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1F4FE1DC-3082-4565-7048-3A93CCC1CA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6" name="文本框 5">
            <a:extLst>
              <a:ext uri="{FF2B5EF4-FFF2-40B4-BE49-F238E27FC236}">
                <a16:creationId xmlns:a16="http://schemas.microsoft.com/office/drawing/2014/main" id="{3AD57AD9-8462-6842-F677-C136DDF9E30C}"/>
              </a:ext>
            </a:extLst>
          </p:cNvPr>
          <p:cNvSpPr txBox="1"/>
          <p:nvPr/>
        </p:nvSpPr>
        <p:spPr>
          <a:xfrm>
            <a:off x="886877" y="777828"/>
            <a:ext cx="7714198" cy="6017032"/>
          </a:xfrm>
          <a:prstGeom prst="rect">
            <a:avLst/>
          </a:prstGeom>
          <a:noFill/>
        </p:spPr>
        <p:txBody>
          <a:bodyPr wrap="square">
            <a:spAutoFit/>
          </a:bodyPr>
          <a:lstStyle/>
          <a:p>
            <a:pPr marL="285750" indent="-285750" fontAlgn="ctr">
              <a:buFont typeface="Wingdings" panose="05000000000000000000" pitchFamily="2" charset="2"/>
              <a:buChar char="Ø"/>
            </a:pPr>
            <a:r>
              <a:rPr lang="zh-CN" altLang="zh-CN">
                <a:latin typeface="宋体" panose="02010600030101010101" pitchFamily="2" charset="-122"/>
                <a:ea typeface="宋体" panose="02010600030101010101" pitchFamily="2" charset="-122"/>
              </a:rPr>
              <a:t>速度给定</a:t>
            </a:r>
            <a:endParaRPr lang="en-US" altLang="zh-CN">
              <a:latin typeface="宋体" panose="02010600030101010101" pitchFamily="2" charset="-122"/>
              <a:ea typeface="宋体" panose="02010600030101010101" pitchFamily="2" charset="-122"/>
            </a:endParaRPr>
          </a:p>
          <a:p>
            <a:pPr indent="304800" algn="just" fontAlgn="ctr">
              <a:lnSpc>
                <a:spcPts val="2000"/>
              </a:lnSpc>
              <a:buNone/>
            </a:pPr>
            <a:r>
              <a:rPr lang="zh-CN" altLang="zh-CN" kern="100">
                <a:latin typeface="Times New Roman" panose="02020603050405020304" pitchFamily="18" charset="0"/>
                <a:ea typeface="宋体" panose="02010600030101010101" pitchFamily="2" charset="-122"/>
                <a:cs typeface="Times New Roman" panose="02020603050405020304" pitchFamily="18" charset="0"/>
              </a:rPr>
              <a:t>设定</a:t>
            </a:r>
            <a:r>
              <a:rPr lang="en-US" altLang="zh-CN" kern="100">
                <a:latin typeface="Times New Roman" panose="02020603050405020304" pitchFamily="18" charset="0"/>
                <a:ea typeface="宋体" panose="02010600030101010101" pitchFamily="2" charset="-122"/>
                <a:cs typeface="Times New Roman" panose="02020603050405020304" pitchFamily="18" charset="0"/>
              </a:rPr>
              <a:t>S-Function</a:t>
            </a:r>
            <a:r>
              <a:rPr lang="zh-CN" altLang="zh-CN" kern="100">
                <a:latin typeface="Times New Roman" panose="02020603050405020304" pitchFamily="18" charset="0"/>
                <a:ea typeface="宋体" panose="02010600030101010101" pitchFamily="2" charset="-122"/>
                <a:cs typeface="Times New Roman" panose="02020603050405020304" pitchFamily="18" charset="0"/>
              </a:rPr>
              <a:t>函数模块，输出依时间变化的速度给定信号，从而实现矿井提升机的梯形速度图。这段</a:t>
            </a:r>
            <a:r>
              <a:rPr lang="en-US" altLang="zh-CN" kern="100">
                <a:latin typeface="Times New Roman" panose="02020603050405020304" pitchFamily="18" charset="0"/>
                <a:ea typeface="宋体" panose="02010600030101010101" pitchFamily="2" charset="-122"/>
                <a:cs typeface="Times New Roman" panose="02020603050405020304" pitchFamily="18" charset="0"/>
              </a:rPr>
              <a:t>MATLAB S-Function</a:t>
            </a:r>
            <a:r>
              <a:rPr lang="zh-CN" altLang="zh-CN" kern="100">
                <a:latin typeface="Times New Roman" panose="02020603050405020304" pitchFamily="18" charset="0"/>
                <a:ea typeface="宋体" panose="02010600030101010101" pitchFamily="2" charset="-122"/>
                <a:cs typeface="Times New Roman" panose="02020603050405020304" pitchFamily="18" charset="0"/>
              </a:rPr>
              <a:t>代码实现了一个</a:t>
            </a:r>
            <a:r>
              <a:rPr lang="zh-CN" altLang="zh-CN" b="1" kern="100">
                <a:latin typeface="Times New Roman" panose="02020603050405020304" pitchFamily="18" charset="0"/>
                <a:ea typeface="宋体" panose="02010600030101010101" pitchFamily="2" charset="-122"/>
                <a:cs typeface="Times New Roman" panose="02020603050405020304" pitchFamily="18" charset="0"/>
              </a:rPr>
              <a:t>分段速度曲线生成器</a:t>
            </a:r>
            <a:r>
              <a:rPr lang="zh-CN" altLang="zh-CN" kern="100">
                <a:latin typeface="Times New Roman" panose="02020603050405020304" pitchFamily="18" charset="0"/>
                <a:ea typeface="宋体" panose="02010600030101010101" pitchFamily="2" charset="-122"/>
                <a:cs typeface="Times New Roman" panose="02020603050405020304" pitchFamily="18" charset="0"/>
              </a:rPr>
              <a:t>，主要用于电机控制系统。具体如下：</a:t>
            </a:r>
          </a:p>
          <a:p>
            <a:pPr indent="306070" algn="just" fontAlgn="ctr">
              <a:lnSpc>
                <a:spcPts val="2000"/>
              </a:lnSpc>
              <a:buNone/>
            </a:pPr>
            <a:r>
              <a:rPr lang="en-US" altLang="zh-CN" b="1" kern="100">
                <a:latin typeface="Times New Roman" panose="02020603050405020304" pitchFamily="18" charset="0"/>
                <a:ea typeface="宋体" panose="02010600030101010101" pitchFamily="2" charset="-122"/>
                <a:cs typeface="Times New Roman" panose="02020603050405020304" pitchFamily="18" charset="0"/>
              </a:rPr>
              <a:t>1. </a:t>
            </a:r>
            <a:r>
              <a:rPr lang="zh-CN" altLang="zh-CN" b="1" kern="100">
                <a:latin typeface="Times New Roman" panose="02020603050405020304" pitchFamily="18" charset="0"/>
                <a:ea typeface="宋体" panose="02010600030101010101" pitchFamily="2" charset="-122"/>
                <a:cs typeface="Times New Roman" panose="02020603050405020304" pitchFamily="18" charset="0"/>
              </a:rPr>
              <a:t>启动阶段</a:t>
            </a:r>
            <a:r>
              <a:rPr lang="en-US" altLang="zh-CN" b="1" kern="100">
                <a:latin typeface="Times New Roman" panose="02020603050405020304" pitchFamily="18" charset="0"/>
                <a:ea typeface="宋体" panose="02010600030101010101" pitchFamily="2" charset="-122"/>
                <a:cs typeface="Times New Roman" panose="02020603050405020304" pitchFamily="18" charset="0"/>
              </a:rPr>
              <a:t> (0 ≤ u &lt; 3.3</a:t>
            </a:r>
            <a:r>
              <a:rPr lang="zh-CN" altLang="zh-CN" b="1" kern="100">
                <a:latin typeface="Times New Roman" panose="02020603050405020304" pitchFamily="18" charset="0"/>
                <a:ea typeface="宋体" panose="02010600030101010101" pitchFamily="2" charset="-122"/>
                <a:cs typeface="Times New Roman" panose="02020603050405020304" pitchFamily="18" charset="0"/>
              </a:rPr>
              <a:t>秒</a:t>
            </a:r>
            <a:r>
              <a:rPr lang="en-US" altLang="zh-CN" b="1" kern="100">
                <a:latin typeface="Times New Roman" panose="02020603050405020304" pitchFamily="18" charset="0"/>
                <a:ea typeface="宋体" panose="02010600030101010101" pitchFamily="2" charset="-122"/>
                <a:cs typeface="Times New Roman" panose="02020603050405020304" pitchFamily="18" charset="0"/>
              </a:rPr>
              <a:t>)</a:t>
            </a:r>
            <a:endParaRPr lang="zh-CN" altLang="zh-CN" kern="100">
              <a:latin typeface="Times New Roman" panose="02020603050405020304" pitchFamily="18" charset="0"/>
              <a:ea typeface="宋体" panose="02010600030101010101" pitchFamily="2" charset="-122"/>
              <a:cs typeface="Times New Roman" panose="02020603050405020304" pitchFamily="18" charset="0"/>
            </a:endParaRPr>
          </a:p>
          <a:p>
            <a:pPr indent="304800" algn="just" fontAlgn="ctr">
              <a:lnSpc>
                <a:spcPts val="2000"/>
              </a:lnSpc>
              <a:buNone/>
            </a:pPr>
            <a:r>
              <a:rPr lang="en-US" altLang="zh-CN" kern="100">
                <a:latin typeface="Times New Roman" panose="02020603050405020304" pitchFamily="18" charset="0"/>
                <a:ea typeface="宋体" panose="02010600030101010101" pitchFamily="2" charset="-122"/>
                <a:cs typeface="Times New Roman" panose="02020603050405020304" pitchFamily="18" charset="0"/>
              </a:rPr>
              <a:t>sys = 22.6 * u;</a:t>
            </a:r>
            <a:endParaRPr lang="zh-CN" altLang="zh-CN" kern="100">
              <a:latin typeface="Times New Roman" panose="02020603050405020304" pitchFamily="18" charset="0"/>
              <a:ea typeface="宋体" panose="02010600030101010101" pitchFamily="2" charset="-122"/>
              <a:cs typeface="Times New Roman" panose="02020603050405020304" pitchFamily="18" charset="0"/>
            </a:endParaRPr>
          </a:p>
          <a:p>
            <a:pPr indent="306070" algn="just" fontAlgn="ctr">
              <a:lnSpc>
                <a:spcPts val="2000"/>
              </a:lnSpc>
              <a:buNone/>
            </a:pPr>
            <a:r>
              <a:rPr lang="zh-CN" altLang="zh-CN" b="1" kern="100">
                <a:latin typeface="Times New Roman" panose="02020603050405020304" pitchFamily="18" charset="0"/>
                <a:ea typeface="宋体" panose="02010600030101010101" pitchFamily="2" charset="-122"/>
                <a:cs typeface="Times New Roman" panose="02020603050405020304" pitchFamily="18" charset="0"/>
              </a:rPr>
              <a:t>物理意义</a:t>
            </a:r>
            <a:r>
              <a:rPr lang="zh-CN" altLang="zh-CN" kern="100">
                <a:latin typeface="Times New Roman" panose="02020603050405020304" pitchFamily="18" charset="0"/>
                <a:ea typeface="宋体" panose="02010600030101010101" pitchFamily="2" charset="-122"/>
                <a:cs typeface="Times New Roman" panose="02020603050405020304" pitchFamily="18" charset="0"/>
              </a:rPr>
              <a:t>：电机从</a:t>
            </a:r>
            <a:r>
              <a:rPr lang="en-US" altLang="zh-CN" kern="100">
                <a:latin typeface="Times New Roman" panose="02020603050405020304" pitchFamily="18" charset="0"/>
                <a:ea typeface="宋体" panose="02010600030101010101" pitchFamily="2" charset="-122"/>
                <a:cs typeface="Times New Roman" panose="02020603050405020304" pitchFamily="18" charset="0"/>
              </a:rPr>
              <a:t>0</a:t>
            </a:r>
            <a:r>
              <a:rPr lang="zh-CN" altLang="zh-CN" kern="100">
                <a:latin typeface="Times New Roman" panose="02020603050405020304" pitchFamily="18" charset="0"/>
                <a:ea typeface="宋体" panose="02010600030101010101" pitchFamily="2" charset="-122"/>
                <a:cs typeface="Times New Roman" panose="02020603050405020304" pitchFamily="18" charset="0"/>
              </a:rPr>
              <a:t>开始线性加速</a:t>
            </a:r>
          </a:p>
          <a:p>
            <a:pPr indent="306070" algn="just" fontAlgn="ctr">
              <a:lnSpc>
                <a:spcPts val="2000"/>
              </a:lnSpc>
              <a:buNone/>
            </a:pPr>
            <a:r>
              <a:rPr lang="en-US" altLang="zh-CN" b="1" kern="100">
                <a:latin typeface="Times New Roman" panose="02020603050405020304" pitchFamily="18" charset="0"/>
                <a:ea typeface="宋体" panose="02010600030101010101" pitchFamily="2" charset="-122"/>
                <a:cs typeface="Times New Roman" panose="02020603050405020304" pitchFamily="18" charset="0"/>
              </a:rPr>
              <a:t>2. </a:t>
            </a:r>
            <a:r>
              <a:rPr lang="zh-CN" altLang="zh-CN" b="1" kern="100">
                <a:latin typeface="Times New Roman" panose="02020603050405020304" pitchFamily="18" charset="0"/>
                <a:ea typeface="宋体" panose="02010600030101010101" pitchFamily="2" charset="-122"/>
                <a:cs typeface="Times New Roman" panose="02020603050405020304" pitchFamily="18" charset="0"/>
              </a:rPr>
              <a:t>主加速阶段</a:t>
            </a:r>
            <a:r>
              <a:rPr lang="en-US" altLang="zh-CN" b="1" kern="100">
                <a:latin typeface="Times New Roman" panose="02020603050405020304" pitchFamily="18" charset="0"/>
                <a:ea typeface="宋体" panose="02010600030101010101" pitchFamily="2" charset="-122"/>
                <a:cs typeface="Times New Roman" panose="02020603050405020304" pitchFamily="18" charset="0"/>
              </a:rPr>
              <a:t> (3.3 ≤ u &lt; 14.8</a:t>
            </a:r>
            <a:r>
              <a:rPr lang="zh-CN" altLang="zh-CN" b="1" kern="100">
                <a:latin typeface="Times New Roman" panose="02020603050405020304" pitchFamily="18" charset="0"/>
                <a:ea typeface="宋体" panose="02010600030101010101" pitchFamily="2" charset="-122"/>
                <a:cs typeface="Times New Roman" panose="02020603050405020304" pitchFamily="18" charset="0"/>
              </a:rPr>
              <a:t>秒</a:t>
            </a:r>
            <a:r>
              <a:rPr lang="en-US" altLang="zh-CN" b="1" kern="100">
                <a:latin typeface="Times New Roman" panose="02020603050405020304" pitchFamily="18" charset="0"/>
                <a:ea typeface="宋体" panose="02010600030101010101" pitchFamily="2" charset="-122"/>
                <a:cs typeface="Times New Roman" panose="02020603050405020304" pitchFamily="18" charset="0"/>
              </a:rPr>
              <a:t>)</a:t>
            </a:r>
            <a:endParaRPr lang="zh-CN" altLang="zh-CN" kern="100">
              <a:latin typeface="Times New Roman" panose="02020603050405020304" pitchFamily="18" charset="0"/>
              <a:ea typeface="宋体" panose="02010600030101010101" pitchFamily="2" charset="-122"/>
              <a:cs typeface="Times New Roman" panose="02020603050405020304" pitchFamily="18" charset="0"/>
            </a:endParaRPr>
          </a:p>
          <a:p>
            <a:pPr indent="304800" algn="just" fontAlgn="ctr">
              <a:lnSpc>
                <a:spcPts val="2000"/>
              </a:lnSpc>
              <a:buNone/>
            </a:pPr>
            <a:r>
              <a:rPr lang="en-US" altLang="zh-CN" kern="100">
                <a:latin typeface="Times New Roman" panose="02020603050405020304" pitchFamily="18" charset="0"/>
                <a:ea typeface="宋体" panose="02010600030101010101" pitchFamily="2" charset="-122"/>
                <a:cs typeface="Times New Roman" panose="02020603050405020304" pitchFamily="18" charset="0"/>
              </a:rPr>
              <a:t>sys = 75 + 45 * (u - 3.3);</a:t>
            </a:r>
            <a:endParaRPr lang="zh-CN" altLang="zh-CN" kern="100">
              <a:latin typeface="Times New Roman" panose="02020603050405020304" pitchFamily="18" charset="0"/>
              <a:ea typeface="宋体" panose="02010600030101010101" pitchFamily="2" charset="-122"/>
              <a:cs typeface="Times New Roman" panose="02020603050405020304" pitchFamily="18" charset="0"/>
            </a:endParaRPr>
          </a:p>
          <a:p>
            <a:pPr indent="306070" algn="just" fontAlgn="ctr">
              <a:lnSpc>
                <a:spcPts val="2000"/>
              </a:lnSpc>
              <a:buNone/>
            </a:pPr>
            <a:r>
              <a:rPr lang="zh-CN" altLang="zh-CN" b="1" kern="100">
                <a:latin typeface="Times New Roman" panose="02020603050405020304" pitchFamily="18" charset="0"/>
                <a:ea typeface="宋体" panose="02010600030101010101" pitchFamily="2" charset="-122"/>
                <a:cs typeface="Times New Roman" panose="02020603050405020304" pitchFamily="18" charset="0"/>
              </a:rPr>
              <a:t>物理意义</a:t>
            </a:r>
            <a:r>
              <a:rPr lang="zh-CN" altLang="zh-CN" kern="100">
                <a:latin typeface="Times New Roman" panose="02020603050405020304" pitchFamily="18" charset="0"/>
                <a:ea typeface="宋体" panose="02010600030101010101" pitchFamily="2" charset="-122"/>
                <a:cs typeface="Times New Roman" panose="02020603050405020304" pitchFamily="18" charset="0"/>
              </a:rPr>
              <a:t>：快速提升到工作转速</a:t>
            </a:r>
          </a:p>
          <a:p>
            <a:pPr indent="306070" algn="just" fontAlgn="ctr">
              <a:lnSpc>
                <a:spcPts val="2000"/>
              </a:lnSpc>
              <a:buNone/>
            </a:pPr>
            <a:r>
              <a:rPr lang="en-US" altLang="zh-CN" b="1" kern="100">
                <a:latin typeface="Times New Roman" panose="02020603050405020304" pitchFamily="18" charset="0"/>
                <a:ea typeface="宋体" panose="02010600030101010101" pitchFamily="2" charset="-122"/>
                <a:cs typeface="Times New Roman" panose="02020603050405020304" pitchFamily="18" charset="0"/>
              </a:rPr>
              <a:t>3. </a:t>
            </a:r>
            <a:r>
              <a:rPr lang="zh-CN" altLang="zh-CN" b="1" kern="100">
                <a:latin typeface="Times New Roman" panose="02020603050405020304" pitchFamily="18" charset="0"/>
                <a:ea typeface="宋体" panose="02010600030101010101" pitchFamily="2" charset="-122"/>
                <a:cs typeface="Times New Roman" panose="02020603050405020304" pitchFamily="18" charset="0"/>
              </a:rPr>
              <a:t>额定运行阶段</a:t>
            </a:r>
            <a:r>
              <a:rPr lang="en-US" altLang="zh-CN" b="1" kern="100">
                <a:latin typeface="Times New Roman" panose="02020603050405020304" pitchFamily="18" charset="0"/>
                <a:ea typeface="宋体" panose="02010600030101010101" pitchFamily="2" charset="-122"/>
                <a:cs typeface="Times New Roman" panose="02020603050405020304" pitchFamily="18" charset="0"/>
              </a:rPr>
              <a:t> (14.8 ≤ u &lt; 47.63</a:t>
            </a:r>
            <a:r>
              <a:rPr lang="zh-CN" altLang="zh-CN" b="1" kern="100">
                <a:latin typeface="Times New Roman" panose="02020603050405020304" pitchFamily="18" charset="0"/>
                <a:ea typeface="宋体" panose="02010600030101010101" pitchFamily="2" charset="-122"/>
                <a:cs typeface="Times New Roman" panose="02020603050405020304" pitchFamily="18" charset="0"/>
              </a:rPr>
              <a:t>秒</a:t>
            </a:r>
            <a:r>
              <a:rPr lang="en-US" altLang="zh-CN" b="1" kern="100">
                <a:latin typeface="Times New Roman" panose="02020603050405020304" pitchFamily="18" charset="0"/>
                <a:ea typeface="宋体" panose="02010600030101010101" pitchFamily="2" charset="-122"/>
                <a:cs typeface="Times New Roman" panose="02020603050405020304" pitchFamily="18" charset="0"/>
              </a:rPr>
              <a:t>)</a:t>
            </a:r>
            <a:endParaRPr lang="zh-CN" altLang="zh-CN" kern="100">
              <a:latin typeface="Times New Roman" panose="02020603050405020304" pitchFamily="18" charset="0"/>
              <a:ea typeface="宋体" panose="02010600030101010101" pitchFamily="2" charset="-122"/>
              <a:cs typeface="Times New Roman" panose="02020603050405020304" pitchFamily="18" charset="0"/>
            </a:endParaRPr>
          </a:p>
          <a:p>
            <a:pPr indent="306070" algn="just" fontAlgn="ctr">
              <a:lnSpc>
                <a:spcPts val="2000"/>
              </a:lnSpc>
              <a:buNone/>
            </a:pPr>
            <a:r>
              <a:rPr lang="zh-CN" altLang="zh-CN" b="1" kern="100">
                <a:latin typeface="Times New Roman" panose="02020603050405020304" pitchFamily="18" charset="0"/>
                <a:ea typeface="宋体" panose="02010600030101010101" pitchFamily="2" charset="-122"/>
                <a:cs typeface="Times New Roman" panose="02020603050405020304" pitchFamily="18" charset="0"/>
              </a:rPr>
              <a:t>物理意义：</a:t>
            </a:r>
            <a:r>
              <a:rPr lang="zh-CN" altLang="zh-CN" kern="100">
                <a:latin typeface="Times New Roman" panose="02020603050405020304" pitchFamily="18" charset="0"/>
                <a:ea typeface="宋体" panose="02010600030101010101" pitchFamily="2" charset="-122"/>
                <a:cs typeface="Times New Roman" panose="02020603050405020304" pitchFamily="18" charset="0"/>
              </a:rPr>
              <a:t>保持额定转速稳定运行</a:t>
            </a:r>
          </a:p>
          <a:p>
            <a:pPr indent="306070" algn="just" fontAlgn="ctr">
              <a:lnSpc>
                <a:spcPts val="2000"/>
              </a:lnSpc>
              <a:buNone/>
            </a:pPr>
            <a:r>
              <a:rPr lang="en-US" altLang="zh-CN" b="1" kern="100">
                <a:latin typeface="Times New Roman" panose="02020603050405020304" pitchFamily="18" charset="0"/>
                <a:ea typeface="宋体" panose="02010600030101010101" pitchFamily="2" charset="-122"/>
                <a:cs typeface="Times New Roman" panose="02020603050405020304" pitchFamily="18" charset="0"/>
              </a:rPr>
              <a:t>4. </a:t>
            </a:r>
            <a:r>
              <a:rPr lang="zh-CN" altLang="zh-CN" b="1" kern="100">
                <a:latin typeface="Times New Roman" panose="02020603050405020304" pitchFamily="18" charset="0"/>
                <a:ea typeface="宋体" panose="02010600030101010101" pitchFamily="2" charset="-122"/>
                <a:cs typeface="Times New Roman" panose="02020603050405020304" pitchFamily="18" charset="0"/>
              </a:rPr>
              <a:t>减速阶段</a:t>
            </a:r>
            <a:r>
              <a:rPr lang="en-US" altLang="zh-CN" b="1" kern="100">
                <a:latin typeface="Times New Roman" panose="02020603050405020304" pitchFamily="18" charset="0"/>
                <a:ea typeface="宋体" panose="02010600030101010101" pitchFamily="2" charset="-122"/>
                <a:cs typeface="Times New Roman" panose="02020603050405020304" pitchFamily="18" charset="0"/>
              </a:rPr>
              <a:t> (47.63 ≤ u &lt; 60.13</a:t>
            </a:r>
            <a:r>
              <a:rPr lang="zh-CN" altLang="zh-CN" b="1" kern="100">
                <a:latin typeface="Times New Roman" panose="02020603050405020304" pitchFamily="18" charset="0"/>
                <a:ea typeface="宋体" panose="02010600030101010101" pitchFamily="2" charset="-122"/>
                <a:cs typeface="Times New Roman" panose="02020603050405020304" pitchFamily="18" charset="0"/>
              </a:rPr>
              <a:t>秒</a:t>
            </a:r>
            <a:r>
              <a:rPr lang="en-US" altLang="zh-CN" b="1" kern="100">
                <a:latin typeface="Times New Roman" panose="02020603050405020304" pitchFamily="18" charset="0"/>
                <a:ea typeface="宋体" panose="02010600030101010101" pitchFamily="2" charset="-122"/>
                <a:cs typeface="Times New Roman" panose="02020603050405020304" pitchFamily="18" charset="0"/>
              </a:rPr>
              <a:t>)</a:t>
            </a:r>
            <a:endParaRPr lang="zh-CN" altLang="zh-CN" kern="100">
              <a:latin typeface="Times New Roman" panose="02020603050405020304" pitchFamily="18" charset="0"/>
              <a:ea typeface="宋体" panose="02010600030101010101" pitchFamily="2" charset="-122"/>
              <a:cs typeface="Times New Roman" panose="02020603050405020304" pitchFamily="18" charset="0"/>
            </a:endParaRPr>
          </a:p>
          <a:p>
            <a:pPr indent="304800" algn="just" fontAlgn="ctr">
              <a:lnSpc>
                <a:spcPts val="2000"/>
              </a:lnSpc>
              <a:buNone/>
            </a:pPr>
            <a:r>
              <a:rPr lang="en-US" altLang="zh-CN" kern="100">
                <a:latin typeface="Times New Roman" panose="02020603050405020304" pitchFamily="18" charset="0"/>
                <a:ea typeface="宋体" panose="02010600030101010101" pitchFamily="2" charset="-122"/>
                <a:cs typeface="Times New Roman" panose="02020603050405020304" pitchFamily="18" charset="0"/>
              </a:rPr>
              <a:t>sys = 593 - 45.4 * (u - 47.63);</a:t>
            </a:r>
            <a:endParaRPr lang="zh-CN" altLang="zh-CN" kern="100">
              <a:latin typeface="Times New Roman" panose="02020603050405020304" pitchFamily="18" charset="0"/>
              <a:ea typeface="宋体" panose="02010600030101010101" pitchFamily="2" charset="-122"/>
              <a:cs typeface="Times New Roman" panose="02020603050405020304" pitchFamily="18" charset="0"/>
            </a:endParaRPr>
          </a:p>
          <a:p>
            <a:pPr indent="306070" algn="just" fontAlgn="ctr">
              <a:lnSpc>
                <a:spcPts val="2000"/>
              </a:lnSpc>
              <a:buNone/>
            </a:pPr>
            <a:r>
              <a:rPr lang="zh-CN" altLang="zh-CN" b="1" kern="100">
                <a:latin typeface="Times New Roman" panose="02020603050405020304" pitchFamily="18" charset="0"/>
                <a:ea typeface="宋体" panose="02010600030101010101" pitchFamily="2" charset="-122"/>
                <a:cs typeface="Times New Roman" panose="02020603050405020304" pitchFamily="18" charset="0"/>
              </a:rPr>
              <a:t>物理意义：</a:t>
            </a:r>
            <a:r>
              <a:rPr lang="zh-CN" altLang="zh-CN" kern="100">
                <a:latin typeface="Times New Roman" panose="02020603050405020304" pitchFamily="18" charset="0"/>
                <a:ea typeface="宋体" panose="02010600030101010101" pitchFamily="2" charset="-122"/>
                <a:cs typeface="Times New Roman" panose="02020603050405020304" pitchFamily="18" charset="0"/>
              </a:rPr>
              <a:t>从额定转速线性减速</a:t>
            </a:r>
          </a:p>
          <a:p>
            <a:pPr indent="306070" algn="just" fontAlgn="ctr">
              <a:lnSpc>
                <a:spcPts val="2000"/>
              </a:lnSpc>
              <a:buNone/>
            </a:pPr>
            <a:r>
              <a:rPr lang="en-US" altLang="zh-CN" b="1" kern="100">
                <a:latin typeface="Times New Roman" panose="02020603050405020304" pitchFamily="18" charset="0"/>
                <a:ea typeface="宋体" panose="02010600030101010101" pitchFamily="2" charset="-122"/>
                <a:cs typeface="Times New Roman" panose="02020603050405020304" pitchFamily="18" charset="0"/>
              </a:rPr>
              <a:t>5. </a:t>
            </a:r>
            <a:r>
              <a:rPr lang="zh-CN" altLang="zh-CN" b="1" kern="100">
                <a:latin typeface="Times New Roman" panose="02020603050405020304" pitchFamily="18" charset="0"/>
                <a:ea typeface="宋体" panose="02010600030101010101" pitchFamily="2" charset="-122"/>
                <a:cs typeface="Times New Roman" panose="02020603050405020304" pitchFamily="18" charset="0"/>
              </a:rPr>
              <a:t>低速运行阶段</a:t>
            </a:r>
            <a:r>
              <a:rPr lang="en-US" altLang="zh-CN" b="1" kern="100">
                <a:latin typeface="Times New Roman" panose="02020603050405020304" pitchFamily="18" charset="0"/>
                <a:ea typeface="宋体" panose="02010600030101010101" pitchFamily="2" charset="-122"/>
                <a:cs typeface="Times New Roman" panose="02020603050405020304" pitchFamily="18" charset="0"/>
              </a:rPr>
              <a:t> (60.13 ≤ u &lt; 66.13</a:t>
            </a:r>
            <a:r>
              <a:rPr lang="zh-CN" altLang="zh-CN" b="1" kern="100">
                <a:latin typeface="Times New Roman" panose="02020603050405020304" pitchFamily="18" charset="0"/>
                <a:ea typeface="宋体" panose="02010600030101010101" pitchFamily="2" charset="-122"/>
                <a:cs typeface="Times New Roman" panose="02020603050405020304" pitchFamily="18" charset="0"/>
              </a:rPr>
              <a:t>秒</a:t>
            </a:r>
            <a:r>
              <a:rPr lang="en-US" altLang="zh-CN" b="1" kern="100">
                <a:latin typeface="Times New Roman" panose="02020603050405020304" pitchFamily="18" charset="0"/>
                <a:ea typeface="宋体" panose="02010600030101010101" pitchFamily="2" charset="-122"/>
                <a:cs typeface="Times New Roman" panose="02020603050405020304" pitchFamily="18" charset="0"/>
              </a:rPr>
              <a:t>)</a:t>
            </a:r>
            <a:endParaRPr lang="zh-CN" altLang="zh-CN" kern="100">
              <a:latin typeface="Times New Roman" panose="02020603050405020304" pitchFamily="18" charset="0"/>
              <a:ea typeface="宋体" panose="02010600030101010101" pitchFamily="2" charset="-122"/>
              <a:cs typeface="Times New Roman" panose="02020603050405020304" pitchFamily="18" charset="0"/>
            </a:endParaRPr>
          </a:p>
          <a:p>
            <a:pPr indent="304800" algn="just" fontAlgn="ctr">
              <a:lnSpc>
                <a:spcPts val="2000"/>
              </a:lnSpc>
              <a:buNone/>
            </a:pPr>
            <a:r>
              <a:rPr lang="en-US" altLang="zh-CN" kern="100">
                <a:latin typeface="Times New Roman" panose="02020603050405020304" pitchFamily="18" charset="0"/>
                <a:ea typeface="宋体" panose="02010600030101010101" pitchFamily="2" charset="-122"/>
                <a:cs typeface="Times New Roman" panose="02020603050405020304" pitchFamily="18" charset="0"/>
              </a:rPr>
              <a:t>sys = 25;</a:t>
            </a:r>
            <a:endParaRPr lang="zh-CN" altLang="zh-CN" kern="100">
              <a:latin typeface="Times New Roman" panose="02020603050405020304" pitchFamily="18" charset="0"/>
              <a:ea typeface="宋体" panose="02010600030101010101" pitchFamily="2" charset="-122"/>
              <a:cs typeface="Times New Roman" panose="02020603050405020304" pitchFamily="18" charset="0"/>
            </a:endParaRPr>
          </a:p>
          <a:p>
            <a:pPr indent="306070" algn="just" fontAlgn="ctr">
              <a:lnSpc>
                <a:spcPts val="2000"/>
              </a:lnSpc>
              <a:buNone/>
            </a:pPr>
            <a:r>
              <a:rPr lang="zh-CN" altLang="zh-CN" b="1" kern="100">
                <a:latin typeface="Times New Roman" panose="02020603050405020304" pitchFamily="18" charset="0"/>
                <a:ea typeface="宋体" panose="02010600030101010101" pitchFamily="2" charset="-122"/>
                <a:cs typeface="Times New Roman" panose="02020603050405020304" pitchFamily="18" charset="0"/>
              </a:rPr>
              <a:t>物理意义：</a:t>
            </a:r>
            <a:r>
              <a:rPr lang="zh-CN" altLang="zh-CN" kern="100">
                <a:latin typeface="Times New Roman" panose="02020603050405020304" pitchFamily="18" charset="0"/>
                <a:ea typeface="宋体" panose="02010600030101010101" pitchFamily="2" charset="-122"/>
                <a:cs typeface="Times New Roman" panose="02020603050405020304" pitchFamily="18" charset="0"/>
              </a:rPr>
              <a:t>维持低速运行</a:t>
            </a:r>
          </a:p>
          <a:p>
            <a:pPr indent="306070" algn="just" fontAlgn="ctr">
              <a:lnSpc>
                <a:spcPts val="2000"/>
              </a:lnSpc>
              <a:buNone/>
            </a:pPr>
            <a:r>
              <a:rPr lang="en-US" altLang="zh-CN" b="1" kern="100">
                <a:latin typeface="Times New Roman" panose="02020603050405020304" pitchFamily="18" charset="0"/>
                <a:ea typeface="宋体" panose="02010600030101010101" pitchFamily="2" charset="-122"/>
                <a:cs typeface="Times New Roman" panose="02020603050405020304" pitchFamily="18" charset="0"/>
              </a:rPr>
              <a:t>6. </a:t>
            </a:r>
            <a:r>
              <a:rPr lang="zh-CN" altLang="zh-CN" b="1" kern="100">
                <a:latin typeface="Times New Roman" panose="02020603050405020304" pitchFamily="18" charset="0"/>
                <a:ea typeface="宋体" panose="02010600030101010101" pitchFamily="2" charset="-122"/>
                <a:cs typeface="Times New Roman" panose="02020603050405020304" pitchFamily="18" charset="0"/>
              </a:rPr>
              <a:t>停止阶段</a:t>
            </a:r>
            <a:r>
              <a:rPr lang="en-US" altLang="zh-CN" b="1" kern="100">
                <a:latin typeface="Times New Roman" panose="02020603050405020304" pitchFamily="18" charset="0"/>
                <a:ea typeface="宋体" panose="02010600030101010101" pitchFamily="2" charset="-122"/>
                <a:cs typeface="Times New Roman" panose="02020603050405020304" pitchFamily="18" charset="0"/>
              </a:rPr>
              <a:t> (66.13 ≤ u &lt; 67.13</a:t>
            </a:r>
            <a:r>
              <a:rPr lang="zh-CN" altLang="zh-CN" b="1" kern="100">
                <a:latin typeface="Times New Roman" panose="02020603050405020304" pitchFamily="18" charset="0"/>
                <a:ea typeface="宋体" panose="02010600030101010101" pitchFamily="2" charset="-122"/>
                <a:cs typeface="Times New Roman" panose="02020603050405020304" pitchFamily="18" charset="0"/>
              </a:rPr>
              <a:t>秒</a:t>
            </a:r>
            <a:r>
              <a:rPr lang="en-US" altLang="zh-CN" b="1" kern="100">
                <a:latin typeface="Times New Roman" panose="02020603050405020304" pitchFamily="18" charset="0"/>
                <a:ea typeface="宋体" panose="02010600030101010101" pitchFamily="2" charset="-122"/>
                <a:cs typeface="Times New Roman" panose="02020603050405020304" pitchFamily="18" charset="0"/>
              </a:rPr>
              <a:t>)</a:t>
            </a:r>
            <a:endParaRPr lang="zh-CN" altLang="zh-CN" kern="100">
              <a:latin typeface="Times New Roman" panose="02020603050405020304" pitchFamily="18" charset="0"/>
              <a:ea typeface="宋体" panose="02010600030101010101" pitchFamily="2" charset="-122"/>
              <a:cs typeface="Times New Roman" panose="02020603050405020304" pitchFamily="18" charset="0"/>
            </a:endParaRPr>
          </a:p>
          <a:p>
            <a:pPr indent="304800" algn="just" fontAlgn="ctr">
              <a:lnSpc>
                <a:spcPts val="2000"/>
              </a:lnSpc>
              <a:buNone/>
            </a:pPr>
            <a:r>
              <a:rPr lang="en-US" altLang="zh-CN" kern="100">
                <a:latin typeface="Times New Roman" panose="02020603050405020304" pitchFamily="18" charset="0"/>
                <a:ea typeface="宋体" panose="02010600030101010101" pitchFamily="2" charset="-122"/>
                <a:cs typeface="Times New Roman" panose="02020603050405020304" pitchFamily="18" charset="0"/>
              </a:rPr>
              <a:t>sys = 25 - 25 * (u - 66.13);</a:t>
            </a:r>
            <a:endParaRPr lang="zh-CN" altLang="zh-CN" kern="100">
              <a:latin typeface="Times New Roman" panose="02020603050405020304" pitchFamily="18" charset="0"/>
              <a:ea typeface="宋体" panose="02010600030101010101" pitchFamily="2" charset="-122"/>
              <a:cs typeface="Times New Roman" panose="02020603050405020304" pitchFamily="18" charset="0"/>
            </a:endParaRPr>
          </a:p>
          <a:p>
            <a:pPr indent="306070" algn="just" fontAlgn="ctr">
              <a:lnSpc>
                <a:spcPts val="2000"/>
              </a:lnSpc>
              <a:buNone/>
            </a:pPr>
            <a:r>
              <a:rPr lang="zh-CN" altLang="zh-CN" b="1" kern="100">
                <a:latin typeface="Times New Roman" panose="02020603050405020304" pitchFamily="18" charset="0"/>
                <a:ea typeface="宋体" panose="02010600030101010101" pitchFamily="2" charset="-122"/>
                <a:cs typeface="Times New Roman" panose="02020603050405020304" pitchFamily="18" charset="0"/>
              </a:rPr>
              <a:t>物理意义：</a:t>
            </a:r>
            <a:r>
              <a:rPr lang="zh-CN" altLang="zh-CN" kern="100">
                <a:latin typeface="Times New Roman" panose="02020603050405020304" pitchFamily="18" charset="0"/>
                <a:ea typeface="宋体" panose="02010600030101010101" pitchFamily="2" charset="-122"/>
                <a:cs typeface="Times New Roman" panose="02020603050405020304" pitchFamily="18" charset="0"/>
              </a:rPr>
              <a:t>快速制动到完全停止</a:t>
            </a:r>
          </a:p>
          <a:p>
            <a:pPr indent="306070" algn="just" fontAlgn="ctr">
              <a:lnSpc>
                <a:spcPts val="2000"/>
              </a:lnSpc>
              <a:buNone/>
            </a:pPr>
            <a:r>
              <a:rPr lang="en-US" altLang="zh-CN" b="1" kern="100">
                <a:latin typeface="Times New Roman" panose="02020603050405020304" pitchFamily="18" charset="0"/>
                <a:ea typeface="宋体" panose="02010600030101010101" pitchFamily="2" charset="-122"/>
                <a:cs typeface="Times New Roman" panose="02020603050405020304" pitchFamily="18" charset="0"/>
              </a:rPr>
              <a:t>7. </a:t>
            </a:r>
            <a:r>
              <a:rPr lang="zh-CN" altLang="zh-CN" b="1" kern="100">
                <a:latin typeface="Times New Roman" panose="02020603050405020304" pitchFamily="18" charset="0"/>
                <a:ea typeface="宋体" panose="02010600030101010101" pitchFamily="2" charset="-122"/>
                <a:cs typeface="Times New Roman" panose="02020603050405020304" pitchFamily="18" charset="0"/>
              </a:rPr>
              <a:t>完全停止</a:t>
            </a:r>
            <a:r>
              <a:rPr lang="en-US" altLang="zh-CN" b="1" kern="100">
                <a:latin typeface="Times New Roman" panose="02020603050405020304" pitchFamily="18" charset="0"/>
                <a:ea typeface="宋体" panose="02010600030101010101" pitchFamily="2" charset="-122"/>
                <a:cs typeface="Times New Roman" panose="02020603050405020304" pitchFamily="18" charset="0"/>
              </a:rPr>
              <a:t> (u ≥ 67.13</a:t>
            </a:r>
            <a:r>
              <a:rPr lang="zh-CN" altLang="zh-CN" b="1" kern="100">
                <a:latin typeface="Times New Roman" panose="02020603050405020304" pitchFamily="18" charset="0"/>
                <a:ea typeface="宋体" panose="02010600030101010101" pitchFamily="2" charset="-122"/>
                <a:cs typeface="Times New Roman" panose="02020603050405020304" pitchFamily="18" charset="0"/>
              </a:rPr>
              <a:t>秒</a:t>
            </a:r>
            <a:r>
              <a:rPr lang="en-US" altLang="zh-CN" b="1" kern="100">
                <a:latin typeface="Times New Roman" panose="02020603050405020304" pitchFamily="18" charset="0"/>
                <a:ea typeface="宋体" panose="02010600030101010101" pitchFamily="2" charset="-122"/>
                <a:cs typeface="Times New Roman" panose="02020603050405020304" pitchFamily="18" charset="0"/>
              </a:rPr>
              <a:t>)</a:t>
            </a:r>
            <a:endParaRPr lang="zh-CN" altLang="zh-CN" kern="100">
              <a:latin typeface="Times New Roman" panose="02020603050405020304" pitchFamily="18" charset="0"/>
              <a:ea typeface="宋体" panose="02010600030101010101" pitchFamily="2" charset="-122"/>
              <a:cs typeface="Times New Roman" panose="02020603050405020304" pitchFamily="18" charset="0"/>
            </a:endParaRPr>
          </a:p>
          <a:p>
            <a:pPr indent="304800" algn="just" fontAlgn="ctr">
              <a:lnSpc>
                <a:spcPts val="2000"/>
              </a:lnSpc>
            </a:pPr>
            <a:r>
              <a:rPr lang="en-US" altLang="zh-CN" kern="100">
                <a:latin typeface="Times New Roman" panose="02020603050405020304" pitchFamily="18" charset="0"/>
                <a:ea typeface="宋体" panose="02010600030101010101" pitchFamily="2" charset="-122"/>
                <a:cs typeface="Times New Roman" panose="02020603050405020304" pitchFamily="18" charset="0"/>
              </a:rPr>
              <a:t>sys = 0;</a:t>
            </a:r>
            <a:endParaRPr lang="zh-CN" altLang="zh-CN" kern="100">
              <a:latin typeface="宋体" panose="02010600030101010101" pitchFamily="2" charset="-122"/>
              <a:ea typeface="宋体" panose="0201060003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305DE9CD-E87E-F42E-2610-FF9FCA4064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97047" y="1030673"/>
            <a:ext cx="2040890" cy="758190"/>
          </a:xfrm>
          <a:prstGeom prst="rect">
            <a:avLst/>
          </a:prstGeom>
        </p:spPr>
      </p:pic>
      <p:sp>
        <p:nvSpPr>
          <p:cNvPr id="9" name="文本框 8">
            <a:extLst>
              <a:ext uri="{FF2B5EF4-FFF2-40B4-BE49-F238E27FC236}">
                <a16:creationId xmlns:a16="http://schemas.microsoft.com/office/drawing/2014/main" id="{0BFF34F9-540B-F285-A63E-B61FD0CAF568}"/>
              </a:ext>
            </a:extLst>
          </p:cNvPr>
          <p:cNvSpPr txBox="1"/>
          <p:nvPr/>
        </p:nvSpPr>
        <p:spPr>
          <a:xfrm>
            <a:off x="7203440" y="1930757"/>
            <a:ext cx="6096000" cy="369332"/>
          </a:xfrm>
          <a:prstGeom prst="rect">
            <a:avLst/>
          </a:prstGeom>
          <a:noFill/>
        </p:spPr>
        <p:txBody>
          <a:bodyPr wrap="square">
            <a:spAutoFit/>
          </a:bodyPr>
          <a:lstStyle/>
          <a:p>
            <a:pPr indent="266700" algn="ctr"/>
            <a:r>
              <a:rPr lang="zh-CN" altLang="zh-CN" sz="1800" kern="100">
                <a:effectLst/>
                <a:latin typeface="Times New Roman" panose="02020603050405020304" pitchFamily="18" charset="0"/>
                <a:ea typeface="黑体" panose="02010609060101010101" pitchFamily="49" charset="-122"/>
                <a:cs typeface="Times New Roman" panose="02020603050405020304" pitchFamily="18" charset="0"/>
              </a:rPr>
              <a:t>速度给定环节及主要代码</a:t>
            </a:r>
            <a:endParaRPr lang="zh-CN" altLang="zh-CN" sz="1800" kern="100">
              <a:effectLst/>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2" name="图片 11">
            <a:extLst>
              <a:ext uri="{FF2B5EF4-FFF2-40B4-BE49-F238E27FC236}">
                <a16:creationId xmlns:a16="http://schemas.microsoft.com/office/drawing/2014/main" id="{AD0B2774-56B2-5EE3-4D00-D34895E782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88063" y="3071906"/>
            <a:ext cx="5274310" cy="2513330"/>
          </a:xfrm>
          <a:prstGeom prst="rect">
            <a:avLst/>
          </a:prstGeom>
        </p:spPr>
      </p:pic>
      <p:sp>
        <p:nvSpPr>
          <p:cNvPr id="13" name="矩形 12">
            <a:extLst>
              <a:ext uri="{FF2B5EF4-FFF2-40B4-BE49-F238E27FC236}">
                <a16:creationId xmlns:a16="http://schemas.microsoft.com/office/drawing/2014/main" id="{002E6D0B-0FE0-6BF4-26DF-EA7083613D88}"/>
              </a:ext>
            </a:extLst>
          </p:cNvPr>
          <p:cNvSpPr/>
          <p:nvPr/>
        </p:nvSpPr>
        <p:spPr bwMode="auto">
          <a:xfrm>
            <a:off x="8849360" y="867792"/>
            <a:ext cx="2953604" cy="1497354"/>
          </a:xfrm>
          <a:prstGeom prst="rect">
            <a:avLst/>
          </a:prstGeom>
          <a:noFill/>
          <a:ln w="28575">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sp>
        <p:nvSpPr>
          <p:cNvPr id="16" name="文本框 15">
            <a:extLst>
              <a:ext uri="{FF2B5EF4-FFF2-40B4-BE49-F238E27FC236}">
                <a16:creationId xmlns:a16="http://schemas.microsoft.com/office/drawing/2014/main" id="{9C53DD08-678B-3C58-48B9-E9E5A1CAC715}"/>
              </a:ext>
            </a:extLst>
          </p:cNvPr>
          <p:cNvSpPr txBox="1"/>
          <p:nvPr/>
        </p:nvSpPr>
        <p:spPr>
          <a:xfrm>
            <a:off x="6850380" y="5562275"/>
            <a:ext cx="6649720" cy="369332"/>
          </a:xfrm>
          <a:prstGeom prst="rect">
            <a:avLst/>
          </a:prstGeom>
          <a:noFill/>
        </p:spPr>
        <p:txBody>
          <a:bodyPr wrap="square">
            <a:spAutoFit/>
          </a:bodyPr>
          <a:lstStyle/>
          <a:p>
            <a:r>
              <a:rPr lang="zh-CN" altLang="zh-CN" sz="1800" kern="100">
                <a:effectLst/>
                <a:latin typeface="Times New Roman" panose="02020603050405020304" pitchFamily="18" charset="0"/>
                <a:ea typeface="黑体" panose="02010609060101010101" pitchFamily="49" charset="-122"/>
                <a:cs typeface="Times New Roman" panose="02020603050405020304" pitchFamily="18" charset="0"/>
              </a:rPr>
              <a:t>矿井提升系统五段速度理论曲线</a:t>
            </a:r>
            <a:endParaRPr lang="zh-CN" altLang="en-US"/>
          </a:p>
        </p:txBody>
      </p:sp>
      <p:sp>
        <p:nvSpPr>
          <p:cNvPr id="17" name="矩形 16">
            <a:extLst>
              <a:ext uri="{FF2B5EF4-FFF2-40B4-BE49-F238E27FC236}">
                <a16:creationId xmlns:a16="http://schemas.microsoft.com/office/drawing/2014/main" id="{A174A29B-793F-4BD9-10DE-8A7B1E42C0CB}"/>
              </a:ext>
            </a:extLst>
          </p:cNvPr>
          <p:cNvSpPr/>
          <p:nvPr/>
        </p:nvSpPr>
        <p:spPr bwMode="auto">
          <a:xfrm>
            <a:off x="5799870" y="2974279"/>
            <a:ext cx="5813010" cy="3015929"/>
          </a:xfrm>
          <a:prstGeom prst="rect">
            <a:avLst/>
          </a:prstGeom>
          <a:noFill/>
          <a:ln w="28575">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spTree>
    <p:extLst>
      <p:ext uri="{BB962C8B-B14F-4D97-AF65-F5344CB8AC3E}">
        <p14:creationId xmlns:p14="http://schemas.microsoft.com/office/powerpoint/2010/main" val="50812170"/>
      </p:ext>
    </p:extLst>
  </p:cSld>
  <p:clrMapOvr>
    <a:masterClrMapping/>
  </p:clrMapOvr>
  <p:transition spd="slow" advTm="9487"/>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55DE6-1E89-F7B6-0BA5-01D906EFC023}"/>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33DE0801-7748-0ACC-317B-9A214B78B591}"/>
              </a:ext>
            </a:extLst>
          </p:cNvPr>
          <p:cNvCxnSpPr>
            <a:cxnSpLocks/>
          </p:cNvCxnSpPr>
          <p:nvPr/>
        </p:nvCxnSpPr>
        <p:spPr>
          <a:xfrm>
            <a:off x="1014737" y="647713"/>
            <a:ext cx="8681713"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6959808F-9A71-4202-6EB8-D565C2BD2065}"/>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-POWER System</a:t>
            </a:r>
            <a:r>
              <a:rPr lang="zh-CN" altLang="en-US" sz="2400" b="1" kern="0">
                <a:solidFill>
                  <a:prstClr val="black"/>
                </a:solidFill>
                <a:latin typeface="黑体" panose="02010609060101010101" pitchFamily="49" charset="-122"/>
                <a:ea typeface="黑体" panose="02010609060101010101" pitchFamily="49" charset="-122"/>
              </a:rPr>
              <a:t>设计与仿真</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743418FF-9BC2-58C8-4A01-11D37F5542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pic>
        <p:nvPicPr>
          <p:cNvPr id="3" name="图片 2">
            <a:extLst>
              <a:ext uri="{FF2B5EF4-FFF2-40B4-BE49-F238E27FC236}">
                <a16:creationId xmlns:a16="http://schemas.microsoft.com/office/drawing/2014/main" id="{073D5940-703E-5F60-D30F-C6CA0B73A0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97047" y="1030673"/>
            <a:ext cx="2040890" cy="758190"/>
          </a:xfrm>
          <a:prstGeom prst="rect">
            <a:avLst/>
          </a:prstGeom>
        </p:spPr>
      </p:pic>
      <p:sp>
        <p:nvSpPr>
          <p:cNvPr id="9" name="文本框 8">
            <a:extLst>
              <a:ext uri="{FF2B5EF4-FFF2-40B4-BE49-F238E27FC236}">
                <a16:creationId xmlns:a16="http://schemas.microsoft.com/office/drawing/2014/main" id="{2EE6BA83-9097-1AA2-F743-40775B6CA4CF}"/>
              </a:ext>
            </a:extLst>
          </p:cNvPr>
          <p:cNvSpPr txBox="1"/>
          <p:nvPr/>
        </p:nvSpPr>
        <p:spPr>
          <a:xfrm>
            <a:off x="7203440" y="1930757"/>
            <a:ext cx="6096000" cy="369332"/>
          </a:xfrm>
          <a:prstGeom prst="rect">
            <a:avLst/>
          </a:prstGeom>
          <a:noFill/>
        </p:spPr>
        <p:txBody>
          <a:bodyPr wrap="square">
            <a:spAutoFit/>
          </a:bodyPr>
          <a:lstStyle/>
          <a:p>
            <a:pPr indent="266700" algn="ctr"/>
            <a:r>
              <a:rPr lang="zh-CN" altLang="zh-CN" sz="1800" kern="100" dirty="0">
                <a:effectLst/>
                <a:latin typeface="Times New Roman" panose="02020603050405020304" pitchFamily="18" charset="0"/>
                <a:ea typeface="黑体" panose="02010609060101010101" pitchFamily="49" charset="-122"/>
                <a:cs typeface="Times New Roman" panose="02020603050405020304" pitchFamily="18" charset="0"/>
              </a:rPr>
              <a:t>速度给定环节及主要代码</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矩形 3">
            <a:extLst>
              <a:ext uri="{FF2B5EF4-FFF2-40B4-BE49-F238E27FC236}">
                <a16:creationId xmlns:a16="http://schemas.microsoft.com/office/drawing/2014/main" id="{65859540-D429-FDA7-69F1-6A0107D7B5A0}"/>
              </a:ext>
            </a:extLst>
          </p:cNvPr>
          <p:cNvSpPr/>
          <p:nvPr/>
        </p:nvSpPr>
        <p:spPr bwMode="auto">
          <a:xfrm>
            <a:off x="9001760" y="1020192"/>
            <a:ext cx="3000770" cy="1432291"/>
          </a:xfrm>
          <a:prstGeom prst="rect">
            <a:avLst/>
          </a:prstGeom>
          <a:noFill/>
          <a:ln w="28575">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sp>
        <p:nvSpPr>
          <p:cNvPr id="10" name="文本框 9">
            <a:extLst>
              <a:ext uri="{FF2B5EF4-FFF2-40B4-BE49-F238E27FC236}">
                <a16:creationId xmlns:a16="http://schemas.microsoft.com/office/drawing/2014/main" id="{50673266-558E-C0E4-0672-DDE4DD835868}"/>
              </a:ext>
            </a:extLst>
          </p:cNvPr>
          <p:cNvSpPr txBox="1"/>
          <p:nvPr/>
        </p:nvSpPr>
        <p:spPr>
          <a:xfrm>
            <a:off x="1097175" y="1085775"/>
            <a:ext cx="6749626" cy="369332"/>
          </a:xfrm>
          <a:prstGeom prst="rect">
            <a:avLst/>
          </a:prstGeom>
          <a:noFill/>
        </p:spPr>
        <p:txBody>
          <a:bodyPr wrap="square">
            <a:spAutoFit/>
          </a:bodyPr>
          <a:lstStyle/>
          <a:p>
            <a:pPr marL="285750" indent="-285750" fontAlgn="ctr">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在仿真中的工作顺序</a:t>
            </a:r>
            <a:endParaRPr lang="en-US" altLang="zh-CN" dirty="0">
              <a:latin typeface="宋体" panose="02010600030101010101" pitchFamily="2" charset="-122"/>
              <a:ea typeface="宋体" panose="02010600030101010101" pitchFamily="2" charset="-122"/>
            </a:endParaRPr>
          </a:p>
        </p:txBody>
      </p:sp>
      <p:pic>
        <p:nvPicPr>
          <p:cNvPr id="11" name="图片 10">
            <a:extLst>
              <a:ext uri="{FF2B5EF4-FFF2-40B4-BE49-F238E27FC236}">
                <a16:creationId xmlns:a16="http://schemas.microsoft.com/office/drawing/2014/main" id="{45775E4E-4D2E-1DDA-1CF8-785ACAFFCA3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4063" y="1523397"/>
            <a:ext cx="4998825" cy="4888760"/>
          </a:xfrm>
          <a:prstGeom prst="rect">
            <a:avLst/>
          </a:prstGeom>
        </p:spPr>
      </p:pic>
      <p:pic>
        <p:nvPicPr>
          <p:cNvPr id="19" name="图片 18">
            <a:extLst>
              <a:ext uri="{FF2B5EF4-FFF2-40B4-BE49-F238E27FC236}">
                <a16:creationId xmlns:a16="http://schemas.microsoft.com/office/drawing/2014/main" id="{C6BF8005-FEEB-BE48-7F12-BAA8E32A73E1}"/>
              </a:ext>
            </a:extLst>
          </p:cNvPr>
          <p:cNvPicPr>
            <a:picLocks noChangeAspect="1"/>
          </p:cNvPicPr>
          <p:nvPr/>
        </p:nvPicPr>
        <p:blipFill>
          <a:blip r:embed="rId6"/>
          <a:stretch>
            <a:fillRect/>
          </a:stretch>
        </p:blipFill>
        <p:spPr>
          <a:xfrm>
            <a:off x="5581237" y="3846364"/>
            <a:ext cx="4606824" cy="2565793"/>
          </a:xfrm>
          <a:prstGeom prst="rect">
            <a:avLst/>
          </a:prstGeom>
        </p:spPr>
      </p:pic>
      <p:pic>
        <p:nvPicPr>
          <p:cNvPr id="21" name="图片 20">
            <a:extLst>
              <a:ext uri="{FF2B5EF4-FFF2-40B4-BE49-F238E27FC236}">
                <a16:creationId xmlns:a16="http://schemas.microsoft.com/office/drawing/2014/main" id="{EE128A3B-E748-7908-39DF-5DDA2320ACB1}"/>
              </a:ext>
            </a:extLst>
          </p:cNvPr>
          <p:cNvPicPr>
            <a:picLocks noChangeAspect="1"/>
          </p:cNvPicPr>
          <p:nvPr/>
        </p:nvPicPr>
        <p:blipFill>
          <a:blip r:embed="rId7"/>
          <a:stretch>
            <a:fillRect/>
          </a:stretch>
        </p:blipFill>
        <p:spPr>
          <a:xfrm>
            <a:off x="5649492" y="895707"/>
            <a:ext cx="2952641" cy="2808763"/>
          </a:xfrm>
          <a:prstGeom prst="rect">
            <a:avLst/>
          </a:prstGeom>
        </p:spPr>
      </p:pic>
    </p:spTree>
    <p:extLst>
      <p:ext uri="{BB962C8B-B14F-4D97-AF65-F5344CB8AC3E}">
        <p14:creationId xmlns:p14="http://schemas.microsoft.com/office/powerpoint/2010/main" val="3482238232"/>
      </p:ext>
    </p:extLst>
  </p:cSld>
  <p:clrMapOvr>
    <a:masterClrMapping/>
  </p:clrMapOvr>
  <p:transition spd="slow" advTm="9487"/>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97032-E863-73C0-1A3C-529B1A8A6B4E}"/>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3B35FC55-52FF-930B-3E1D-6387EA954985}"/>
              </a:ext>
            </a:extLst>
          </p:cNvPr>
          <p:cNvCxnSpPr>
            <a:cxnSpLocks/>
          </p:cNvCxnSpPr>
          <p:nvPr/>
        </p:nvCxnSpPr>
        <p:spPr>
          <a:xfrm>
            <a:off x="1014737" y="647713"/>
            <a:ext cx="8681713"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BCEDA71D-13C3-6C9E-2D08-969D2B6ED782}"/>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-POWER System</a:t>
            </a:r>
            <a:r>
              <a:rPr lang="zh-CN" altLang="en-US" sz="2400" b="1" kern="0">
                <a:solidFill>
                  <a:prstClr val="black"/>
                </a:solidFill>
                <a:latin typeface="黑体" panose="02010609060101010101" pitchFamily="49" charset="-122"/>
                <a:ea typeface="黑体" panose="02010609060101010101" pitchFamily="49" charset="-122"/>
              </a:rPr>
              <a:t>设计与仿真波形结果</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E093EFCD-B2DE-95CB-D716-B569EBB917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7" name="文本框 6">
            <a:extLst>
              <a:ext uri="{FF2B5EF4-FFF2-40B4-BE49-F238E27FC236}">
                <a16:creationId xmlns:a16="http://schemas.microsoft.com/office/drawing/2014/main" id="{DE51720D-C734-788B-7905-225DB1FD8D14}"/>
              </a:ext>
            </a:extLst>
          </p:cNvPr>
          <p:cNvSpPr txBox="1"/>
          <p:nvPr/>
        </p:nvSpPr>
        <p:spPr>
          <a:xfrm>
            <a:off x="-142240" y="1062205"/>
            <a:ext cx="6096000" cy="369332"/>
          </a:xfrm>
          <a:prstGeom prst="rect">
            <a:avLst/>
          </a:prstGeom>
          <a:noFill/>
        </p:spPr>
        <p:txBody>
          <a:bodyPr wrap="square">
            <a:spAutoFit/>
          </a:bodyPr>
          <a:lstStyle/>
          <a:p>
            <a:pPr marL="285750" indent="-285750" algn="ctr">
              <a:buFont typeface="Wingdings" panose="05000000000000000000" pitchFamily="2" charset="2"/>
              <a:buChar char="Ø"/>
            </a:pPr>
            <a:r>
              <a:rPr lang="zh-CN" altLang="zh-CN" b="1">
                <a:latin typeface="宋体" panose="02010600030101010101" pitchFamily="2" charset="-122"/>
                <a:ea typeface="宋体" panose="02010600030101010101" pitchFamily="2" charset="-122"/>
              </a:rPr>
              <a:t>触发角，电枢电压，电枢电流，电机转速图</a:t>
            </a:r>
          </a:p>
        </p:txBody>
      </p:sp>
      <p:pic>
        <p:nvPicPr>
          <p:cNvPr id="5" name="图片 4">
            <a:extLst>
              <a:ext uri="{FF2B5EF4-FFF2-40B4-BE49-F238E27FC236}">
                <a16:creationId xmlns:a16="http://schemas.microsoft.com/office/drawing/2014/main" id="{C9481B89-DEFA-2E1C-D82A-55A114A62911}"/>
              </a:ext>
            </a:extLst>
          </p:cNvPr>
          <p:cNvPicPr>
            <a:picLocks noChangeAspect="1"/>
          </p:cNvPicPr>
          <p:nvPr/>
        </p:nvPicPr>
        <p:blipFill>
          <a:blip r:embed="rId4"/>
          <a:stretch>
            <a:fillRect/>
          </a:stretch>
        </p:blipFill>
        <p:spPr>
          <a:xfrm>
            <a:off x="962591" y="1499285"/>
            <a:ext cx="10439400" cy="5038725"/>
          </a:xfrm>
          <a:prstGeom prst="rect">
            <a:avLst/>
          </a:prstGeom>
        </p:spPr>
      </p:pic>
    </p:spTree>
    <p:extLst>
      <p:ext uri="{BB962C8B-B14F-4D97-AF65-F5344CB8AC3E}">
        <p14:creationId xmlns:p14="http://schemas.microsoft.com/office/powerpoint/2010/main" val="1901192368"/>
      </p:ext>
    </p:extLst>
  </p:cSld>
  <p:clrMapOvr>
    <a:masterClrMapping/>
  </p:clrMapOvr>
  <p:transition spd="slow" advTm="9487"/>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5BE5C-D7ED-327B-002C-51CC3624E749}"/>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E382BFF8-778F-6D32-6821-7F7401B3A6F5}"/>
              </a:ext>
            </a:extLst>
          </p:cNvPr>
          <p:cNvCxnSpPr>
            <a:cxnSpLocks/>
          </p:cNvCxnSpPr>
          <p:nvPr/>
        </p:nvCxnSpPr>
        <p:spPr>
          <a:xfrm>
            <a:off x="1014737" y="647713"/>
            <a:ext cx="8681713"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DAEAFA7A-B14B-A25D-775C-DE738947AC6D}"/>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-POWER System</a:t>
            </a:r>
            <a:r>
              <a:rPr lang="zh-CN" altLang="en-US" sz="2400" b="1" kern="0">
                <a:solidFill>
                  <a:prstClr val="black"/>
                </a:solidFill>
                <a:latin typeface="黑体" panose="02010609060101010101" pitchFamily="49" charset="-122"/>
                <a:ea typeface="黑体" panose="02010609060101010101" pitchFamily="49" charset="-122"/>
              </a:rPr>
              <a:t>设计与仿真波形结果</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7704B55E-0DB1-9EF8-8D91-8AD9421B64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7" name="文本框 6">
            <a:extLst>
              <a:ext uri="{FF2B5EF4-FFF2-40B4-BE49-F238E27FC236}">
                <a16:creationId xmlns:a16="http://schemas.microsoft.com/office/drawing/2014/main" id="{5525C5F9-DA4D-0098-556C-27BE5D4660FB}"/>
              </a:ext>
            </a:extLst>
          </p:cNvPr>
          <p:cNvSpPr txBox="1"/>
          <p:nvPr/>
        </p:nvSpPr>
        <p:spPr>
          <a:xfrm>
            <a:off x="-1356823" y="970605"/>
            <a:ext cx="6096000" cy="369332"/>
          </a:xfrm>
          <a:prstGeom prst="rect">
            <a:avLst/>
          </a:prstGeom>
          <a:noFill/>
        </p:spPr>
        <p:txBody>
          <a:bodyPr wrap="square">
            <a:spAutoFit/>
          </a:bodyPr>
          <a:lstStyle/>
          <a:p>
            <a:pPr marL="285750" indent="-285750" algn="ctr">
              <a:buFont typeface="Wingdings" panose="05000000000000000000" pitchFamily="2" charset="2"/>
              <a:buChar char="Ø"/>
            </a:pPr>
            <a:r>
              <a:rPr lang="zh-CN" altLang="en-US" sz="1800" b="1" kern="100">
                <a:effectLst/>
                <a:latin typeface="宋体" panose="02010600030101010101" pitchFamily="2" charset="-122"/>
                <a:ea typeface="宋体" panose="02010600030101010101" pitchFamily="2" charset="-122"/>
                <a:cs typeface="Times New Roman" panose="02020603050405020304" pitchFamily="18" charset="0"/>
              </a:rPr>
              <a:t>触发角</a:t>
            </a:r>
            <a:endParaRPr lang="zh-CN" altLang="zh-CN" sz="1800" b="1" kern="100">
              <a:effectLst/>
              <a:latin typeface="宋体" panose="02010600030101010101" pitchFamily="2" charset="-122"/>
              <a:ea typeface="宋体" panose="02010600030101010101" pitchFamily="2" charset="-122"/>
              <a:cs typeface="Times New Roman" panose="02020603050405020304" pitchFamily="18" charset="0"/>
            </a:endParaRPr>
          </a:p>
        </p:txBody>
      </p:sp>
      <p:pic>
        <p:nvPicPr>
          <p:cNvPr id="9" name="图片 8">
            <a:extLst>
              <a:ext uri="{FF2B5EF4-FFF2-40B4-BE49-F238E27FC236}">
                <a16:creationId xmlns:a16="http://schemas.microsoft.com/office/drawing/2014/main" id="{76C3E980-22FD-A9AC-DA72-AD202F8CB86E}"/>
              </a:ext>
            </a:extLst>
          </p:cNvPr>
          <p:cNvPicPr>
            <a:picLocks noChangeAspect="1"/>
          </p:cNvPicPr>
          <p:nvPr/>
        </p:nvPicPr>
        <p:blipFill>
          <a:blip r:embed="rId4"/>
          <a:stretch>
            <a:fillRect/>
          </a:stretch>
        </p:blipFill>
        <p:spPr>
          <a:xfrm>
            <a:off x="1146687" y="1493739"/>
            <a:ext cx="9898626" cy="5209803"/>
          </a:xfrm>
          <a:prstGeom prst="rect">
            <a:avLst/>
          </a:prstGeom>
        </p:spPr>
      </p:pic>
    </p:spTree>
    <p:extLst>
      <p:ext uri="{BB962C8B-B14F-4D97-AF65-F5344CB8AC3E}">
        <p14:creationId xmlns:p14="http://schemas.microsoft.com/office/powerpoint/2010/main" val="2835898958"/>
      </p:ext>
    </p:extLst>
  </p:cSld>
  <p:clrMapOvr>
    <a:masterClrMapping/>
  </p:clrMapOvr>
  <p:transition spd="slow" advTm="9487"/>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FD234-32DA-21DC-34B5-9FF4E19C7890}"/>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D41DA251-64B7-66A0-8D0B-66BF626C9853}"/>
              </a:ext>
            </a:extLst>
          </p:cNvPr>
          <p:cNvCxnSpPr>
            <a:cxnSpLocks/>
          </p:cNvCxnSpPr>
          <p:nvPr/>
        </p:nvCxnSpPr>
        <p:spPr>
          <a:xfrm>
            <a:off x="1014737" y="647713"/>
            <a:ext cx="8681713"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1A94A710-0810-43D0-3506-D4BA7AEACE0C}"/>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-POWER System</a:t>
            </a:r>
            <a:r>
              <a:rPr lang="zh-CN" altLang="en-US" sz="2400" b="1" kern="0">
                <a:solidFill>
                  <a:prstClr val="black"/>
                </a:solidFill>
                <a:latin typeface="黑体" panose="02010609060101010101" pitchFamily="49" charset="-122"/>
                <a:ea typeface="黑体" panose="02010609060101010101" pitchFamily="49" charset="-122"/>
              </a:rPr>
              <a:t>设计与仿真波形结果</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BDB99D4E-F84B-4BEF-71A9-15CDA975A0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7" name="文本框 6">
            <a:extLst>
              <a:ext uri="{FF2B5EF4-FFF2-40B4-BE49-F238E27FC236}">
                <a16:creationId xmlns:a16="http://schemas.microsoft.com/office/drawing/2014/main" id="{F8ABEEAD-836C-950C-C253-5AEEFB6C9A66}"/>
              </a:ext>
            </a:extLst>
          </p:cNvPr>
          <p:cNvSpPr txBox="1"/>
          <p:nvPr/>
        </p:nvSpPr>
        <p:spPr>
          <a:xfrm>
            <a:off x="-1273695" y="841381"/>
            <a:ext cx="6096000" cy="369332"/>
          </a:xfrm>
          <a:prstGeom prst="rect">
            <a:avLst/>
          </a:prstGeom>
          <a:noFill/>
        </p:spPr>
        <p:txBody>
          <a:bodyPr wrap="square">
            <a:spAutoFit/>
          </a:bodyPr>
          <a:lstStyle/>
          <a:p>
            <a:pPr marL="285750" indent="-285750" algn="ctr">
              <a:buFont typeface="Wingdings" panose="05000000000000000000" pitchFamily="2" charset="2"/>
              <a:buChar char="Ø"/>
            </a:pPr>
            <a:r>
              <a:rPr lang="zh-CN" altLang="en-US" b="1">
                <a:latin typeface="宋体" panose="02010600030101010101" pitchFamily="2" charset="-122"/>
                <a:ea typeface="宋体" panose="02010600030101010101" pitchFamily="2" charset="-122"/>
              </a:rPr>
              <a:t>电枢电压</a:t>
            </a:r>
            <a:r>
              <a:rPr lang="zh-CN" altLang="zh-CN" b="1">
                <a:latin typeface="宋体" panose="02010600030101010101" pitchFamily="2" charset="-122"/>
                <a:ea typeface="宋体" panose="02010600030101010101" pitchFamily="2" charset="-122"/>
              </a:rPr>
              <a:t>图</a:t>
            </a:r>
            <a:endParaRPr lang="zh-CN" altLang="zh-CN" sz="1800" b="1" kern="100">
              <a:effectLst/>
              <a:latin typeface="宋体" panose="02010600030101010101" pitchFamily="2" charset="-122"/>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ACA700B5-D4A0-093A-85C8-9E73FC29DEB9}"/>
              </a:ext>
            </a:extLst>
          </p:cNvPr>
          <p:cNvPicPr>
            <a:picLocks noChangeAspect="1"/>
          </p:cNvPicPr>
          <p:nvPr/>
        </p:nvPicPr>
        <p:blipFill>
          <a:blip r:embed="rId4"/>
          <a:stretch>
            <a:fillRect/>
          </a:stretch>
        </p:blipFill>
        <p:spPr>
          <a:xfrm>
            <a:off x="1423555" y="1352494"/>
            <a:ext cx="10106945" cy="5351045"/>
          </a:xfrm>
          <a:prstGeom prst="rect">
            <a:avLst/>
          </a:prstGeom>
        </p:spPr>
      </p:pic>
    </p:spTree>
    <p:extLst>
      <p:ext uri="{BB962C8B-B14F-4D97-AF65-F5344CB8AC3E}">
        <p14:creationId xmlns:p14="http://schemas.microsoft.com/office/powerpoint/2010/main" val="2412290347"/>
      </p:ext>
    </p:extLst>
  </p:cSld>
  <p:clrMapOvr>
    <a:masterClrMapping/>
  </p:clrMapOvr>
  <p:transition spd="slow" advTm="9487"/>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DA91E-16D0-BB89-BE71-760BE46C5801}"/>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39B25D48-C044-0375-2D0E-BB0B290DA02D}"/>
              </a:ext>
            </a:extLst>
          </p:cNvPr>
          <p:cNvCxnSpPr>
            <a:cxnSpLocks/>
          </p:cNvCxnSpPr>
          <p:nvPr/>
        </p:nvCxnSpPr>
        <p:spPr>
          <a:xfrm>
            <a:off x="1014737" y="647713"/>
            <a:ext cx="8681713"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F19FCB0F-FD37-B1A1-9EF8-37991B93BD6F}"/>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-POWER System</a:t>
            </a:r>
            <a:r>
              <a:rPr lang="zh-CN" altLang="en-US" sz="2400" b="1" kern="0">
                <a:solidFill>
                  <a:prstClr val="black"/>
                </a:solidFill>
                <a:latin typeface="黑体" panose="02010609060101010101" pitchFamily="49" charset="-122"/>
                <a:ea typeface="黑体" panose="02010609060101010101" pitchFamily="49" charset="-122"/>
              </a:rPr>
              <a:t>设计与仿真波形结果</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052AF598-A63F-4E89-226B-EFBC5188E9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7" name="文本框 6">
            <a:extLst>
              <a:ext uri="{FF2B5EF4-FFF2-40B4-BE49-F238E27FC236}">
                <a16:creationId xmlns:a16="http://schemas.microsoft.com/office/drawing/2014/main" id="{2649785E-98C0-D635-5996-E26CC718E968}"/>
              </a:ext>
            </a:extLst>
          </p:cNvPr>
          <p:cNvSpPr txBox="1"/>
          <p:nvPr/>
        </p:nvSpPr>
        <p:spPr>
          <a:xfrm>
            <a:off x="-619068" y="983163"/>
            <a:ext cx="6096000" cy="369332"/>
          </a:xfrm>
          <a:prstGeom prst="rect">
            <a:avLst/>
          </a:prstGeom>
          <a:noFill/>
        </p:spPr>
        <p:txBody>
          <a:bodyPr wrap="square">
            <a:spAutoFit/>
          </a:bodyPr>
          <a:lstStyle/>
          <a:p>
            <a:pPr marL="285750" indent="-285750" algn="ctr">
              <a:buFont typeface="Wingdings" panose="05000000000000000000" pitchFamily="2" charset="2"/>
              <a:buChar char="Ø"/>
            </a:pPr>
            <a:r>
              <a:rPr lang="zh-CN" altLang="zh-CN" b="1">
                <a:latin typeface="宋体" panose="02010600030101010101" pitchFamily="2" charset="-122"/>
                <a:ea typeface="宋体" panose="02010600030101010101" pitchFamily="2" charset="-122"/>
              </a:rPr>
              <a:t>矿井提升机梯形速度图</a:t>
            </a:r>
            <a:endParaRPr lang="zh-CN" altLang="zh-CN" sz="1800" b="1" kern="100">
              <a:effectLst/>
              <a:latin typeface="宋体" panose="02010600030101010101" pitchFamily="2" charset="-122"/>
              <a:ea typeface="宋体" panose="0201060003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878266E5-9DE5-FE4F-A2DB-F69420EC9EA2}"/>
              </a:ext>
            </a:extLst>
          </p:cNvPr>
          <p:cNvPicPr>
            <a:picLocks noChangeAspect="1"/>
          </p:cNvPicPr>
          <p:nvPr/>
        </p:nvPicPr>
        <p:blipFill>
          <a:blip r:embed="rId4"/>
          <a:stretch>
            <a:fillRect/>
          </a:stretch>
        </p:blipFill>
        <p:spPr>
          <a:xfrm>
            <a:off x="1326572" y="1433981"/>
            <a:ext cx="9538855" cy="5040333"/>
          </a:xfrm>
          <a:prstGeom prst="rect">
            <a:avLst/>
          </a:prstGeom>
        </p:spPr>
      </p:pic>
    </p:spTree>
    <p:extLst>
      <p:ext uri="{BB962C8B-B14F-4D97-AF65-F5344CB8AC3E}">
        <p14:creationId xmlns:p14="http://schemas.microsoft.com/office/powerpoint/2010/main" val="3395936609"/>
      </p:ext>
    </p:extLst>
  </p:cSld>
  <p:clrMapOvr>
    <a:masterClrMapping/>
  </p:clrMapOvr>
  <p:transition spd="slow" advTm="9487"/>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62778-821B-4578-CC93-92A37D904EFF}"/>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927EF2B4-E1DF-A26A-7242-0228644D386F}"/>
              </a:ext>
            </a:extLst>
          </p:cNvPr>
          <p:cNvCxnSpPr>
            <a:cxnSpLocks/>
          </p:cNvCxnSpPr>
          <p:nvPr/>
        </p:nvCxnSpPr>
        <p:spPr>
          <a:xfrm>
            <a:off x="1014737" y="647713"/>
            <a:ext cx="8681713"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0B3BF142-76AB-EF35-C96D-D37FCA024941}"/>
              </a:ext>
            </a:extLst>
          </p:cNvPr>
          <p:cNvSpPr/>
          <p:nvPr/>
        </p:nvSpPr>
        <p:spPr>
          <a:xfrm>
            <a:off x="962591" y="154458"/>
            <a:ext cx="984001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五、仿真验证</a:t>
            </a:r>
            <a:r>
              <a:rPr lang="en-US" altLang="zh-CN" sz="2400" b="1" kern="0">
                <a:solidFill>
                  <a:prstClr val="black"/>
                </a:solidFill>
                <a:latin typeface="黑体" panose="02010609060101010101" pitchFamily="49" charset="-122"/>
                <a:ea typeface="黑体" panose="02010609060101010101" pitchFamily="49" charset="-122"/>
              </a:rPr>
              <a:t>-POWER System</a:t>
            </a:r>
            <a:r>
              <a:rPr lang="zh-CN" altLang="en-US" sz="2400" b="1" kern="0">
                <a:solidFill>
                  <a:prstClr val="black"/>
                </a:solidFill>
                <a:latin typeface="黑体" panose="02010609060101010101" pitchFamily="49" charset="-122"/>
                <a:ea typeface="黑体" panose="02010609060101010101" pitchFamily="49" charset="-122"/>
              </a:rPr>
              <a:t>设计与仿真波形结果</a:t>
            </a: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39720FE7-C13D-D31E-533F-BEA8700FE2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7" name="文本框 6">
            <a:extLst>
              <a:ext uri="{FF2B5EF4-FFF2-40B4-BE49-F238E27FC236}">
                <a16:creationId xmlns:a16="http://schemas.microsoft.com/office/drawing/2014/main" id="{A34A5F1D-2D53-CA4F-A357-B4096F828EEC}"/>
              </a:ext>
            </a:extLst>
          </p:cNvPr>
          <p:cNvSpPr txBox="1"/>
          <p:nvPr/>
        </p:nvSpPr>
        <p:spPr>
          <a:xfrm>
            <a:off x="-1056640" y="798497"/>
            <a:ext cx="6096000" cy="369332"/>
          </a:xfrm>
          <a:prstGeom prst="rect">
            <a:avLst/>
          </a:prstGeom>
          <a:noFill/>
        </p:spPr>
        <p:txBody>
          <a:bodyPr wrap="square">
            <a:spAutoFit/>
          </a:bodyPr>
          <a:lstStyle/>
          <a:p>
            <a:pPr marL="285750" indent="-285750" algn="ctr">
              <a:buFont typeface="Wingdings" panose="05000000000000000000" pitchFamily="2" charset="2"/>
              <a:buChar char="Ø"/>
            </a:pPr>
            <a:r>
              <a:rPr lang="zh-CN" altLang="zh-CN" b="1">
                <a:latin typeface="宋体" panose="02010600030101010101" pitchFamily="2" charset="-122"/>
                <a:ea typeface="宋体" panose="02010600030101010101" pitchFamily="2" charset="-122"/>
              </a:rPr>
              <a:t>电枢电流波形图</a:t>
            </a:r>
          </a:p>
        </p:txBody>
      </p:sp>
      <p:sp>
        <p:nvSpPr>
          <p:cNvPr id="6" name="文本框 5">
            <a:extLst>
              <a:ext uri="{FF2B5EF4-FFF2-40B4-BE49-F238E27FC236}">
                <a16:creationId xmlns:a16="http://schemas.microsoft.com/office/drawing/2014/main" id="{D259D0A7-8029-A356-337A-468A7A1D41D5}"/>
              </a:ext>
            </a:extLst>
          </p:cNvPr>
          <p:cNvSpPr txBox="1"/>
          <p:nvPr/>
        </p:nvSpPr>
        <p:spPr>
          <a:xfrm>
            <a:off x="386080" y="6268586"/>
            <a:ext cx="11602720" cy="353943"/>
          </a:xfrm>
          <a:prstGeom prst="rect">
            <a:avLst/>
          </a:prstGeom>
          <a:noFill/>
        </p:spPr>
        <p:txBody>
          <a:bodyPr wrap="square">
            <a:spAutoFit/>
          </a:bodyPr>
          <a:lstStyle/>
          <a:p>
            <a:pPr indent="304800" algn="just" fontAlgn="ctr">
              <a:lnSpc>
                <a:spcPts val="2000"/>
              </a:lnSpc>
            </a:pPr>
            <a:r>
              <a:rPr lang="zh-CN" altLang="zh-CN" sz="1800" b="1" kern="100">
                <a:effectLst/>
                <a:latin typeface="Times New Roman" panose="02020603050405020304" pitchFamily="18" charset="0"/>
                <a:ea typeface="宋体" panose="02010600030101010101" pitchFamily="2" charset="-122"/>
                <a:cs typeface="Times New Roman" panose="02020603050405020304" pitchFamily="18" charset="0"/>
              </a:rPr>
              <a:t>通过基于电气原理图的仿真，设定电流、转速调节器，可以实现矿井提升机的梯形速度图，满足预期的要求。</a:t>
            </a:r>
          </a:p>
        </p:txBody>
      </p:sp>
      <p:pic>
        <p:nvPicPr>
          <p:cNvPr id="5" name="图片 4">
            <a:extLst>
              <a:ext uri="{FF2B5EF4-FFF2-40B4-BE49-F238E27FC236}">
                <a16:creationId xmlns:a16="http://schemas.microsoft.com/office/drawing/2014/main" id="{1003D5FE-B063-50B5-E38F-205F44900D73}"/>
              </a:ext>
            </a:extLst>
          </p:cNvPr>
          <p:cNvPicPr>
            <a:picLocks noChangeAspect="1"/>
          </p:cNvPicPr>
          <p:nvPr/>
        </p:nvPicPr>
        <p:blipFill>
          <a:blip r:embed="rId4"/>
          <a:stretch>
            <a:fillRect/>
          </a:stretch>
        </p:blipFill>
        <p:spPr>
          <a:xfrm>
            <a:off x="1237277" y="1194621"/>
            <a:ext cx="9546281" cy="5047173"/>
          </a:xfrm>
          <a:prstGeom prst="rect">
            <a:avLst/>
          </a:prstGeom>
        </p:spPr>
      </p:pic>
    </p:spTree>
    <p:extLst>
      <p:ext uri="{BB962C8B-B14F-4D97-AF65-F5344CB8AC3E}">
        <p14:creationId xmlns:p14="http://schemas.microsoft.com/office/powerpoint/2010/main" val="3018053605"/>
      </p:ext>
    </p:extLst>
  </p:cSld>
  <p:clrMapOvr>
    <a:masterClrMapping/>
  </p:clrMapOvr>
  <p:transition spd="slow" advTm="9487"/>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D12E5-5BF2-845A-119E-FD2E66974009}"/>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D1DA1CF7-4D34-019C-8309-65C4CF0E8D7B}"/>
              </a:ext>
            </a:extLst>
          </p:cNvPr>
          <p:cNvSpPr txBox="1"/>
          <p:nvPr/>
        </p:nvSpPr>
        <p:spPr>
          <a:xfrm>
            <a:off x="4947290" y="225896"/>
            <a:ext cx="1808143" cy="923330"/>
          </a:xfrm>
          <a:prstGeom prst="rect">
            <a:avLst/>
          </a:prstGeom>
          <a:noFill/>
        </p:spPr>
        <p:txBody>
          <a:bodyPr wrap="square" rtlCol="0">
            <a:spAutoFit/>
          </a:bodyPr>
          <a:lstStyle/>
          <a:p>
            <a:pPr algn="dist"/>
            <a:r>
              <a:rPr lang="zh-CN" altLang="en-US" sz="5400" b="1">
                <a:solidFill>
                  <a:srgbClr val="0070C0"/>
                </a:solidFill>
                <a:latin typeface="微软雅黑" panose="020B0503020204020204" pitchFamily="34" charset="-122"/>
                <a:ea typeface="微软雅黑" panose="020B0503020204020204" pitchFamily="34" charset="-122"/>
              </a:rPr>
              <a:t>目录</a:t>
            </a:r>
          </a:p>
        </p:txBody>
      </p:sp>
      <p:cxnSp>
        <p:nvCxnSpPr>
          <p:cNvPr id="2" name="直接连接符 1">
            <a:extLst>
              <a:ext uri="{FF2B5EF4-FFF2-40B4-BE49-F238E27FC236}">
                <a16:creationId xmlns:a16="http://schemas.microsoft.com/office/drawing/2014/main" id="{094C5462-707C-AD34-104F-1EE9F017CB29}"/>
              </a:ext>
            </a:extLst>
          </p:cNvPr>
          <p:cNvCxnSpPr>
            <a:cxnSpLocks/>
          </p:cNvCxnSpPr>
          <p:nvPr/>
        </p:nvCxnSpPr>
        <p:spPr>
          <a:xfrm flipV="1">
            <a:off x="0" y="1095749"/>
            <a:ext cx="12192000" cy="70720"/>
          </a:xfrm>
          <a:prstGeom prst="line">
            <a:avLst/>
          </a:prstGeom>
          <a:ln w="635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5" name="组合 4">
            <a:extLst>
              <a:ext uri="{FF2B5EF4-FFF2-40B4-BE49-F238E27FC236}">
                <a16:creationId xmlns:a16="http://schemas.microsoft.com/office/drawing/2014/main" id="{E1DC0512-9170-9132-897F-0C75A7C9C987}"/>
              </a:ext>
            </a:extLst>
          </p:cNvPr>
          <p:cNvGrpSpPr/>
          <p:nvPr/>
        </p:nvGrpSpPr>
        <p:grpSpPr>
          <a:xfrm>
            <a:off x="2650945" y="2545874"/>
            <a:ext cx="894259" cy="489631"/>
            <a:chOff x="2215144" y="927951"/>
            <a:chExt cx="1244730" cy="897673"/>
          </a:xfrm>
        </p:grpSpPr>
        <p:sp>
          <p:nvSpPr>
            <p:cNvPr id="6" name="平行四边形 5">
              <a:extLst>
                <a:ext uri="{FF2B5EF4-FFF2-40B4-BE49-F238E27FC236}">
                  <a16:creationId xmlns:a16="http://schemas.microsoft.com/office/drawing/2014/main" id="{82D7C53D-AEBF-328E-7B2B-AF9183A76770}"/>
                </a:ext>
              </a:extLst>
            </p:cNvPr>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7" name="文本框 9">
              <a:extLst>
                <a:ext uri="{FF2B5EF4-FFF2-40B4-BE49-F238E27FC236}">
                  <a16:creationId xmlns:a16="http://schemas.microsoft.com/office/drawing/2014/main" id="{CDBF0B89-03D2-DD8F-989B-F1875A7E395E}"/>
                </a:ext>
              </a:extLst>
            </p:cNvPr>
            <p:cNvSpPr txBox="1"/>
            <p:nvPr/>
          </p:nvSpPr>
          <p:spPr>
            <a:xfrm>
              <a:off x="2393075" y="927951"/>
              <a:ext cx="1066799" cy="816504"/>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01</a:t>
              </a:r>
              <a:endParaRPr lang="zh-CN" altLang="en-US" sz="2800">
                <a:solidFill>
                  <a:schemeClr val="bg1"/>
                </a:solidFill>
                <a:latin typeface="Impact" panose="020B0806030902050204" pitchFamily="34" charset="0"/>
              </a:endParaRPr>
            </a:p>
          </p:txBody>
        </p:sp>
      </p:grpSp>
      <p:grpSp>
        <p:nvGrpSpPr>
          <p:cNvPr id="8" name="组合 7">
            <a:extLst>
              <a:ext uri="{FF2B5EF4-FFF2-40B4-BE49-F238E27FC236}">
                <a16:creationId xmlns:a16="http://schemas.microsoft.com/office/drawing/2014/main" id="{64BDC884-446D-C139-CFBD-92BF3D4ECC40}"/>
              </a:ext>
            </a:extLst>
          </p:cNvPr>
          <p:cNvGrpSpPr/>
          <p:nvPr/>
        </p:nvGrpSpPr>
        <p:grpSpPr>
          <a:xfrm>
            <a:off x="4579570" y="3121702"/>
            <a:ext cx="894259" cy="504163"/>
            <a:chOff x="2215144" y="1952311"/>
            <a:chExt cx="1244730" cy="924318"/>
          </a:xfrm>
        </p:grpSpPr>
        <p:sp>
          <p:nvSpPr>
            <p:cNvPr id="9" name="平行四边形 8">
              <a:extLst>
                <a:ext uri="{FF2B5EF4-FFF2-40B4-BE49-F238E27FC236}">
                  <a16:creationId xmlns:a16="http://schemas.microsoft.com/office/drawing/2014/main" id="{25338F8F-EA3C-1710-7F39-5D980FAB0920}"/>
                </a:ext>
              </a:extLst>
            </p:cNvPr>
            <p:cNvSpPr/>
            <p:nvPr/>
          </p:nvSpPr>
          <p:spPr>
            <a:xfrm>
              <a:off x="2215144" y="2033848"/>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0" name="文本框 10">
              <a:extLst>
                <a:ext uri="{FF2B5EF4-FFF2-40B4-BE49-F238E27FC236}">
                  <a16:creationId xmlns:a16="http://schemas.microsoft.com/office/drawing/2014/main" id="{55E0F5E1-AB58-CC94-78AB-9828EBA5C416}"/>
                </a:ext>
              </a:extLst>
            </p:cNvPr>
            <p:cNvSpPr txBox="1"/>
            <p:nvPr/>
          </p:nvSpPr>
          <p:spPr>
            <a:xfrm>
              <a:off x="2393075" y="1952311"/>
              <a:ext cx="1066799" cy="816508"/>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02</a:t>
              </a:r>
              <a:endParaRPr lang="zh-CN" altLang="en-US" sz="2800">
                <a:solidFill>
                  <a:schemeClr val="bg1"/>
                </a:solidFill>
                <a:latin typeface="Impact" panose="020B0806030902050204" pitchFamily="34" charset="0"/>
              </a:endParaRPr>
            </a:p>
          </p:txBody>
        </p:sp>
      </p:grpSp>
      <p:grpSp>
        <p:nvGrpSpPr>
          <p:cNvPr id="11" name="组合 10">
            <a:extLst>
              <a:ext uri="{FF2B5EF4-FFF2-40B4-BE49-F238E27FC236}">
                <a16:creationId xmlns:a16="http://schemas.microsoft.com/office/drawing/2014/main" id="{BD45B2E0-17F3-4864-C5C0-B429EE51B88F}"/>
              </a:ext>
            </a:extLst>
          </p:cNvPr>
          <p:cNvGrpSpPr/>
          <p:nvPr/>
        </p:nvGrpSpPr>
        <p:grpSpPr>
          <a:xfrm>
            <a:off x="2650945" y="3715911"/>
            <a:ext cx="894259" cy="496081"/>
            <a:chOff x="2215144" y="3018134"/>
            <a:chExt cx="1244730" cy="909499"/>
          </a:xfrm>
        </p:grpSpPr>
        <p:sp>
          <p:nvSpPr>
            <p:cNvPr id="12" name="平行四边形 11">
              <a:extLst>
                <a:ext uri="{FF2B5EF4-FFF2-40B4-BE49-F238E27FC236}">
                  <a16:creationId xmlns:a16="http://schemas.microsoft.com/office/drawing/2014/main" id="{6E3496EE-5F25-3DAF-64EA-06099DAC7FFB}"/>
                </a:ext>
              </a:extLst>
            </p:cNvPr>
            <p:cNvSpPr/>
            <p:nvPr/>
          </p:nvSpPr>
          <p:spPr>
            <a:xfrm>
              <a:off x="2215144" y="3084852"/>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3" name="文本框 11">
              <a:extLst>
                <a:ext uri="{FF2B5EF4-FFF2-40B4-BE49-F238E27FC236}">
                  <a16:creationId xmlns:a16="http://schemas.microsoft.com/office/drawing/2014/main" id="{69F99CEE-10BE-44BD-7FAB-5AAE21F8F4B1}"/>
                </a:ext>
              </a:extLst>
            </p:cNvPr>
            <p:cNvSpPr txBox="1"/>
            <p:nvPr/>
          </p:nvSpPr>
          <p:spPr>
            <a:xfrm>
              <a:off x="2393075" y="3018134"/>
              <a:ext cx="1066799" cy="816505"/>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03</a:t>
              </a:r>
              <a:endParaRPr lang="zh-CN" altLang="en-US" sz="2800">
                <a:solidFill>
                  <a:schemeClr val="bg1"/>
                </a:solidFill>
                <a:latin typeface="Impact" panose="020B0806030902050204" pitchFamily="34" charset="0"/>
              </a:endParaRPr>
            </a:p>
          </p:txBody>
        </p:sp>
      </p:grpSp>
      <p:grpSp>
        <p:nvGrpSpPr>
          <p:cNvPr id="14" name="组合 13">
            <a:extLst>
              <a:ext uri="{FF2B5EF4-FFF2-40B4-BE49-F238E27FC236}">
                <a16:creationId xmlns:a16="http://schemas.microsoft.com/office/drawing/2014/main" id="{1040335F-4168-E6F8-8B48-929EAF895E64}"/>
              </a:ext>
            </a:extLst>
          </p:cNvPr>
          <p:cNvGrpSpPr/>
          <p:nvPr/>
        </p:nvGrpSpPr>
        <p:grpSpPr>
          <a:xfrm>
            <a:off x="4579570" y="4270750"/>
            <a:ext cx="894259" cy="508134"/>
            <a:chOff x="2215144" y="4047039"/>
            <a:chExt cx="1244730" cy="931598"/>
          </a:xfrm>
        </p:grpSpPr>
        <p:sp>
          <p:nvSpPr>
            <p:cNvPr id="15" name="平行四边形 14">
              <a:extLst>
                <a:ext uri="{FF2B5EF4-FFF2-40B4-BE49-F238E27FC236}">
                  <a16:creationId xmlns:a16="http://schemas.microsoft.com/office/drawing/2014/main" id="{F83537A6-3410-8D37-D1E3-5A213B35751B}"/>
                </a:ext>
              </a:extLst>
            </p:cNvPr>
            <p:cNvSpPr/>
            <p:nvPr/>
          </p:nvSpPr>
          <p:spPr>
            <a:xfrm>
              <a:off x="2215144" y="4135856"/>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6" name="文本框 12">
              <a:extLst>
                <a:ext uri="{FF2B5EF4-FFF2-40B4-BE49-F238E27FC236}">
                  <a16:creationId xmlns:a16="http://schemas.microsoft.com/office/drawing/2014/main" id="{9C89961A-149F-DFD6-D6E2-C5E16C6B179C}"/>
                </a:ext>
              </a:extLst>
            </p:cNvPr>
            <p:cNvSpPr txBox="1"/>
            <p:nvPr/>
          </p:nvSpPr>
          <p:spPr>
            <a:xfrm>
              <a:off x="2393075" y="4047039"/>
              <a:ext cx="1066799" cy="816506"/>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04</a:t>
              </a:r>
              <a:endParaRPr lang="zh-CN" altLang="en-US" sz="2800">
                <a:solidFill>
                  <a:schemeClr val="bg1"/>
                </a:solidFill>
                <a:latin typeface="Impact" panose="020B0806030902050204" pitchFamily="34" charset="0"/>
              </a:endParaRPr>
            </a:p>
          </p:txBody>
        </p:sp>
      </p:grpSp>
      <p:grpSp>
        <p:nvGrpSpPr>
          <p:cNvPr id="20" name="组合 19">
            <a:extLst>
              <a:ext uri="{FF2B5EF4-FFF2-40B4-BE49-F238E27FC236}">
                <a16:creationId xmlns:a16="http://schemas.microsoft.com/office/drawing/2014/main" id="{AEFE5C4D-EAF5-6B2C-73F7-6DEB33D2DB65}"/>
              </a:ext>
            </a:extLst>
          </p:cNvPr>
          <p:cNvGrpSpPr/>
          <p:nvPr/>
        </p:nvGrpSpPr>
        <p:grpSpPr>
          <a:xfrm>
            <a:off x="3330198" y="2559185"/>
            <a:ext cx="3857250" cy="459690"/>
            <a:chOff x="4315150" y="953426"/>
            <a:chExt cx="3857250" cy="540057"/>
          </a:xfrm>
        </p:grpSpPr>
        <p:sp>
          <p:nvSpPr>
            <p:cNvPr id="21" name="矩形 20">
              <a:extLst>
                <a:ext uri="{FF2B5EF4-FFF2-40B4-BE49-F238E27FC236}">
                  <a16:creationId xmlns:a16="http://schemas.microsoft.com/office/drawing/2014/main" id="{2D466CFA-FD33-4377-131B-32E23776EE61}"/>
                </a:ext>
              </a:extLst>
            </p:cNvPr>
            <p:cNvSpPr/>
            <p:nvPr/>
          </p:nvSpPr>
          <p:spPr>
            <a:xfrm>
              <a:off x="4841196" y="1036090"/>
              <a:ext cx="2827147" cy="406783"/>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设计任务</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2" name="平行四边形 21">
              <a:extLst>
                <a:ext uri="{FF2B5EF4-FFF2-40B4-BE49-F238E27FC236}">
                  <a16:creationId xmlns:a16="http://schemas.microsoft.com/office/drawing/2014/main" id="{4004E477-B475-1A8C-E91C-73494442C47C}"/>
                </a:ext>
              </a:extLst>
            </p:cNvPr>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23" name="组合 22">
            <a:extLst>
              <a:ext uri="{FF2B5EF4-FFF2-40B4-BE49-F238E27FC236}">
                <a16:creationId xmlns:a16="http://schemas.microsoft.com/office/drawing/2014/main" id="{BF1B7F55-930E-ABD9-36D4-CC7C7D385875}"/>
              </a:ext>
            </a:extLst>
          </p:cNvPr>
          <p:cNvGrpSpPr/>
          <p:nvPr/>
        </p:nvGrpSpPr>
        <p:grpSpPr>
          <a:xfrm>
            <a:off x="5258823" y="3149552"/>
            <a:ext cx="3857250" cy="459690"/>
            <a:chOff x="4315150" y="1647579"/>
            <a:chExt cx="3857250" cy="540057"/>
          </a:xfrm>
        </p:grpSpPr>
        <p:sp>
          <p:nvSpPr>
            <p:cNvPr id="24" name="矩形 23">
              <a:extLst>
                <a:ext uri="{FF2B5EF4-FFF2-40B4-BE49-F238E27FC236}">
                  <a16:creationId xmlns:a16="http://schemas.microsoft.com/office/drawing/2014/main" id="{52955874-5B05-5B10-BD31-1C6F020B03AB}"/>
                </a:ext>
              </a:extLst>
            </p:cNvPr>
            <p:cNvSpPr/>
            <p:nvPr/>
          </p:nvSpPr>
          <p:spPr>
            <a:xfrm>
              <a:off x="4841196" y="1730243"/>
              <a:ext cx="2827147" cy="406783"/>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方案选择</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5" name="平行四边形 24">
              <a:extLst>
                <a:ext uri="{FF2B5EF4-FFF2-40B4-BE49-F238E27FC236}">
                  <a16:creationId xmlns:a16="http://schemas.microsoft.com/office/drawing/2014/main" id="{4ABAB4B3-652A-ACCC-62C1-0F3606E82DA1}"/>
                </a:ext>
              </a:extLst>
            </p:cNvPr>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26" name="组合 25">
            <a:extLst>
              <a:ext uri="{FF2B5EF4-FFF2-40B4-BE49-F238E27FC236}">
                <a16:creationId xmlns:a16="http://schemas.microsoft.com/office/drawing/2014/main" id="{2FF22666-30B9-C437-F2E6-A505D523EA78}"/>
              </a:ext>
            </a:extLst>
          </p:cNvPr>
          <p:cNvGrpSpPr/>
          <p:nvPr/>
        </p:nvGrpSpPr>
        <p:grpSpPr>
          <a:xfrm>
            <a:off x="3330198" y="3736065"/>
            <a:ext cx="3857250" cy="459690"/>
            <a:chOff x="4315150" y="2341731"/>
            <a:chExt cx="3857250" cy="540057"/>
          </a:xfrm>
        </p:grpSpPr>
        <p:sp>
          <p:nvSpPr>
            <p:cNvPr id="27" name="矩形 26">
              <a:extLst>
                <a:ext uri="{FF2B5EF4-FFF2-40B4-BE49-F238E27FC236}">
                  <a16:creationId xmlns:a16="http://schemas.microsoft.com/office/drawing/2014/main" id="{5B6D8736-0446-8B9F-9D31-CA76FDC2EC60}"/>
                </a:ext>
              </a:extLst>
            </p:cNvPr>
            <p:cNvSpPr/>
            <p:nvPr/>
          </p:nvSpPr>
          <p:spPr>
            <a:xfrm>
              <a:off x="4841197" y="2424395"/>
              <a:ext cx="2827146" cy="406783"/>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电路设计</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8" name="平行四边形 27">
              <a:extLst>
                <a:ext uri="{FF2B5EF4-FFF2-40B4-BE49-F238E27FC236}">
                  <a16:creationId xmlns:a16="http://schemas.microsoft.com/office/drawing/2014/main" id="{20D50BC7-B556-6561-9E13-CB859DC21136}"/>
                </a:ext>
              </a:extLst>
            </p:cNvPr>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29" name="组合 28">
            <a:extLst>
              <a:ext uri="{FF2B5EF4-FFF2-40B4-BE49-F238E27FC236}">
                <a16:creationId xmlns:a16="http://schemas.microsoft.com/office/drawing/2014/main" id="{AC6427C6-95B4-DDA8-0839-3DA48BDB6339}"/>
              </a:ext>
            </a:extLst>
          </p:cNvPr>
          <p:cNvGrpSpPr/>
          <p:nvPr/>
        </p:nvGrpSpPr>
        <p:grpSpPr>
          <a:xfrm>
            <a:off x="5258823" y="4302567"/>
            <a:ext cx="3857250" cy="693611"/>
            <a:chOff x="4315150" y="3035884"/>
            <a:chExt cx="3857250" cy="814874"/>
          </a:xfrm>
        </p:grpSpPr>
        <p:sp>
          <p:nvSpPr>
            <p:cNvPr id="30" name="矩形 29">
              <a:extLst>
                <a:ext uri="{FF2B5EF4-FFF2-40B4-BE49-F238E27FC236}">
                  <a16:creationId xmlns:a16="http://schemas.microsoft.com/office/drawing/2014/main" id="{046495E8-1F52-5E7A-DA2E-91D86624E179}"/>
                </a:ext>
              </a:extLst>
            </p:cNvPr>
            <p:cNvSpPr/>
            <p:nvPr/>
          </p:nvSpPr>
          <p:spPr>
            <a:xfrm>
              <a:off x="4841196" y="3118548"/>
              <a:ext cx="2827147" cy="732210"/>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转速、电流测量方案选择</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a:p>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1" name="平行四边形 30">
              <a:extLst>
                <a:ext uri="{FF2B5EF4-FFF2-40B4-BE49-F238E27FC236}">
                  <a16:creationId xmlns:a16="http://schemas.microsoft.com/office/drawing/2014/main" id="{91D2CF3E-99E9-5136-1274-6A1657F2FEA4}"/>
                </a:ext>
              </a:extLst>
            </p:cNvPr>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59" name="组合 58">
            <a:extLst>
              <a:ext uri="{FF2B5EF4-FFF2-40B4-BE49-F238E27FC236}">
                <a16:creationId xmlns:a16="http://schemas.microsoft.com/office/drawing/2014/main" id="{24AB5DC4-8E49-326D-6A91-F662A0680C48}"/>
              </a:ext>
            </a:extLst>
          </p:cNvPr>
          <p:cNvGrpSpPr/>
          <p:nvPr/>
        </p:nvGrpSpPr>
        <p:grpSpPr>
          <a:xfrm>
            <a:off x="2650945" y="4906216"/>
            <a:ext cx="884486" cy="523220"/>
            <a:chOff x="2215144" y="5107938"/>
            <a:chExt cx="1231128" cy="959259"/>
          </a:xfrm>
        </p:grpSpPr>
        <p:sp>
          <p:nvSpPr>
            <p:cNvPr id="60" name="平行四边形 59">
              <a:extLst>
                <a:ext uri="{FF2B5EF4-FFF2-40B4-BE49-F238E27FC236}">
                  <a16:creationId xmlns:a16="http://schemas.microsoft.com/office/drawing/2014/main" id="{255F7577-1426-9E11-D07F-FD98F4FAC60E}"/>
                </a:ext>
              </a:extLst>
            </p:cNvPr>
            <p:cNvSpPr/>
            <p:nvPr/>
          </p:nvSpPr>
          <p:spPr>
            <a:xfrm>
              <a:off x="2215144" y="5186859"/>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61" name="文本框 13">
              <a:extLst>
                <a:ext uri="{FF2B5EF4-FFF2-40B4-BE49-F238E27FC236}">
                  <a16:creationId xmlns:a16="http://schemas.microsoft.com/office/drawing/2014/main" id="{F62AF23F-93E5-472A-D0DC-FCCF9AA379D3}"/>
                </a:ext>
              </a:extLst>
            </p:cNvPr>
            <p:cNvSpPr txBox="1"/>
            <p:nvPr/>
          </p:nvSpPr>
          <p:spPr>
            <a:xfrm>
              <a:off x="2379473" y="5107938"/>
              <a:ext cx="1066799" cy="959259"/>
            </a:xfrm>
            <a:prstGeom prst="rect">
              <a:avLst/>
            </a:prstGeom>
            <a:noFill/>
          </p:spPr>
          <p:txBody>
            <a:bodyPr wrap="square" rtlCol="0">
              <a:spAutoFit/>
            </a:bodyPr>
            <a:lstStyle/>
            <a:p>
              <a:r>
                <a:rPr lang="en-US" altLang="zh-CN" sz="2800">
                  <a:solidFill>
                    <a:schemeClr val="bg1"/>
                  </a:solidFill>
                  <a:latin typeface="Impact" panose="020B0806030902050204" pitchFamily="34" charset="0"/>
                </a:rPr>
                <a:t>05</a:t>
              </a:r>
              <a:endParaRPr lang="zh-CN" altLang="en-US" sz="2800">
                <a:solidFill>
                  <a:schemeClr val="bg1"/>
                </a:solidFill>
                <a:latin typeface="Impact" panose="020B0806030902050204" pitchFamily="34" charset="0"/>
              </a:endParaRPr>
            </a:p>
          </p:txBody>
        </p:sp>
      </p:grpSp>
      <p:grpSp>
        <p:nvGrpSpPr>
          <p:cNvPr id="62" name="组合 61">
            <a:extLst>
              <a:ext uri="{FF2B5EF4-FFF2-40B4-BE49-F238E27FC236}">
                <a16:creationId xmlns:a16="http://schemas.microsoft.com/office/drawing/2014/main" id="{A049BEB3-AA35-2D86-70ED-DF45D31D9066}"/>
              </a:ext>
            </a:extLst>
          </p:cNvPr>
          <p:cNvGrpSpPr/>
          <p:nvPr/>
        </p:nvGrpSpPr>
        <p:grpSpPr>
          <a:xfrm>
            <a:off x="3330199" y="4932647"/>
            <a:ext cx="3857250" cy="459690"/>
            <a:chOff x="4315150" y="3730038"/>
            <a:chExt cx="3857250" cy="540057"/>
          </a:xfrm>
        </p:grpSpPr>
        <p:sp>
          <p:nvSpPr>
            <p:cNvPr id="63" name="矩形 62">
              <a:extLst>
                <a:ext uri="{FF2B5EF4-FFF2-40B4-BE49-F238E27FC236}">
                  <a16:creationId xmlns:a16="http://schemas.microsoft.com/office/drawing/2014/main" id="{746FD21D-9EAC-10E2-0185-7EB81EE74854}"/>
                </a:ext>
              </a:extLst>
            </p:cNvPr>
            <p:cNvSpPr/>
            <p:nvPr/>
          </p:nvSpPr>
          <p:spPr>
            <a:xfrm>
              <a:off x="4841197" y="3812702"/>
              <a:ext cx="2827146" cy="406783"/>
            </a:xfrm>
            <a:prstGeom prst="rect">
              <a:avLst/>
            </a:prstGeom>
            <a:ln w="15875">
              <a:noFill/>
            </a:ln>
          </p:spPr>
          <p:txBody>
            <a:bodyPr wrap="square" lIns="68580" tIns="34290" rIns="68580" bIns="34290">
              <a:spAutoFit/>
            </a:bodyPr>
            <a:lstStyle/>
            <a:p>
              <a:r>
                <a:rPr lang="zh-CN" altLang="en-US" b="1">
                  <a:solidFill>
                    <a:schemeClr val="tx1">
                      <a:lumMod val="75000"/>
                      <a:lumOff val="25000"/>
                    </a:schemeClr>
                  </a:solidFill>
                  <a:latin typeface="微软雅黑" panose="020B0503020204020204" pitchFamily="34" charset="-122"/>
                  <a:ea typeface="微软雅黑" panose="020B0503020204020204" pitchFamily="34" charset="-122"/>
                </a:rPr>
                <a:t>仿真验证</a:t>
              </a:r>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4" name="平行四边形 63">
              <a:extLst>
                <a:ext uri="{FF2B5EF4-FFF2-40B4-BE49-F238E27FC236}">
                  <a16:creationId xmlns:a16="http://schemas.microsoft.com/office/drawing/2014/main" id="{D6FC852D-1478-961C-7B10-2279EDE0F7B3}"/>
                </a:ext>
              </a:extLst>
            </p:cNvPr>
            <p:cNvSpPr/>
            <p:nvPr/>
          </p:nvSpPr>
          <p:spPr>
            <a:xfrm>
              <a:off x="4315150" y="3730038"/>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4" name="组合 3">
            <a:extLst>
              <a:ext uri="{FF2B5EF4-FFF2-40B4-BE49-F238E27FC236}">
                <a16:creationId xmlns:a16="http://schemas.microsoft.com/office/drawing/2014/main" id="{8C6835F5-AADD-8FA1-9A0F-844359D992FF}"/>
              </a:ext>
            </a:extLst>
          </p:cNvPr>
          <p:cNvGrpSpPr/>
          <p:nvPr/>
        </p:nvGrpSpPr>
        <p:grpSpPr>
          <a:xfrm>
            <a:off x="4500160" y="5515777"/>
            <a:ext cx="894259" cy="523220"/>
            <a:chOff x="2215144" y="4047039"/>
            <a:chExt cx="1244730" cy="959256"/>
          </a:xfrm>
        </p:grpSpPr>
        <p:sp>
          <p:nvSpPr>
            <p:cNvPr id="17" name="平行四边形 16">
              <a:extLst>
                <a:ext uri="{FF2B5EF4-FFF2-40B4-BE49-F238E27FC236}">
                  <a16:creationId xmlns:a16="http://schemas.microsoft.com/office/drawing/2014/main" id="{526BC3CB-EE3B-97C7-75C5-385EB60496E6}"/>
                </a:ext>
              </a:extLst>
            </p:cNvPr>
            <p:cNvSpPr/>
            <p:nvPr/>
          </p:nvSpPr>
          <p:spPr>
            <a:xfrm>
              <a:off x="2215144" y="4135856"/>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18" name="文本框 12">
              <a:extLst>
                <a:ext uri="{FF2B5EF4-FFF2-40B4-BE49-F238E27FC236}">
                  <a16:creationId xmlns:a16="http://schemas.microsoft.com/office/drawing/2014/main" id="{01DE0039-015A-EE54-9239-F603B7D7173E}"/>
                </a:ext>
              </a:extLst>
            </p:cNvPr>
            <p:cNvSpPr txBox="1"/>
            <p:nvPr/>
          </p:nvSpPr>
          <p:spPr>
            <a:xfrm>
              <a:off x="2393075" y="4047039"/>
              <a:ext cx="1066799" cy="959256"/>
            </a:xfrm>
            <a:prstGeom prst="rect">
              <a:avLst/>
            </a:prstGeom>
            <a:noFill/>
          </p:spPr>
          <p:txBody>
            <a:bodyPr wrap="square" rtlCol="0">
              <a:spAutoFit/>
            </a:bodyPr>
            <a:lstStyle/>
            <a:p>
              <a:r>
                <a:rPr lang="en-US" altLang="zh-CN" sz="2800">
                  <a:solidFill>
                    <a:srgbClr val="FF0000"/>
                  </a:solidFill>
                  <a:latin typeface="Impact" panose="020B0806030902050204" pitchFamily="34" charset="0"/>
                </a:rPr>
                <a:t>06</a:t>
              </a:r>
              <a:endParaRPr lang="zh-CN" altLang="en-US" sz="2800">
                <a:solidFill>
                  <a:srgbClr val="FF0000"/>
                </a:solidFill>
                <a:latin typeface="Impact" panose="020B0806030902050204" pitchFamily="34" charset="0"/>
              </a:endParaRPr>
            </a:p>
          </p:txBody>
        </p:sp>
      </p:grpSp>
      <p:grpSp>
        <p:nvGrpSpPr>
          <p:cNvPr id="19" name="组合 18">
            <a:extLst>
              <a:ext uri="{FF2B5EF4-FFF2-40B4-BE49-F238E27FC236}">
                <a16:creationId xmlns:a16="http://schemas.microsoft.com/office/drawing/2014/main" id="{B1C16BCA-5E5F-0778-7858-187A7BA635CC}"/>
              </a:ext>
            </a:extLst>
          </p:cNvPr>
          <p:cNvGrpSpPr/>
          <p:nvPr/>
        </p:nvGrpSpPr>
        <p:grpSpPr>
          <a:xfrm>
            <a:off x="5179413" y="5547593"/>
            <a:ext cx="3857250" cy="693611"/>
            <a:chOff x="4315150" y="3035884"/>
            <a:chExt cx="3857250" cy="814874"/>
          </a:xfrm>
        </p:grpSpPr>
        <p:sp>
          <p:nvSpPr>
            <p:cNvPr id="32" name="矩形 31">
              <a:extLst>
                <a:ext uri="{FF2B5EF4-FFF2-40B4-BE49-F238E27FC236}">
                  <a16:creationId xmlns:a16="http://schemas.microsoft.com/office/drawing/2014/main" id="{C7403387-DE1C-0AE7-6654-44B44FEE3A96}"/>
                </a:ext>
              </a:extLst>
            </p:cNvPr>
            <p:cNvSpPr/>
            <p:nvPr/>
          </p:nvSpPr>
          <p:spPr>
            <a:xfrm>
              <a:off x="4841196" y="3118548"/>
              <a:ext cx="2827147" cy="732210"/>
            </a:xfrm>
            <a:prstGeom prst="rect">
              <a:avLst/>
            </a:prstGeom>
            <a:ln w="15875">
              <a:noFill/>
            </a:ln>
          </p:spPr>
          <p:txBody>
            <a:bodyPr wrap="square" lIns="68580" tIns="34290" rIns="68580" bIns="34290">
              <a:spAutoFit/>
            </a:bodyPr>
            <a:lstStyle/>
            <a:p>
              <a:r>
                <a:rPr lang="zh-CN" altLang="en-US" b="1">
                  <a:solidFill>
                    <a:srgbClr val="FF0000"/>
                  </a:solidFill>
                  <a:latin typeface="微软雅黑" panose="020B0503020204020204" pitchFamily="34" charset="-122"/>
                  <a:ea typeface="微软雅黑" panose="020B0503020204020204" pitchFamily="34" charset="-122"/>
                </a:rPr>
                <a:t>收获总结</a:t>
              </a:r>
              <a:endParaRPr lang="en-GB" altLang="zh-CN" b="1">
                <a:solidFill>
                  <a:srgbClr val="FF0000"/>
                </a:solidFill>
                <a:latin typeface="微软雅黑" panose="020B0503020204020204" pitchFamily="34" charset="-122"/>
                <a:ea typeface="微软雅黑" panose="020B0503020204020204" pitchFamily="34" charset="-122"/>
              </a:endParaRPr>
            </a:p>
            <a:p>
              <a:endParaRPr lang="en-GB" altLang="zh-CN"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3" name="平行四边形 32">
              <a:extLst>
                <a:ext uri="{FF2B5EF4-FFF2-40B4-BE49-F238E27FC236}">
                  <a16:creationId xmlns:a16="http://schemas.microsoft.com/office/drawing/2014/main" id="{08DB1259-A977-9369-5387-AB84782FBA5A}"/>
                </a:ext>
              </a:extLst>
            </p:cNvPr>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spTree>
    <p:extLst>
      <p:ext uri="{BB962C8B-B14F-4D97-AF65-F5344CB8AC3E}">
        <p14:creationId xmlns:p14="http://schemas.microsoft.com/office/powerpoint/2010/main" val="129124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2AFC6-2319-0D28-D96A-B60558DA198F}"/>
            </a:ext>
          </a:extLst>
        </p:cNvPr>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CE4620F8-7036-3B06-B598-F433BE60FAE6}"/>
              </a:ext>
            </a:extLst>
          </p:cNvPr>
          <p:cNvCxnSpPr>
            <a:cxnSpLocks/>
          </p:cNvCxnSpPr>
          <p:nvPr/>
        </p:nvCxnSpPr>
        <p:spPr>
          <a:xfrm flipV="1">
            <a:off x="1014737" y="631512"/>
            <a:ext cx="7246036" cy="1620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150E8BB5-8AD1-4609-798C-72D0F564E25E}"/>
              </a:ext>
            </a:extLst>
          </p:cNvPr>
          <p:cNvSpPr/>
          <p:nvPr/>
        </p:nvSpPr>
        <p:spPr>
          <a:xfrm>
            <a:off x="962591" y="154458"/>
            <a:ext cx="9840017"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a:solidFill>
                  <a:prstClr val="black"/>
                </a:solidFill>
                <a:latin typeface="黑体" panose="02010609060101010101" pitchFamily="49" charset="-122"/>
                <a:ea typeface="黑体" panose="02010609060101010101" pitchFamily="49" charset="-122"/>
              </a:rPr>
              <a:t>六、总结与收获</a:t>
            </a:r>
            <a:endParaRPr kumimoji="0" lang="zh-CN" altLang="zh-CN" sz="2400" b="1" i="0" u="none" strike="noStrike" kern="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dirty="0">
              <a:ln>
                <a:noFill/>
              </a:ln>
              <a:solidFill>
                <a:prstClr val="black"/>
              </a:solidFill>
              <a:effectLst/>
              <a:uLnTx/>
              <a:uFillTx/>
              <a:latin typeface="Times New Roman"/>
              <a:ea typeface="黑体"/>
              <a:cs typeface="+mn-cs"/>
            </a:endParaRPr>
          </a:p>
        </p:txBody>
      </p:sp>
      <p:pic>
        <p:nvPicPr>
          <p:cNvPr id="15" name="图片 14">
            <a:extLst>
              <a:ext uri="{FF2B5EF4-FFF2-40B4-BE49-F238E27FC236}">
                <a16:creationId xmlns:a16="http://schemas.microsoft.com/office/drawing/2014/main" id="{3CFBC73D-941A-108C-E7BE-B95AA989FF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2" y="63140"/>
            <a:ext cx="926055" cy="931317"/>
          </a:xfrm>
          <a:prstGeom prst="rect">
            <a:avLst/>
          </a:prstGeom>
        </p:spPr>
      </p:pic>
      <p:sp>
        <p:nvSpPr>
          <p:cNvPr id="4" name="文本框 3">
            <a:extLst>
              <a:ext uri="{FF2B5EF4-FFF2-40B4-BE49-F238E27FC236}">
                <a16:creationId xmlns:a16="http://schemas.microsoft.com/office/drawing/2014/main" id="{E79E4484-2837-2C40-7463-C40E1B8E8325}"/>
              </a:ext>
            </a:extLst>
          </p:cNvPr>
          <p:cNvSpPr txBox="1"/>
          <p:nvPr/>
        </p:nvSpPr>
        <p:spPr>
          <a:xfrm>
            <a:off x="1056926" y="1108565"/>
            <a:ext cx="9745682" cy="4610236"/>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a:latin typeface="Times New Roman" panose="02020603050405020304" pitchFamily="18" charset="0"/>
                <a:ea typeface="宋体" panose="02010600030101010101" pitchFamily="2" charset="-122"/>
              </a:rPr>
              <a:t>本次实验的任务是完成对矿井直流提升机调速系统的设计，首先，我们充分了解了直流提升机的调速原理和实际应用需求。在Simulink中，我们按照实际电路建立了调速电路的模型，包括转速环、电流环、反馈电路等组成部分。通过对各个模块的设置和参数调整，最终完成了一个能够符合实际应用的调速系统模型。</a:t>
            </a:r>
          </a:p>
          <a:p>
            <a:pPr marL="285750" indent="-285750" algn="just">
              <a:lnSpc>
                <a:spcPct val="150000"/>
              </a:lnSpc>
              <a:buFont typeface="Wingdings" panose="05000000000000000000" pitchFamily="2" charset="2"/>
              <a:buChar char="Ø"/>
            </a:pPr>
            <a:r>
              <a:rPr lang="zh-CN" altLang="en-US">
                <a:latin typeface="Times New Roman" panose="02020603050405020304" pitchFamily="18" charset="0"/>
                <a:ea typeface="宋体" panose="02010600030101010101" pitchFamily="2" charset="-122"/>
              </a:rPr>
              <a:t>然后，我们对建立的模型进行了多次参数设置和仿真测试，这个过程中，我们对观测的数据进行记录和分析，不断对电路模型进行调整和改进。通过对系统的动态响应、电流转速超调量等进行评估，我进一步完善了电路模型的参数设置，使之更符合矿井直流提升机调速系统的实际需求。</a:t>
            </a:r>
            <a:endParaRPr lang="en-US" altLang="zh-CN">
              <a:latin typeface="Times New Roman" panose="02020603050405020304" pitchFamily="18" charset="0"/>
              <a:ea typeface="宋体" panose="02010600030101010101" pitchFamily="2" charset="-122"/>
            </a:endParaRPr>
          </a:p>
          <a:p>
            <a:pPr marL="285750" indent="-285750" algn="just">
              <a:lnSpc>
                <a:spcPct val="150000"/>
              </a:lnSpc>
              <a:buFont typeface="Wingdings" panose="05000000000000000000" pitchFamily="2" charset="2"/>
              <a:buChar char="Ø"/>
            </a:pPr>
            <a:r>
              <a:rPr lang="zh-CN" altLang="en-US">
                <a:latin typeface="Times New Roman" panose="02020603050405020304" pitchFamily="18" charset="0"/>
                <a:ea typeface="宋体" panose="02010600030101010101" pitchFamily="2" charset="-122"/>
              </a:rPr>
              <a:t>参与这次运动控制系统课程设计，对我们团队而言，既是一次知识的深化，也是一次实践能力的锻炼。在这个过程中，不仅学到了许多理论知识，还亲手将理论应用于实际，感受到了理论与实践相结合的重要性。</a:t>
            </a:r>
          </a:p>
        </p:txBody>
      </p:sp>
    </p:spTree>
    <p:extLst>
      <p:ext uri="{BB962C8B-B14F-4D97-AF65-F5344CB8AC3E}">
        <p14:creationId xmlns:p14="http://schemas.microsoft.com/office/powerpoint/2010/main" val="2538137422"/>
      </p:ext>
    </p:extLst>
  </p:cSld>
  <p:clrMapOvr>
    <a:masterClrMapping/>
  </p:clrMapOvr>
  <p:transition spd="slow" advTm="9487"/>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5EC91-BA67-A812-A997-BB5948681949}"/>
            </a:ext>
          </a:extLst>
        </p:cNvPr>
        <p:cNvGrpSpPr/>
        <p:nvPr/>
      </p:nvGrpSpPr>
      <p:grpSpPr>
        <a:xfrm>
          <a:off x="0" y="0"/>
          <a:ext cx="0" cy="0"/>
          <a:chOff x="0" y="0"/>
          <a:chExt cx="0" cy="0"/>
        </a:xfrm>
      </p:grpSpPr>
      <p:pic>
        <p:nvPicPr>
          <p:cNvPr id="5711" name="图片 5710" descr="1">
            <a:extLst>
              <a:ext uri="{FF2B5EF4-FFF2-40B4-BE49-F238E27FC236}">
                <a16:creationId xmlns:a16="http://schemas.microsoft.com/office/drawing/2014/main" id="{B484550E-8F32-1412-814C-5CCE5D9673EC}"/>
              </a:ext>
            </a:extLst>
          </p:cNvPr>
          <p:cNvPicPr>
            <a:picLocks noChangeAspect="1"/>
          </p:cNvPicPr>
          <p:nvPr/>
        </p:nvPicPr>
        <p:blipFill>
          <a:blip r:embed="rId3"/>
          <a:srcRect l="20833" r="17500" b="18790"/>
          <a:stretch>
            <a:fillRect/>
          </a:stretch>
        </p:blipFill>
        <p:spPr>
          <a:xfrm>
            <a:off x="12767" y="0"/>
            <a:ext cx="12192000" cy="4653915"/>
          </a:xfrm>
          <a:prstGeom prst="rect">
            <a:avLst/>
          </a:prstGeom>
          <a:noFill/>
          <a:ln w="9525">
            <a:noFill/>
          </a:ln>
        </p:spPr>
      </p:pic>
      <p:pic>
        <p:nvPicPr>
          <p:cNvPr id="5712" name="图片 5711" descr="2">
            <a:extLst>
              <a:ext uri="{FF2B5EF4-FFF2-40B4-BE49-F238E27FC236}">
                <a16:creationId xmlns:a16="http://schemas.microsoft.com/office/drawing/2014/main" id="{8357A257-D770-B99C-2839-883D6D3404B0}"/>
              </a:ext>
            </a:extLst>
          </p:cNvPr>
          <p:cNvPicPr>
            <a:picLocks noChangeAspect="1"/>
          </p:cNvPicPr>
          <p:nvPr/>
        </p:nvPicPr>
        <p:blipFill>
          <a:blip r:embed="rId4"/>
          <a:srcRect t="41180" b="26228"/>
          <a:stretch>
            <a:fillRect/>
          </a:stretch>
        </p:blipFill>
        <p:spPr>
          <a:xfrm>
            <a:off x="0" y="2218372"/>
            <a:ext cx="12192000" cy="2421255"/>
          </a:xfrm>
          <a:prstGeom prst="rect">
            <a:avLst/>
          </a:prstGeom>
          <a:noFill/>
          <a:ln w="9525">
            <a:noFill/>
          </a:ln>
        </p:spPr>
      </p:pic>
      <p:sp>
        <p:nvSpPr>
          <p:cNvPr id="5716" name="文本框 5715">
            <a:extLst>
              <a:ext uri="{FF2B5EF4-FFF2-40B4-BE49-F238E27FC236}">
                <a16:creationId xmlns:a16="http://schemas.microsoft.com/office/drawing/2014/main" id="{B86E36D6-EF6A-A27C-3F3C-C182A178F28A}"/>
              </a:ext>
            </a:extLst>
          </p:cNvPr>
          <p:cNvSpPr txBox="1"/>
          <p:nvPr/>
        </p:nvSpPr>
        <p:spPr>
          <a:xfrm>
            <a:off x="274493" y="1526608"/>
            <a:ext cx="12566135" cy="2980077"/>
          </a:xfrm>
          <a:prstGeom prst="rect">
            <a:avLst/>
          </a:prstGeom>
          <a:noFill/>
          <a:ln w="9525">
            <a:noFill/>
          </a:ln>
        </p:spPr>
        <p:txBody>
          <a:bodyPr wrap="square" anchor="ctr" anchorCtr="0">
            <a:noAutofit/>
          </a:bodyPr>
          <a:lstStyle/>
          <a:p>
            <a:pPr eaLnBrk="0" hangingPunct="0">
              <a:spcBef>
                <a:spcPct val="50000"/>
              </a:spcBef>
              <a:tabLst>
                <a:tab pos="3321050" algn="l"/>
              </a:tabLst>
            </a:pPr>
            <a:endParaRPr lang="en-US" altLang="zh-CN" sz="3600" b="1" u="sng">
              <a:solidFill>
                <a:srgbClr val="0052A4"/>
              </a:solidFill>
              <a:latin typeface="微软雅黑" panose="020B0503020204020204" pitchFamily="34" charset="-122"/>
              <a:ea typeface="微软雅黑" panose="020B0503020204020204" pitchFamily="34" charset="-122"/>
            </a:endParaRPr>
          </a:p>
          <a:p>
            <a:pPr eaLnBrk="0" hangingPunct="0">
              <a:spcBef>
                <a:spcPct val="50000"/>
              </a:spcBef>
              <a:tabLst>
                <a:tab pos="3321050" algn="l"/>
              </a:tabLst>
            </a:pPr>
            <a:r>
              <a:rPr lang="zh-CN" altLang="en-US" sz="3600" b="1" u="sng">
                <a:solidFill>
                  <a:srgbClr val="0052A4"/>
                </a:solidFill>
                <a:latin typeface="微软雅黑" panose="020B0503020204020204" pitchFamily="34" charset="-122"/>
                <a:ea typeface="微软雅黑" panose="020B0503020204020204" pitchFamily="34" charset="-122"/>
              </a:rPr>
              <a:t>矿井直流提升机调速系统设计</a:t>
            </a:r>
            <a:endParaRPr lang="en-US" altLang="zh-CN" sz="3600" b="1" u="sng">
              <a:solidFill>
                <a:srgbClr val="0052A4"/>
              </a:solidFill>
              <a:latin typeface="微软雅黑" panose="020B0503020204020204" pitchFamily="34" charset="-122"/>
              <a:ea typeface="微软雅黑" panose="020B0503020204020204" pitchFamily="34" charset="-122"/>
            </a:endParaRPr>
          </a:p>
          <a:p>
            <a:pPr eaLnBrk="0" hangingPunct="0">
              <a:spcBef>
                <a:spcPct val="50000"/>
              </a:spcBef>
              <a:tabLst>
                <a:tab pos="3321050" algn="l"/>
              </a:tabLst>
            </a:pPr>
            <a:r>
              <a:rPr lang="zh-CN" altLang="en-US" sz="5400" b="1">
                <a:solidFill>
                  <a:srgbClr val="0052A4"/>
                </a:solidFill>
                <a:latin typeface="微软雅黑" panose="020B0503020204020204" pitchFamily="34" charset="-122"/>
                <a:ea typeface="微软雅黑" panose="020B0503020204020204" pitchFamily="34" charset="-122"/>
              </a:rPr>
              <a:t>望蒯老师批评指正！</a:t>
            </a:r>
            <a:endParaRPr lang="zh-CN" altLang="zh-CN" sz="5400" b="1">
              <a:solidFill>
                <a:srgbClr val="0052A4"/>
              </a:solidFill>
              <a:latin typeface="微软雅黑" panose="020B0503020204020204" pitchFamily="34" charset="-122"/>
              <a:ea typeface="微软雅黑" panose="020B0503020204020204" pitchFamily="34" charset="-122"/>
            </a:endParaRPr>
          </a:p>
          <a:p>
            <a:pPr indent="0" algn="ctr" eaLnBrk="0" hangingPunct="0">
              <a:spcBef>
                <a:spcPct val="50000"/>
              </a:spcBef>
              <a:tabLst>
                <a:tab pos="3321050" algn="l"/>
              </a:tabLst>
            </a:pPr>
            <a:endParaRPr lang="zh-CN" altLang="en-US" sz="5400" b="1" u="sng">
              <a:solidFill>
                <a:srgbClr val="0052A4"/>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E4AA39CA-4C03-BDD7-DA7F-E56DB432E5ED}"/>
              </a:ext>
            </a:extLst>
          </p:cNvPr>
          <p:cNvSpPr txBox="1"/>
          <p:nvPr/>
        </p:nvSpPr>
        <p:spPr>
          <a:xfrm>
            <a:off x="1193582" y="382403"/>
            <a:ext cx="9906285" cy="523220"/>
          </a:xfrm>
          <a:prstGeom prst="rect">
            <a:avLst/>
          </a:prstGeom>
          <a:noFill/>
        </p:spPr>
        <p:txBody>
          <a:bodyPr wrap="square" rtlCol="0">
            <a:spAutoFit/>
          </a:bodyPr>
          <a:lstStyle/>
          <a:p>
            <a:r>
              <a:rPr lang="en-US" altLang="zh-CN" sz="2800" b="1">
                <a:latin typeface="微软雅黑" panose="020B0503020204020204" pitchFamily="34" charset="-122"/>
                <a:ea typeface="微软雅黑" panose="020B0503020204020204" pitchFamily="34" charset="-122"/>
              </a:rPr>
              <a:t>《</a:t>
            </a:r>
            <a:r>
              <a:rPr lang="zh-CN" altLang="en-US" sz="2800" b="1">
                <a:latin typeface="微软雅黑" panose="020B0503020204020204" pitchFamily="34" charset="-122"/>
                <a:ea typeface="微软雅黑" panose="020B0503020204020204" pitchFamily="34" charset="-122"/>
              </a:rPr>
              <a:t>运动控制系统课程设计</a:t>
            </a:r>
            <a:r>
              <a:rPr lang="en-US" altLang="zh-CN" sz="2800" b="1">
                <a:latin typeface="微软雅黑" panose="020B0503020204020204" pitchFamily="34" charset="-122"/>
                <a:ea typeface="微软雅黑" panose="020B0503020204020204" pitchFamily="34" charset="-122"/>
              </a:rPr>
              <a:t>》</a:t>
            </a:r>
            <a:r>
              <a:rPr lang="zh-CN" altLang="en-US" sz="2800" b="1">
                <a:latin typeface="微软雅黑" panose="020B0503020204020204" pitchFamily="34" charset="-122"/>
                <a:ea typeface="微软雅黑" panose="020B0503020204020204" pitchFamily="34" charset="-122"/>
              </a:rPr>
              <a:t>课程答辩</a:t>
            </a:r>
          </a:p>
        </p:txBody>
      </p:sp>
      <p:sp>
        <p:nvSpPr>
          <p:cNvPr id="7" name="文本框 6">
            <a:extLst>
              <a:ext uri="{FF2B5EF4-FFF2-40B4-BE49-F238E27FC236}">
                <a16:creationId xmlns:a16="http://schemas.microsoft.com/office/drawing/2014/main" id="{50211791-AD08-B3DB-BC62-0767C583E35A}"/>
              </a:ext>
            </a:extLst>
          </p:cNvPr>
          <p:cNvSpPr txBox="1"/>
          <p:nvPr/>
        </p:nvSpPr>
        <p:spPr>
          <a:xfrm>
            <a:off x="398318" y="4995489"/>
            <a:ext cx="9836727" cy="1955215"/>
          </a:xfrm>
          <a:prstGeom prst="rect">
            <a:avLst/>
          </a:prstGeom>
          <a:noFill/>
        </p:spPr>
        <p:txBody>
          <a:bodyPr wrap="square">
            <a:spAutoFit/>
          </a:bodyPr>
          <a:lstStyle/>
          <a:p>
            <a:pPr indent="127000" algn="l">
              <a:lnSpc>
                <a:spcPct val="150000"/>
              </a:lnSpc>
            </a:pPr>
            <a:r>
              <a:rPr lang="zh-CN" altLang="en-US" sz="2800" b="1">
                <a:latin typeface="微软雅黑" panose="020B0503020204020204" pitchFamily="34" charset="-122"/>
                <a:ea typeface="微软雅黑" panose="020B0503020204020204" pitchFamily="34" charset="-122"/>
              </a:rPr>
              <a:t>成员：陈浩然、殷璇、罗永、孙崇博、赵浩</a:t>
            </a:r>
            <a:r>
              <a:rPr lang="en-US" altLang="zh-CN" sz="2800" b="1">
                <a:latin typeface="微软雅黑" panose="020B0503020204020204" pitchFamily="34" charset="-122"/>
                <a:ea typeface="微软雅黑" panose="020B0503020204020204" pitchFamily="34" charset="-122"/>
              </a:rPr>
              <a:t> </a:t>
            </a:r>
            <a:r>
              <a:rPr lang="zh-CN" altLang="en-US" sz="2800" b="1">
                <a:latin typeface="微软雅黑" panose="020B0503020204020204" pitchFamily="34" charset="-122"/>
                <a:ea typeface="微软雅黑" panose="020B0503020204020204" pitchFamily="34" charset="-122"/>
              </a:rPr>
              <a:t>    </a:t>
            </a:r>
            <a:endParaRPr lang="en-US" altLang="zh-CN" sz="2800" b="1">
              <a:latin typeface="微软雅黑" panose="020B0503020204020204" pitchFamily="34" charset="-122"/>
              <a:ea typeface="微软雅黑" panose="020B0503020204020204" pitchFamily="34" charset="-122"/>
            </a:endParaRPr>
          </a:p>
          <a:p>
            <a:pPr>
              <a:lnSpc>
                <a:spcPct val="150000"/>
              </a:lnSpc>
              <a:spcBef>
                <a:spcPct val="0"/>
              </a:spcBef>
            </a:pPr>
            <a:r>
              <a:rPr lang="zh-CN" altLang="en-US" sz="2800" b="1">
                <a:latin typeface="微软雅黑" panose="020B0503020204020204" pitchFamily="34" charset="-122"/>
                <a:ea typeface="微软雅黑" panose="020B0503020204020204" pitchFamily="34" charset="-122"/>
              </a:rPr>
              <a:t> 专业班级：电气工程及其自动化</a:t>
            </a:r>
            <a:r>
              <a:rPr lang="en-US" altLang="zh-CN" sz="2800" b="1">
                <a:latin typeface="微软雅黑" panose="020B0503020204020204" pitchFamily="34" charset="-122"/>
                <a:ea typeface="微软雅黑" panose="020B0503020204020204" pitchFamily="34" charset="-122"/>
              </a:rPr>
              <a:t>2022-11</a:t>
            </a:r>
            <a:r>
              <a:rPr lang="zh-CN" altLang="en-US" sz="2800" b="1">
                <a:latin typeface="微软雅黑" panose="020B0503020204020204" pitchFamily="34" charset="-122"/>
                <a:ea typeface="微软雅黑" panose="020B0503020204020204" pitchFamily="34" charset="-122"/>
              </a:rPr>
              <a:t>班</a:t>
            </a:r>
            <a:endParaRPr lang="en-US" altLang="zh-CN" sz="2800" b="1">
              <a:latin typeface="微软雅黑" panose="020B0503020204020204" pitchFamily="34" charset="-122"/>
              <a:ea typeface="微软雅黑" panose="020B0503020204020204" pitchFamily="34" charset="-122"/>
            </a:endParaRPr>
          </a:p>
          <a:p>
            <a:pPr eaLnBrk="1" hangingPunct="1">
              <a:lnSpc>
                <a:spcPct val="150000"/>
              </a:lnSpc>
              <a:spcBef>
                <a:spcPct val="0"/>
              </a:spcBef>
              <a:buFont typeface="Arial" panose="020B0604020202020204" pitchFamily="34" charset="0"/>
              <a:buNone/>
            </a:pPr>
            <a:endParaRPr lang="en-US" altLang="zh-CN" sz="2800" b="1">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98607B0D-529F-DDBA-9CF2-89EF07323988}"/>
              </a:ext>
            </a:extLst>
          </p:cNvPr>
          <p:cNvSpPr txBox="1"/>
          <p:nvPr/>
        </p:nvSpPr>
        <p:spPr>
          <a:xfrm>
            <a:off x="8780226" y="5973097"/>
            <a:ext cx="3424541" cy="874407"/>
          </a:xfrm>
          <a:prstGeom prst="rect">
            <a:avLst/>
          </a:prstGeom>
          <a:noFill/>
        </p:spPr>
        <p:txBody>
          <a:bodyPr wrap="square">
            <a:spAutoFit/>
          </a:bodyPr>
          <a:lstStyle/>
          <a:p>
            <a:pPr algn="r">
              <a:lnSpc>
                <a:spcPct val="150000"/>
              </a:lnSpc>
              <a:spcBef>
                <a:spcPct val="0"/>
              </a:spcBef>
            </a:pPr>
            <a:r>
              <a:rPr lang="zh-CN" altLang="en-US" b="1">
                <a:latin typeface="黑体 (正文)"/>
                <a:ea typeface="微软雅黑" panose="020B0503020204020204" pitchFamily="34" charset="-122"/>
              </a:rPr>
              <a:t>中国矿业大学</a:t>
            </a:r>
            <a:r>
              <a:rPr lang="zh-CN" altLang="ko-KR" b="1">
                <a:latin typeface="微软雅黑" panose="020B0503020204020204" pitchFamily="34" charset="-122"/>
                <a:ea typeface="微软雅黑" panose="020B0503020204020204" pitchFamily="34" charset="-122"/>
              </a:rPr>
              <a:t>电气工程</a:t>
            </a:r>
            <a:r>
              <a:rPr lang="zh-CN" altLang="en-US" b="1">
                <a:latin typeface="微软雅黑" panose="020B0503020204020204" pitchFamily="34" charset="-122"/>
                <a:ea typeface="微软雅黑" panose="020B0503020204020204" pitchFamily="34" charset="-122"/>
              </a:rPr>
              <a:t>学院</a:t>
            </a:r>
            <a:endParaRPr lang="ko-KR" altLang="en-US" b="1">
              <a:latin typeface="微软雅黑" panose="020B0503020204020204" pitchFamily="34" charset="-122"/>
            </a:endParaRPr>
          </a:p>
          <a:p>
            <a:pPr algn="r" eaLnBrk="1" hangingPunct="1">
              <a:lnSpc>
                <a:spcPct val="150000"/>
              </a:lnSpc>
              <a:spcBef>
                <a:spcPct val="0"/>
              </a:spcBef>
              <a:buFont typeface="Arial" panose="020B0604020202020204" pitchFamily="34" charset="0"/>
              <a:buNone/>
            </a:pPr>
            <a:r>
              <a:rPr lang="en-US" altLang="zh-CN" sz="1800" b="1">
                <a:latin typeface="微软雅黑" panose="020B0503020204020204" pitchFamily="34" charset="-122"/>
                <a:ea typeface="微软雅黑" panose="020B0503020204020204" pitchFamily="34" charset="-122"/>
              </a:rPr>
              <a:t>2025 </a:t>
            </a:r>
            <a:r>
              <a:rPr lang="zh-CN" altLang="en-US" sz="1800" b="1">
                <a:latin typeface="微软雅黑" panose="020B0503020204020204" pitchFamily="34" charset="-122"/>
                <a:ea typeface="微软雅黑" panose="020B0503020204020204" pitchFamily="34" charset="-122"/>
              </a:rPr>
              <a:t>年 </a:t>
            </a:r>
            <a:r>
              <a:rPr lang="en-US" altLang="zh-CN" b="1">
                <a:latin typeface="微软雅黑" panose="020B0503020204020204" pitchFamily="34" charset="-122"/>
                <a:ea typeface="微软雅黑" panose="020B0503020204020204" pitchFamily="34" charset="-122"/>
              </a:rPr>
              <a:t>6</a:t>
            </a:r>
            <a:r>
              <a:rPr lang="en-US" altLang="zh-CN" sz="1800" b="1">
                <a:latin typeface="微软雅黑" panose="020B0503020204020204" pitchFamily="34" charset="-122"/>
                <a:ea typeface="微软雅黑" panose="020B0503020204020204" pitchFamily="34" charset="-122"/>
              </a:rPr>
              <a:t> </a:t>
            </a:r>
            <a:r>
              <a:rPr lang="zh-CN" altLang="en-US" sz="1800" b="1">
                <a:latin typeface="微软雅黑" panose="020B0503020204020204" pitchFamily="34" charset="-122"/>
                <a:ea typeface="微软雅黑" panose="020B0503020204020204" pitchFamily="34" charset="-122"/>
              </a:rPr>
              <a:t>月 </a:t>
            </a:r>
            <a:r>
              <a:rPr lang="en-US" altLang="zh-CN" b="1">
                <a:latin typeface="微软雅黑" panose="020B0503020204020204" pitchFamily="34" charset="-122"/>
                <a:ea typeface="微软雅黑" panose="020B0503020204020204" pitchFamily="34" charset="-122"/>
              </a:rPr>
              <a:t>13 </a:t>
            </a:r>
            <a:r>
              <a:rPr lang="zh-CN" altLang="en-US" sz="1800" b="1">
                <a:latin typeface="微软雅黑" panose="020B0503020204020204" pitchFamily="34" charset="-122"/>
                <a:ea typeface="微软雅黑" panose="020B0503020204020204" pitchFamily="34" charset="-122"/>
              </a:rPr>
              <a:t>日</a:t>
            </a:r>
            <a:endParaRPr lang="en-US" altLang="zh-CN" sz="1800" b="1">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C43C1BF4-8173-53EC-3345-7E3DE3910B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682" y="63140"/>
            <a:ext cx="1230225" cy="1237215"/>
          </a:xfrm>
          <a:prstGeom prst="rect">
            <a:avLst/>
          </a:prstGeom>
        </p:spPr>
      </p:pic>
    </p:spTree>
    <p:extLst>
      <p:ext uri="{BB962C8B-B14F-4D97-AF65-F5344CB8AC3E}">
        <p14:creationId xmlns:p14="http://schemas.microsoft.com/office/powerpoint/2010/main" val="36310198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3077</TotalTime>
  <Words>3899</Words>
  <Application>Microsoft Office PowerPoint</Application>
  <PresentationFormat>宽屏</PresentationFormat>
  <Paragraphs>421</Paragraphs>
  <Slides>59</Slides>
  <Notes>52</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59</vt:i4>
      </vt:variant>
    </vt:vector>
  </HeadingPairs>
  <TitlesOfParts>
    <vt:vector size="71" baseType="lpstr">
      <vt:lpstr>等线</vt:lpstr>
      <vt:lpstr>等线 Light</vt:lpstr>
      <vt:lpstr>黑体</vt:lpstr>
      <vt:lpstr>黑体 (正文)</vt:lpstr>
      <vt:lpstr>宋体</vt:lpstr>
      <vt:lpstr>微软雅黑</vt:lpstr>
      <vt:lpstr>Arial</vt:lpstr>
      <vt:lpstr>Cambria Math</vt:lpstr>
      <vt:lpstr>Impact</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浩 赵</dc:creator>
  <cp:lastModifiedBy>浩 赵</cp:lastModifiedBy>
  <cp:revision>22</cp:revision>
  <dcterms:created xsi:type="dcterms:W3CDTF">2025-05-30T12:40:15Z</dcterms:created>
  <dcterms:modified xsi:type="dcterms:W3CDTF">2025-06-13T00:24:17Z</dcterms:modified>
</cp:coreProperties>
</file>